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99" r:id="rId51"/>
    <p:sldId id="300" r:id="rId52"/>
    <p:sldId id="301" r:id="rId53"/>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 Tag zusammen, wir sind Yasin und Mido. Wir stellen euch unser Projekt ‚Rechte und Pflichten aus dem Ausbildungsvertrag‘ vor: kurz, wie wir gearbeitet haben, dann unser Prüfungsvorbereitungsbooklet – und danach trainiert ihr selbst mit Aufgaben und Quizspielen.“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Aufgabe: ein Prüfungsvorbereitungsbooklet zu einem Thema der schriftlichen IHK-Abschlussprüfung in Wirtschafts- und Sozialkunde. Wir haben den Ausbildungsvertrag gewählt, weil er Prüfungsstoff ist und sich mit echten Beispielen gut erklären lässt. Bisher gab es dazu kein kompaktes Lernmaterial mit Aufgaben und Lösungen. Unser Ziel: Am 25. November sollt ihr die Regeln zu Beginn und Dauer, Arbeitszeit, Vergütung, Urlaub, Probezeit und Kündigung sicher anwenden können – und das üben wir gleich.“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 Umsetzung hatten wir die Woche bis zum 8. Oktober und sind in fünf Schritten vorgegangen: Recherche und Vertragssichtung, Gliederung, Texte mit Praxisbeispielen, Layout mit Korrekturlesen und zum Schluss die Präsentation. Texte und Praxisbeispiele haben wir parallel erarbeitet, um Zeit zu sparen. Die Aufgaben waren so verteilt: Recherche und Texte bei Yasin, Vertragssichtung, Praxisbeispiele, Grafiken und Korrekturlesen bei Mido, Gliederung, Layout und Präsentation gemeinsam.“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„Beim Umsetzen sind uns Abweichungen aufgefallen: [Problem 1 – was wich vom Plan ab?]. Wir haben deshalb [Anpassung 1] vorgenommen, weil [Begründung]. Außerdem: [Problem 2]. Dafür haben wir [Anpassung 2] gewählt, weil [Begründung].“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Rahmenbedingungen: ein Team aus zwei Personen, feste Abgabe am 8. Oktober, keine nennenswerten Kosten und Vertragsauszüge nur anonymisiert. Absprachen haben wir mit [Ansprechpartner] getroffen: [Thema und Ergebnis]. Berücksichtigt haben wir das, indem wir [Änderung] vorgenommen haben.“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haben das Booklet für euch gebaut: in der Reihenfolge des Prüfungskatalogs, in einfacher Sprache statt Gesetzesdeutsch, mit Merksätzen, Aufgaben samt Lösungen und einem Merkblatt zum Mitnehmen. Aktuelle Zahlen wie die Mindestausbildungsvergütung 2026 sind mit Quellen belegt.“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Booklet hat fünf Bausteine. Erstens die Kapitel: zehn kurze Kapitel entlang des Prüfungskatalogs, von Beginn und Dauer über Arbeitszeit, Vergütung, Urlaub, Probezeit und Kündigung bis zu den Pflichten von Azubi und Ausbildenden. Zweitens Aufgaben im Prüfungsformat: eine Zuordnungsübung und fünf IHK-Fälle. Drittens der Erwartungshorizont: Zu jeder Aufgabe stehen Lösung, Paragraf und Begründung. Viertens Quizfragen zum Selbsttesten. Und fünftens das Merkblatt mit dem Wichtigsten auf einer Seite. Dazu kommen ein Glossar und ein Quellenverzeichnis.“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Beispiele zeigen wir euch kurz: das Kapitel zur Kündigung und einen IHK-Fall mit seinem Erwartungshorizont. Genau mit solchen Aufgaben trainiert ihr jetzt selbst.“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Prüfungsbereich Wirtschafts- und Sozialkunde dauert 60 Minuten, besteht aus fallbezogenen Aufgaben und zählt 10 % der Gesamtnote; laut IHK-Information sind es gebundene Aufgaben. Unsere Aufgaben ahmen das nach: kurzer Fall, Antworten A–D, genau eine Lösung.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starten, ein kurzer Check: Ihr bekommt drei Fragen und antwortet mit euren Karten A bis D. Auf ‚drei‘ zeigen alle gleichzeitig.“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„Ihr seid jetzt die Ausbildungsberatung: Ordnet jeder Situation die passende Regelung zu. Ihr habt vier Minuten.“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bei ‚Wer wird Azubi-Millionär?‘ Zwei Teams, sieben Fragen, ein Joker pro Team. Wer falsch liegt, gibt die Frage an das andere Team weiter.“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wird es prüfungsnah: Jede Gruppe bekommt einen Fall, wählt die richtige Antwort und begründet sie mit der passenden Regelung.“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Abschluss ein anonymes Mini-Quiz mit fünf neuen Situationen. Das Ergebnis zeigt uns, ob unser Booklet sein Ziel erreicht 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Mitnehmen bekommt ihr unser Merkblatt: das Wichtigste auf einer Seite. Die Kernregeln: Die Probezeit dauert ein bis vier Monate. Die Mindestausbildungsvergütung 2026 liegt bei 724, 854, 977 und 1.014 Euro. Mindesturlaub gibt es ab 18 Jahren mit 24 Werktagen, darunter mit 25, 27 oder 30. Gekündigt werden kann in der Probezeit jederzeit ohne Frist, danach fristlos aus wichtigem Grund oder durch den Azubi mit vier Wochen Frist beim Berufswechsel – immer schriftlich. Jugendliche arbeiten höchstens 8 Stunden täglich. Und der Vertragsinhalt wird seit August 2024 in Textform abgefasst.“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„Hat das Projekt sein Ziel erreicht? Das Booklet deckt alle sechs Punkte des Prüfungskatalogs ab – Beginn und Dauer, tägliche Ausbildungszeit, Vergütung, Urlaub, Probezeit und Kündigung – jeweils mit Aufgaben und Lösung. Im Abschluss-Quiz haben die Mitschüler im Schnitt [Anzahl] von 5 Fragen richtig beantwortet. Die Zeit haben wir [eingehalten / nicht eingehalten], Kosten sind keine entstanden.</a:t>
            </a:r>
          </a:p>
          <a:p/>
          <a:p>
            <a:r>
              <a:t>Daraus leiten wir Verbesserungen ab: Erstens sollte das Booklet jährlich aktualisiert werden, denn die Mindestausbildungsvergütung wird jedes Jahr neu festgelegt. Zweitens planen wir das Probelesen durch Mitschüler beim nächsten Mal früher ein, damit Rückmeldungen noch ins Layout einfließen. Drittens: [eigener Vorschlag].“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„Gemeinsam haben wir festgehalten: Gut lief [..]. Schwierig war [..]. Beim nächsten Projekt würden wir [..] anders machen.“</a:t>
            </a:r>
          </a:p>
          <a:p/>
          <a:p>
            <a:r>
              <a:t>Einzelreflexionen, je 0:30 (erst Yasin, dann Mido): „Fachlich habe ich gelernt, [..]. Methodisch nehme ich mit,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„Vielen Dank fürs Mitmachen! Zwei Fragen an euch: Was war am Booklet am hilfreichsten, und was fehlt euch noch? Und habt ihr Fragen zum Ausbildungsvertrag oder zu unserem Projekt?“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Unsere Projektskizze auf einen Blick: Wir erstellen ein Prüfungsvorbereitungsbooklet für Mitschüler, Laufzeit vom 10. September bis 8. Oktober.</a:t>
            </a:r>
          </a:p>
          <a:p/>
          <a:p>
            <a:r>
              <a:t>Mido: Dazu haben wir zwei SMART-Ziele: erstens Wissen über den Ausbildungsvertrag, zweitens Anwendung im Ausbildungsalltag – messbar am Abschluss-Quiz, beide bis zum 8. Oktober.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Unser Projektstrukturplan zeigt alle Aufgaben des Projekts: fünf Teilaufgaben und zwei einzelne Arbeitspakete, zusammen 19 Arbeitspakete.</a:t>
            </a:r>
          </a:p>
          <a:p/>
          <a:p>
            <a:r>
              <a:t>Mido: Jedes Arbeitspaket hat ein klares Ergebnis und eine verantwortliche Person – Yasin, Mido oder wir beide.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Der Projektablaufplan legt für jedes Arbeitspaket Dauer und Zeitraum fest, vom 10. September bis zum 8. Oktober.</a:t>
            </a:r>
          </a:p>
          <a:p/>
          <a:p>
            <a:r>
              <a:t>Mido: Fünf Meilensteine sichern den Plan – der letzte ist die Präsentation am 8. Oktober.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515600" cy="457200"/>
          </a:xfrm>
          <a:prstGeom prst="rect">
            <a:avLst/>
          </a:prstGeom>
          <a:noFill/>
        </p:spPr>
        <p:txBody>
          <a:bodyPr wrap="square" anchor="t">
            <a:spAutoFit/>
          </a:bodyPr>
          <a:lstStyle/>
          <a:p>
            <a:pPr algn="l"/>
            <a:r>
              <a:rPr sz="1600" b="1">
                <a:solidFill>
                  <a:srgbClr val="F5A800"/>
                </a:solidFill>
                <a:latin typeface="Arial"/>
              </a:rPr>
              <a:t>PRÜFUNGSVORBEREITUNG · WIRTSCHAFTS- UND SOZIALKUNDE</a:t>
            </a:r>
          </a:p>
        </p:txBody>
      </p:sp>
      <p:sp>
        <p:nvSpPr>
          <p:cNvPr id="5" name="TextBox 4"/>
          <p:cNvSpPr txBox="1"/>
          <p:nvPr/>
        </p:nvSpPr>
        <p:spPr>
          <a:xfrm>
            <a:off x="914400" y="1645920"/>
            <a:ext cx="10515600" cy="1828800"/>
          </a:xfrm>
          <a:prstGeom prst="rect">
            <a:avLst/>
          </a:prstGeom>
          <a:noFill/>
        </p:spPr>
        <p:txBody>
          <a:bodyPr wrap="square" anchor="t">
            <a:spAutoFit/>
          </a:bodyPr>
          <a:lstStyle/>
          <a:p>
            <a:pPr algn="l"/>
            <a:r>
              <a:rPr sz="4800" b="1">
                <a:solidFill>
                  <a:srgbClr val="FFFFFF"/>
                </a:solidFill>
                <a:latin typeface="Arial"/>
              </a:rPr>
              <a:t>Rechte und Pflichten aus dem Ausbildungsvertrag</a:t>
            </a:r>
          </a:p>
        </p:txBody>
      </p:sp>
      <p:sp>
        <p:nvSpPr>
          <p:cNvPr id="6" name="TextBox 5"/>
          <p:cNvSpPr txBox="1"/>
          <p:nvPr/>
        </p:nvSpPr>
        <p:spPr>
          <a:xfrm>
            <a:off x="914400" y="3566160"/>
            <a:ext cx="10058400" cy="457200"/>
          </a:xfrm>
          <a:prstGeom prst="rect">
            <a:avLst/>
          </a:prstGeom>
          <a:noFill/>
        </p:spPr>
        <p:txBody>
          <a:bodyPr wrap="square" anchor="t">
            <a:spAutoFit/>
          </a:bodyPr>
          <a:lstStyle/>
          <a:p>
            <a:pPr algn="l"/>
            <a:r>
              <a:rPr sz="2400" b="0">
                <a:solidFill>
                  <a:srgbClr val="DCE3F2"/>
                </a:solidFill>
                <a:latin typeface="Arial"/>
              </a:rPr>
              <a:t>Yasin &amp; Mido</a:t>
            </a:r>
          </a:p>
        </p:txBody>
      </p:sp>
      <p:sp>
        <p:nvSpPr>
          <p:cNvPr id="7" name="Rectangle 6"/>
          <p:cNvSpPr/>
          <p:nvPr/>
        </p:nvSpPr>
        <p:spPr>
          <a:xfrm>
            <a:off x="91440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92040"/>
            <a:ext cx="3291840" cy="822960"/>
          </a:xfrm>
          <a:prstGeom prst="rect">
            <a:avLst/>
          </a:prstGeom>
          <a:noFill/>
        </p:spPr>
        <p:txBody>
          <a:bodyPr wrap="square" anchor="ctr">
            <a:spAutoFit/>
          </a:bodyPr>
          <a:lstStyle/>
          <a:p>
            <a:pPr algn="ctr"/>
            <a:r>
              <a:rPr sz="2400" b="1">
                <a:solidFill>
                  <a:srgbClr val="F5A800"/>
                </a:solidFill>
                <a:latin typeface="Arial"/>
              </a:rPr>
              <a:t>1  </a:t>
            </a:r>
            <a:r>
              <a:rPr sz="2400" b="1">
                <a:solidFill>
                  <a:srgbClr val="FFFFFF"/>
                </a:solidFill>
                <a:latin typeface="Arial"/>
              </a:rPr>
              <a:t>Projekt</a:t>
            </a:r>
          </a:p>
        </p:txBody>
      </p:sp>
      <p:sp>
        <p:nvSpPr>
          <p:cNvPr id="10" name="Rectangle 9"/>
          <p:cNvSpPr/>
          <p:nvPr/>
        </p:nvSpPr>
        <p:spPr>
          <a:xfrm>
            <a:off x="448056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4892040"/>
            <a:ext cx="3291840" cy="822960"/>
          </a:xfrm>
          <a:prstGeom prst="rect">
            <a:avLst/>
          </a:prstGeom>
          <a:noFill/>
        </p:spPr>
        <p:txBody>
          <a:bodyPr wrap="square" anchor="ctr">
            <a:spAutoFit/>
          </a:bodyPr>
          <a:lstStyle/>
          <a:p>
            <a:pPr algn="ctr"/>
            <a:r>
              <a:rPr sz="2400" b="1">
                <a:solidFill>
                  <a:srgbClr val="F5A800"/>
                </a:solidFill>
                <a:latin typeface="Arial"/>
              </a:rPr>
              <a:t>2  </a:t>
            </a:r>
            <a:r>
              <a:rPr sz="2400" b="1">
                <a:solidFill>
                  <a:srgbClr val="FFFFFF"/>
                </a:solidFill>
                <a:latin typeface="Arial"/>
              </a:rPr>
              <a:t>Booklet</a:t>
            </a:r>
          </a:p>
        </p:txBody>
      </p:sp>
      <p:sp>
        <p:nvSpPr>
          <p:cNvPr id="13" name="Rectangle 12"/>
          <p:cNvSpPr/>
          <p:nvPr/>
        </p:nvSpPr>
        <p:spPr>
          <a:xfrm>
            <a:off x="804672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892040"/>
            <a:ext cx="3291840" cy="822960"/>
          </a:xfrm>
          <a:prstGeom prst="rect">
            <a:avLst/>
          </a:prstGeom>
          <a:noFill/>
        </p:spPr>
        <p:txBody>
          <a:bodyPr wrap="square" anchor="ctr">
            <a:spAutoFit/>
          </a:bodyPr>
          <a:lstStyle/>
          <a:p>
            <a:pPr algn="ctr"/>
            <a:r>
              <a:rPr sz="2400" b="1">
                <a:solidFill>
                  <a:srgbClr val="F5A800"/>
                </a:solidFill>
                <a:latin typeface="Arial"/>
              </a:rPr>
              <a:t>3  </a:t>
            </a:r>
            <a:r>
              <a:rPr sz="2400" b="1">
                <a:solidFill>
                  <a:srgbClr val="FFFFFF"/>
                </a:solidFill>
                <a:latin typeface="Arial"/>
              </a:rPr>
              <a:t>Prüfungstraining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 PROBLEM, ZIEL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Unser Projekt in Kürze</a:t>
            </a:r>
          </a:p>
        </p:txBody>
      </p:sp>
      <p:sp>
        <p:nvSpPr>
          <p:cNvPr id="5" name="Rectangle 4"/>
          <p:cNvSpPr/>
          <p:nvPr/>
        </p:nvSpPr>
        <p:spPr>
          <a:xfrm>
            <a:off x="640080" y="155448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27632"/>
            <a:ext cx="7498079" cy="457200"/>
          </a:xfrm>
          <a:prstGeom prst="rect">
            <a:avLst/>
          </a:prstGeom>
          <a:noFill/>
        </p:spPr>
        <p:txBody>
          <a:bodyPr wrap="square" anchor="t">
            <a:spAutoFit/>
          </a:bodyPr>
          <a:lstStyle/>
          <a:p>
            <a:pPr algn="l"/>
            <a:r>
              <a:rPr sz="2000" b="1">
                <a:solidFill>
                  <a:srgbClr val="14264B"/>
                </a:solidFill>
                <a:latin typeface="Arial"/>
              </a:rPr>
              <a:t>Aufgabe</a:t>
            </a:r>
          </a:p>
        </p:txBody>
      </p:sp>
      <p:sp>
        <p:nvSpPr>
          <p:cNvPr id="8" name="TextBox 7"/>
          <p:cNvSpPr txBox="1"/>
          <p:nvPr/>
        </p:nvSpPr>
        <p:spPr>
          <a:xfrm>
            <a:off x="868680" y="2139696"/>
            <a:ext cx="7498079" cy="786384"/>
          </a:xfrm>
          <a:prstGeom prst="rect">
            <a:avLst/>
          </a:prstGeom>
          <a:noFill/>
        </p:spPr>
        <p:txBody>
          <a:bodyPr wrap="square" anchor="t">
            <a:spAutoFit/>
          </a:bodyPr>
          <a:lstStyle/>
          <a:p>
            <a:pPr algn="l"/>
            <a:r>
              <a:rPr sz="1800" b="0">
                <a:solidFill>
                  <a:srgbClr val="1A2238"/>
                </a:solidFill>
                <a:latin typeface="Arial"/>
              </a:rPr>
              <a:t>Ein Prüfungsvorbereitungsbooklet zu einem Thema der schriftlichen IHK-Abschlussprüfung in Wirtschafts- und Sozialkunde.</a:t>
            </a:r>
          </a:p>
        </p:txBody>
      </p:sp>
      <p:sp>
        <p:nvSpPr>
          <p:cNvPr id="9" name="Rectangle 8"/>
          <p:cNvSpPr/>
          <p:nvPr/>
        </p:nvSpPr>
        <p:spPr>
          <a:xfrm>
            <a:off x="640080" y="310896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0896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82112"/>
            <a:ext cx="7498079" cy="457200"/>
          </a:xfrm>
          <a:prstGeom prst="rect">
            <a:avLst/>
          </a:prstGeom>
          <a:noFill/>
        </p:spPr>
        <p:txBody>
          <a:bodyPr wrap="square" anchor="t">
            <a:spAutoFit/>
          </a:bodyPr>
          <a:lstStyle/>
          <a:p>
            <a:pPr algn="l"/>
            <a:r>
              <a:rPr sz="2000" b="1">
                <a:solidFill>
                  <a:srgbClr val="14264B"/>
                </a:solidFill>
                <a:latin typeface="Arial"/>
              </a:rPr>
              <a:t>Problem</a:t>
            </a:r>
          </a:p>
        </p:txBody>
      </p:sp>
      <p:sp>
        <p:nvSpPr>
          <p:cNvPr id="12" name="TextBox 11"/>
          <p:cNvSpPr txBox="1"/>
          <p:nvPr/>
        </p:nvSpPr>
        <p:spPr>
          <a:xfrm>
            <a:off x="868680" y="3694176"/>
            <a:ext cx="7498079" cy="786384"/>
          </a:xfrm>
          <a:prstGeom prst="rect">
            <a:avLst/>
          </a:prstGeom>
          <a:noFill/>
        </p:spPr>
        <p:txBody>
          <a:bodyPr wrap="square" anchor="t">
            <a:spAutoFit/>
          </a:bodyPr>
          <a:lstStyle/>
          <a:p>
            <a:pPr algn="l"/>
            <a:r>
              <a:rPr sz="1800" b="0">
                <a:solidFill>
                  <a:srgbClr val="1A2238"/>
                </a:solidFill>
                <a:latin typeface="Arial"/>
              </a:rPr>
              <a:t>Zum Ausbildungsvertrag gab es bisher kein kompaktes Lernmaterial mit Aufgaben und Lösungen.</a:t>
            </a:r>
          </a:p>
        </p:txBody>
      </p:sp>
      <p:sp>
        <p:nvSpPr>
          <p:cNvPr id="13" name="Rectangle 12"/>
          <p:cNvSpPr/>
          <p:nvPr/>
        </p:nvSpPr>
        <p:spPr>
          <a:xfrm>
            <a:off x="640080" y="466344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66344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736592"/>
            <a:ext cx="7498079" cy="457200"/>
          </a:xfrm>
          <a:prstGeom prst="rect">
            <a:avLst/>
          </a:prstGeom>
          <a:noFill/>
        </p:spPr>
        <p:txBody>
          <a:bodyPr wrap="square" anchor="t">
            <a:spAutoFit/>
          </a:bodyPr>
          <a:lstStyle/>
          <a:p>
            <a:pPr algn="l"/>
            <a:r>
              <a:rPr sz="2000" b="1">
                <a:solidFill>
                  <a:srgbClr val="14264B"/>
                </a:solidFill>
                <a:latin typeface="Arial"/>
              </a:rPr>
              <a:t>Ziel</a:t>
            </a:r>
          </a:p>
        </p:txBody>
      </p:sp>
      <p:sp>
        <p:nvSpPr>
          <p:cNvPr id="16" name="TextBox 15"/>
          <p:cNvSpPr txBox="1"/>
          <p:nvPr/>
        </p:nvSpPr>
        <p:spPr>
          <a:xfrm>
            <a:off x="868680" y="5248655"/>
            <a:ext cx="7498079" cy="786384"/>
          </a:xfrm>
          <a:prstGeom prst="rect">
            <a:avLst/>
          </a:prstGeom>
          <a:noFill/>
        </p:spPr>
        <p:txBody>
          <a:bodyPr wrap="square" anchor="t">
            <a:spAutoFit/>
          </a:bodyPr>
          <a:lstStyle/>
          <a:p>
            <a:pPr algn="l"/>
            <a:r>
              <a:rPr sz="1800" b="0">
                <a:solidFill>
                  <a:srgbClr val="1A2238"/>
                </a:solidFill>
                <a:latin typeface="Arial"/>
              </a:rPr>
              <a:t>Regeln zu Beginn und Dauer, Arbeitszeit, Vergütung, Urlaub, Probezeit und Kündigung sicher anwenden können.</a:t>
            </a:r>
          </a:p>
        </p:txBody>
      </p:sp>
      <p:sp>
        <p:nvSpPr>
          <p:cNvPr id="17" name="Rectangle 16"/>
          <p:cNvSpPr/>
          <p:nvPr/>
        </p:nvSpPr>
        <p:spPr>
          <a:xfrm>
            <a:off x="8869680" y="1600200"/>
            <a:ext cx="2834640" cy="3977639"/>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1600200"/>
            <a:ext cx="2834640" cy="91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2103120"/>
            <a:ext cx="2834640" cy="457200"/>
          </a:xfrm>
          <a:prstGeom prst="rect">
            <a:avLst/>
          </a:prstGeom>
          <a:noFill/>
        </p:spPr>
        <p:txBody>
          <a:bodyPr wrap="square" anchor="t">
            <a:spAutoFit/>
          </a:bodyPr>
          <a:lstStyle/>
          <a:p>
            <a:pPr algn="ctr"/>
            <a:r>
              <a:rPr sz="1800" b="1">
                <a:solidFill>
                  <a:srgbClr val="F5A800"/>
                </a:solidFill>
                <a:latin typeface="Arial"/>
              </a:rPr>
              <a:t>PRÜFUNG</a:t>
            </a:r>
          </a:p>
        </p:txBody>
      </p:sp>
      <p:sp>
        <p:nvSpPr>
          <p:cNvPr id="20" name="TextBox 19"/>
          <p:cNvSpPr txBox="1"/>
          <p:nvPr/>
        </p:nvSpPr>
        <p:spPr>
          <a:xfrm>
            <a:off x="8869680" y="2651760"/>
            <a:ext cx="2834640" cy="1188720"/>
          </a:xfrm>
          <a:prstGeom prst="rect">
            <a:avLst/>
          </a:prstGeom>
          <a:noFill/>
        </p:spPr>
        <p:txBody>
          <a:bodyPr wrap="square" anchor="t">
            <a:spAutoFit/>
          </a:bodyPr>
          <a:lstStyle/>
          <a:p>
            <a:pPr algn="ctr"/>
            <a:r>
              <a:rPr sz="5400" b="1">
                <a:solidFill>
                  <a:srgbClr val="FFFFFF"/>
                </a:solidFill>
                <a:latin typeface="Arial"/>
              </a:rPr>
              <a:t>25.11.</a:t>
            </a:r>
          </a:p>
        </p:txBody>
      </p:sp>
      <p:sp>
        <p:nvSpPr>
          <p:cNvPr id="21" name="TextBox 20"/>
          <p:cNvSpPr txBox="1"/>
          <p:nvPr/>
        </p:nvSpPr>
        <p:spPr>
          <a:xfrm>
            <a:off x="8869680" y="4023360"/>
            <a:ext cx="2834640" cy="1280160"/>
          </a:xfrm>
          <a:prstGeom prst="rect">
            <a:avLst/>
          </a:prstGeom>
          <a:noFill/>
        </p:spPr>
        <p:txBody>
          <a:bodyPr wrap="square" anchor="t">
            <a:spAutoFit/>
          </a:bodyPr>
          <a:lstStyle/>
          <a:p>
            <a:pPr algn="ctr"/>
            <a:r>
              <a:rPr sz="1800" b="0">
                <a:solidFill>
                  <a:srgbClr val="DCE3F2"/>
                </a:solidFill>
                <a:latin typeface="Arial"/>
              </a:rPr>
              <a:t>schriftliche Abschlussprüfung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 · SOLL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Vorgehen und Zeitplan</a:t>
            </a:r>
          </a:p>
        </p:txBody>
      </p:sp>
      <p:graphicFrame>
        <p:nvGraphicFramePr>
          <p:cNvPr id="5" name="Table 4"/>
          <p:cNvGraphicFramePr>
            <a:graphicFrameLocks noGrp="1"/>
          </p:cNvGraphicFramePr>
          <p:nvPr/>
        </p:nvGraphicFramePr>
        <p:xfrm>
          <a:off x="640080" y="1645920"/>
          <a:ext cx="10972800" cy="4608576"/>
        </p:xfrm>
        <a:graphic>
          <a:graphicData uri="http://schemas.openxmlformats.org/drawingml/2006/table">
            <a:tbl>
              <a:tblPr firstRow="0" bandRow="0">
                <a:tableStyleId>{5C22544A-7EE6-4342-B048-85BDC9FD1C3A}</a:tableStyleId>
              </a:tblPr>
              <a:tblGrid>
                <a:gridCol w="4206240"/>
                <a:gridCol w="1554480"/>
                <a:gridCol w="3840480"/>
                <a:gridCol w="1371600"/>
              </a:tblGrid>
              <a:tr h="658368">
                <a:tc>
                  <a:txBody>
                    <a:bodyPr wrap="square"/>
                    <a:lstStyle/>
                    <a:p>
                      <a:r>
                        <a:rPr sz="1800" b="1">
                          <a:solidFill>
                            <a:srgbClr val="FFFFFF"/>
                          </a:solidFill>
                          <a:latin typeface="Arial"/>
                        </a:rPr>
                        <a:t>Schritt</a:t>
                      </a:r>
                    </a:p>
                  </a:txBody>
                  <a:tcPr marL="91440" marR="91440" marT="45720" marB="45720" anchor="ctr">
                    <a:solidFill>
                      <a:srgbClr val="14264B"/>
                    </a:solidFill>
                  </a:tcPr>
                </a:tc>
                <a:tc>
                  <a:txBody>
                    <a:bodyPr wrap="square"/>
                    <a:lstStyle/>
                    <a:p>
                      <a:r>
                        <a:rPr sz="1800" b="1">
                          <a:solidFill>
                            <a:srgbClr val="FFFFFF"/>
                          </a:solidFill>
                          <a:latin typeface="Arial"/>
                        </a:rPr>
                        <a:t>Soll</a:t>
                      </a:r>
                    </a:p>
                  </a:txBody>
                  <a:tcPr marL="91440" marR="91440" marT="45720" marB="45720" anchor="ctr">
                    <a:solidFill>
                      <a:srgbClr val="14264B"/>
                    </a:solidFill>
                  </a:tcPr>
                </a:tc>
                <a:tc>
                  <a:txBody>
                    <a:bodyPr wrap="square"/>
                    <a:lstStyle/>
                    <a:p>
                      <a:r>
                        <a:rPr sz="1800" b="1">
                          <a:solidFill>
                            <a:srgbClr val="FFFFFF"/>
                          </a:solidFill>
                          <a:latin typeface="Arial"/>
                        </a:rPr>
                        <a:t>Wer</a:t>
                      </a:r>
                    </a:p>
                  </a:txBody>
                  <a:tcPr marL="91440" marR="91440" marT="45720" marB="45720" anchor="ctr">
                    <a:solidFill>
                      <a:srgbClr val="14264B"/>
                    </a:solidFill>
                  </a:tcPr>
                </a:tc>
                <a:tc>
                  <a:txBody>
                    <a:bodyPr wrap="square"/>
                    <a:lstStyle/>
                    <a:p>
                      <a:r>
                        <a:rPr sz="1800" b="1">
                          <a:solidFill>
                            <a:srgbClr val="FFFFFF"/>
                          </a:solidFill>
                          <a:latin typeface="Arial"/>
                        </a:rPr>
                        <a:t>Ist</a:t>
                      </a:r>
                    </a:p>
                  </a:txBody>
                  <a:tcPr marL="91440" marR="91440" marT="45720" marB="45720" anchor="ctr">
                    <a:solidFill>
                      <a:srgbClr val="14264B"/>
                    </a:solidFill>
                  </a:tcPr>
                </a:tc>
              </a:tr>
              <a:tr h="658368">
                <a:tc>
                  <a:txBody>
                    <a:bodyPr wrap="square"/>
                    <a:lstStyle/>
                    <a:p>
                      <a:r>
                        <a:rPr sz="1800" b="1">
                          <a:solidFill>
                            <a:srgbClr val="14264B"/>
                          </a:solidFill>
                          <a:latin typeface="Arial"/>
                        </a:rPr>
                        <a:t>Recherche und Vertragssichtung</a:t>
                      </a:r>
                    </a:p>
                  </a:txBody>
                  <a:tcPr marL="91440" marR="91440" marT="45720" marB="45720" anchor="ctr">
                    <a:solidFill>
                      <a:srgbClr val="FFFFFF"/>
                    </a:solidFill>
                  </a:tcPr>
                </a:tc>
                <a:tc>
                  <a:txBody>
                    <a:bodyPr wrap="square"/>
                    <a:lstStyle/>
                    <a:p>
                      <a:r>
                        <a:rPr sz="1800">
                          <a:solidFill>
                            <a:srgbClr val="1A2238"/>
                          </a:solidFill>
                          <a:latin typeface="Arial"/>
                        </a:rPr>
                        <a:t>01.–02.10.</a:t>
                      </a:r>
                    </a:p>
                  </a:txBody>
                  <a:tcPr marL="91440" marR="91440" marT="45720" marB="45720" anchor="ctr">
                    <a:solidFill>
                      <a:srgbClr val="FFFFFF"/>
                    </a:solidFill>
                  </a:tcPr>
                </a:tc>
                <a:tc>
                  <a:txBody>
                    <a:bodyPr wrap="square"/>
                    <a:lstStyle/>
                    <a:p>
                      <a:r>
                        <a:rPr sz="1800">
                          <a:solidFill>
                            <a:srgbClr val="1A2238"/>
                          </a:solidFill>
                          <a:latin typeface="Arial"/>
                        </a:rPr>
                        <a:t>Yasin (Recherche), Mido (Vertrag)</a:t>
                      </a:r>
                    </a:p>
                  </a:txBody>
                  <a:tcPr marL="91440" marR="91440" marT="45720" marB="45720" anchor="ctr">
                    <a:solidFill>
                      <a:srgbClr val="FFFFFF"/>
                    </a:solidFill>
                  </a:tcPr>
                </a:tc>
                <a:tc>
                  <a:txBody>
                    <a:bodyPr wrap="square"/>
                    <a:lstStyle/>
                    <a:p>
                      <a:r>
                        <a:rPr sz="1800">
                          <a:solidFill>
                            <a:srgbClr val="1A2238"/>
                          </a:solidFill>
                          <a:latin typeface="Arial"/>
                        </a:rPr>
                        <a:t/>
                      </a:r>
                    </a:p>
                  </a:txBody>
                  <a:tcPr marL="91440" marR="91440" marT="45720" marB="45720" anchor="ctr">
                    <a:solidFill>
                      <a:srgbClr val="FFFFFF"/>
                    </a:solidFill>
                  </a:tcPr>
                </a:tc>
              </a:tr>
              <a:tr h="658368">
                <a:tc>
                  <a:txBody>
                    <a:bodyPr wrap="square"/>
                    <a:lstStyle/>
                    <a:p>
                      <a:r>
                        <a:rPr sz="1800" b="1">
                          <a:solidFill>
                            <a:srgbClr val="14264B"/>
                          </a:solidFill>
                          <a:latin typeface="Arial"/>
                        </a:rPr>
                        <a:t>Gliederung</a:t>
                      </a:r>
                    </a:p>
                  </a:txBody>
                  <a:tcPr marL="91440" marR="91440" marT="45720" marB="45720" anchor="ctr">
                    <a:solidFill>
                      <a:srgbClr val="F6F8FC"/>
                    </a:solidFill>
                  </a:tcPr>
                </a:tc>
                <a:tc>
                  <a:txBody>
                    <a:bodyPr wrap="square"/>
                    <a:lstStyle/>
                    <a:p>
                      <a:r>
                        <a:rPr sz="1800">
                          <a:solidFill>
                            <a:srgbClr val="1A2238"/>
                          </a:solidFill>
                          <a:latin typeface="Arial"/>
                        </a:rPr>
                        <a:t>02.–03.10.</a:t>
                      </a:r>
                    </a:p>
                  </a:txBody>
                  <a:tcPr marL="91440" marR="91440" marT="45720" marB="45720" anchor="ctr">
                    <a:solidFill>
                      <a:srgbClr val="F6F8FC"/>
                    </a:solidFill>
                  </a:tcPr>
                </a:tc>
                <a:tc>
                  <a:txBody>
                    <a:bodyPr wrap="square"/>
                    <a:lstStyle/>
                    <a:p>
                      <a:r>
                        <a:rPr sz="1800">
                          <a:solidFill>
                            <a:srgbClr val="1A2238"/>
                          </a:solidFill>
                          <a:latin typeface="Arial"/>
                        </a:rPr>
                        <a:t>Yasin &amp; Mido</a:t>
                      </a:r>
                    </a:p>
                  </a:txBody>
                  <a:tcPr marL="91440" marR="91440" marT="45720" marB="45720" anchor="ctr">
                    <a:solidFill>
                      <a:srgbClr val="F6F8FC"/>
                    </a:solidFill>
                  </a:tcPr>
                </a:tc>
                <a:tc>
                  <a:txBody>
                    <a:bodyPr wrap="square"/>
                    <a:lstStyle/>
                    <a:p>
                      <a:r>
                        <a:rPr sz="1800">
                          <a:solidFill>
                            <a:srgbClr val="1A2238"/>
                          </a:solidFill>
                          <a:latin typeface="Arial"/>
                        </a:rPr>
                        <a:t/>
                      </a:r>
                    </a:p>
                  </a:txBody>
                  <a:tcPr marL="91440" marR="91440" marT="45720" marB="45720" anchor="ctr">
                    <a:solidFill>
                      <a:srgbClr val="F6F8FC"/>
                    </a:solidFill>
                  </a:tcPr>
                </a:tc>
              </a:tr>
              <a:tr h="658368">
                <a:tc>
                  <a:txBody>
                    <a:bodyPr wrap="square"/>
                    <a:lstStyle/>
                    <a:p>
                      <a:r>
                        <a:rPr sz="1800" b="1">
                          <a:solidFill>
                            <a:srgbClr val="14264B"/>
                          </a:solidFill>
                          <a:latin typeface="Arial"/>
                        </a:rPr>
                        <a:t>Texte, Praxisbeispiele und Grafiken</a:t>
                      </a:r>
                    </a:p>
                  </a:txBody>
                  <a:tcPr marL="91440" marR="91440" marT="45720" marB="45720" anchor="ctr">
                    <a:solidFill>
                      <a:srgbClr val="FFFFFF"/>
                    </a:solidFill>
                  </a:tcPr>
                </a:tc>
                <a:tc>
                  <a:txBody>
                    <a:bodyPr wrap="square"/>
                    <a:lstStyle/>
                    <a:p>
                      <a:r>
                        <a:rPr sz="1800">
                          <a:solidFill>
                            <a:srgbClr val="1A2238"/>
                          </a:solidFill>
                          <a:latin typeface="Arial"/>
                        </a:rPr>
                        <a:t>03.–05.10.</a:t>
                      </a:r>
                    </a:p>
                  </a:txBody>
                  <a:tcPr marL="91440" marR="91440" marT="45720" marB="45720" anchor="ctr">
                    <a:solidFill>
                      <a:srgbClr val="FFFFFF"/>
                    </a:solidFill>
                  </a:tcPr>
                </a:tc>
                <a:tc>
                  <a:txBody>
                    <a:bodyPr wrap="square"/>
                    <a:lstStyle/>
                    <a:p>
                      <a:r>
                        <a:rPr sz="1800">
                          <a:solidFill>
                            <a:srgbClr val="1A2238"/>
                          </a:solidFill>
                          <a:latin typeface="Arial"/>
                        </a:rPr>
                        <a:t>Yasin (Texte), Mido (Beispiele, Grafiken)</a:t>
                      </a:r>
                    </a:p>
                  </a:txBody>
                  <a:tcPr marL="91440" marR="91440" marT="45720" marB="45720" anchor="ctr">
                    <a:solidFill>
                      <a:srgbClr val="FFFFFF"/>
                    </a:solidFill>
                  </a:tcPr>
                </a:tc>
                <a:tc>
                  <a:txBody>
                    <a:bodyPr wrap="square"/>
                    <a:lstStyle/>
                    <a:p>
                      <a:r>
                        <a:rPr sz="1800">
                          <a:solidFill>
                            <a:srgbClr val="1A2238"/>
                          </a:solidFill>
                          <a:latin typeface="Arial"/>
                        </a:rPr>
                        <a:t/>
                      </a:r>
                    </a:p>
                  </a:txBody>
                  <a:tcPr marL="91440" marR="91440" marT="45720" marB="45720" anchor="ctr">
                    <a:solidFill>
                      <a:srgbClr val="FFFFFF"/>
                    </a:solidFill>
                  </a:tcPr>
                </a:tc>
              </a:tr>
              <a:tr h="658368">
                <a:tc>
                  <a:txBody>
                    <a:bodyPr wrap="square"/>
                    <a:lstStyle/>
                    <a:p>
                      <a:r>
                        <a:rPr sz="1800" b="1">
                          <a:solidFill>
                            <a:srgbClr val="14264B"/>
                          </a:solidFill>
                          <a:latin typeface="Arial"/>
                        </a:rPr>
                        <a:t>Layout und Korrekturlesen</a:t>
                      </a:r>
                    </a:p>
                  </a:txBody>
                  <a:tcPr marL="91440" marR="91440" marT="45720" marB="45720" anchor="ctr">
                    <a:solidFill>
                      <a:srgbClr val="F6F8FC"/>
                    </a:solidFill>
                  </a:tcPr>
                </a:tc>
                <a:tc>
                  <a:txBody>
                    <a:bodyPr wrap="square"/>
                    <a:lstStyle/>
                    <a:p>
                      <a:r>
                        <a:rPr sz="1800">
                          <a:solidFill>
                            <a:srgbClr val="1A2238"/>
                          </a:solidFill>
                          <a:latin typeface="Arial"/>
                        </a:rPr>
                        <a:t>05.–06.10.</a:t>
                      </a:r>
                    </a:p>
                  </a:txBody>
                  <a:tcPr marL="91440" marR="91440" marT="45720" marB="45720" anchor="ctr">
                    <a:solidFill>
                      <a:srgbClr val="F6F8FC"/>
                    </a:solidFill>
                  </a:tcPr>
                </a:tc>
                <a:tc>
                  <a:txBody>
                    <a:bodyPr wrap="square"/>
                    <a:lstStyle/>
                    <a:p>
                      <a:r>
                        <a:rPr sz="1800">
                          <a:solidFill>
                            <a:srgbClr val="1A2238"/>
                          </a:solidFill>
                          <a:latin typeface="Arial"/>
                        </a:rPr>
                        <a:t>Yasin &amp; Mido, Mido (Korrekturlesen)</a:t>
                      </a:r>
                    </a:p>
                  </a:txBody>
                  <a:tcPr marL="91440" marR="91440" marT="45720" marB="45720" anchor="ctr">
                    <a:solidFill>
                      <a:srgbClr val="F6F8FC"/>
                    </a:solidFill>
                  </a:tcPr>
                </a:tc>
                <a:tc>
                  <a:txBody>
                    <a:bodyPr wrap="square"/>
                    <a:lstStyle/>
                    <a:p>
                      <a:r>
                        <a:rPr sz="1800">
                          <a:solidFill>
                            <a:srgbClr val="1A2238"/>
                          </a:solidFill>
                          <a:latin typeface="Arial"/>
                        </a:rPr>
                        <a:t/>
                      </a:r>
                    </a:p>
                  </a:txBody>
                  <a:tcPr marL="91440" marR="91440" marT="45720" marB="45720" anchor="ctr">
                    <a:solidFill>
                      <a:srgbClr val="F6F8FC"/>
                    </a:solidFill>
                  </a:tcPr>
                </a:tc>
              </a:tr>
              <a:tr h="658368">
                <a:tc>
                  <a:txBody>
                    <a:bodyPr wrap="square"/>
                    <a:lstStyle/>
                    <a:p>
                      <a:r>
                        <a:rPr sz="1800" b="1">
                          <a:solidFill>
                            <a:srgbClr val="14264B"/>
                          </a:solidFill>
                          <a:latin typeface="Arial"/>
                        </a:rPr>
                        <a:t>Präsentation vorbereiten und proben</a:t>
                      </a:r>
                    </a:p>
                  </a:txBody>
                  <a:tcPr marL="91440" marR="91440" marT="45720" marB="45720" anchor="ctr">
                    <a:solidFill>
                      <a:srgbClr val="FFFFFF"/>
                    </a:solidFill>
                  </a:tcPr>
                </a:tc>
                <a:tc>
                  <a:txBody>
                    <a:bodyPr wrap="square"/>
                    <a:lstStyle/>
                    <a:p>
                      <a:r>
                        <a:rPr sz="1800">
                          <a:solidFill>
                            <a:srgbClr val="1A2238"/>
                          </a:solidFill>
                          <a:latin typeface="Arial"/>
                        </a:rPr>
                        <a:t>06.–07.10.</a:t>
                      </a:r>
                    </a:p>
                  </a:txBody>
                  <a:tcPr marL="91440" marR="91440" marT="45720" marB="45720" anchor="ctr">
                    <a:solidFill>
                      <a:srgbClr val="FFFFFF"/>
                    </a:solidFill>
                  </a:tcPr>
                </a:tc>
                <a:tc>
                  <a:txBody>
                    <a:bodyPr wrap="square"/>
                    <a:lstStyle/>
                    <a:p>
                      <a:r>
                        <a:rPr sz="1800">
                          <a:solidFill>
                            <a:srgbClr val="1A2238"/>
                          </a:solidFill>
                          <a:latin typeface="Arial"/>
                        </a:rPr>
                        <a:t>Yasin &amp; Mido</a:t>
                      </a:r>
                    </a:p>
                  </a:txBody>
                  <a:tcPr marL="91440" marR="91440" marT="45720" marB="45720" anchor="ctr">
                    <a:solidFill>
                      <a:srgbClr val="FFFFFF"/>
                    </a:solidFill>
                  </a:tcPr>
                </a:tc>
                <a:tc>
                  <a:txBody>
                    <a:bodyPr wrap="square"/>
                    <a:lstStyle/>
                    <a:p>
                      <a:r>
                        <a:rPr sz="1800">
                          <a:solidFill>
                            <a:srgbClr val="1A2238"/>
                          </a:solidFill>
                          <a:latin typeface="Arial"/>
                        </a:rPr>
                        <a:t/>
                      </a:r>
                    </a:p>
                  </a:txBody>
                  <a:tcPr marL="91440" marR="91440" marT="45720" marB="45720" anchor="ctr">
                    <a:solidFill>
                      <a:srgbClr val="FFFFFF"/>
                    </a:solidFill>
                  </a:tcPr>
                </a:tc>
              </a:tr>
              <a:tr h="658368">
                <a:tc>
                  <a:txBody>
                    <a:bodyPr wrap="square"/>
                    <a:lstStyle/>
                    <a:p>
                      <a:r>
                        <a:rPr sz="1800" b="1">
                          <a:solidFill>
                            <a:srgbClr val="14264B"/>
                          </a:solidFill>
                          <a:latin typeface="Arial"/>
                        </a:rPr>
                        <a:t>Präsentation</a:t>
                      </a:r>
                    </a:p>
                  </a:txBody>
                  <a:tcPr marL="91440" marR="91440" marT="45720" marB="45720" anchor="ctr">
                    <a:solidFill>
                      <a:srgbClr val="F6F8FC"/>
                    </a:solidFill>
                  </a:tcPr>
                </a:tc>
                <a:tc>
                  <a:txBody>
                    <a:bodyPr wrap="square"/>
                    <a:lstStyle/>
                    <a:p>
                      <a:r>
                        <a:rPr sz="1800">
                          <a:solidFill>
                            <a:srgbClr val="1A2238"/>
                          </a:solidFill>
                          <a:latin typeface="Arial"/>
                        </a:rPr>
                        <a:t>08.10.</a:t>
                      </a:r>
                    </a:p>
                  </a:txBody>
                  <a:tcPr marL="91440" marR="91440" marT="45720" marB="45720" anchor="ctr">
                    <a:solidFill>
                      <a:srgbClr val="F6F8FC"/>
                    </a:solidFill>
                  </a:tcPr>
                </a:tc>
                <a:tc>
                  <a:txBody>
                    <a:bodyPr wrap="square"/>
                    <a:lstStyle/>
                    <a:p>
                      <a:r>
                        <a:rPr sz="1800">
                          <a:solidFill>
                            <a:srgbClr val="1A2238"/>
                          </a:solidFill>
                          <a:latin typeface="Arial"/>
                        </a:rPr>
                        <a:t>Yasin &amp; Mido</a:t>
                      </a:r>
                    </a:p>
                  </a:txBody>
                  <a:tcPr marL="91440" marR="91440" marT="45720" marB="45720" anchor="ctr">
                    <a:solidFill>
                      <a:srgbClr val="F6F8FC"/>
                    </a:solidFill>
                  </a:tcPr>
                </a:tc>
                <a:tc>
                  <a:txBody>
                    <a:bodyPr wrap="square"/>
                    <a:lstStyle/>
                    <a:p>
                      <a:r>
                        <a:rPr sz="1800">
                          <a:solidFill>
                            <a:srgbClr val="1A2238"/>
                          </a:solidFill>
                          <a:latin typeface="Arial"/>
                        </a:rPr>
                        <a:t/>
                      </a:r>
                    </a:p>
                  </a:txBody>
                  <a:tcPr marL="91440" marR="91440" marT="45720" marB="45720" anchor="ctr">
                    <a:solidFill>
                      <a:srgbClr val="F6F8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 · IST</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Probleme und Anpassungen</a:t>
            </a:r>
          </a:p>
        </p:txBody>
      </p:sp>
      <p:sp>
        <p:nvSpPr>
          <p:cNvPr id="5" name="Rectangle 4"/>
          <p:cNvSpPr/>
          <p:nvPr/>
        </p:nvSpPr>
        <p:spPr>
          <a:xfrm>
            <a:off x="640080" y="1737360"/>
            <a:ext cx="347472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37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3108960" cy="457200"/>
          </a:xfrm>
          <a:prstGeom prst="rect">
            <a:avLst/>
          </a:prstGeom>
          <a:noFill/>
        </p:spPr>
        <p:txBody>
          <a:bodyPr wrap="square" anchor="t">
            <a:spAutoFit/>
          </a:bodyPr>
          <a:lstStyle/>
          <a:p>
            <a:pPr algn="l"/>
            <a:r>
              <a:rPr sz="2200" b="1">
                <a:solidFill>
                  <a:srgbClr val="14264B"/>
                </a:solidFill>
                <a:latin typeface="Arial"/>
              </a:rPr>
              <a:t>Problem</a:t>
            </a:r>
          </a:p>
        </p:txBody>
      </p:sp>
      <p:sp>
        <p:nvSpPr>
          <p:cNvPr id="8" name="TextBox 7"/>
          <p:cNvSpPr txBox="1"/>
          <p:nvPr/>
        </p:nvSpPr>
        <p:spPr>
          <a:xfrm>
            <a:off x="868680" y="2370124"/>
            <a:ext cx="3108960" cy="1241755"/>
          </a:xfrm>
          <a:prstGeom prst="rect">
            <a:avLst/>
          </a:prstGeom>
          <a:noFill/>
        </p:spPr>
        <p:txBody>
          <a:bodyPr wrap="square" anchor="t">
            <a:spAutoFit/>
          </a:bodyPr>
          <a:lstStyle/>
          <a:p>
            <a:pPr algn="l"/>
            <a:r>
              <a:rPr sz="2000" b="0">
                <a:solidFill>
                  <a:srgbClr val="1A2238"/>
                </a:solidFill>
                <a:latin typeface="Arial"/>
              </a:rPr>
              <a:t>[Problem 1 – was wich vom Plan ab?]</a:t>
            </a:r>
          </a:p>
        </p:txBody>
      </p:sp>
      <p:sp>
        <p:nvSpPr>
          <p:cNvPr id="9" name="Rectangle 8"/>
          <p:cNvSpPr/>
          <p:nvPr/>
        </p:nvSpPr>
        <p:spPr>
          <a:xfrm>
            <a:off x="4389120" y="1737360"/>
            <a:ext cx="3474720" cy="19202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737360"/>
            <a:ext cx="91440" cy="19202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810512"/>
            <a:ext cx="3108960" cy="457200"/>
          </a:xfrm>
          <a:prstGeom prst="rect">
            <a:avLst/>
          </a:prstGeom>
          <a:noFill/>
        </p:spPr>
        <p:txBody>
          <a:bodyPr wrap="square" anchor="t">
            <a:spAutoFit/>
          </a:bodyPr>
          <a:lstStyle/>
          <a:p>
            <a:pPr algn="l"/>
            <a:r>
              <a:rPr sz="2200" b="1">
                <a:solidFill>
                  <a:srgbClr val="14264B"/>
                </a:solidFill>
                <a:latin typeface="Arial"/>
              </a:rPr>
              <a:t>Anpassung</a:t>
            </a:r>
          </a:p>
        </p:txBody>
      </p:sp>
      <p:sp>
        <p:nvSpPr>
          <p:cNvPr id="12" name="TextBox 11"/>
          <p:cNvSpPr txBox="1"/>
          <p:nvPr/>
        </p:nvSpPr>
        <p:spPr>
          <a:xfrm>
            <a:off x="4617720" y="2370124"/>
            <a:ext cx="3108960" cy="1241755"/>
          </a:xfrm>
          <a:prstGeom prst="rect">
            <a:avLst/>
          </a:prstGeom>
          <a:noFill/>
        </p:spPr>
        <p:txBody>
          <a:bodyPr wrap="square" anchor="t">
            <a:spAutoFit/>
          </a:bodyPr>
          <a:lstStyle/>
          <a:p>
            <a:pPr algn="l"/>
            <a:r>
              <a:rPr sz="2000" b="0">
                <a:solidFill>
                  <a:srgbClr val="1A2238"/>
                </a:solidFill>
                <a:latin typeface="Arial"/>
              </a:rPr>
              <a:t>[Anpassung 1]</a:t>
            </a:r>
          </a:p>
        </p:txBody>
      </p:sp>
      <p:sp>
        <p:nvSpPr>
          <p:cNvPr id="13" name="Rectangle 12"/>
          <p:cNvSpPr/>
          <p:nvPr/>
        </p:nvSpPr>
        <p:spPr>
          <a:xfrm>
            <a:off x="8138159" y="1737360"/>
            <a:ext cx="3474720" cy="192024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737360"/>
            <a:ext cx="91440" cy="192024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810512"/>
            <a:ext cx="3108960" cy="457200"/>
          </a:xfrm>
          <a:prstGeom prst="rect">
            <a:avLst/>
          </a:prstGeom>
          <a:noFill/>
        </p:spPr>
        <p:txBody>
          <a:bodyPr wrap="square" anchor="t">
            <a:spAutoFit/>
          </a:bodyPr>
          <a:lstStyle/>
          <a:p>
            <a:pPr algn="l"/>
            <a:r>
              <a:rPr sz="2200" b="1">
                <a:solidFill>
                  <a:srgbClr val="14264B"/>
                </a:solidFill>
                <a:latin typeface="Arial"/>
              </a:rPr>
              <a:t>Begründung</a:t>
            </a:r>
          </a:p>
        </p:txBody>
      </p:sp>
      <p:sp>
        <p:nvSpPr>
          <p:cNvPr id="16" name="TextBox 15"/>
          <p:cNvSpPr txBox="1"/>
          <p:nvPr/>
        </p:nvSpPr>
        <p:spPr>
          <a:xfrm>
            <a:off x="8366759" y="2370124"/>
            <a:ext cx="3108960" cy="1241755"/>
          </a:xfrm>
          <a:prstGeom prst="rect">
            <a:avLst/>
          </a:prstGeom>
          <a:noFill/>
        </p:spPr>
        <p:txBody>
          <a:bodyPr wrap="square" anchor="t">
            <a:spAutoFit/>
          </a:bodyPr>
          <a:lstStyle/>
          <a:p>
            <a:pPr algn="l"/>
            <a:r>
              <a:rPr sz="2000" b="0">
                <a:solidFill>
                  <a:srgbClr val="1A2238"/>
                </a:solidFill>
                <a:latin typeface="Arial"/>
              </a:rPr>
              <a:t>[Begründung]</a:t>
            </a:r>
          </a:p>
        </p:txBody>
      </p:sp>
      <p:sp>
        <p:nvSpPr>
          <p:cNvPr id="17" name="Rectangle 16"/>
          <p:cNvSpPr/>
          <p:nvPr/>
        </p:nvSpPr>
        <p:spPr>
          <a:xfrm>
            <a:off x="640080" y="4023360"/>
            <a:ext cx="347472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023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096512"/>
            <a:ext cx="3108960" cy="457200"/>
          </a:xfrm>
          <a:prstGeom prst="rect">
            <a:avLst/>
          </a:prstGeom>
          <a:noFill/>
        </p:spPr>
        <p:txBody>
          <a:bodyPr wrap="square" anchor="t">
            <a:spAutoFit/>
          </a:bodyPr>
          <a:lstStyle/>
          <a:p>
            <a:pPr algn="l"/>
            <a:r>
              <a:rPr sz="2200" b="1">
                <a:solidFill>
                  <a:srgbClr val="14264B"/>
                </a:solidFill>
                <a:latin typeface="Arial"/>
              </a:rPr>
              <a:t>Problem</a:t>
            </a:r>
          </a:p>
        </p:txBody>
      </p:sp>
      <p:sp>
        <p:nvSpPr>
          <p:cNvPr id="20" name="TextBox 19"/>
          <p:cNvSpPr txBox="1"/>
          <p:nvPr/>
        </p:nvSpPr>
        <p:spPr>
          <a:xfrm>
            <a:off x="868680" y="4656124"/>
            <a:ext cx="3108960" cy="1241755"/>
          </a:xfrm>
          <a:prstGeom prst="rect">
            <a:avLst/>
          </a:prstGeom>
          <a:noFill/>
        </p:spPr>
        <p:txBody>
          <a:bodyPr wrap="square" anchor="t">
            <a:spAutoFit/>
          </a:bodyPr>
          <a:lstStyle/>
          <a:p>
            <a:pPr algn="l"/>
            <a:r>
              <a:rPr sz="2000" b="0">
                <a:solidFill>
                  <a:srgbClr val="1A2238"/>
                </a:solidFill>
                <a:latin typeface="Arial"/>
              </a:rPr>
              <a:t>[Problem 2]</a:t>
            </a:r>
          </a:p>
        </p:txBody>
      </p:sp>
      <p:sp>
        <p:nvSpPr>
          <p:cNvPr id="21" name="Rectangle 20"/>
          <p:cNvSpPr/>
          <p:nvPr/>
        </p:nvSpPr>
        <p:spPr>
          <a:xfrm>
            <a:off x="4389120" y="4023360"/>
            <a:ext cx="3474720" cy="19202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023360"/>
            <a:ext cx="91440" cy="19202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096512"/>
            <a:ext cx="3108960" cy="457200"/>
          </a:xfrm>
          <a:prstGeom prst="rect">
            <a:avLst/>
          </a:prstGeom>
          <a:noFill/>
        </p:spPr>
        <p:txBody>
          <a:bodyPr wrap="square" anchor="t">
            <a:spAutoFit/>
          </a:bodyPr>
          <a:lstStyle/>
          <a:p>
            <a:pPr algn="l"/>
            <a:r>
              <a:rPr sz="2200" b="1">
                <a:solidFill>
                  <a:srgbClr val="14264B"/>
                </a:solidFill>
                <a:latin typeface="Arial"/>
              </a:rPr>
              <a:t>Anpassung</a:t>
            </a:r>
          </a:p>
        </p:txBody>
      </p:sp>
      <p:sp>
        <p:nvSpPr>
          <p:cNvPr id="24" name="TextBox 23"/>
          <p:cNvSpPr txBox="1"/>
          <p:nvPr/>
        </p:nvSpPr>
        <p:spPr>
          <a:xfrm>
            <a:off x="4617720" y="4656124"/>
            <a:ext cx="3108960" cy="1241755"/>
          </a:xfrm>
          <a:prstGeom prst="rect">
            <a:avLst/>
          </a:prstGeom>
          <a:noFill/>
        </p:spPr>
        <p:txBody>
          <a:bodyPr wrap="square" anchor="t">
            <a:spAutoFit/>
          </a:bodyPr>
          <a:lstStyle/>
          <a:p>
            <a:pPr algn="l"/>
            <a:r>
              <a:rPr sz="2000" b="0">
                <a:solidFill>
                  <a:srgbClr val="1A2238"/>
                </a:solidFill>
                <a:latin typeface="Arial"/>
              </a:rPr>
              <a:t>[Anpassung 2]</a:t>
            </a:r>
          </a:p>
        </p:txBody>
      </p:sp>
      <p:sp>
        <p:nvSpPr>
          <p:cNvPr id="25" name="Rectangle 24"/>
          <p:cNvSpPr/>
          <p:nvPr/>
        </p:nvSpPr>
        <p:spPr>
          <a:xfrm>
            <a:off x="8138159" y="4023360"/>
            <a:ext cx="3474720" cy="192024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4023360"/>
            <a:ext cx="91440" cy="192024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096512"/>
            <a:ext cx="3108960" cy="457200"/>
          </a:xfrm>
          <a:prstGeom prst="rect">
            <a:avLst/>
          </a:prstGeom>
          <a:noFill/>
        </p:spPr>
        <p:txBody>
          <a:bodyPr wrap="square" anchor="t">
            <a:spAutoFit/>
          </a:bodyPr>
          <a:lstStyle/>
          <a:p>
            <a:pPr algn="l"/>
            <a:r>
              <a:rPr sz="2200" b="1">
                <a:solidFill>
                  <a:srgbClr val="14264B"/>
                </a:solidFill>
                <a:latin typeface="Arial"/>
              </a:rPr>
              <a:t>Begründung</a:t>
            </a:r>
          </a:p>
        </p:txBody>
      </p:sp>
      <p:sp>
        <p:nvSpPr>
          <p:cNvPr id="28" name="TextBox 27"/>
          <p:cNvSpPr txBox="1"/>
          <p:nvPr/>
        </p:nvSpPr>
        <p:spPr>
          <a:xfrm>
            <a:off x="8366759" y="4656124"/>
            <a:ext cx="3108960" cy="1241755"/>
          </a:xfrm>
          <a:prstGeom prst="rect">
            <a:avLst/>
          </a:prstGeom>
          <a:noFill/>
        </p:spPr>
        <p:txBody>
          <a:bodyPr wrap="square" anchor="t">
            <a:spAutoFit/>
          </a:bodyPr>
          <a:lstStyle/>
          <a:p>
            <a:pPr algn="l"/>
            <a:r>
              <a:rPr sz="2000" b="0">
                <a:solidFill>
                  <a:srgbClr val="1A2238"/>
                </a:solidFill>
                <a:latin typeface="Arial"/>
              </a:rPr>
              <a:t>[Begründung]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Rahmenbedingungen und Absprachen</a:t>
            </a:r>
          </a:p>
        </p:txBody>
      </p:sp>
      <p:sp>
        <p:nvSpPr>
          <p:cNvPr id="5" name="TextBox 4"/>
          <p:cNvSpPr txBox="1"/>
          <p:nvPr/>
        </p:nvSpPr>
        <p:spPr>
          <a:xfrm>
            <a:off x="640080" y="1554480"/>
            <a:ext cx="5303520" cy="457200"/>
          </a:xfrm>
          <a:prstGeom prst="rect">
            <a:avLst/>
          </a:prstGeom>
          <a:noFill/>
        </p:spPr>
        <p:txBody>
          <a:bodyPr wrap="square" anchor="t">
            <a:spAutoFit/>
          </a:bodyPr>
          <a:lstStyle/>
          <a:p>
            <a:pPr algn="l"/>
            <a:r>
              <a:rPr sz="2400" b="1">
                <a:solidFill>
                  <a:srgbClr val="14264B"/>
                </a:solidFill>
                <a:latin typeface="Arial"/>
              </a:rPr>
              <a:t>Rahmenbedingungen</a:t>
            </a:r>
          </a:p>
        </p:txBody>
      </p:sp>
      <p:sp>
        <p:nvSpPr>
          <p:cNvPr id="6" name="Rectangle 5"/>
          <p:cNvSpPr/>
          <p:nvPr/>
        </p:nvSpPr>
        <p:spPr>
          <a:xfrm>
            <a:off x="640080" y="21945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4937760" cy="777240"/>
          </a:xfrm>
          <a:prstGeom prst="rect">
            <a:avLst/>
          </a:prstGeom>
          <a:noFill/>
        </p:spPr>
        <p:txBody>
          <a:bodyPr wrap="square" anchor="ctr">
            <a:spAutoFit/>
          </a:bodyPr>
          <a:lstStyle/>
          <a:p>
            <a:pPr algn="l"/>
            <a:r>
              <a:rPr sz="2200" b="1">
                <a:solidFill>
                  <a:srgbClr val="14264B"/>
                </a:solidFill>
                <a:latin typeface="Arial"/>
              </a:rPr>
              <a:t>Team aus zwei Personen</a:t>
            </a:r>
          </a:p>
        </p:txBody>
      </p:sp>
      <p:sp>
        <p:nvSpPr>
          <p:cNvPr id="9" name="Rectangle 8"/>
          <p:cNvSpPr/>
          <p:nvPr/>
        </p:nvSpPr>
        <p:spPr>
          <a:xfrm>
            <a:off x="640080" y="31089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089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08960"/>
            <a:ext cx="4937760" cy="777240"/>
          </a:xfrm>
          <a:prstGeom prst="rect">
            <a:avLst/>
          </a:prstGeom>
          <a:noFill/>
        </p:spPr>
        <p:txBody>
          <a:bodyPr wrap="square" anchor="ctr">
            <a:spAutoFit/>
          </a:bodyPr>
          <a:lstStyle/>
          <a:p>
            <a:pPr algn="l"/>
            <a:r>
              <a:rPr sz="2200" b="1">
                <a:solidFill>
                  <a:srgbClr val="14264B"/>
                </a:solidFill>
                <a:latin typeface="Arial"/>
              </a:rPr>
              <a:t>Feste Abgabe am 8. Oktober</a:t>
            </a:r>
          </a:p>
        </p:txBody>
      </p:sp>
      <p:sp>
        <p:nvSpPr>
          <p:cNvPr id="12" name="Rectangle 11"/>
          <p:cNvSpPr/>
          <p:nvPr/>
        </p:nvSpPr>
        <p:spPr>
          <a:xfrm>
            <a:off x="640080" y="40233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0233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3360"/>
            <a:ext cx="4937760" cy="777240"/>
          </a:xfrm>
          <a:prstGeom prst="rect">
            <a:avLst/>
          </a:prstGeom>
          <a:noFill/>
        </p:spPr>
        <p:txBody>
          <a:bodyPr wrap="square" anchor="ctr">
            <a:spAutoFit/>
          </a:bodyPr>
          <a:lstStyle/>
          <a:p>
            <a:pPr algn="l"/>
            <a:r>
              <a:rPr sz="2200" b="1">
                <a:solidFill>
                  <a:srgbClr val="14264B"/>
                </a:solidFill>
                <a:latin typeface="Arial"/>
              </a:rPr>
              <a:t>Keine nennenswerten Kosten</a:t>
            </a:r>
          </a:p>
        </p:txBody>
      </p:sp>
      <p:sp>
        <p:nvSpPr>
          <p:cNvPr id="15" name="Rectangle 14"/>
          <p:cNvSpPr/>
          <p:nvPr/>
        </p:nvSpPr>
        <p:spPr>
          <a:xfrm>
            <a:off x="640080" y="49377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377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37760"/>
            <a:ext cx="4937760" cy="777240"/>
          </a:xfrm>
          <a:prstGeom prst="rect">
            <a:avLst/>
          </a:prstGeom>
          <a:noFill/>
        </p:spPr>
        <p:txBody>
          <a:bodyPr wrap="square" anchor="ctr">
            <a:spAutoFit/>
          </a:bodyPr>
          <a:lstStyle/>
          <a:p>
            <a:pPr algn="l"/>
            <a:r>
              <a:rPr sz="2200" b="1">
                <a:solidFill>
                  <a:srgbClr val="14264B"/>
                </a:solidFill>
                <a:latin typeface="Arial"/>
              </a:rPr>
              <a:t>Vertragsauszüge nur anonymisiert</a:t>
            </a:r>
          </a:p>
        </p:txBody>
      </p:sp>
      <p:sp>
        <p:nvSpPr>
          <p:cNvPr id="18" name="TextBox 17"/>
          <p:cNvSpPr txBox="1"/>
          <p:nvPr/>
        </p:nvSpPr>
        <p:spPr>
          <a:xfrm>
            <a:off x="6400800" y="1554480"/>
            <a:ext cx="5303520" cy="457200"/>
          </a:xfrm>
          <a:prstGeom prst="rect">
            <a:avLst/>
          </a:prstGeom>
          <a:noFill/>
        </p:spPr>
        <p:txBody>
          <a:bodyPr wrap="square" anchor="t">
            <a:spAutoFit/>
          </a:bodyPr>
          <a:lstStyle/>
          <a:p>
            <a:pPr algn="l"/>
            <a:r>
              <a:rPr sz="2400" b="1">
                <a:solidFill>
                  <a:srgbClr val="14264B"/>
                </a:solidFill>
                <a:latin typeface="Arial"/>
              </a:rPr>
              <a:t>Absprachen</a:t>
            </a:r>
          </a:p>
        </p:txBody>
      </p:sp>
      <p:sp>
        <p:nvSpPr>
          <p:cNvPr id="19" name="Rectangle 18"/>
          <p:cNvSpPr/>
          <p:nvPr/>
        </p:nvSpPr>
        <p:spPr>
          <a:xfrm>
            <a:off x="6400800" y="2194560"/>
            <a:ext cx="5303520" cy="3520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2194560"/>
            <a:ext cx="91440" cy="3520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2286000"/>
            <a:ext cx="4937760" cy="3383280"/>
          </a:xfrm>
          <a:prstGeom prst="rect">
            <a:avLst/>
          </a:prstGeom>
          <a:noFill/>
        </p:spPr>
        <p:txBody>
          <a:bodyPr wrap="square" anchor="t">
            <a:spAutoFit/>
          </a:bodyPr>
          <a:lstStyle/>
          <a:p>
            <a:pPr algn="l"/>
            <a:r>
              <a:rPr sz="2200" b="0">
                <a:solidFill>
                  <a:srgbClr val="1A2238"/>
                </a:solidFill>
                <a:latin typeface="Arial"/>
              </a:rPr>
              <a:t>Mit </a:t>
            </a:r>
            <a:r>
              <a:rPr sz="2200" b="1">
                <a:solidFill>
                  <a:srgbClr val="14264B"/>
                </a:solidFill>
                <a:latin typeface="Arial"/>
              </a:rPr>
              <a:t>[Ansprechpartner]</a:t>
            </a:r>
          </a:p>
          <a:p>
            <a:pPr algn="l">
              <a:spcBef>
                <a:spcPts val="1100"/>
              </a:spcBef>
            </a:pPr>
            <a:r>
              <a:rPr sz="2200" b="0">
                <a:solidFill>
                  <a:srgbClr val="1A2238"/>
                </a:solidFill>
                <a:latin typeface="Arial"/>
              </a:rPr>
              <a:t>Thema und Ergebnis: </a:t>
            </a:r>
            <a:r>
              <a:rPr sz="2200" b="1">
                <a:solidFill>
                  <a:srgbClr val="14264B"/>
                </a:solidFill>
                <a:latin typeface="Arial"/>
              </a:rPr>
              <a:t>[Thema und Ergebnis]</a:t>
            </a:r>
          </a:p>
          <a:p>
            <a:pPr algn="l">
              <a:spcBef>
                <a:spcPts val="1100"/>
              </a:spcBef>
            </a:pPr>
            <a:r>
              <a:rPr sz="2200" b="0">
                <a:solidFill>
                  <a:srgbClr val="1A2238"/>
                </a:solidFill>
                <a:latin typeface="Arial"/>
              </a:rPr>
              <a:t>Berücksichtigt durch: </a:t>
            </a:r>
            <a:r>
              <a:rPr sz="2200" b="1">
                <a:solidFill>
                  <a:srgbClr val="14264B"/>
                </a:solidFill>
                <a:latin typeface="Arial"/>
              </a:rPr>
              <a:t>[Änderung]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KUNDENORIENTIERUNG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Für wen wir das Booklet gebaut haben</a:t>
            </a:r>
          </a:p>
        </p:txBody>
      </p:sp>
      <p:sp>
        <p:nvSpPr>
          <p:cNvPr id="5" name="Rectangle 4"/>
          <p:cNvSpPr/>
          <p:nvPr/>
        </p:nvSpPr>
        <p:spPr>
          <a:xfrm>
            <a:off x="640080" y="173736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37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5074920" cy="457200"/>
          </a:xfrm>
          <a:prstGeom prst="rect">
            <a:avLst/>
          </a:prstGeom>
          <a:noFill/>
        </p:spPr>
        <p:txBody>
          <a:bodyPr wrap="square" anchor="t">
            <a:spAutoFit/>
          </a:bodyPr>
          <a:lstStyle/>
          <a:p>
            <a:pPr algn="l"/>
            <a:r>
              <a:rPr sz="2200" b="1">
                <a:solidFill>
                  <a:srgbClr val="14264B"/>
                </a:solidFill>
                <a:latin typeface="Arial"/>
              </a:rPr>
              <a:t>Reihenfolge des Prüfungskatalogs</a:t>
            </a:r>
          </a:p>
        </p:txBody>
      </p:sp>
      <p:sp>
        <p:nvSpPr>
          <p:cNvPr id="8" name="TextBox 7"/>
          <p:cNvSpPr txBox="1"/>
          <p:nvPr/>
        </p:nvSpPr>
        <p:spPr>
          <a:xfrm>
            <a:off x="868680" y="2370124"/>
            <a:ext cx="5074920" cy="1241755"/>
          </a:xfrm>
          <a:prstGeom prst="rect">
            <a:avLst/>
          </a:prstGeom>
          <a:noFill/>
        </p:spPr>
        <p:txBody>
          <a:bodyPr wrap="square" anchor="t">
            <a:spAutoFit/>
          </a:bodyPr>
          <a:lstStyle/>
          <a:p>
            <a:pPr algn="l"/>
            <a:r>
              <a:rPr sz="2000" b="0">
                <a:solidFill>
                  <a:srgbClr val="1A2238"/>
                </a:solidFill>
                <a:latin typeface="Arial"/>
              </a:rPr>
              <a:t>Das Booklet folgt dem Prüfungskatalog.</a:t>
            </a:r>
          </a:p>
        </p:txBody>
      </p:sp>
      <p:sp>
        <p:nvSpPr>
          <p:cNvPr id="9" name="Rectangle 8"/>
          <p:cNvSpPr/>
          <p:nvPr/>
        </p:nvSpPr>
        <p:spPr>
          <a:xfrm>
            <a:off x="6263640" y="173736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737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10512"/>
            <a:ext cx="5074920" cy="457200"/>
          </a:xfrm>
          <a:prstGeom prst="rect">
            <a:avLst/>
          </a:prstGeom>
          <a:noFill/>
        </p:spPr>
        <p:txBody>
          <a:bodyPr wrap="square" anchor="t">
            <a:spAutoFit/>
          </a:bodyPr>
          <a:lstStyle/>
          <a:p>
            <a:pPr algn="l"/>
            <a:r>
              <a:rPr sz="2200" b="1">
                <a:solidFill>
                  <a:srgbClr val="14264B"/>
                </a:solidFill>
                <a:latin typeface="Arial"/>
              </a:rPr>
              <a:t>Einfache Sprache</a:t>
            </a:r>
          </a:p>
        </p:txBody>
      </p:sp>
      <p:sp>
        <p:nvSpPr>
          <p:cNvPr id="12" name="TextBox 11"/>
          <p:cNvSpPr txBox="1"/>
          <p:nvPr/>
        </p:nvSpPr>
        <p:spPr>
          <a:xfrm>
            <a:off x="6492240" y="2370124"/>
            <a:ext cx="5074920" cy="1241755"/>
          </a:xfrm>
          <a:prstGeom prst="rect">
            <a:avLst/>
          </a:prstGeom>
          <a:noFill/>
        </p:spPr>
        <p:txBody>
          <a:bodyPr wrap="square" anchor="t">
            <a:spAutoFit/>
          </a:bodyPr>
          <a:lstStyle/>
          <a:p>
            <a:pPr algn="l"/>
            <a:r>
              <a:rPr sz="2000" b="0">
                <a:solidFill>
                  <a:srgbClr val="1A2238"/>
                </a:solidFill>
                <a:latin typeface="Arial"/>
              </a:rPr>
              <a:t>statt Gesetzesdeutsch, mit Merksätzen</a:t>
            </a:r>
          </a:p>
        </p:txBody>
      </p:sp>
      <p:sp>
        <p:nvSpPr>
          <p:cNvPr id="13" name="Rectangle 12"/>
          <p:cNvSpPr/>
          <p:nvPr/>
        </p:nvSpPr>
        <p:spPr>
          <a:xfrm>
            <a:off x="640080" y="393192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93192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05072"/>
            <a:ext cx="5074920" cy="457200"/>
          </a:xfrm>
          <a:prstGeom prst="rect">
            <a:avLst/>
          </a:prstGeom>
          <a:noFill/>
        </p:spPr>
        <p:txBody>
          <a:bodyPr wrap="square" anchor="t">
            <a:spAutoFit/>
          </a:bodyPr>
          <a:lstStyle/>
          <a:p>
            <a:pPr algn="l"/>
            <a:r>
              <a:rPr sz="2200" b="1">
                <a:solidFill>
                  <a:srgbClr val="14264B"/>
                </a:solidFill>
                <a:latin typeface="Arial"/>
              </a:rPr>
              <a:t>Aufgaben samt Lösungen</a:t>
            </a:r>
          </a:p>
        </p:txBody>
      </p:sp>
      <p:sp>
        <p:nvSpPr>
          <p:cNvPr id="16" name="TextBox 15"/>
          <p:cNvSpPr txBox="1"/>
          <p:nvPr/>
        </p:nvSpPr>
        <p:spPr>
          <a:xfrm>
            <a:off x="868680" y="4564684"/>
            <a:ext cx="5074920" cy="1241755"/>
          </a:xfrm>
          <a:prstGeom prst="rect">
            <a:avLst/>
          </a:prstGeom>
          <a:noFill/>
        </p:spPr>
        <p:txBody>
          <a:bodyPr wrap="square" anchor="t">
            <a:spAutoFit/>
          </a:bodyPr>
          <a:lstStyle/>
          <a:p>
            <a:pPr algn="l"/>
            <a:r>
              <a:rPr sz="2000" b="0">
                <a:solidFill>
                  <a:srgbClr val="1A2238"/>
                </a:solidFill>
                <a:latin typeface="Arial"/>
              </a:rPr>
              <a:t>und ein Merkblatt zum Mitnehmen</a:t>
            </a:r>
          </a:p>
        </p:txBody>
      </p:sp>
      <p:sp>
        <p:nvSpPr>
          <p:cNvPr id="17" name="Rectangle 16"/>
          <p:cNvSpPr/>
          <p:nvPr/>
        </p:nvSpPr>
        <p:spPr>
          <a:xfrm>
            <a:off x="6263640" y="393192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93192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05072"/>
            <a:ext cx="5074920" cy="457200"/>
          </a:xfrm>
          <a:prstGeom prst="rect">
            <a:avLst/>
          </a:prstGeom>
          <a:noFill/>
        </p:spPr>
        <p:txBody>
          <a:bodyPr wrap="square" anchor="t">
            <a:spAutoFit/>
          </a:bodyPr>
          <a:lstStyle/>
          <a:p>
            <a:pPr algn="l"/>
            <a:r>
              <a:rPr sz="2200" b="1">
                <a:solidFill>
                  <a:srgbClr val="14264B"/>
                </a:solidFill>
                <a:latin typeface="Arial"/>
              </a:rPr>
              <a:t>Aktuelle Zahlen mit Quellen</a:t>
            </a:r>
          </a:p>
        </p:txBody>
      </p:sp>
      <p:sp>
        <p:nvSpPr>
          <p:cNvPr id="20" name="TextBox 19"/>
          <p:cNvSpPr txBox="1"/>
          <p:nvPr/>
        </p:nvSpPr>
        <p:spPr>
          <a:xfrm>
            <a:off x="6492240" y="4564684"/>
            <a:ext cx="5074920" cy="1241755"/>
          </a:xfrm>
          <a:prstGeom prst="rect">
            <a:avLst/>
          </a:prstGeom>
          <a:noFill/>
        </p:spPr>
        <p:txBody>
          <a:bodyPr wrap="square" anchor="t">
            <a:spAutoFit/>
          </a:bodyPr>
          <a:lstStyle/>
          <a:p>
            <a:pPr algn="l"/>
            <a:r>
              <a:rPr sz="2000" b="0">
                <a:solidFill>
                  <a:srgbClr val="1A2238"/>
                </a:solidFill>
                <a:latin typeface="Arial"/>
              </a:rPr>
              <a:t>zum Beispiel die Mindestausbildungsvergütung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DAS BOOKLET IM ÜBERBLICK</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Unser Booklet: fünf Bausteine</a:t>
            </a:r>
          </a:p>
        </p:txBody>
      </p:sp>
      <p:pic>
        <p:nvPicPr>
          <p:cNvPr id="5" name="Picture 4" descr="b1.png"/>
          <p:cNvPicPr>
            <a:picLocks noChangeAspect="1"/>
          </p:cNvPicPr>
          <p:nvPr/>
        </p:nvPicPr>
        <p:blipFill>
          <a:blip r:embed="rId3"/>
          <a:stretch>
            <a:fillRect/>
          </a:stretch>
        </p:blipFill>
        <p:spPr>
          <a:xfrm>
            <a:off x="8686800" y="1371600"/>
            <a:ext cx="3422925" cy="4846320"/>
          </a:xfrm>
          <a:prstGeom prst="rect">
            <a:avLst/>
          </a:prstGeom>
        </p:spPr>
      </p:pic>
      <p:sp>
        <p:nvSpPr>
          <p:cNvPr id="6" name="Rectangle 5"/>
          <p:cNvSpPr/>
          <p:nvPr/>
        </p:nvSpPr>
        <p:spPr>
          <a:xfrm>
            <a:off x="640080" y="146304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731520" cy="777240"/>
          </a:xfrm>
          <a:prstGeom prst="rect">
            <a:avLst/>
          </a:prstGeom>
          <a:noFill/>
        </p:spPr>
        <p:txBody>
          <a:bodyPr wrap="square" anchor="ctr">
            <a:spAutoFit/>
          </a:bodyPr>
          <a:lstStyle/>
          <a:p>
            <a:pPr algn="ctr"/>
            <a:r>
              <a:rPr sz="2800" b="1">
                <a:solidFill>
                  <a:srgbClr val="F5A800"/>
                </a:solidFill>
                <a:latin typeface="Arial"/>
              </a:rPr>
              <a:t>1</a:t>
            </a:r>
          </a:p>
        </p:txBody>
      </p:sp>
      <p:sp>
        <p:nvSpPr>
          <p:cNvPr id="8" name="Rectangle 7"/>
          <p:cNvSpPr/>
          <p:nvPr/>
        </p:nvSpPr>
        <p:spPr>
          <a:xfrm>
            <a:off x="1371600" y="146304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463040"/>
            <a:ext cx="6766560" cy="777240"/>
          </a:xfrm>
          <a:prstGeom prst="rect">
            <a:avLst/>
          </a:prstGeom>
          <a:noFill/>
        </p:spPr>
        <p:txBody>
          <a:bodyPr wrap="square" anchor="ctr">
            <a:spAutoFit/>
          </a:bodyPr>
          <a:lstStyle/>
          <a:p>
            <a:pPr algn="l"/>
            <a:r>
              <a:rPr sz="1900" b="1">
                <a:solidFill>
                  <a:srgbClr val="14264B"/>
                </a:solidFill>
                <a:latin typeface="Arial"/>
              </a:rPr>
              <a:t>Kapitel: </a:t>
            </a:r>
            <a:r>
              <a:rPr sz="1900" b="0">
                <a:solidFill>
                  <a:srgbClr val="1A2238"/>
                </a:solidFill>
                <a:latin typeface="Arial"/>
              </a:rPr>
              <a:t>zehn kurze Kapitel entlang des Prüfungskatalogs</a:t>
            </a:r>
          </a:p>
        </p:txBody>
      </p:sp>
      <p:sp>
        <p:nvSpPr>
          <p:cNvPr id="10" name="Rectangle 9"/>
          <p:cNvSpPr/>
          <p:nvPr/>
        </p:nvSpPr>
        <p:spPr>
          <a:xfrm>
            <a:off x="640080" y="242316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731520" cy="777240"/>
          </a:xfrm>
          <a:prstGeom prst="rect">
            <a:avLst/>
          </a:prstGeom>
          <a:noFill/>
        </p:spPr>
        <p:txBody>
          <a:bodyPr wrap="square" anchor="ctr">
            <a:spAutoFit/>
          </a:bodyPr>
          <a:lstStyle/>
          <a:p>
            <a:pPr algn="ctr"/>
            <a:r>
              <a:rPr sz="2800" b="1">
                <a:solidFill>
                  <a:srgbClr val="F5A800"/>
                </a:solidFill>
                <a:latin typeface="Arial"/>
              </a:rPr>
              <a:t>2</a:t>
            </a:r>
          </a:p>
        </p:txBody>
      </p:sp>
      <p:sp>
        <p:nvSpPr>
          <p:cNvPr id="12" name="Rectangle 11"/>
          <p:cNvSpPr/>
          <p:nvPr/>
        </p:nvSpPr>
        <p:spPr>
          <a:xfrm>
            <a:off x="1371600" y="242316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423160"/>
            <a:ext cx="6766560" cy="777240"/>
          </a:xfrm>
          <a:prstGeom prst="rect">
            <a:avLst/>
          </a:prstGeom>
          <a:noFill/>
        </p:spPr>
        <p:txBody>
          <a:bodyPr wrap="square" anchor="ctr">
            <a:spAutoFit/>
          </a:bodyPr>
          <a:lstStyle/>
          <a:p>
            <a:pPr algn="l"/>
            <a:r>
              <a:rPr sz="1900" b="1">
                <a:solidFill>
                  <a:srgbClr val="14264B"/>
                </a:solidFill>
                <a:latin typeface="Arial"/>
              </a:rPr>
              <a:t>Aufgaben: </a:t>
            </a:r>
            <a:r>
              <a:rPr sz="1900" b="0">
                <a:solidFill>
                  <a:srgbClr val="1A2238"/>
                </a:solidFill>
                <a:latin typeface="Arial"/>
              </a:rPr>
              <a:t>Zuordnungsübung und fünf IHK-Fälle im Prüfungsformat</a:t>
            </a:r>
          </a:p>
        </p:txBody>
      </p:sp>
      <p:sp>
        <p:nvSpPr>
          <p:cNvPr id="14" name="Rectangle 13"/>
          <p:cNvSpPr/>
          <p:nvPr/>
        </p:nvSpPr>
        <p:spPr>
          <a:xfrm>
            <a:off x="640080" y="338328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83280"/>
            <a:ext cx="731520" cy="777240"/>
          </a:xfrm>
          <a:prstGeom prst="rect">
            <a:avLst/>
          </a:prstGeom>
          <a:noFill/>
        </p:spPr>
        <p:txBody>
          <a:bodyPr wrap="square" anchor="ctr">
            <a:spAutoFit/>
          </a:bodyPr>
          <a:lstStyle/>
          <a:p>
            <a:pPr algn="ctr"/>
            <a:r>
              <a:rPr sz="2800" b="1">
                <a:solidFill>
                  <a:srgbClr val="F5A800"/>
                </a:solidFill>
                <a:latin typeface="Arial"/>
              </a:rPr>
              <a:t>3</a:t>
            </a:r>
          </a:p>
        </p:txBody>
      </p:sp>
      <p:sp>
        <p:nvSpPr>
          <p:cNvPr id="16" name="Rectangle 15"/>
          <p:cNvSpPr/>
          <p:nvPr/>
        </p:nvSpPr>
        <p:spPr>
          <a:xfrm>
            <a:off x="1371600" y="338328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8760" y="3383280"/>
            <a:ext cx="6766560" cy="777240"/>
          </a:xfrm>
          <a:prstGeom prst="rect">
            <a:avLst/>
          </a:prstGeom>
          <a:noFill/>
        </p:spPr>
        <p:txBody>
          <a:bodyPr wrap="square" anchor="ctr">
            <a:spAutoFit/>
          </a:bodyPr>
          <a:lstStyle/>
          <a:p>
            <a:pPr algn="l"/>
            <a:r>
              <a:rPr sz="1900" b="1">
                <a:solidFill>
                  <a:srgbClr val="14264B"/>
                </a:solidFill>
                <a:latin typeface="Arial"/>
              </a:rPr>
              <a:t>Erwartungshorizont: </a:t>
            </a:r>
            <a:r>
              <a:rPr sz="1900" b="0">
                <a:solidFill>
                  <a:srgbClr val="1A2238"/>
                </a:solidFill>
                <a:latin typeface="Arial"/>
              </a:rPr>
              <a:t>Lösung, Paragraf und Begründung</a:t>
            </a:r>
          </a:p>
        </p:txBody>
      </p:sp>
      <p:sp>
        <p:nvSpPr>
          <p:cNvPr id="18" name="Rectangle 17"/>
          <p:cNvSpPr/>
          <p:nvPr/>
        </p:nvSpPr>
        <p:spPr>
          <a:xfrm>
            <a:off x="640080" y="434340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43400"/>
            <a:ext cx="731520" cy="777240"/>
          </a:xfrm>
          <a:prstGeom prst="rect">
            <a:avLst/>
          </a:prstGeom>
          <a:noFill/>
        </p:spPr>
        <p:txBody>
          <a:bodyPr wrap="square" anchor="ctr">
            <a:spAutoFit/>
          </a:bodyPr>
          <a:lstStyle/>
          <a:p>
            <a:pPr algn="ctr"/>
            <a:r>
              <a:rPr sz="2800" b="1">
                <a:solidFill>
                  <a:srgbClr val="F5A800"/>
                </a:solidFill>
                <a:latin typeface="Arial"/>
              </a:rPr>
              <a:t>4</a:t>
            </a:r>
          </a:p>
        </p:txBody>
      </p:sp>
      <p:sp>
        <p:nvSpPr>
          <p:cNvPr id="20" name="Rectangle 19"/>
          <p:cNvSpPr/>
          <p:nvPr/>
        </p:nvSpPr>
        <p:spPr>
          <a:xfrm>
            <a:off x="1371600" y="434340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8760" y="4343400"/>
            <a:ext cx="6766560" cy="777240"/>
          </a:xfrm>
          <a:prstGeom prst="rect">
            <a:avLst/>
          </a:prstGeom>
          <a:noFill/>
        </p:spPr>
        <p:txBody>
          <a:bodyPr wrap="square" anchor="ctr">
            <a:spAutoFit/>
          </a:bodyPr>
          <a:lstStyle/>
          <a:p>
            <a:pPr algn="l"/>
            <a:r>
              <a:rPr sz="1900" b="1">
                <a:solidFill>
                  <a:srgbClr val="14264B"/>
                </a:solidFill>
                <a:latin typeface="Arial"/>
              </a:rPr>
              <a:t>Quizfragen: </a:t>
            </a:r>
            <a:r>
              <a:rPr sz="1900" b="0">
                <a:solidFill>
                  <a:srgbClr val="1A2238"/>
                </a:solidFill>
                <a:latin typeface="Arial"/>
              </a:rPr>
              <a:t>zum Selbsttesten</a:t>
            </a:r>
          </a:p>
        </p:txBody>
      </p:sp>
      <p:sp>
        <p:nvSpPr>
          <p:cNvPr id="22" name="Rectangle 21"/>
          <p:cNvSpPr/>
          <p:nvPr/>
        </p:nvSpPr>
        <p:spPr>
          <a:xfrm>
            <a:off x="640080" y="530352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303520"/>
            <a:ext cx="731520" cy="777240"/>
          </a:xfrm>
          <a:prstGeom prst="rect">
            <a:avLst/>
          </a:prstGeom>
          <a:noFill/>
        </p:spPr>
        <p:txBody>
          <a:bodyPr wrap="square" anchor="ctr">
            <a:spAutoFit/>
          </a:bodyPr>
          <a:lstStyle/>
          <a:p>
            <a:pPr algn="ctr"/>
            <a:r>
              <a:rPr sz="2800" b="1">
                <a:solidFill>
                  <a:srgbClr val="F5A800"/>
                </a:solidFill>
                <a:latin typeface="Arial"/>
              </a:rPr>
              <a:t>5</a:t>
            </a:r>
          </a:p>
        </p:txBody>
      </p:sp>
      <p:sp>
        <p:nvSpPr>
          <p:cNvPr id="24" name="Rectangle 23"/>
          <p:cNvSpPr/>
          <p:nvPr/>
        </p:nvSpPr>
        <p:spPr>
          <a:xfrm>
            <a:off x="1371600" y="530352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5303520"/>
            <a:ext cx="6766560" cy="777240"/>
          </a:xfrm>
          <a:prstGeom prst="rect">
            <a:avLst/>
          </a:prstGeom>
          <a:noFill/>
        </p:spPr>
        <p:txBody>
          <a:bodyPr wrap="square" anchor="ctr">
            <a:spAutoFit/>
          </a:bodyPr>
          <a:lstStyle/>
          <a:p>
            <a:pPr algn="l"/>
            <a:r>
              <a:rPr sz="1900" b="1">
                <a:solidFill>
                  <a:srgbClr val="14264B"/>
                </a:solidFill>
                <a:latin typeface="Arial"/>
              </a:rPr>
              <a:t>Merkblatt: </a:t>
            </a:r>
            <a:r>
              <a:rPr sz="1900" b="0">
                <a:solidFill>
                  <a:srgbClr val="1A2238"/>
                </a:solidFill>
                <a:latin typeface="Arial"/>
              </a:rPr>
              <a:t>das Wichtigste auf einer Seite</a:t>
            </a:r>
          </a:p>
        </p:txBody>
      </p:sp>
      <p:sp>
        <p:nvSpPr>
          <p:cNvPr id="26" name="TextBox 25"/>
          <p:cNvSpPr txBox="1"/>
          <p:nvPr/>
        </p:nvSpPr>
        <p:spPr>
          <a:xfrm>
            <a:off x="640080" y="6309360"/>
            <a:ext cx="7680960" cy="365760"/>
          </a:xfrm>
          <a:prstGeom prst="rect">
            <a:avLst/>
          </a:prstGeom>
          <a:noFill/>
        </p:spPr>
        <p:txBody>
          <a:bodyPr wrap="square" anchor="t">
            <a:spAutoFit/>
          </a:bodyPr>
          <a:lstStyle/>
          <a:p>
            <a:pPr algn="l"/>
            <a:r>
              <a:rPr sz="1600" b="0">
                <a:solidFill>
                  <a:srgbClr val="5B6680"/>
                </a:solidFill>
                <a:latin typeface="Arial"/>
              </a:rPr>
              <a:t>Dazu: Glossar und Quellenverzeichnis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DAS BOOKLET IM ÜBERBLICK</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Zwei Beispielseiten</a:t>
            </a:r>
          </a:p>
        </p:txBody>
      </p:sp>
      <p:pic>
        <p:nvPicPr>
          <p:cNvPr id="5" name="Picture 4" descr="b11.png"/>
          <p:cNvPicPr>
            <a:picLocks noChangeAspect="1"/>
          </p:cNvPicPr>
          <p:nvPr/>
        </p:nvPicPr>
        <p:blipFill>
          <a:blip r:embed="rId3"/>
          <a:stretch>
            <a:fillRect/>
          </a:stretch>
        </p:blipFill>
        <p:spPr>
          <a:xfrm>
            <a:off x="1737360" y="1371600"/>
            <a:ext cx="3390634" cy="4800600"/>
          </a:xfrm>
          <a:prstGeom prst="rect">
            <a:avLst/>
          </a:prstGeom>
        </p:spPr>
      </p:pic>
      <p:sp>
        <p:nvSpPr>
          <p:cNvPr id="6" name="TextBox 5"/>
          <p:cNvSpPr txBox="1"/>
          <p:nvPr/>
        </p:nvSpPr>
        <p:spPr>
          <a:xfrm>
            <a:off x="1463039" y="6217920"/>
            <a:ext cx="3840480" cy="365760"/>
          </a:xfrm>
          <a:prstGeom prst="rect">
            <a:avLst/>
          </a:prstGeom>
          <a:noFill/>
        </p:spPr>
        <p:txBody>
          <a:bodyPr wrap="square" anchor="t">
            <a:spAutoFit/>
          </a:bodyPr>
          <a:lstStyle/>
          <a:p>
            <a:pPr algn="ctr"/>
            <a:r>
              <a:rPr sz="1600" b="1">
                <a:solidFill>
                  <a:srgbClr val="14264B"/>
                </a:solidFill>
                <a:latin typeface="Arial"/>
              </a:rPr>
              <a:t>Kapitel Kündigung</a:t>
            </a:r>
          </a:p>
        </p:txBody>
      </p:sp>
      <p:pic>
        <p:nvPicPr>
          <p:cNvPr id="7" name="Picture 6" descr="b19.png"/>
          <p:cNvPicPr>
            <a:picLocks noChangeAspect="1"/>
          </p:cNvPicPr>
          <p:nvPr/>
        </p:nvPicPr>
        <p:blipFill>
          <a:blip r:embed="rId4"/>
          <a:stretch>
            <a:fillRect/>
          </a:stretch>
        </p:blipFill>
        <p:spPr>
          <a:xfrm>
            <a:off x="6492240" y="1371600"/>
            <a:ext cx="3390634" cy="4800600"/>
          </a:xfrm>
          <a:prstGeom prst="rect">
            <a:avLst/>
          </a:prstGeom>
        </p:spPr>
      </p:pic>
      <p:sp>
        <p:nvSpPr>
          <p:cNvPr id="8" name="TextBox 7"/>
          <p:cNvSpPr txBox="1"/>
          <p:nvPr/>
        </p:nvSpPr>
        <p:spPr>
          <a:xfrm>
            <a:off x="6217920" y="6217920"/>
            <a:ext cx="3840480" cy="365760"/>
          </a:xfrm>
          <a:prstGeom prst="rect">
            <a:avLst/>
          </a:prstGeom>
          <a:noFill/>
        </p:spPr>
        <p:txBody>
          <a:bodyPr wrap="square" anchor="t">
            <a:spAutoFit/>
          </a:bodyPr>
          <a:lstStyle/>
          <a:p>
            <a:pPr algn="ctr"/>
            <a:r>
              <a:rPr sz="1600" b="1">
                <a:solidFill>
                  <a:srgbClr val="14264B"/>
                </a:solidFill>
                <a:latin typeface="Arial"/>
              </a:rPr>
              <a:t>IHK-Fälle mit Erwartungshorizont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PRAXISTEIL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Prüfungstraining mit der Klasse</a:t>
            </a:r>
          </a:p>
        </p:txBody>
      </p:sp>
      <p:graphicFrame>
        <p:nvGraphicFramePr>
          <p:cNvPr id="5" name="Table 4"/>
          <p:cNvGraphicFramePr>
            <a:graphicFrameLocks noGrp="1"/>
          </p:cNvGraphicFramePr>
          <p:nvPr/>
        </p:nvGraphicFramePr>
        <p:xfrm>
          <a:off x="640080" y="1645920"/>
          <a:ext cx="10972800" cy="4389120"/>
        </p:xfrm>
        <a:graphic>
          <a:graphicData uri="http://schemas.openxmlformats.org/drawingml/2006/table">
            <a:tbl>
              <a:tblPr firstRow="0" bandRow="0">
                <a:tableStyleId>{5C22544A-7EE6-4342-B048-85BDC9FD1C3A}</a:tableStyleId>
              </a:tblPr>
              <a:tblGrid>
                <a:gridCol w="4297680"/>
                <a:gridCol w="5120640"/>
                <a:gridCol w="1554480"/>
              </a:tblGrid>
              <a:tr h="731520">
                <a:tc>
                  <a:txBody>
                    <a:bodyPr wrap="square"/>
                    <a:lstStyle/>
                    <a:p>
                      <a:r>
                        <a:rPr sz="2200" b="1">
                          <a:solidFill>
                            <a:srgbClr val="FFFFFF"/>
                          </a:solidFill>
                          <a:latin typeface="Arial"/>
                        </a:rPr>
                        <a:t>Station</a:t>
                      </a:r>
                    </a:p>
                  </a:txBody>
                  <a:tcPr marL="91440" marR="91440" marT="45720" marB="45720" anchor="ctr">
                    <a:solidFill>
                      <a:srgbClr val="14264B"/>
                    </a:solidFill>
                  </a:tcPr>
                </a:tc>
                <a:tc>
                  <a:txBody>
                    <a:bodyPr wrap="square"/>
                    <a:lstStyle/>
                    <a:p>
                      <a:r>
                        <a:rPr sz="2200" b="1">
                          <a:solidFill>
                            <a:srgbClr val="FFFFFF"/>
                          </a:solidFill>
                          <a:latin typeface="Arial"/>
                        </a:rPr>
                        <a:t>Format</a:t>
                      </a:r>
                    </a:p>
                  </a:txBody>
                  <a:tcPr marL="91440" marR="91440" marT="45720" marB="45720" anchor="ctr">
                    <a:solidFill>
                      <a:srgbClr val="14264B"/>
                    </a:solidFill>
                  </a:tcPr>
                </a:tc>
                <a:tc>
                  <a:txBody>
                    <a:bodyPr wrap="square"/>
                    <a:lstStyle/>
                    <a:p>
                      <a:r>
                        <a:rPr sz="2200" b="1">
                          <a:solidFill>
                            <a:srgbClr val="FFFFFF"/>
                          </a:solidFill>
                          <a:latin typeface="Arial"/>
                        </a:rPr>
                        <a:t>Dauer</a:t>
                      </a:r>
                    </a:p>
                  </a:txBody>
                  <a:tcPr marL="91440" marR="91440" marT="45720" marB="45720" anchor="ctr">
                    <a:solidFill>
                      <a:srgbClr val="14264B"/>
                    </a:solidFill>
                  </a:tcPr>
                </a:tc>
              </a:tr>
              <a:tr h="731520">
                <a:tc>
                  <a:txBody>
                    <a:bodyPr wrap="square"/>
                    <a:lstStyle/>
                    <a:p>
                      <a:r>
                        <a:rPr sz="2200" b="1">
                          <a:solidFill>
                            <a:srgbClr val="14264B"/>
                          </a:solidFill>
                          <a:latin typeface="Arial"/>
                        </a:rPr>
                        <a:t>1  Wissens-Check</a:t>
                      </a:r>
                    </a:p>
                  </a:txBody>
                  <a:tcPr marL="91440" marR="91440" marT="45720" marB="45720" anchor="ctr">
                    <a:solidFill>
                      <a:srgbClr val="FFFFFF"/>
                    </a:solidFill>
                  </a:tcPr>
                </a:tc>
                <a:tc>
                  <a:txBody>
                    <a:bodyPr wrap="square"/>
                    <a:lstStyle/>
                    <a:p>
                      <a:r>
                        <a:rPr sz="2200">
                          <a:solidFill>
                            <a:srgbClr val="1A2238"/>
                          </a:solidFill>
                          <a:latin typeface="Arial"/>
                        </a:rPr>
                        <a:t>Antwortkarten A–D, drei Blitzfragen</a:t>
                      </a:r>
                    </a:p>
                  </a:txBody>
                  <a:tcPr marL="91440" marR="91440" marT="45720" marB="45720" anchor="ctr">
                    <a:solidFill>
                      <a:srgbClr val="FFFFFF"/>
                    </a:solidFill>
                  </a:tcPr>
                </a:tc>
                <a:tc>
                  <a:txBody>
                    <a:bodyPr wrap="square"/>
                    <a:lstStyle/>
                    <a:p>
                      <a:r>
                        <a:rPr sz="2200">
                          <a:solidFill>
                            <a:srgbClr val="1A2238"/>
                          </a:solidFill>
                          <a:latin typeface="Arial"/>
                        </a:rPr>
                        <a:t>3 Min.</a:t>
                      </a:r>
                    </a:p>
                  </a:txBody>
                  <a:tcPr marL="91440" marR="91440" marT="45720" marB="45720" anchor="ctr">
                    <a:solidFill>
                      <a:srgbClr val="FFFFFF"/>
                    </a:solidFill>
                  </a:tcPr>
                </a:tc>
              </a:tr>
              <a:tr h="731520">
                <a:tc>
                  <a:txBody>
                    <a:bodyPr wrap="square"/>
                    <a:lstStyle/>
                    <a:p>
                      <a:r>
                        <a:rPr sz="2200" b="1">
                          <a:solidFill>
                            <a:srgbClr val="14264B"/>
                          </a:solidFill>
                          <a:latin typeface="Arial"/>
                        </a:rPr>
                        <a:t>2  Situationen zuordnen</a:t>
                      </a:r>
                    </a:p>
                  </a:txBody>
                  <a:tcPr marL="91440" marR="91440" marT="45720" marB="45720" anchor="ctr">
                    <a:solidFill>
                      <a:srgbClr val="F6F8FC"/>
                    </a:solidFill>
                  </a:tcPr>
                </a:tc>
                <a:tc>
                  <a:txBody>
                    <a:bodyPr wrap="square"/>
                    <a:lstStyle/>
                    <a:p>
                      <a:r>
                        <a:rPr sz="2200">
                          <a:solidFill>
                            <a:srgbClr val="1A2238"/>
                          </a:solidFill>
                          <a:latin typeface="Arial"/>
                        </a:rPr>
                        <a:t>Kartenspiel in Zweierteams</a:t>
                      </a:r>
                    </a:p>
                  </a:txBody>
                  <a:tcPr marL="91440" marR="91440" marT="45720" marB="45720" anchor="ctr">
                    <a:solidFill>
                      <a:srgbClr val="F6F8FC"/>
                    </a:solidFill>
                  </a:tcPr>
                </a:tc>
                <a:tc>
                  <a:txBody>
                    <a:bodyPr wrap="square"/>
                    <a:lstStyle/>
                    <a:p>
                      <a:r>
                        <a:rPr sz="2200">
                          <a:solidFill>
                            <a:srgbClr val="1A2238"/>
                          </a:solidFill>
                          <a:latin typeface="Arial"/>
                        </a:rPr>
                        <a:t>7 Min.</a:t>
                      </a:r>
                    </a:p>
                  </a:txBody>
                  <a:tcPr marL="91440" marR="91440" marT="45720" marB="45720" anchor="ctr">
                    <a:solidFill>
                      <a:srgbClr val="F6F8FC"/>
                    </a:solidFill>
                  </a:tcPr>
                </a:tc>
              </a:tr>
              <a:tr h="731520">
                <a:tc>
                  <a:txBody>
                    <a:bodyPr wrap="square"/>
                    <a:lstStyle/>
                    <a:p>
                      <a:r>
                        <a:rPr sz="2200" b="1">
                          <a:solidFill>
                            <a:srgbClr val="14264B"/>
                          </a:solidFill>
                          <a:latin typeface="Arial"/>
                        </a:rPr>
                        <a:t>3  Wer wird Azubi-Millionär?</a:t>
                      </a:r>
                    </a:p>
                  </a:txBody>
                  <a:tcPr marL="91440" marR="91440" marT="45720" marB="45720" anchor="ctr">
                    <a:solidFill>
                      <a:srgbClr val="FFFFFF"/>
                    </a:solidFill>
                  </a:tcPr>
                </a:tc>
                <a:tc>
                  <a:txBody>
                    <a:bodyPr wrap="square"/>
                    <a:lstStyle/>
                    <a:p>
                      <a:r>
                        <a:rPr sz="2200">
                          <a:solidFill>
                            <a:srgbClr val="1A2238"/>
                          </a:solidFill>
                          <a:latin typeface="Arial"/>
                        </a:rPr>
                        <a:t>Quizspiel, zwei Teams, Joker</a:t>
                      </a:r>
                    </a:p>
                  </a:txBody>
                  <a:tcPr marL="91440" marR="91440" marT="45720" marB="45720" anchor="ctr">
                    <a:solidFill>
                      <a:srgbClr val="FFFFFF"/>
                    </a:solidFill>
                  </a:tcPr>
                </a:tc>
                <a:tc>
                  <a:txBody>
                    <a:bodyPr wrap="square"/>
                    <a:lstStyle/>
                    <a:p>
                      <a:r>
                        <a:rPr sz="2200">
                          <a:solidFill>
                            <a:srgbClr val="1A2238"/>
                          </a:solidFill>
                          <a:latin typeface="Arial"/>
                        </a:rPr>
                        <a:t>7 Min.</a:t>
                      </a:r>
                    </a:p>
                  </a:txBody>
                  <a:tcPr marL="91440" marR="91440" marT="45720" marB="45720" anchor="ctr">
                    <a:solidFill>
                      <a:srgbClr val="FFFFFF"/>
                    </a:solidFill>
                  </a:tcPr>
                </a:tc>
              </a:tr>
              <a:tr h="731520">
                <a:tc>
                  <a:txBody>
                    <a:bodyPr wrap="square"/>
                    <a:lstStyle/>
                    <a:p>
                      <a:r>
                        <a:rPr sz="2200" b="1">
                          <a:solidFill>
                            <a:srgbClr val="14264B"/>
                          </a:solidFill>
                          <a:latin typeface="Arial"/>
                        </a:rPr>
                        <a:t>4  IHK-Fälle</a:t>
                      </a:r>
                    </a:p>
                  </a:txBody>
                  <a:tcPr marL="91440" marR="91440" marT="45720" marB="45720" anchor="ctr">
                    <a:solidFill>
                      <a:srgbClr val="F6F8FC"/>
                    </a:solidFill>
                  </a:tcPr>
                </a:tc>
                <a:tc>
                  <a:txBody>
                    <a:bodyPr wrap="square"/>
                    <a:lstStyle/>
                    <a:p>
                      <a:r>
                        <a:rPr sz="2200">
                          <a:solidFill>
                            <a:srgbClr val="1A2238"/>
                          </a:solidFill>
                          <a:latin typeface="Arial"/>
                        </a:rPr>
                        <a:t>Gruppenarbeit mit Fallaufgaben</a:t>
                      </a:r>
                    </a:p>
                  </a:txBody>
                  <a:tcPr marL="91440" marR="91440" marT="45720" marB="45720" anchor="ctr">
                    <a:solidFill>
                      <a:srgbClr val="F6F8FC"/>
                    </a:solidFill>
                  </a:tcPr>
                </a:tc>
                <a:tc>
                  <a:txBody>
                    <a:bodyPr wrap="square"/>
                    <a:lstStyle/>
                    <a:p>
                      <a:r>
                        <a:rPr sz="2200">
                          <a:solidFill>
                            <a:srgbClr val="1A2238"/>
                          </a:solidFill>
                          <a:latin typeface="Arial"/>
                        </a:rPr>
                        <a:t>7 Min.</a:t>
                      </a:r>
                    </a:p>
                  </a:txBody>
                  <a:tcPr marL="91440" marR="91440" marT="45720" marB="45720" anchor="ctr">
                    <a:solidFill>
                      <a:srgbClr val="F6F8FC"/>
                    </a:solidFill>
                  </a:tcPr>
                </a:tc>
              </a:tr>
              <a:tr h="731520">
                <a:tc>
                  <a:txBody>
                    <a:bodyPr wrap="square"/>
                    <a:lstStyle/>
                    <a:p>
                      <a:r>
                        <a:rPr sz="2200" b="1">
                          <a:solidFill>
                            <a:srgbClr val="14264B"/>
                          </a:solidFill>
                          <a:latin typeface="Arial"/>
                        </a:rPr>
                        <a:t>5  Abschluss-Quiz</a:t>
                      </a:r>
                    </a:p>
                  </a:txBody>
                  <a:tcPr marL="91440" marR="91440" marT="45720" marB="45720" anchor="ctr">
                    <a:solidFill>
                      <a:srgbClr val="FFFFFF"/>
                    </a:solidFill>
                  </a:tcPr>
                </a:tc>
                <a:tc>
                  <a:txBody>
                    <a:bodyPr wrap="square"/>
                    <a:lstStyle/>
                    <a:p>
                      <a:r>
                        <a:rPr sz="2200">
                          <a:solidFill>
                            <a:srgbClr val="1A2238"/>
                          </a:solidFill>
                          <a:latin typeface="Arial"/>
                        </a:rPr>
                        <a:t>Anonymes Exit-Ticket, fünf neue Situationen</a:t>
                      </a:r>
                    </a:p>
                  </a:txBody>
                  <a:tcPr marL="91440" marR="91440" marT="45720" marB="45720" anchor="ctr">
                    <a:solidFill>
                      <a:srgbClr val="FFFFFF"/>
                    </a:solidFill>
                  </a:tcPr>
                </a:tc>
                <a:tc>
                  <a:txBody>
                    <a:bodyPr wrap="square"/>
                    <a:lstStyle/>
                    <a:p>
                      <a:r>
                        <a:rPr sz="2200">
                          <a:solidFill>
                            <a:srgbClr val="1A2238"/>
                          </a:solidFill>
                          <a:latin typeface="Arial"/>
                        </a:rPr>
                        <a:t>3 Min.</a:t>
                      </a:r>
                    </a:p>
                  </a:txBody>
                  <a:tcPr marL="91440" marR="91440" marT="45720" marB="45720" anchor="ctr">
                    <a:solidFill>
                      <a:srgbClr val="FFFFFF"/>
                    </a:solidFill>
                  </a:tcPr>
                </a:tc>
              </a:tr>
            </a:tbl>
          </a:graphicData>
        </a:graphic>
      </p:graphicFrame>
      <p:sp>
        <p:nvSpPr>
          <p:cNvPr id="6" name="TextBox 5"/>
          <p:cNvSpPr txBox="1"/>
          <p:nvPr/>
        </p:nvSpPr>
        <p:spPr>
          <a:xfrm>
            <a:off x="640080" y="6263640"/>
            <a:ext cx="10972800" cy="457200"/>
          </a:xfrm>
          <a:prstGeom prst="rect">
            <a:avLst/>
          </a:prstGeom>
          <a:noFill/>
        </p:spPr>
        <p:txBody>
          <a:bodyPr wrap="square" anchor="t">
            <a:spAutoFit/>
          </a:bodyPr>
          <a:lstStyle/>
          <a:p>
            <a:pPr algn="l"/>
            <a:r>
              <a:rPr sz="1800" b="0">
                <a:solidFill>
                  <a:srgbClr val="5B6680"/>
                </a:solidFill>
                <a:latin typeface="Arial"/>
              </a:rPr>
              <a:t>Wie in der Prüfung: kurzer Fall, Antworten A–D, genau eine Lösung · zusammen 27 Minuten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1</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Wissens-Check</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Frage auf der Folie, 15 Sekunden Bedenkzeit</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Auf „drei“ zeigen alle gleichzeitig ihre Karte A–D</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Danach die Lösung mit einem Satz Begründung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1 · Frage 1 von 3</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lang darf die Probezeit höchstens sein?</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 Monate</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3 Monate</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4 Monate</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6 Monate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1 · Frage 2 von 3</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hoch ist die Mindestausbildungsvergütung im 1. Ausbildungsjahr bei Ausbildungsbeginn 2026?</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650 €</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724 €</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854 €</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1.014 €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1 · Frage 3 von 3</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Azubi kündigt während der Probezeit. Welche Frist gilt?</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4 Wochen</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 Wochen</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keine Frist</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Monatsende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1 · WISSENS-CHECK</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3474720"/>
        </p:xfrm>
        <a:graphic>
          <a:graphicData uri="http://schemas.openxmlformats.org/drawingml/2006/table">
            <a:tbl>
              <a:tblPr firstRow="0" bandRow="0">
                <a:tableStyleId>{5C22544A-7EE6-4342-B048-85BDC9FD1C3A}</a:tableStyleId>
              </a:tblPr>
              <a:tblGrid>
                <a:gridCol w="1097280"/>
                <a:gridCol w="3931920"/>
                <a:gridCol w="5943600"/>
              </a:tblGrid>
              <a:tr h="868680">
                <a:tc>
                  <a:txBody>
                    <a:bodyPr wrap="square"/>
                    <a:lstStyle/>
                    <a:p>
                      <a:r>
                        <a:rPr sz="2200" b="1">
                          <a:solidFill>
                            <a:srgbClr val="FFFFFF"/>
                          </a:solidFill>
                          <a:latin typeface="Arial"/>
                        </a:rPr>
                        <a:t>Nr.</a:t>
                      </a:r>
                    </a:p>
                  </a:txBody>
                  <a:tcPr marL="91440" marR="91440" marT="45720" marB="45720" anchor="ctr">
                    <a:solidFill>
                      <a:srgbClr val="14264B"/>
                    </a:solidFill>
                  </a:tcPr>
                </a:tc>
                <a:tc>
                  <a:txBody>
                    <a:bodyPr wrap="square"/>
                    <a:lstStyle/>
                    <a:p>
                      <a:r>
                        <a:rPr sz="2200" b="1">
                          <a:solidFill>
                            <a:srgbClr val="FFFFFF"/>
                          </a:solidFill>
                          <a:latin typeface="Arial"/>
                        </a:rPr>
                        <a:t>Richtige Antwort</a:t>
                      </a:r>
                    </a:p>
                  </a:txBody>
                  <a:tcPr marL="91440" marR="91440" marT="45720" marB="45720" anchor="ctr">
                    <a:solidFill>
                      <a:srgbClr val="14264B"/>
                    </a:solidFill>
                  </a:tcPr>
                </a:tc>
                <a:tc>
                  <a:txBody>
                    <a:bodyPr wrap="square"/>
                    <a:lstStyle/>
                    <a:p>
                      <a:r>
                        <a:rPr sz="2200" b="1">
                          <a:solidFill>
                            <a:srgbClr val="FFFFFF"/>
                          </a:solidFill>
                          <a:latin typeface="Arial"/>
                        </a:rPr>
                        <a:t>Paragraf und Begründung</a:t>
                      </a:r>
                    </a:p>
                  </a:txBody>
                  <a:tcPr marL="91440" marR="91440" marT="45720" marB="45720" anchor="ctr">
                    <a:solidFill>
                      <a:srgbClr val="14264B"/>
                    </a:solidFill>
                  </a:tcPr>
                </a:tc>
              </a:tr>
              <a:tr h="868680">
                <a:tc>
                  <a:txBody>
                    <a:bodyPr wrap="square"/>
                    <a:lstStyle/>
                    <a:p>
                      <a:r>
                        <a:rPr sz="2200" b="1">
                          <a:solidFill>
                            <a:srgbClr val="14264B"/>
                          </a:solidFill>
                          <a:latin typeface="Arial"/>
                        </a:rPr>
                        <a:t>1</a:t>
                      </a:r>
                    </a:p>
                  </a:txBody>
                  <a:tcPr marL="91440" marR="91440" marT="45720" marB="45720" anchor="ctr">
                    <a:solidFill>
                      <a:srgbClr val="FFFFFF"/>
                    </a:solidFill>
                  </a:tcPr>
                </a:tc>
                <a:tc>
                  <a:txBody>
                    <a:bodyPr wrap="square"/>
                    <a:lstStyle/>
                    <a:p>
                      <a:r>
                        <a:rPr sz="2200">
                          <a:solidFill>
                            <a:srgbClr val="1A2238"/>
                          </a:solidFill>
                          <a:latin typeface="Arial"/>
                        </a:rPr>
                        <a:t>C – 4 Monate</a:t>
                      </a:r>
                    </a:p>
                  </a:txBody>
                  <a:tcPr marL="91440" marR="91440" marT="45720" marB="45720" anchor="ctr">
                    <a:solidFill>
                      <a:srgbClr val="FFFFFF"/>
                    </a:solidFill>
                  </a:tcPr>
                </a:tc>
                <a:tc>
                  <a:txBody>
                    <a:bodyPr wrap="square"/>
                    <a:lstStyle/>
                    <a:p>
                      <a:r>
                        <a:rPr sz="2200">
                          <a:solidFill>
                            <a:srgbClr val="1A2238"/>
                          </a:solidFill>
                          <a:latin typeface="Arial"/>
                        </a:rPr>
                        <a:t>§ 20 BBiG: ein bis vier Monate</a:t>
                      </a:r>
                    </a:p>
                  </a:txBody>
                  <a:tcPr marL="91440" marR="91440" marT="45720" marB="45720" anchor="ctr">
                    <a:solidFill>
                      <a:srgbClr val="FFFFFF"/>
                    </a:solidFill>
                  </a:tcPr>
                </a:tc>
              </a:tr>
              <a:tr h="868680">
                <a:tc>
                  <a:txBody>
                    <a:bodyPr wrap="square"/>
                    <a:lstStyle/>
                    <a:p>
                      <a:r>
                        <a:rPr sz="2200" b="1">
                          <a:solidFill>
                            <a:srgbClr val="14264B"/>
                          </a:solidFill>
                          <a:latin typeface="Arial"/>
                        </a:rPr>
                        <a:t>2</a:t>
                      </a:r>
                    </a:p>
                  </a:txBody>
                  <a:tcPr marL="91440" marR="91440" marT="45720" marB="45720" anchor="ctr">
                    <a:solidFill>
                      <a:srgbClr val="F6F8FC"/>
                    </a:solidFill>
                  </a:tcPr>
                </a:tc>
                <a:tc>
                  <a:txBody>
                    <a:bodyPr wrap="square"/>
                    <a:lstStyle/>
                    <a:p>
                      <a:r>
                        <a:rPr sz="2200">
                          <a:solidFill>
                            <a:srgbClr val="1A2238"/>
                          </a:solidFill>
                          <a:latin typeface="Arial"/>
                        </a:rPr>
                        <a:t>B – 724 €</a:t>
                      </a:r>
                    </a:p>
                  </a:txBody>
                  <a:tcPr marL="91440" marR="91440" marT="45720" marB="45720" anchor="ctr">
                    <a:solidFill>
                      <a:srgbClr val="F6F8FC"/>
                    </a:solidFill>
                  </a:tcPr>
                </a:tc>
                <a:tc>
                  <a:txBody>
                    <a:bodyPr wrap="square"/>
                    <a:lstStyle/>
                    <a:p>
                      <a:r>
                        <a:rPr sz="2200">
                          <a:solidFill>
                            <a:srgbClr val="1A2238"/>
                          </a:solidFill>
                          <a:latin typeface="Arial"/>
                        </a:rPr>
                        <a:t>§ 17 BBiG</a:t>
                      </a:r>
                    </a:p>
                  </a:txBody>
                  <a:tcPr marL="91440" marR="91440" marT="45720" marB="45720" anchor="ctr">
                    <a:solidFill>
                      <a:srgbClr val="F6F8FC"/>
                    </a:solidFill>
                  </a:tcPr>
                </a:tc>
              </a:tr>
              <a:tr h="868680">
                <a:tc>
                  <a:txBody>
                    <a:bodyPr wrap="square"/>
                    <a:lstStyle/>
                    <a:p>
                      <a:r>
                        <a:rPr sz="2200" b="1">
                          <a:solidFill>
                            <a:srgbClr val="14264B"/>
                          </a:solidFill>
                          <a:latin typeface="Arial"/>
                        </a:rPr>
                        <a:t>3</a:t>
                      </a:r>
                    </a:p>
                  </a:txBody>
                  <a:tcPr marL="91440" marR="91440" marT="45720" marB="45720" anchor="ctr">
                    <a:solidFill>
                      <a:srgbClr val="FFFFFF"/>
                    </a:solidFill>
                  </a:tcPr>
                </a:tc>
                <a:tc>
                  <a:txBody>
                    <a:bodyPr wrap="square"/>
                    <a:lstStyle/>
                    <a:p>
                      <a:r>
                        <a:rPr sz="2200">
                          <a:solidFill>
                            <a:srgbClr val="1A2238"/>
                          </a:solidFill>
                          <a:latin typeface="Arial"/>
                        </a:rPr>
                        <a:t>C – keine Frist</a:t>
                      </a:r>
                    </a:p>
                  </a:txBody>
                  <a:tcPr marL="91440" marR="91440" marT="45720" marB="45720" anchor="ctr">
                    <a:solidFill>
                      <a:srgbClr val="FFFFFF"/>
                    </a:solidFill>
                  </a:tcPr>
                </a:tc>
                <a:tc>
                  <a:txBody>
                    <a:bodyPr wrap="square"/>
                    <a:lstStyle/>
                    <a:p>
                      <a:r>
                        <a:rPr sz="2200">
                          <a:solidFill>
                            <a:srgbClr val="1A2238"/>
                          </a:solidFill>
                          <a:latin typeface="Arial"/>
                        </a:rPr>
                        <a:t>§ 22 Abs. 1 BBiG</a:t>
                      </a:r>
                    </a:p>
                  </a:txBody>
                  <a:tcPr marL="91440" marR="91440" marT="45720" marB="4572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2</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Situationen zuordnen</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Ihr seid die Ausbildungsberatung</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Legt acht Situationskarten zu acht Regelungskarten – ihr habt vier Minuten</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Danach Auflösung am Beamer; jedes Team zählt seine Treffer, die meisten gewinnen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2 · SITUATIONEN ZUORDNEN</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417320"/>
          <a:ext cx="10972800" cy="4773168"/>
        </p:xfrm>
        <a:graphic>
          <a:graphicData uri="http://schemas.openxmlformats.org/drawingml/2006/table">
            <a:tbl>
              <a:tblPr firstRow="0" bandRow="0">
                <a:tableStyleId>{5C22544A-7EE6-4342-B048-85BDC9FD1C3A}</a:tableStyleId>
              </a:tblPr>
              <a:tblGrid>
                <a:gridCol w="640080"/>
                <a:gridCol w="5029200"/>
                <a:gridCol w="5303520"/>
              </a:tblGrid>
              <a:tr h="530352">
                <a:tc>
                  <a:txBody>
                    <a:bodyPr wrap="square"/>
                    <a:lstStyle/>
                    <a:p>
                      <a:r>
                        <a:rPr sz="1400" b="1">
                          <a:solidFill>
                            <a:srgbClr val="FFFFFF"/>
                          </a:solidFill>
                          <a:latin typeface="Arial"/>
                        </a:rPr>
                        <a:t>Nr.</a:t>
                      </a:r>
                    </a:p>
                  </a:txBody>
                  <a:tcPr marL="91440" marR="91440" marT="45720" marB="45720" anchor="ctr">
                    <a:solidFill>
                      <a:srgbClr val="14264B"/>
                    </a:solidFill>
                  </a:tcPr>
                </a:tc>
                <a:tc>
                  <a:txBody>
                    <a:bodyPr wrap="square"/>
                    <a:lstStyle/>
                    <a:p>
                      <a:r>
                        <a:rPr sz="1400" b="1">
                          <a:solidFill>
                            <a:srgbClr val="FFFFFF"/>
                          </a:solidFill>
                          <a:latin typeface="Arial"/>
                        </a:rPr>
                        <a:t>Situation</a:t>
                      </a:r>
                    </a:p>
                  </a:txBody>
                  <a:tcPr marL="91440" marR="91440" marT="45720" marB="45720" anchor="ctr">
                    <a:solidFill>
                      <a:srgbClr val="14264B"/>
                    </a:solidFill>
                  </a:tcPr>
                </a:tc>
                <a:tc>
                  <a:txBody>
                    <a:bodyPr wrap="square"/>
                    <a:lstStyle/>
                    <a:p>
                      <a:r>
                        <a:rPr sz="1400" b="1">
                          <a:solidFill>
                            <a:srgbClr val="FFFFFF"/>
                          </a:solidFill>
                          <a:latin typeface="Arial"/>
                        </a:rPr>
                        <a:t>Passende Regelung</a:t>
                      </a:r>
                    </a:p>
                  </a:txBody>
                  <a:tcPr marL="91440" marR="91440" marT="45720" marB="45720" anchor="ctr">
                    <a:solidFill>
                      <a:srgbClr val="14264B"/>
                    </a:solidFill>
                  </a:tcPr>
                </a:tc>
              </a:tr>
              <a:tr h="530352">
                <a:tc>
                  <a:txBody>
                    <a:bodyPr wrap="square"/>
                    <a:lstStyle/>
                    <a:p>
                      <a:r>
                        <a:rPr sz="1400" b="1">
                          <a:solidFill>
                            <a:srgbClr val="14264B"/>
                          </a:solidFill>
                          <a:latin typeface="Arial"/>
                        </a:rPr>
                        <a:t>1</a:t>
                      </a:r>
                    </a:p>
                  </a:txBody>
                  <a:tcPr marL="91440" marR="91440" marT="45720" marB="45720" anchor="ctr">
                    <a:solidFill>
                      <a:srgbClr val="FFFFFF"/>
                    </a:solidFill>
                  </a:tcPr>
                </a:tc>
                <a:tc>
                  <a:txBody>
                    <a:bodyPr wrap="square"/>
                    <a:lstStyle/>
                    <a:p>
                      <a:r>
                        <a:rPr sz="1400">
                          <a:solidFill>
                            <a:srgbClr val="1A2238"/>
                          </a:solidFill>
                          <a:latin typeface="Arial"/>
                        </a:rPr>
                        <a:t>Eine volljährige Auszubildende will wissen, wie viele Werktage Urlaub ihr mindestens zustehen.</a:t>
                      </a:r>
                    </a:p>
                  </a:txBody>
                  <a:tcPr marL="91440" marR="91440" marT="45720" marB="45720" anchor="ctr">
                    <a:solidFill>
                      <a:srgbClr val="FFFFFF"/>
                    </a:solidFill>
                  </a:tcPr>
                </a:tc>
                <a:tc>
                  <a:txBody>
                    <a:bodyPr wrap="square"/>
                    <a:lstStyle/>
                    <a:p>
                      <a:r>
                        <a:rPr sz="1400">
                          <a:solidFill>
                            <a:srgbClr val="1A2238"/>
                          </a:solidFill>
                          <a:latin typeface="Arial"/>
                        </a:rPr>
                        <a:t>Mindestens 24 Werktage (§ 3 BUrlG)</a:t>
                      </a:r>
                    </a:p>
                  </a:txBody>
                  <a:tcPr marL="91440" marR="91440" marT="45720" marB="45720" anchor="ctr">
                    <a:solidFill>
                      <a:srgbClr val="FFFFFF"/>
                    </a:solidFill>
                  </a:tcPr>
                </a:tc>
              </a:tr>
              <a:tr h="530352">
                <a:tc>
                  <a:txBody>
                    <a:bodyPr wrap="square"/>
                    <a:lstStyle/>
                    <a:p>
                      <a:r>
                        <a:rPr sz="1400" b="1">
                          <a:solidFill>
                            <a:srgbClr val="14264B"/>
                          </a:solidFill>
                          <a:latin typeface="Arial"/>
                        </a:rPr>
                        <a:t>2</a:t>
                      </a:r>
                    </a:p>
                  </a:txBody>
                  <a:tcPr marL="91440" marR="91440" marT="45720" marB="45720" anchor="ctr">
                    <a:solidFill>
                      <a:srgbClr val="F6F8FC"/>
                    </a:solidFill>
                  </a:tcPr>
                </a:tc>
                <a:tc>
                  <a:txBody>
                    <a:bodyPr wrap="square"/>
                    <a:lstStyle/>
                    <a:p>
                      <a:r>
                        <a:rPr sz="1400">
                          <a:solidFill>
                            <a:srgbClr val="1A2238"/>
                          </a:solidFill>
                          <a:latin typeface="Arial"/>
                        </a:rPr>
                        <a:t>Ein Azubi ist zu Jahresbeginn 16 Jahre alt und fragt nach seinem Mindesturlaub.</a:t>
                      </a:r>
                    </a:p>
                  </a:txBody>
                  <a:tcPr marL="91440" marR="91440" marT="45720" marB="45720" anchor="ctr">
                    <a:solidFill>
                      <a:srgbClr val="F6F8FC"/>
                    </a:solidFill>
                  </a:tcPr>
                </a:tc>
                <a:tc>
                  <a:txBody>
                    <a:bodyPr wrap="square"/>
                    <a:lstStyle/>
                    <a:p>
                      <a:r>
                        <a:rPr sz="1400">
                          <a:solidFill>
                            <a:srgbClr val="1A2238"/>
                          </a:solidFill>
                          <a:latin typeface="Arial"/>
                        </a:rPr>
                        <a:t>Mindestens 27 Werktage (§ 19 JArbSchG)</a:t>
                      </a:r>
                    </a:p>
                  </a:txBody>
                  <a:tcPr marL="91440" marR="91440" marT="45720" marB="45720" anchor="ctr">
                    <a:solidFill>
                      <a:srgbClr val="F6F8FC"/>
                    </a:solidFill>
                  </a:tcPr>
                </a:tc>
              </a:tr>
              <a:tr h="530352">
                <a:tc>
                  <a:txBody>
                    <a:bodyPr wrap="square"/>
                    <a:lstStyle/>
                    <a:p>
                      <a:r>
                        <a:rPr sz="1400" b="1">
                          <a:solidFill>
                            <a:srgbClr val="14264B"/>
                          </a:solidFill>
                          <a:latin typeface="Arial"/>
                        </a:rPr>
                        <a:t>3</a:t>
                      </a:r>
                    </a:p>
                  </a:txBody>
                  <a:tcPr marL="91440" marR="91440" marT="45720" marB="45720" anchor="ctr">
                    <a:solidFill>
                      <a:srgbClr val="FFFFFF"/>
                    </a:solidFill>
                  </a:tcPr>
                </a:tc>
                <a:tc>
                  <a:txBody>
                    <a:bodyPr wrap="square"/>
                    <a:lstStyle/>
                    <a:p>
                      <a:r>
                        <a:rPr sz="1400">
                          <a:solidFill>
                            <a:srgbClr val="1A2238"/>
                          </a:solidFill>
                          <a:latin typeface="Arial"/>
                        </a:rPr>
                        <a:t>Eine Auszubildende will in der Probezeit kündigen.</a:t>
                      </a:r>
                    </a:p>
                  </a:txBody>
                  <a:tcPr marL="91440" marR="91440" marT="45720" marB="45720" anchor="ctr">
                    <a:solidFill>
                      <a:srgbClr val="FFFFFF"/>
                    </a:solidFill>
                  </a:tcPr>
                </a:tc>
                <a:tc>
                  <a:txBody>
                    <a:bodyPr wrap="square"/>
                    <a:lstStyle/>
                    <a:p>
                      <a:r>
                        <a:rPr sz="1400">
                          <a:solidFill>
                            <a:srgbClr val="1A2238"/>
                          </a:solidFill>
                          <a:latin typeface="Arial"/>
                        </a:rPr>
                        <a:t>Jederzeit ohne Frist, aber schriftlich (§ 22 Abs. 1 und 3 BBiG)</a:t>
                      </a:r>
                    </a:p>
                  </a:txBody>
                  <a:tcPr marL="91440" marR="91440" marT="45720" marB="45720" anchor="ctr">
                    <a:solidFill>
                      <a:srgbClr val="FFFFFF"/>
                    </a:solidFill>
                  </a:tcPr>
                </a:tc>
              </a:tr>
              <a:tr h="530352">
                <a:tc>
                  <a:txBody>
                    <a:bodyPr wrap="square"/>
                    <a:lstStyle/>
                    <a:p>
                      <a:r>
                        <a:rPr sz="1400" b="1">
                          <a:solidFill>
                            <a:srgbClr val="14264B"/>
                          </a:solidFill>
                          <a:latin typeface="Arial"/>
                        </a:rPr>
                        <a:t>4</a:t>
                      </a:r>
                    </a:p>
                  </a:txBody>
                  <a:tcPr marL="91440" marR="91440" marT="45720" marB="45720" anchor="ctr">
                    <a:solidFill>
                      <a:srgbClr val="F6F8FC"/>
                    </a:solidFill>
                  </a:tcPr>
                </a:tc>
                <a:tc>
                  <a:txBody>
                    <a:bodyPr wrap="square"/>
                    <a:lstStyle/>
                    <a:p>
                      <a:r>
                        <a:rPr sz="1400">
                          <a:solidFill>
                            <a:srgbClr val="1A2238"/>
                          </a:solidFill>
                          <a:latin typeface="Arial"/>
                        </a:rPr>
                        <a:t>Ein Azubi will nach der Probezeit den Beruf wechseln.</a:t>
                      </a:r>
                    </a:p>
                  </a:txBody>
                  <a:tcPr marL="91440" marR="91440" marT="45720" marB="45720" anchor="ctr">
                    <a:solidFill>
                      <a:srgbClr val="F6F8FC"/>
                    </a:solidFill>
                  </a:tcPr>
                </a:tc>
                <a:tc>
                  <a:txBody>
                    <a:bodyPr wrap="square"/>
                    <a:lstStyle/>
                    <a:p>
                      <a:r>
                        <a:rPr sz="1400">
                          <a:solidFill>
                            <a:srgbClr val="1A2238"/>
                          </a:solidFill>
                          <a:latin typeface="Arial"/>
                        </a:rPr>
                        <a:t>Kündigung mit vier Wochen Frist, schriftlich und mit Gründen (§ 22 Abs. 2 und 3 BBiG)</a:t>
                      </a:r>
                    </a:p>
                  </a:txBody>
                  <a:tcPr marL="91440" marR="91440" marT="45720" marB="45720" anchor="ctr">
                    <a:solidFill>
                      <a:srgbClr val="F6F8FC"/>
                    </a:solidFill>
                  </a:tcPr>
                </a:tc>
              </a:tr>
              <a:tr h="530352">
                <a:tc>
                  <a:txBody>
                    <a:bodyPr wrap="square"/>
                    <a:lstStyle/>
                    <a:p>
                      <a:r>
                        <a:rPr sz="1400" b="1">
                          <a:solidFill>
                            <a:srgbClr val="14264B"/>
                          </a:solidFill>
                          <a:latin typeface="Arial"/>
                        </a:rPr>
                        <a:t>5</a:t>
                      </a:r>
                    </a:p>
                  </a:txBody>
                  <a:tcPr marL="91440" marR="91440" marT="45720" marB="45720" anchor="ctr">
                    <a:solidFill>
                      <a:srgbClr val="FFFFFF"/>
                    </a:solidFill>
                  </a:tcPr>
                </a:tc>
                <a:tc>
                  <a:txBody>
                    <a:bodyPr wrap="square"/>
                    <a:lstStyle/>
                    <a:p>
                      <a:r>
                        <a:rPr sz="1400">
                          <a:solidFill>
                            <a:srgbClr val="1A2238"/>
                          </a:solidFill>
                          <a:latin typeface="Arial"/>
                        </a:rPr>
                        <a:t>Ein Betrieb will nach der Probezeit wegen einer schweren Pflichtverletzung kündigen.</a:t>
                      </a:r>
                    </a:p>
                  </a:txBody>
                  <a:tcPr marL="91440" marR="91440" marT="45720" marB="45720" anchor="ctr">
                    <a:solidFill>
                      <a:srgbClr val="FFFFFF"/>
                    </a:solidFill>
                  </a:tcPr>
                </a:tc>
                <a:tc>
                  <a:txBody>
                    <a:bodyPr wrap="square"/>
                    <a:lstStyle/>
                    <a:p>
                      <a:r>
                        <a:rPr sz="1400">
                          <a:solidFill>
                            <a:srgbClr val="1A2238"/>
                          </a:solidFill>
                          <a:latin typeface="Arial"/>
                        </a:rPr>
                        <a:t>Nur fristlos aus wichtigem Grund, schriftlich mit Gründen, innerhalb von zwei Wochen nach Kenntnis (§ 22 Abs. 2 bis 4 BBiG)</a:t>
                      </a:r>
                    </a:p>
                  </a:txBody>
                  <a:tcPr marL="91440" marR="91440" marT="45720" marB="45720" anchor="ctr">
                    <a:solidFill>
                      <a:srgbClr val="FFFFFF"/>
                    </a:solidFill>
                  </a:tcPr>
                </a:tc>
              </a:tr>
              <a:tr h="530352">
                <a:tc>
                  <a:txBody>
                    <a:bodyPr wrap="square"/>
                    <a:lstStyle/>
                    <a:p>
                      <a:r>
                        <a:rPr sz="1400" b="1">
                          <a:solidFill>
                            <a:srgbClr val="14264B"/>
                          </a:solidFill>
                          <a:latin typeface="Arial"/>
                        </a:rPr>
                        <a:t>6</a:t>
                      </a:r>
                    </a:p>
                  </a:txBody>
                  <a:tcPr marL="91440" marR="91440" marT="45720" marB="45720" anchor="ctr">
                    <a:solidFill>
                      <a:srgbClr val="F6F8FC"/>
                    </a:solidFill>
                  </a:tcPr>
                </a:tc>
                <a:tc>
                  <a:txBody>
                    <a:bodyPr wrap="square"/>
                    <a:lstStyle/>
                    <a:p>
                      <a:r>
                        <a:rPr sz="1400">
                          <a:solidFill>
                            <a:srgbClr val="1A2238"/>
                          </a:solidFill>
                          <a:latin typeface="Arial"/>
                        </a:rPr>
                        <a:t>Ein nicht tarifgebundener Betrieb bietet im 1. Jahr (Beginn 2026) 600 € an.</a:t>
                      </a:r>
                    </a:p>
                  </a:txBody>
                  <a:tcPr marL="91440" marR="91440" marT="45720" marB="45720" anchor="ctr">
                    <a:solidFill>
                      <a:srgbClr val="F6F8FC"/>
                    </a:solidFill>
                  </a:tcPr>
                </a:tc>
                <a:tc>
                  <a:txBody>
                    <a:bodyPr wrap="square"/>
                    <a:lstStyle/>
                    <a:p>
                      <a:r>
                        <a:rPr sz="1400">
                          <a:solidFill>
                            <a:srgbClr val="1A2238"/>
                          </a:solidFill>
                          <a:latin typeface="Arial"/>
                        </a:rPr>
                        <a:t>Unzulässig: mindestens 724 € (§ 17 BBiG)</a:t>
                      </a:r>
                    </a:p>
                  </a:txBody>
                  <a:tcPr marL="91440" marR="91440" marT="45720" marB="45720" anchor="ctr">
                    <a:solidFill>
                      <a:srgbClr val="F6F8FC"/>
                    </a:solidFill>
                  </a:tcPr>
                </a:tc>
              </a:tr>
              <a:tr h="530352">
                <a:tc>
                  <a:txBody>
                    <a:bodyPr wrap="square"/>
                    <a:lstStyle/>
                    <a:p>
                      <a:r>
                        <a:rPr sz="1400" b="1">
                          <a:solidFill>
                            <a:srgbClr val="14264B"/>
                          </a:solidFill>
                          <a:latin typeface="Arial"/>
                        </a:rPr>
                        <a:t>7</a:t>
                      </a:r>
                    </a:p>
                  </a:txBody>
                  <a:tcPr marL="91440" marR="91440" marT="45720" marB="45720" anchor="ctr">
                    <a:solidFill>
                      <a:srgbClr val="FFFFFF"/>
                    </a:solidFill>
                  </a:tcPr>
                </a:tc>
                <a:tc>
                  <a:txBody>
                    <a:bodyPr wrap="square"/>
                    <a:lstStyle/>
                    <a:p>
                      <a:r>
                        <a:rPr sz="1400">
                          <a:solidFill>
                            <a:srgbClr val="1A2238"/>
                          </a:solidFill>
                          <a:latin typeface="Arial"/>
                        </a:rPr>
                        <a:t>Eine Auszubildende erzählt in sozialen Netzwerken interne Geschäftszahlen.</a:t>
                      </a:r>
                    </a:p>
                  </a:txBody>
                  <a:tcPr marL="91440" marR="91440" marT="45720" marB="45720" anchor="ctr">
                    <a:solidFill>
                      <a:srgbClr val="FFFFFF"/>
                    </a:solidFill>
                  </a:tcPr>
                </a:tc>
                <a:tc>
                  <a:txBody>
                    <a:bodyPr wrap="square"/>
                    <a:lstStyle/>
                    <a:p>
                      <a:r>
                        <a:rPr sz="1400">
                          <a:solidFill>
                            <a:srgbClr val="1A2238"/>
                          </a:solidFill>
                          <a:latin typeface="Arial"/>
                        </a:rPr>
                        <a:t>Verstoß gegen die Pflicht zur Verschwiegenheit (§ 13 BBiG)</a:t>
                      </a:r>
                    </a:p>
                  </a:txBody>
                  <a:tcPr marL="91440" marR="91440" marT="45720" marB="45720" anchor="ctr">
                    <a:solidFill>
                      <a:srgbClr val="FFFFFF"/>
                    </a:solidFill>
                  </a:tcPr>
                </a:tc>
              </a:tr>
              <a:tr h="530352">
                <a:tc>
                  <a:txBody>
                    <a:bodyPr wrap="square"/>
                    <a:lstStyle/>
                    <a:p>
                      <a:r>
                        <a:rPr sz="1400" b="1">
                          <a:solidFill>
                            <a:srgbClr val="14264B"/>
                          </a:solidFill>
                          <a:latin typeface="Arial"/>
                        </a:rPr>
                        <a:t>8</a:t>
                      </a:r>
                    </a:p>
                  </a:txBody>
                  <a:tcPr marL="91440" marR="91440" marT="45720" marB="45720" anchor="ctr">
                    <a:solidFill>
                      <a:srgbClr val="F6F8FC"/>
                    </a:solidFill>
                  </a:tcPr>
                </a:tc>
                <a:tc>
                  <a:txBody>
                    <a:bodyPr wrap="square"/>
                    <a:lstStyle/>
                    <a:p>
                      <a:r>
                        <a:rPr sz="1400">
                          <a:solidFill>
                            <a:srgbClr val="1A2238"/>
                          </a:solidFill>
                          <a:latin typeface="Arial"/>
                        </a:rPr>
                        <a:t>Es ist der Arbeitstag vor der schriftlichen Abschlussprüfung.</a:t>
                      </a:r>
                    </a:p>
                  </a:txBody>
                  <a:tcPr marL="91440" marR="91440" marT="45720" marB="45720" anchor="ctr">
                    <a:solidFill>
                      <a:srgbClr val="F6F8FC"/>
                    </a:solidFill>
                  </a:tcPr>
                </a:tc>
                <a:tc>
                  <a:txBody>
                    <a:bodyPr wrap="square"/>
                    <a:lstStyle/>
                    <a:p>
                      <a:r>
                        <a:rPr sz="1400">
                          <a:solidFill>
                            <a:srgbClr val="1A2238"/>
                          </a:solidFill>
                          <a:latin typeface="Arial"/>
                        </a:rPr>
                        <a:t>Der Betrieb muss den Azubi freistellen (§ 15 BBiG)</a:t>
                      </a:r>
                    </a:p>
                  </a:txBody>
                  <a:tcPr marL="91440" marR="91440" marT="45720" marB="45720" anchor="ctr">
                    <a:solidFill>
                      <a:srgbClr val="F6F8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3</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Wer wird Azubi-Millionär?</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Zwei Teams, sieben Fragen im Wechsel</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Jede richtige Antwort bringt die nächste Gewinnstufe</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Wer falsch liegt, gibt die Frage an das andere Team weiter – es darf stehlen</a:t>
            </a:r>
          </a:p>
        </p:txBody>
      </p:sp>
      <p:sp>
        <p:nvSpPr>
          <p:cNvPr id="11" name="Oval 10"/>
          <p:cNvSpPr/>
          <p:nvPr/>
        </p:nvSpPr>
        <p:spPr>
          <a:xfrm>
            <a:off x="731520" y="507492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4</a:t>
            </a:r>
          </a:p>
        </p:txBody>
      </p:sp>
      <p:sp>
        <p:nvSpPr>
          <p:cNvPr id="12" name="TextBox 11"/>
          <p:cNvSpPr txBox="1"/>
          <p:nvPr/>
        </p:nvSpPr>
        <p:spPr>
          <a:xfrm>
            <a:off x="1508760" y="4983480"/>
            <a:ext cx="9875520" cy="914400"/>
          </a:xfrm>
          <a:prstGeom prst="rect">
            <a:avLst/>
          </a:prstGeom>
          <a:noFill/>
        </p:spPr>
        <p:txBody>
          <a:bodyPr wrap="square" anchor="ctr">
            <a:spAutoFit/>
          </a:bodyPr>
          <a:lstStyle/>
          <a:p>
            <a:pPr algn="l"/>
            <a:r>
              <a:rPr sz="2600" b="0">
                <a:solidFill>
                  <a:srgbClr val="1A2238"/>
                </a:solidFill>
                <a:latin typeface="Arial"/>
              </a:rPr>
              <a:t>Jedes Team hat einmal den 50:50-Joker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1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50 €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viele Monate dauert die Probezeit mindestens?</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1</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3</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2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100 €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Wer fasst den wesentlichen Inhalt des Ausbildungsvertrags in Textform ab?</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Berufsschule</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IHK</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Ausbildende</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Azubi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3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200 €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Welche Pflicht hat der Ausbildende?</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Ausbildungsmittel kostenlos stellen</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Ausbildungsnachweis führen</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Weisungen befolgen</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Betriebsgeheimnisse wahren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4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500 €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viele Werktage Mindesturlaub hat ein volljähriger Azubi?</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20</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24</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25</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5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1.000 €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Welche Kündigungsfrist hat der Azubi nach der Probezeit bei Berufswechsel?</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keine</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 Wochen</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4 Wochen</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 Monate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6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5.000 €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hoch ist die Mindestausbildungsvergütung im 3. Ausbildungsjahr (Beginn 2026)?</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724 €</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854 €</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977 €</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1.014 €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7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1 Million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Eine Kündigung aus wichtigem Grund nach der Probezeit ist unwirksam, wenn …</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die Gründe länger als zwei Wochen bekannt sind</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der Azubi nicht zustimmt</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sie nicht zum Monatsende wirkt</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kein Zeuge dabei war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3 · AZUBI-MILLIONÄR</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5266944"/>
        </p:xfrm>
        <a:graphic>
          <a:graphicData uri="http://schemas.openxmlformats.org/drawingml/2006/table">
            <a:tbl>
              <a:tblPr firstRow="0" bandRow="0">
                <a:tableStyleId>{5C22544A-7EE6-4342-B048-85BDC9FD1C3A}</a:tableStyleId>
              </a:tblPr>
              <a:tblGrid>
                <a:gridCol w="1645920"/>
                <a:gridCol w="4754880"/>
                <a:gridCol w="4572000"/>
              </a:tblGrid>
              <a:tr h="658368">
                <a:tc>
                  <a:txBody>
                    <a:bodyPr wrap="square"/>
                    <a:lstStyle/>
                    <a:p>
                      <a:r>
                        <a:rPr sz="1700" b="1">
                          <a:solidFill>
                            <a:srgbClr val="FFFFFF"/>
                          </a:solidFill>
                          <a:latin typeface="Arial"/>
                        </a:rPr>
                        <a:t>Stufe</a:t>
                      </a:r>
                    </a:p>
                  </a:txBody>
                  <a:tcPr marL="91440" marR="91440" marT="45720" marB="45720" anchor="ctr">
                    <a:solidFill>
                      <a:srgbClr val="14264B"/>
                    </a:solidFill>
                  </a:tcPr>
                </a:tc>
                <a:tc>
                  <a:txBody>
                    <a:bodyPr wrap="square"/>
                    <a:lstStyle/>
                    <a:p>
                      <a:r>
                        <a:rPr sz="1700" b="1">
                          <a:solidFill>
                            <a:srgbClr val="FFFFFF"/>
                          </a:solidFill>
                          <a:latin typeface="Arial"/>
                        </a:rPr>
                        <a:t>Richtige Antwort</a:t>
                      </a:r>
                    </a:p>
                  </a:txBody>
                  <a:tcPr marL="91440" marR="91440" marT="45720" marB="45720" anchor="ctr">
                    <a:solidFill>
                      <a:srgbClr val="14264B"/>
                    </a:solidFill>
                  </a:tcPr>
                </a:tc>
                <a:tc>
                  <a:txBody>
                    <a:bodyPr wrap="square"/>
                    <a:lstStyle/>
                    <a:p>
                      <a:r>
                        <a:rPr sz="1700" b="1">
                          <a:solidFill>
                            <a:srgbClr val="FFFFFF"/>
                          </a:solidFill>
                          <a:latin typeface="Arial"/>
                        </a:rPr>
                        <a:t>Paragraf</a:t>
                      </a:r>
                    </a:p>
                  </a:txBody>
                  <a:tcPr marL="91440" marR="91440" marT="45720" marB="45720" anchor="ctr">
                    <a:solidFill>
                      <a:srgbClr val="14264B"/>
                    </a:solidFill>
                  </a:tcPr>
                </a:tc>
              </a:tr>
              <a:tr h="658368">
                <a:tc>
                  <a:txBody>
                    <a:bodyPr wrap="square"/>
                    <a:lstStyle/>
                    <a:p>
                      <a:r>
                        <a:rPr sz="1700" b="1">
                          <a:solidFill>
                            <a:srgbClr val="14264B"/>
                          </a:solidFill>
                          <a:latin typeface="Arial"/>
                        </a:rPr>
                        <a:t>50 €</a:t>
                      </a:r>
                    </a:p>
                  </a:txBody>
                  <a:tcPr marL="91440" marR="91440" marT="45720" marB="45720" anchor="ctr">
                    <a:solidFill>
                      <a:srgbClr val="FFFFFF"/>
                    </a:solidFill>
                  </a:tcPr>
                </a:tc>
                <a:tc>
                  <a:txBody>
                    <a:bodyPr wrap="square"/>
                    <a:lstStyle/>
                    <a:p>
                      <a:r>
                        <a:rPr sz="1700">
                          <a:solidFill>
                            <a:srgbClr val="1A2238"/>
                          </a:solidFill>
                          <a:latin typeface="Arial"/>
                        </a:rPr>
                        <a:t>A – 1</a:t>
                      </a:r>
                    </a:p>
                  </a:txBody>
                  <a:tcPr marL="91440" marR="91440" marT="45720" marB="45720" anchor="ctr">
                    <a:solidFill>
                      <a:srgbClr val="FFFFFF"/>
                    </a:solidFill>
                  </a:tcPr>
                </a:tc>
                <a:tc>
                  <a:txBody>
                    <a:bodyPr wrap="square"/>
                    <a:lstStyle/>
                    <a:p>
                      <a:r>
                        <a:rPr sz="1700">
                          <a:solidFill>
                            <a:srgbClr val="1A2238"/>
                          </a:solidFill>
                          <a:latin typeface="Arial"/>
                        </a:rPr>
                        <a:t>§ 20 BBiG</a:t>
                      </a:r>
                    </a:p>
                  </a:txBody>
                  <a:tcPr marL="91440" marR="91440" marT="45720" marB="45720" anchor="ctr">
                    <a:solidFill>
                      <a:srgbClr val="FFFFFF"/>
                    </a:solidFill>
                  </a:tcPr>
                </a:tc>
              </a:tr>
              <a:tr h="658368">
                <a:tc>
                  <a:txBody>
                    <a:bodyPr wrap="square"/>
                    <a:lstStyle/>
                    <a:p>
                      <a:r>
                        <a:rPr sz="1700" b="1">
                          <a:solidFill>
                            <a:srgbClr val="14264B"/>
                          </a:solidFill>
                          <a:latin typeface="Arial"/>
                        </a:rPr>
                        <a:t>100 €</a:t>
                      </a:r>
                    </a:p>
                  </a:txBody>
                  <a:tcPr marL="91440" marR="91440" marT="45720" marB="45720" anchor="ctr">
                    <a:solidFill>
                      <a:srgbClr val="F6F8FC"/>
                    </a:solidFill>
                  </a:tcPr>
                </a:tc>
                <a:tc>
                  <a:txBody>
                    <a:bodyPr wrap="square"/>
                    <a:lstStyle/>
                    <a:p>
                      <a:r>
                        <a:rPr sz="1700">
                          <a:solidFill>
                            <a:srgbClr val="1A2238"/>
                          </a:solidFill>
                          <a:latin typeface="Arial"/>
                        </a:rPr>
                        <a:t>C – Ausbildende</a:t>
                      </a:r>
                    </a:p>
                  </a:txBody>
                  <a:tcPr marL="91440" marR="91440" marT="45720" marB="45720" anchor="ctr">
                    <a:solidFill>
                      <a:srgbClr val="F6F8FC"/>
                    </a:solidFill>
                  </a:tcPr>
                </a:tc>
                <a:tc>
                  <a:txBody>
                    <a:bodyPr wrap="square"/>
                    <a:lstStyle/>
                    <a:p>
                      <a:r>
                        <a:rPr sz="1700">
                          <a:solidFill>
                            <a:srgbClr val="1A2238"/>
                          </a:solidFill>
                          <a:latin typeface="Arial"/>
                        </a:rPr>
                        <a:t>§ 11 BBiG</a:t>
                      </a:r>
                    </a:p>
                  </a:txBody>
                  <a:tcPr marL="91440" marR="91440" marT="45720" marB="45720" anchor="ctr">
                    <a:solidFill>
                      <a:srgbClr val="F6F8FC"/>
                    </a:solidFill>
                  </a:tcPr>
                </a:tc>
              </a:tr>
              <a:tr h="658368">
                <a:tc>
                  <a:txBody>
                    <a:bodyPr wrap="square"/>
                    <a:lstStyle/>
                    <a:p>
                      <a:r>
                        <a:rPr sz="1700" b="1">
                          <a:solidFill>
                            <a:srgbClr val="14264B"/>
                          </a:solidFill>
                          <a:latin typeface="Arial"/>
                        </a:rPr>
                        <a:t>200 €</a:t>
                      </a:r>
                    </a:p>
                  </a:txBody>
                  <a:tcPr marL="91440" marR="91440" marT="45720" marB="45720" anchor="ctr">
                    <a:solidFill>
                      <a:srgbClr val="FFFFFF"/>
                    </a:solidFill>
                  </a:tcPr>
                </a:tc>
                <a:tc>
                  <a:txBody>
                    <a:bodyPr wrap="square"/>
                    <a:lstStyle/>
                    <a:p>
                      <a:r>
                        <a:rPr sz="1700">
                          <a:solidFill>
                            <a:srgbClr val="1A2238"/>
                          </a:solidFill>
                          <a:latin typeface="Arial"/>
                        </a:rPr>
                        <a:t>A – Ausbildungsmittel kostenlos stellen</a:t>
                      </a:r>
                    </a:p>
                  </a:txBody>
                  <a:tcPr marL="91440" marR="91440" marT="45720" marB="45720" anchor="ctr">
                    <a:solidFill>
                      <a:srgbClr val="FFFFFF"/>
                    </a:solidFill>
                  </a:tcPr>
                </a:tc>
                <a:tc>
                  <a:txBody>
                    <a:bodyPr wrap="square"/>
                    <a:lstStyle/>
                    <a:p>
                      <a:r>
                        <a:rPr sz="1700">
                          <a:solidFill>
                            <a:srgbClr val="1A2238"/>
                          </a:solidFill>
                          <a:latin typeface="Arial"/>
                        </a:rPr>
                        <a:t>§ 14 BBiG; B bis D sind Pflichten des Azubis (§ 13 BBiG)</a:t>
                      </a:r>
                    </a:p>
                  </a:txBody>
                  <a:tcPr marL="91440" marR="91440" marT="45720" marB="45720" anchor="ctr">
                    <a:solidFill>
                      <a:srgbClr val="FFFFFF"/>
                    </a:solidFill>
                  </a:tcPr>
                </a:tc>
              </a:tr>
              <a:tr h="658368">
                <a:tc>
                  <a:txBody>
                    <a:bodyPr wrap="square"/>
                    <a:lstStyle/>
                    <a:p>
                      <a:r>
                        <a:rPr sz="1700" b="1">
                          <a:solidFill>
                            <a:srgbClr val="14264B"/>
                          </a:solidFill>
                          <a:latin typeface="Arial"/>
                        </a:rPr>
                        <a:t>500 €</a:t>
                      </a:r>
                    </a:p>
                  </a:txBody>
                  <a:tcPr marL="91440" marR="91440" marT="45720" marB="45720" anchor="ctr">
                    <a:solidFill>
                      <a:srgbClr val="F6F8FC"/>
                    </a:solidFill>
                  </a:tcPr>
                </a:tc>
                <a:tc>
                  <a:txBody>
                    <a:bodyPr wrap="square"/>
                    <a:lstStyle/>
                    <a:p>
                      <a:r>
                        <a:rPr sz="1700">
                          <a:solidFill>
                            <a:srgbClr val="1A2238"/>
                          </a:solidFill>
                          <a:latin typeface="Arial"/>
                        </a:rPr>
                        <a:t>B – 24</a:t>
                      </a:r>
                    </a:p>
                  </a:txBody>
                  <a:tcPr marL="91440" marR="91440" marT="45720" marB="45720" anchor="ctr">
                    <a:solidFill>
                      <a:srgbClr val="F6F8FC"/>
                    </a:solidFill>
                  </a:tcPr>
                </a:tc>
                <a:tc>
                  <a:txBody>
                    <a:bodyPr wrap="square"/>
                    <a:lstStyle/>
                    <a:p>
                      <a:r>
                        <a:rPr sz="1700">
                          <a:solidFill>
                            <a:srgbClr val="1A2238"/>
                          </a:solidFill>
                          <a:latin typeface="Arial"/>
                        </a:rPr>
                        <a:t>§ 3 BUrlG (20 Arbeitstage bei Fünf-Tage-Woche)</a:t>
                      </a:r>
                    </a:p>
                  </a:txBody>
                  <a:tcPr marL="91440" marR="91440" marT="45720" marB="45720" anchor="ctr">
                    <a:solidFill>
                      <a:srgbClr val="F6F8FC"/>
                    </a:solidFill>
                  </a:tcPr>
                </a:tc>
              </a:tr>
              <a:tr h="658368">
                <a:tc>
                  <a:txBody>
                    <a:bodyPr wrap="square"/>
                    <a:lstStyle/>
                    <a:p>
                      <a:r>
                        <a:rPr sz="1700" b="1">
                          <a:solidFill>
                            <a:srgbClr val="14264B"/>
                          </a:solidFill>
                          <a:latin typeface="Arial"/>
                        </a:rPr>
                        <a:t>1.000 €</a:t>
                      </a:r>
                    </a:p>
                  </a:txBody>
                  <a:tcPr marL="91440" marR="91440" marT="45720" marB="45720" anchor="ctr">
                    <a:solidFill>
                      <a:srgbClr val="FFFFFF"/>
                    </a:solidFill>
                  </a:tcPr>
                </a:tc>
                <a:tc>
                  <a:txBody>
                    <a:bodyPr wrap="square"/>
                    <a:lstStyle/>
                    <a:p>
                      <a:r>
                        <a:rPr sz="1700">
                          <a:solidFill>
                            <a:srgbClr val="1A2238"/>
                          </a:solidFill>
                          <a:latin typeface="Arial"/>
                        </a:rPr>
                        <a:t>C – 4 Wochen</a:t>
                      </a:r>
                    </a:p>
                  </a:txBody>
                  <a:tcPr marL="91440" marR="91440" marT="45720" marB="45720" anchor="ctr">
                    <a:solidFill>
                      <a:srgbClr val="FFFFFF"/>
                    </a:solidFill>
                  </a:tcPr>
                </a:tc>
                <a:tc>
                  <a:txBody>
                    <a:bodyPr wrap="square"/>
                    <a:lstStyle/>
                    <a:p>
                      <a:r>
                        <a:rPr sz="1700">
                          <a:solidFill>
                            <a:srgbClr val="1A2238"/>
                          </a:solidFill>
                          <a:latin typeface="Arial"/>
                        </a:rPr>
                        <a:t>§ 22 Abs. 2 BBiG</a:t>
                      </a:r>
                    </a:p>
                  </a:txBody>
                  <a:tcPr marL="91440" marR="91440" marT="45720" marB="45720" anchor="ctr">
                    <a:solidFill>
                      <a:srgbClr val="FFFFFF"/>
                    </a:solidFill>
                  </a:tcPr>
                </a:tc>
              </a:tr>
              <a:tr h="658368">
                <a:tc>
                  <a:txBody>
                    <a:bodyPr wrap="square"/>
                    <a:lstStyle/>
                    <a:p>
                      <a:r>
                        <a:rPr sz="1700" b="1">
                          <a:solidFill>
                            <a:srgbClr val="14264B"/>
                          </a:solidFill>
                          <a:latin typeface="Arial"/>
                        </a:rPr>
                        <a:t>5.000 €</a:t>
                      </a:r>
                    </a:p>
                  </a:txBody>
                  <a:tcPr marL="91440" marR="91440" marT="45720" marB="45720" anchor="ctr">
                    <a:solidFill>
                      <a:srgbClr val="F6F8FC"/>
                    </a:solidFill>
                  </a:tcPr>
                </a:tc>
                <a:tc>
                  <a:txBody>
                    <a:bodyPr wrap="square"/>
                    <a:lstStyle/>
                    <a:p>
                      <a:r>
                        <a:rPr sz="1700">
                          <a:solidFill>
                            <a:srgbClr val="1A2238"/>
                          </a:solidFill>
                          <a:latin typeface="Arial"/>
                        </a:rPr>
                        <a:t>C – 977 €</a:t>
                      </a:r>
                    </a:p>
                  </a:txBody>
                  <a:tcPr marL="91440" marR="91440" marT="45720" marB="45720" anchor="ctr">
                    <a:solidFill>
                      <a:srgbClr val="F6F8FC"/>
                    </a:solidFill>
                  </a:tcPr>
                </a:tc>
                <a:tc>
                  <a:txBody>
                    <a:bodyPr wrap="square"/>
                    <a:lstStyle/>
                    <a:p>
                      <a:r>
                        <a:rPr sz="1700">
                          <a:solidFill>
                            <a:srgbClr val="1A2238"/>
                          </a:solidFill>
                          <a:latin typeface="Arial"/>
                        </a:rPr>
                        <a:t>§ 17 BBiG</a:t>
                      </a:r>
                    </a:p>
                  </a:txBody>
                  <a:tcPr marL="91440" marR="91440" marT="45720" marB="45720" anchor="ctr">
                    <a:solidFill>
                      <a:srgbClr val="F6F8FC"/>
                    </a:solidFill>
                  </a:tcPr>
                </a:tc>
              </a:tr>
              <a:tr h="658368">
                <a:tc>
                  <a:txBody>
                    <a:bodyPr wrap="square"/>
                    <a:lstStyle/>
                    <a:p>
                      <a:r>
                        <a:rPr sz="1700" b="1">
                          <a:solidFill>
                            <a:srgbClr val="14264B"/>
                          </a:solidFill>
                          <a:latin typeface="Arial"/>
                        </a:rPr>
                        <a:t>1 Million €</a:t>
                      </a:r>
                    </a:p>
                  </a:txBody>
                  <a:tcPr marL="91440" marR="91440" marT="45720" marB="45720" anchor="ctr">
                    <a:solidFill>
                      <a:srgbClr val="FFFFFF"/>
                    </a:solidFill>
                  </a:tcPr>
                </a:tc>
                <a:tc>
                  <a:txBody>
                    <a:bodyPr wrap="square"/>
                    <a:lstStyle/>
                    <a:p>
                      <a:r>
                        <a:rPr sz="1700">
                          <a:solidFill>
                            <a:srgbClr val="1A2238"/>
                          </a:solidFill>
                          <a:latin typeface="Arial"/>
                        </a:rPr>
                        <a:t>A – die Gründe länger als zwei Wochen bekannt sind</a:t>
                      </a:r>
                    </a:p>
                  </a:txBody>
                  <a:tcPr marL="91440" marR="91440" marT="45720" marB="45720" anchor="ctr">
                    <a:solidFill>
                      <a:srgbClr val="FFFFFF"/>
                    </a:solidFill>
                  </a:tcPr>
                </a:tc>
                <a:tc>
                  <a:txBody>
                    <a:bodyPr wrap="square"/>
                    <a:lstStyle/>
                    <a:p>
                      <a:r>
                        <a:rPr sz="1700">
                          <a:solidFill>
                            <a:srgbClr val="1A2238"/>
                          </a:solidFill>
                          <a:latin typeface="Arial"/>
                        </a:rPr>
                        <a:t>§ 22 Abs. 4 BBiG</a:t>
                      </a:r>
                    </a:p>
                  </a:txBody>
                  <a:tcPr marL="91440" marR="91440" marT="45720" marB="45720"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4</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IHK-Fälle</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Drei Gruppen bearbeiten je einen Fall wie in der Prüfung</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Jede Gruppe nennt Lösung und Begründung in einem Satz</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Schnelle Gruppen lösen einen der beiden Reservefälle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Fall A · Probezeit und Kündigung</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Lena Berg beginnt am 01.09. bei der Muster GmbH eine Ausbildung zur Kauffrau für Büromanagement, vereinbart sind drei Monate Probezeit. Am 10.10. merkt sie, dass der Beruf nicht zu ihr passt.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Lena muss eine Kündigungsfrist von vier Wochen einhalten.</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Lena kann schriftlich und ohne Einhaltung einer Frist kündigen.</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Lena kann nur zum Monatsende kündigen.</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Lena braucht für die Kündigung die Zustimmung der IHK.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Fall B · Urlaub</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Tim Roth ist zu Beginn des Kalenderjahres 17 Jahre alt und arbeitet an fünf Tagen pro Woche. Wie viele Werktage Mindesturlaub stehen ihm nach dem Gesetz zu?</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20 Werktage</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24 Werktage</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25 Werktage</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30 Werktage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Fall C · Vergütung</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Die Muster GmbH ist nicht tarifgebunden und bietet Jonas für den Ausbildungsbeginn 2026 im ersten Jahr 690 € brutto an.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Zulässig, wenn Jonas zustimmt.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Zulässig, weil die Vergütung frei vereinbart werden darf.</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Unzulässig, im ersten Ausbildungsjahr gelten 2026 mindestens 724 €.</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Unzulässig, erst ab dem zweiten Jahr gilt eine Mindestvergütung.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Reservefall D · tägliche Ausbildungszeit</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Nina Koch ist 17 Jahre alt und Auszubildende. Wegen Personalmangel soll sie täglich 9 Stunden arbeiten.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Zulässig, wenn die Mehrarbeit vergütet wird.</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Unzulässig, für Jugendliche gelten höchstens 8 Stunden täglich und 40 Stunden wöchentlich.</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Zulässig, bis zu 10 Stunden wie bei Erwachsenen.</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Zulässig, wenn die Eltern zustimmen.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Reservefall E · Beginn und Dauer</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Ben beginnt nach dem Abitur eine dreijährige Ausbildung und möchte sie verkürzen.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Ben beantragt die Verkürzung allein bei der Berufsschule.</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Ben und der Betrieb beantragen die Verkürzung gemeinsam bei der zuständigen Stelle.</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Die Ausbildung verkürzt sich wegen des Abiturs automatisch.</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Nur der Betrieb darf die Verkürzung bei der IHK beantragen.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4 · IHK-FÄLLE</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5212080"/>
        </p:xfrm>
        <a:graphic>
          <a:graphicData uri="http://schemas.openxmlformats.org/drawingml/2006/table">
            <a:tbl>
              <a:tblPr firstRow="0" bandRow="0">
                <a:tableStyleId>{5C22544A-7EE6-4342-B048-85BDC9FD1C3A}</a:tableStyleId>
              </a:tblPr>
              <a:tblGrid>
                <a:gridCol w="914400"/>
                <a:gridCol w="1188720"/>
                <a:gridCol w="8869680"/>
              </a:tblGrid>
              <a:tr h="868680">
                <a:tc>
                  <a:txBody>
                    <a:bodyPr wrap="square"/>
                    <a:lstStyle/>
                    <a:p>
                      <a:r>
                        <a:rPr sz="1700" b="1">
                          <a:solidFill>
                            <a:srgbClr val="FFFFFF"/>
                          </a:solidFill>
                          <a:latin typeface="Arial"/>
                        </a:rPr>
                        <a:t>Fall</a:t>
                      </a:r>
                    </a:p>
                  </a:txBody>
                  <a:tcPr marL="91440" marR="91440" marT="45720" marB="45720" anchor="ctr">
                    <a:solidFill>
                      <a:srgbClr val="14264B"/>
                    </a:solidFill>
                  </a:tcPr>
                </a:tc>
                <a:tc>
                  <a:txBody>
                    <a:bodyPr wrap="square"/>
                    <a:lstStyle/>
                    <a:p>
                      <a:r>
                        <a:rPr sz="1700" b="1">
                          <a:solidFill>
                            <a:srgbClr val="FFFFFF"/>
                          </a:solidFill>
                          <a:latin typeface="Arial"/>
                        </a:rPr>
                        <a:t>Lösung</a:t>
                      </a:r>
                    </a:p>
                  </a:txBody>
                  <a:tcPr marL="91440" marR="91440" marT="45720" marB="45720" anchor="ctr">
                    <a:solidFill>
                      <a:srgbClr val="14264B"/>
                    </a:solidFill>
                  </a:tcPr>
                </a:tc>
                <a:tc>
                  <a:txBody>
                    <a:bodyPr wrap="square"/>
                    <a:lstStyle/>
                    <a:p>
                      <a:r>
                        <a:rPr sz="1700" b="1">
                          <a:solidFill>
                            <a:srgbClr val="FFFFFF"/>
                          </a:solidFill>
                          <a:latin typeface="Arial"/>
                        </a:rPr>
                        <a:t>Paragraf und Begründung</a:t>
                      </a:r>
                    </a:p>
                  </a:txBody>
                  <a:tcPr marL="91440" marR="91440" marT="45720" marB="45720" anchor="ctr">
                    <a:solidFill>
                      <a:srgbClr val="14264B"/>
                    </a:solidFill>
                  </a:tcPr>
                </a:tc>
              </a:tr>
              <a:tr h="868680">
                <a:tc>
                  <a:txBody>
                    <a:bodyPr wrap="square"/>
                    <a:lstStyle/>
                    <a:p>
                      <a:r>
                        <a:rPr sz="1700" b="1">
                          <a:solidFill>
                            <a:srgbClr val="14264B"/>
                          </a:solidFill>
                          <a:latin typeface="Arial"/>
                        </a:rPr>
                        <a:t>A</a:t>
                      </a:r>
                    </a:p>
                  </a:txBody>
                  <a:tcPr marL="91440" marR="91440" marT="45720" marB="45720" anchor="ctr">
                    <a:solidFill>
                      <a:srgbClr val="FFFFFF"/>
                    </a:solidFill>
                  </a:tcPr>
                </a:tc>
                <a:tc>
                  <a:txBody>
                    <a:bodyPr wrap="square"/>
                    <a:lstStyle/>
                    <a:p>
                      <a:r>
                        <a:rPr sz="1700">
                          <a:solidFill>
                            <a:srgbClr val="1A2238"/>
                          </a:solidFill>
                          <a:latin typeface="Arial"/>
                        </a:rPr>
                        <a:t>B</a:t>
                      </a:r>
                    </a:p>
                  </a:txBody>
                  <a:tcPr marL="91440" marR="91440" marT="45720" marB="45720" anchor="ctr">
                    <a:solidFill>
                      <a:srgbClr val="FFFFFF"/>
                    </a:solidFill>
                  </a:tcPr>
                </a:tc>
                <a:tc>
                  <a:txBody>
                    <a:bodyPr wrap="square"/>
                    <a:lstStyle/>
                    <a:p>
                      <a:r>
                        <a:rPr sz="1700">
                          <a:solidFill>
                            <a:srgbClr val="1A2238"/>
                          </a:solidFill>
                          <a:latin typeface="Arial"/>
                        </a:rPr>
                        <a:t>In der Probezeit ist die Kündigung jederzeit ohne Frist möglich, aber schriftlich (§ 22 Abs. 1 und 3 BBiG).</a:t>
                      </a:r>
                    </a:p>
                  </a:txBody>
                  <a:tcPr marL="91440" marR="91440" marT="45720" marB="45720" anchor="ctr">
                    <a:solidFill>
                      <a:srgbClr val="FFFFFF"/>
                    </a:solidFill>
                  </a:tcPr>
                </a:tc>
              </a:tr>
              <a:tr h="868680">
                <a:tc>
                  <a:txBody>
                    <a:bodyPr wrap="square"/>
                    <a:lstStyle/>
                    <a:p>
                      <a:r>
                        <a:rPr sz="1700" b="1">
                          <a:solidFill>
                            <a:srgbClr val="14264B"/>
                          </a:solidFill>
                          <a:latin typeface="Arial"/>
                        </a:rPr>
                        <a:t>B</a:t>
                      </a:r>
                    </a:p>
                  </a:txBody>
                  <a:tcPr marL="91440" marR="91440" marT="45720" marB="45720" anchor="ctr">
                    <a:solidFill>
                      <a:srgbClr val="F6F8FC"/>
                    </a:solidFill>
                  </a:tcPr>
                </a:tc>
                <a:tc>
                  <a:txBody>
                    <a:bodyPr wrap="square"/>
                    <a:lstStyle/>
                    <a:p>
                      <a:r>
                        <a:rPr sz="1700">
                          <a:solidFill>
                            <a:srgbClr val="1A2238"/>
                          </a:solidFill>
                          <a:latin typeface="Arial"/>
                        </a:rPr>
                        <a:t>C</a:t>
                      </a:r>
                    </a:p>
                  </a:txBody>
                  <a:tcPr marL="91440" marR="91440" marT="45720" marB="45720" anchor="ctr">
                    <a:solidFill>
                      <a:srgbClr val="F6F8FC"/>
                    </a:solidFill>
                  </a:tcPr>
                </a:tc>
                <a:tc>
                  <a:txBody>
                    <a:bodyPr wrap="square"/>
                    <a:lstStyle/>
                    <a:p>
                      <a:r>
                        <a:rPr sz="1700">
                          <a:solidFill>
                            <a:srgbClr val="1A2238"/>
                          </a:solidFill>
                          <a:latin typeface="Arial"/>
                        </a:rPr>
                        <a:t>Jugendliche unter 18 Jahren haben mindestens 25 Werktage (§ 19 JArbSchG), das entspricht 21 Arbeitstagen bei der Fünf-Tage-Woche.</a:t>
                      </a:r>
                    </a:p>
                  </a:txBody>
                  <a:tcPr marL="91440" marR="91440" marT="45720" marB="45720" anchor="ctr">
                    <a:solidFill>
                      <a:srgbClr val="F6F8FC"/>
                    </a:solidFill>
                  </a:tcPr>
                </a:tc>
              </a:tr>
              <a:tr h="868680">
                <a:tc>
                  <a:txBody>
                    <a:bodyPr wrap="square"/>
                    <a:lstStyle/>
                    <a:p>
                      <a:r>
                        <a:rPr sz="1700" b="1">
                          <a:solidFill>
                            <a:srgbClr val="14264B"/>
                          </a:solidFill>
                          <a:latin typeface="Arial"/>
                        </a:rPr>
                        <a:t>C</a:t>
                      </a:r>
                    </a:p>
                  </a:txBody>
                  <a:tcPr marL="91440" marR="91440" marT="45720" marB="45720" anchor="ctr">
                    <a:solidFill>
                      <a:srgbClr val="FFFFFF"/>
                    </a:solidFill>
                  </a:tcPr>
                </a:tc>
                <a:tc>
                  <a:txBody>
                    <a:bodyPr wrap="square"/>
                    <a:lstStyle/>
                    <a:p>
                      <a:r>
                        <a:rPr sz="1700">
                          <a:solidFill>
                            <a:srgbClr val="1A2238"/>
                          </a:solidFill>
                          <a:latin typeface="Arial"/>
                        </a:rPr>
                        <a:t>C</a:t>
                      </a:r>
                    </a:p>
                  </a:txBody>
                  <a:tcPr marL="91440" marR="91440" marT="45720" marB="45720" anchor="ctr">
                    <a:solidFill>
                      <a:srgbClr val="FFFFFF"/>
                    </a:solidFill>
                  </a:tcPr>
                </a:tc>
                <a:tc>
                  <a:txBody>
                    <a:bodyPr wrap="square"/>
                    <a:lstStyle/>
                    <a:p>
                      <a:r>
                        <a:rPr sz="1700">
                          <a:solidFill>
                            <a:srgbClr val="1A2238"/>
                          </a:solidFill>
                          <a:latin typeface="Arial"/>
                        </a:rPr>
                        <a:t>Die Mindestausbildungsvergütung nach § 17 BBiG darf nicht unterschritten werden.</a:t>
                      </a:r>
                    </a:p>
                  </a:txBody>
                  <a:tcPr marL="91440" marR="91440" marT="45720" marB="45720" anchor="ctr">
                    <a:solidFill>
                      <a:srgbClr val="FFFFFF"/>
                    </a:solidFill>
                  </a:tcPr>
                </a:tc>
              </a:tr>
              <a:tr h="868680">
                <a:tc>
                  <a:txBody>
                    <a:bodyPr wrap="square"/>
                    <a:lstStyle/>
                    <a:p>
                      <a:r>
                        <a:rPr sz="1700" b="1">
                          <a:solidFill>
                            <a:srgbClr val="14264B"/>
                          </a:solidFill>
                          <a:latin typeface="Arial"/>
                        </a:rPr>
                        <a:t>D</a:t>
                      </a:r>
                    </a:p>
                  </a:txBody>
                  <a:tcPr marL="91440" marR="91440" marT="45720" marB="45720" anchor="ctr">
                    <a:solidFill>
                      <a:srgbClr val="F6F8FC"/>
                    </a:solidFill>
                  </a:tcPr>
                </a:tc>
                <a:tc>
                  <a:txBody>
                    <a:bodyPr wrap="square"/>
                    <a:lstStyle/>
                    <a:p>
                      <a:r>
                        <a:rPr sz="1700">
                          <a:solidFill>
                            <a:srgbClr val="1A2238"/>
                          </a:solidFill>
                          <a:latin typeface="Arial"/>
                        </a:rPr>
                        <a:t>B</a:t>
                      </a:r>
                    </a:p>
                  </a:txBody>
                  <a:tcPr marL="91440" marR="91440" marT="45720" marB="45720" anchor="ctr">
                    <a:solidFill>
                      <a:srgbClr val="F6F8FC"/>
                    </a:solidFill>
                  </a:tcPr>
                </a:tc>
                <a:tc>
                  <a:txBody>
                    <a:bodyPr wrap="square"/>
                    <a:lstStyle/>
                    <a:p>
                      <a:r>
                        <a:rPr sz="1700">
                          <a:solidFill>
                            <a:srgbClr val="1A2238"/>
                          </a:solidFill>
                          <a:latin typeface="Arial"/>
                        </a:rPr>
                        <a:t>§ 8 JArbSchG; ausnahmsweise sind 8,5 Stunden täglich erlaubt, wenn an anderen Tagen derselben Woche entsprechend weniger gearbeitet wird.</a:t>
                      </a:r>
                    </a:p>
                  </a:txBody>
                  <a:tcPr marL="91440" marR="91440" marT="45720" marB="45720" anchor="ctr">
                    <a:solidFill>
                      <a:srgbClr val="F6F8FC"/>
                    </a:solidFill>
                  </a:tcPr>
                </a:tc>
              </a:tr>
              <a:tr h="868680">
                <a:tc>
                  <a:txBody>
                    <a:bodyPr wrap="square"/>
                    <a:lstStyle/>
                    <a:p>
                      <a:r>
                        <a:rPr sz="1700" b="1">
                          <a:solidFill>
                            <a:srgbClr val="14264B"/>
                          </a:solidFill>
                          <a:latin typeface="Arial"/>
                        </a:rPr>
                        <a:t>E</a:t>
                      </a:r>
                    </a:p>
                  </a:txBody>
                  <a:tcPr marL="91440" marR="91440" marT="45720" marB="45720" anchor="ctr">
                    <a:solidFill>
                      <a:srgbClr val="FFFFFF"/>
                    </a:solidFill>
                  </a:tcPr>
                </a:tc>
                <a:tc>
                  <a:txBody>
                    <a:bodyPr wrap="square"/>
                    <a:lstStyle/>
                    <a:p>
                      <a:r>
                        <a:rPr sz="1700">
                          <a:solidFill>
                            <a:srgbClr val="1A2238"/>
                          </a:solidFill>
                          <a:latin typeface="Arial"/>
                        </a:rPr>
                        <a:t>B</a:t>
                      </a:r>
                    </a:p>
                  </a:txBody>
                  <a:tcPr marL="91440" marR="91440" marT="45720" marB="45720" anchor="ctr">
                    <a:solidFill>
                      <a:srgbClr val="FFFFFF"/>
                    </a:solidFill>
                  </a:tcPr>
                </a:tc>
                <a:tc>
                  <a:txBody>
                    <a:bodyPr wrap="square"/>
                    <a:lstStyle/>
                    <a:p>
                      <a:r>
                        <a:rPr sz="1700">
                          <a:solidFill>
                            <a:srgbClr val="1A2238"/>
                          </a:solidFill>
                          <a:latin typeface="Arial"/>
                        </a:rPr>
                        <a:t>§ 8 Abs. 1 BBiG; mit Abitur sind laut IHK bis zu zwölf Monate Verkürzung möglich.</a:t>
                      </a:r>
                    </a:p>
                  </a:txBody>
                  <a:tcPr marL="91440" marR="91440" marT="45720" marB="45720"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5</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Abschluss-Quiz</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Fünf neue Situationen auf Folien</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Alle notieren anonym A–D auf einem Zettel</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Die Zettel werden eingesammelt und ausgezählt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1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Eine Auszubildende ist zu Jahresbeginn 15 Jahre alt. Wie viele Werktage Mindesturlaub hat sie?</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24</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25</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27</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2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Betrieb will eine Probezeit von sechs Monaten festlegen. Ist das zulässig?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Ja, wenn der Azubi zustimmt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Ja, in großen Betrieben</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Nein, höchstens vier Monate</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Nein, höchstens drei Monate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3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Azubi kündigt nach der Probezeit mündlich, weil er den Beruf wechseln will. Ist das wirksam?</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Ja, mit vier Wochen Frist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Ja, ohne Frist</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Nein, die Kündigung muss schriftlich mit Angabe der Gründe erfolgen</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Nein, nur die IHK darf kündigen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4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nicht tarifgebundener Betrieb zahlt im 2. Ausbildungsjahr (Beginn 2026) 800 €. Ist das zulässig?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Ja, weil es mehr als im 1. Jahr ist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Ja, wenn der Betrieb nicht tarifgebunden ist</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Nein, im 2. Jahr gelten mindestens 854 €</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Nein, im 2. Jahr gelten mindestens 977 €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5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Ein volljähriger Azubi soll an einem Tag 10 Stunden arbeiten; im Durchschnitt von sechs Monaten bleibt es bei 8 Stunden. Ist das zulässig?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Nein, höchstens 8 Stunden</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Ja, nach dem Arbeitszeitgesetz, wenn der Durchschnitt von 8 Stunden nicht überschritten wird</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Nein, nur mit Zustimmung der IHK</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Ja, dann sind sogar 12 Stunden erlaubt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5 · ABSCHLUSS-QUIZ</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5212080"/>
        </p:xfrm>
        <a:graphic>
          <a:graphicData uri="http://schemas.openxmlformats.org/drawingml/2006/table">
            <a:tbl>
              <a:tblPr firstRow="0" bandRow="0">
                <a:tableStyleId>{5C22544A-7EE6-4342-B048-85BDC9FD1C3A}</a:tableStyleId>
              </a:tblPr>
              <a:tblGrid>
                <a:gridCol w="822960"/>
                <a:gridCol w="6949440"/>
                <a:gridCol w="3200400"/>
              </a:tblGrid>
              <a:tr h="868680">
                <a:tc>
                  <a:txBody>
                    <a:bodyPr wrap="square"/>
                    <a:lstStyle/>
                    <a:p>
                      <a:r>
                        <a:rPr sz="1800" b="1">
                          <a:solidFill>
                            <a:srgbClr val="FFFFFF"/>
                          </a:solidFill>
                          <a:latin typeface="Arial"/>
                        </a:rPr>
                        <a:t>Nr.</a:t>
                      </a:r>
                    </a:p>
                  </a:txBody>
                  <a:tcPr marL="91440" marR="91440" marT="45720" marB="45720" anchor="ctr">
                    <a:solidFill>
                      <a:srgbClr val="14264B"/>
                    </a:solidFill>
                  </a:tcPr>
                </a:tc>
                <a:tc>
                  <a:txBody>
                    <a:bodyPr wrap="square"/>
                    <a:lstStyle/>
                    <a:p>
                      <a:r>
                        <a:rPr sz="1800" b="1">
                          <a:solidFill>
                            <a:srgbClr val="FFFFFF"/>
                          </a:solidFill>
                          <a:latin typeface="Arial"/>
                        </a:rPr>
                        <a:t>Richtige Antwort</a:t>
                      </a:r>
                    </a:p>
                  </a:txBody>
                  <a:tcPr marL="91440" marR="91440" marT="45720" marB="45720" anchor="ctr">
                    <a:solidFill>
                      <a:srgbClr val="14264B"/>
                    </a:solidFill>
                  </a:tcPr>
                </a:tc>
                <a:tc>
                  <a:txBody>
                    <a:bodyPr wrap="square"/>
                    <a:lstStyle/>
                    <a:p>
                      <a:r>
                        <a:rPr sz="1800" b="1">
                          <a:solidFill>
                            <a:srgbClr val="FFFFFF"/>
                          </a:solidFill>
                          <a:latin typeface="Arial"/>
                        </a:rPr>
                        <a:t>Paragraf</a:t>
                      </a:r>
                    </a:p>
                  </a:txBody>
                  <a:tcPr marL="91440" marR="91440" marT="45720" marB="45720" anchor="ctr">
                    <a:solidFill>
                      <a:srgbClr val="14264B"/>
                    </a:solidFill>
                  </a:tcPr>
                </a:tc>
              </a:tr>
              <a:tr h="868680">
                <a:tc>
                  <a:txBody>
                    <a:bodyPr wrap="square"/>
                    <a:lstStyle/>
                    <a:p>
                      <a:r>
                        <a:rPr sz="1800" b="1">
                          <a:solidFill>
                            <a:srgbClr val="14264B"/>
                          </a:solidFill>
                          <a:latin typeface="Arial"/>
                        </a:rPr>
                        <a:t>1</a:t>
                      </a:r>
                    </a:p>
                  </a:txBody>
                  <a:tcPr marL="91440" marR="91440" marT="45720" marB="45720" anchor="ctr">
                    <a:solidFill>
                      <a:srgbClr val="FFFFFF"/>
                    </a:solidFill>
                  </a:tcPr>
                </a:tc>
                <a:tc>
                  <a:txBody>
                    <a:bodyPr wrap="square"/>
                    <a:lstStyle/>
                    <a:p>
                      <a:r>
                        <a:rPr sz="1800">
                          <a:solidFill>
                            <a:srgbClr val="1A2238"/>
                          </a:solidFill>
                          <a:latin typeface="Arial"/>
                        </a:rPr>
                        <a:t>D – 30</a:t>
                      </a:r>
                    </a:p>
                  </a:txBody>
                  <a:tcPr marL="91440" marR="91440" marT="45720" marB="45720" anchor="ctr">
                    <a:solidFill>
                      <a:srgbClr val="FFFFFF"/>
                    </a:solidFill>
                  </a:tcPr>
                </a:tc>
                <a:tc>
                  <a:txBody>
                    <a:bodyPr wrap="square"/>
                    <a:lstStyle/>
                    <a:p>
                      <a:r>
                        <a:rPr sz="1800">
                          <a:solidFill>
                            <a:srgbClr val="1A2238"/>
                          </a:solidFill>
                          <a:latin typeface="Arial"/>
                        </a:rPr>
                        <a:t>§ 19 JArbSchG (unter 16 Jahren)</a:t>
                      </a:r>
                    </a:p>
                  </a:txBody>
                  <a:tcPr marL="91440" marR="91440" marT="45720" marB="45720" anchor="ctr">
                    <a:solidFill>
                      <a:srgbClr val="FFFFFF"/>
                    </a:solidFill>
                  </a:tcPr>
                </a:tc>
              </a:tr>
              <a:tr h="868680">
                <a:tc>
                  <a:txBody>
                    <a:bodyPr wrap="square"/>
                    <a:lstStyle/>
                    <a:p>
                      <a:r>
                        <a:rPr sz="1800" b="1">
                          <a:solidFill>
                            <a:srgbClr val="14264B"/>
                          </a:solidFill>
                          <a:latin typeface="Arial"/>
                        </a:rPr>
                        <a:t>2</a:t>
                      </a:r>
                    </a:p>
                  </a:txBody>
                  <a:tcPr marL="91440" marR="91440" marT="45720" marB="45720" anchor="ctr">
                    <a:solidFill>
                      <a:srgbClr val="F6F8FC"/>
                    </a:solidFill>
                  </a:tcPr>
                </a:tc>
                <a:tc>
                  <a:txBody>
                    <a:bodyPr wrap="square"/>
                    <a:lstStyle/>
                    <a:p>
                      <a:r>
                        <a:rPr sz="1800">
                          <a:solidFill>
                            <a:srgbClr val="1A2238"/>
                          </a:solidFill>
                          <a:latin typeface="Arial"/>
                        </a:rPr>
                        <a:t>C – Nein, höchstens vier Monate</a:t>
                      </a:r>
                    </a:p>
                  </a:txBody>
                  <a:tcPr marL="91440" marR="91440" marT="45720" marB="45720" anchor="ctr">
                    <a:solidFill>
                      <a:srgbClr val="F6F8FC"/>
                    </a:solidFill>
                  </a:tcPr>
                </a:tc>
                <a:tc>
                  <a:txBody>
                    <a:bodyPr wrap="square"/>
                    <a:lstStyle/>
                    <a:p>
                      <a:r>
                        <a:rPr sz="1800">
                          <a:solidFill>
                            <a:srgbClr val="1A2238"/>
                          </a:solidFill>
                          <a:latin typeface="Arial"/>
                        </a:rPr>
                        <a:t>§ 20 BBiG</a:t>
                      </a:r>
                    </a:p>
                  </a:txBody>
                  <a:tcPr marL="91440" marR="91440" marT="45720" marB="45720" anchor="ctr">
                    <a:solidFill>
                      <a:srgbClr val="F6F8FC"/>
                    </a:solidFill>
                  </a:tcPr>
                </a:tc>
              </a:tr>
              <a:tr h="868680">
                <a:tc>
                  <a:txBody>
                    <a:bodyPr wrap="square"/>
                    <a:lstStyle/>
                    <a:p>
                      <a:r>
                        <a:rPr sz="1800" b="1">
                          <a:solidFill>
                            <a:srgbClr val="14264B"/>
                          </a:solidFill>
                          <a:latin typeface="Arial"/>
                        </a:rPr>
                        <a:t>3</a:t>
                      </a:r>
                    </a:p>
                  </a:txBody>
                  <a:tcPr marL="91440" marR="91440" marT="45720" marB="45720" anchor="ctr">
                    <a:solidFill>
                      <a:srgbClr val="FFFFFF"/>
                    </a:solidFill>
                  </a:tcPr>
                </a:tc>
                <a:tc>
                  <a:txBody>
                    <a:bodyPr wrap="square"/>
                    <a:lstStyle/>
                    <a:p>
                      <a:r>
                        <a:rPr sz="1800">
                          <a:solidFill>
                            <a:srgbClr val="1A2238"/>
                          </a:solidFill>
                          <a:latin typeface="Arial"/>
                        </a:rPr>
                        <a:t>C – Nein, die Kündigung muss schriftlich mit Angabe der Gründe erfolgen</a:t>
                      </a:r>
                    </a:p>
                  </a:txBody>
                  <a:tcPr marL="91440" marR="91440" marT="45720" marB="45720" anchor="ctr">
                    <a:solidFill>
                      <a:srgbClr val="FFFFFF"/>
                    </a:solidFill>
                  </a:tcPr>
                </a:tc>
                <a:tc>
                  <a:txBody>
                    <a:bodyPr wrap="square"/>
                    <a:lstStyle/>
                    <a:p>
                      <a:r>
                        <a:rPr sz="1800">
                          <a:solidFill>
                            <a:srgbClr val="1A2238"/>
                          </a:solidFill>
                          <a:latin typeface="Arial"/>
                        </a:rPr>
                        <a:t>§ 22 Abs. 2 und 3 BBiG</a:t>
                      </a:r>
                    </a:p>
                  </a:txBody>
                  <a:tcPr marL="91440" marR="91440" marT="45720" marB="45720" anchor="ctr">
                    <a:solidFill>
                      <a:srgbClr val="FFFFFF"/>
                    </a:solidFill>
                  </a:tcPr>
                </a:tc>
              </a:tr>
              <a:tr h="868680">
                <a:tc>
                  <a:txBody>
                    <a:bodyPr wrap="square"/>
                    <a:lstStyle/>
                    <a:p>
                      <a:r>
                        <a:rPr sz="1800" b="1">
                          <a:solidFill>
                            <a:srgbClr val="14264B"/>
                          </a:solidFill>
                          <a:latin typeface="Arial"/>
                        </a:rPr>
                        <a:t>4</a:t>
                      </a:r>
                    </a:p>
                  </a:txBody>
                  <a:tcPr marL="91440" marR="91440" marT="45720" marB="45720" anchor="ctr">
                    <a:solidFill>
                      <a:srgbClr val="F6F8FC"/>
                    </a:solidFill>
                  </a:tcPr>
                </a:tc>
                <a:tc>
                  <a:txBody>
                    <a:bodyPr wrap="square"/>
                    <a:lstStyle/>
                    <a:p>
                      <a:r>
                        <a:rPr sz="1800">
                          <a:solidFill>
                            <a:srgbClr val="1A2238"/>
                          </a:solidFill>
                          <a:latin typeface="Arial"/>
                        </a:rPr>
                        <a:t>C – Nein, im 2. Jahr gelten mindestens 854 €</a:t>
                      </a:r>
                    </a:p>
                  </a:txBody>
                  <a:tcPr marL="91440" marR="91440" marT="45720" marB="45720" anchor="ctr">
                    <a:solidFill>
                      <a:srgbClr val="F6F8FC"/>
                    </a:solidFill>
                  </a:tcPr>
                </a:tc>
                <a:tc>
                  <a:txBody>
                    <a:bodyPr wrap="square"/>
                    <a:lstStyle/>
                    <a:p>
                      <a:r>
                        <a:rPr sz="1800">
                          <a:solidFill>
                            <a:srgbClr val="1A2238"/>
                          </a:solidFill>
                          <a:latin typeface="Arial"/>
                        </a:rPr>
                        <a:t>§ 17 BBiG</a:t>
                      </a:r>
                    </a:p>
                  </a:txBody>
                  <a:tcPr marL="91440" marR="91440" marT="45720" marB="45720" anchor="ctr">
                    <a:solidFill>
                      <a:srgbClr val="F6F8FC"/>
                    </a:solidFill>
                  </a:tcPr>
                </a:tc>
              </a:tr>
              <a:tr h="868680">
                <a:tc>
                  <a:txBody>
                    <a:bodyPr wrap="square"/>
                    <a:lstStyle/>
                    <a:p>
                      <a:r>
                        <a:rPr sz="1800" b="1">
                          <a:solidFill>
                            <a:srgbClr val="14264B"/>
                          </a:solidFill>
                          <a:latin typeface="Arial"/>
                        </a:rPr>
                        <a:t>5</a:t>
                      </a:r>
                    </a:p>
                  </a:txBody>
                  <a:tcPr marL="91440" marR="91440" marT="45720" marB="45720" anchor="ctr">
                    <a:solidFill>
                      <a:srgbClr val="FFFFFF"/>
                    </a:solidFill>
                  </a:tcPr>
                </a:tc>
                <a:tc>
                  <a:txBody>
                    <a:bodyPr wrap="square"/>
                    <a:lstStyle/>
                    <a:p>
                      <a:r>
                        <a:rPr sz="1800">
                          <a:solidFill>
                            <a:srgbClr val="1A2238"/>
                          </a:solidFill>
                          <a:latin typeface="Arial"/>
                        </a:rPr>
                        <a:t>B – Ja, nach dem Arbeitszeitgesetz, wenn der Durchschnitt von 8 Stunden nicht überschritten wird</a:t>
                      </a:r>
                    </a:p>
                  </a:txBody>
                  <a:tcPr marL="91440" marR="91440" marT="45720" marB="45720" anchor="ctr">
                    <a:solidFill>
                      <a:srgbClr val="FFFFFF"/>
                    </a:solidFill>
                  </a:tcPr>
                </a:tc>
                <a:tc>
                  <a:txBody>
                    <a:bodyPr wrap="square"/>
                    <a:lstStyle/>
                    <a:p>
                      <a:r>
                        <a:rPr sz="1800">
                          <a:solidFill>
                            <a:srgbClr val="1A2238"/>
                          </a:solidFill>
                          <a:latin typeface="Arial"/>
                        </a:rPr>
                        <a:t>§ 3 ArbZG</a:t>
                      </a:r>
                    </a:p>
                  </a:txBody>
                  <a:tcPr marL="91440" marR="91440" marT="45720" marB="45720"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ZUSAMMENFASSUNG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Merkblatt: das Wichtigste auf einer Seite</a:t>
            </a:r>
          </a:p>
        </p:txBody>
      </p:sp>
      <p:sp>
        <p:nvSpPr>
          <p:cNvPr id="5" name="Rectangle 4"/>
          <p:cNvSpPr/>
          <p:nvPr/>
        </p:nvSpPr>
        <p:spPr>
          <a:xfrm>
            <a:off x="640080" y="155448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27632"/>
            <a:ext cx="3154680" cy="457200"/>
          </a:xfrm>
          <a:prstGeom prst="rect">
            <a:avLst/>
          </a:prstGeom>
          <a:noFill/>
        </p:spPr>
        <p:txBody>
          <a:bodyPr wrap="square" anchor="t">
            <a:spAutoFit/>
          </a:bodyPr>
          <a:lstStyle/>
          <a:p>
            <a:pPr algn="l"/>
            <a:r>
              <a:rPr sz="2200" b="1">
                <a:solidFill>
                  <a:srgbClr val="14264B"/>
                </a:solidFill>
                <a:latin typeface="Arial"/>
              </a:rPr>
              <a:t>Probezeit</a:t>
            </a:r>
          </a:p>
        </p:txBody>
      </p:sp>
      <p:sp>
        <p:nvSpPr>
          <p:cNvPr id="8" name="TextBox 7"/>
          <p:cNvSpPr txBox="1"/>
          <p:nvPr/>
        </p:nvSpPr>
        <p:spPr>
          <a:xfrm>
            <a:off x="868680" y="2187244"/>
            <a:ext cx="3154680" cy="1698955"/>
          </a:xfrm>
          <a:prstGeom prst="rect">
            <a:avLst/>
          </a:prstGeom>
          <a:noFill/>
        </p:spPr>
        <p:txBody>
          <a:bodyPr wrap="square" anchor="t">
            <a:spAutoFit/>
          </a:bodyPr>
          <a:lstStyle/>
          <a:p>
            <a:pPr algn="l"/>
            <a:r>
              <a:rPr sz="2000" b="0">
                <a:solidFill>
                  <a:srgbClr val="1A2238"/>
                </a:solidFill>
                <a:latin typeface="Arial"/>
              </a:rPr>
              <a:t>ein bis vier Monate</a:t>
            </a:r>
          </a:p>
        </p:txBody>
      </p:sp>
      <p:sp>
        <p:nvSpPr>
          <p:cNvPr id="9" name="Rectangle 8"/>
          <p:cNvSpPr/>
          <p:nvPr/>
        </p:nvSpPr>
        <p:spPr>
          <a:xfrm>
            <a:off x="4389120" y="155448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27632"/>
            <a:ext cx="3154680" cy="457200"/>
          </a:xfrm>
          <a:prstGeom prst="rect">
            <a:avLst/>
          </a:prstGeom>
          <a:noFill/>
        </p:spPr>
        <p:txBody>
          <a:bodyPr wrap="square" anchor="t">
            <a:spAutoFit/>
          </a:bodyPr>
          <a:lstStyle/>
          <a:p>
            <a:pPr algn="l"/>
            <a:r>
              <a:rPr sz="2200" b="1">
                <a:solidFill>
                  <a:srgbClr val="14264B"/>
                </a:solidFill>
                <a:latin typeface="Arial"/>
              </a:rPr>
              <a:t>Vergütung 2026</a:t>
            </a:r>
          </a:p>
        </p:txBody>
      </p:sp>
      <p:sp>
        <p:nvSpPr>
          <p:cNvPr id="12" name="TextBox 11"/>
          <p:cNvSpPr txBox="1"/>
          <p:nvPr/>
        </p:nvSpPr>
        <p:spPr>
          <a:xfrm>
            <a:off x="4617720" y="2187244"/>
            <a:ext cx="3154680" cy="1698955"/>
          </a:xfrm>
          <a:prstGeom prst="rect">
            <a:avLst/>
          </a:prstGeom>
          <a:noFill/>
        </p:spPr>
        <p:txBody>
          <a:bodyPr wrap="square" anchor="t">
            <a:spAutoFit/>
          </a:bodyPr>
          <a:lstStyle/>
          <a:p>
            <a:pPr algn="l"/>
            <a:r>
              <a:rPr sz="2000" b="0">
                <a:solidFill>
                  <a:srgbClr val="1A2238"/>
                </a:solidFill>
                <a:latin typeface="Arial"/>
              </a:rPr>
              <a:t>724 / 854 / 977 / 1.014 €</a:t>
            </a:r>
          </a:p>
        </p:txBody>
      </p:sp>
      <p:sp>
        <p:nvSpPr>
          <p:cNvPr id="13" name="Rectangle 12"/>
          <p:cNvSpPr/>
          <p:nvPr/>
        </p:nvSpPr>
        <p:spPr>
          <a:xfrm>
            <a:off x="8138159" y="155448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55448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627632"/>
            <a:ext cx="3154680" cy="457200"/>
          </a:xfrm>
          <a:prstGeom prst="rect">
            <a:avLst/>
          </a:prstGeom>
          <a:noFill/>
        </p:spPr>
        <p:txBody>
          <a:bodyPr wrap="square" anchor="t">
            <a:spAutoFit/>
          </a:bodyPr>
          <a:lstStyle/>
          <a:p>
            <a:pPr algn="l"/>
            <a:r>
              <a:rPr sz="2200" b="1">
                <a:solidFill>
                  <a:srgbClr val="14264B"/>
                </a:solidFill>
                <a:latin typeface="Arial"/>
              </a:rPr>
              <a:t>Urlaub</a:t>
            </a:r>
          </a:p>
        </p:txBody>
      </p:sp>
      <p:sp>
        <p:nvSpPr>
          <p:cNvPr id="16" name="TextBox 15"/>
          <p:cNvSpPr txBox="1"/>
          <p:nvPr/>
        </p:nvSpPr>
        <p:spPr>
          <a:xfrm>
            <a:off x="8366759" y="2187244"/>
            <a:ext cx="3154680" cy="1698955"/>
          </a:xfrm>
          <a:prstGeom prst="rect">
            <a:avLst/>
          </a:prstGeom>
          <a:noFill/>
        </p:spPr>
        <p:txBody>
          <a:bodyPr wrap="square" anchor="t">
            <a:spAutoFit/>
          </a:bodyPr>
          <a:lstStyle/>
          <a:p>
            <a:pPr algn="l"/>
            <a:r>
              <a:rPr sz="2000" b="0">
                <a:solidFill>
                  <a:srgbClr val="1A2238"/>
                </a:solidFill>
                <a:latin typeface="Arial"/>
              </a:rPr>
              <a:t>ab 18 Jahren 24 Werktage, darunter 25, 27 oder 30</a:t>
            </a:r>
          </a:p>
        </p:txBody>
      </p:sp>
      <p:sp>
        <p:nvSpPr>
          <p:cNvPr id="17" name="Rectangle 16"/>
          <p:cNvSpPr/>
          <p:nvPr/>
        </p:nvSpPr>
        <p:spPr>
          <a:xfrm>
            <a:off x="640080" y="411480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11480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87952"/>
            <a:ext cx="3154680" cy="457200"/>
          </a:xfrm>
          <a:prstGeom prst="rect">
            <a:avLst/>
          </a:prstGeom>
          <a:noFill/>
        </p:spPr>
        <p:txBody>
          <a:bodyPr wrap="square" anchor="t">
            <a:spAutoFit/>
          </a:bodyPr>
          <a:lstStyle/>
          <a:p>
            <a:pPr algn="l"/>
            <a:r>
              <a:rPr sz="2200" b="1">
                <a:solidFill>
                  <a:srgbClr val="14264B"/>
                </a:solidFill>
                <a:latin typeface="Arial"/>
              </a:rPr>
              <a:t>Kündigung</a:t>
            </a:r>
          </a:p>
        </p:txBody>
      </p:sp>
      <p:sp>
        <p:nvSpPr>
          <p:cNvPr id="20" name="TextBox 19"/>
          <p:cNvSpPr txBox="1"/>
          <p:nvPr/>
        </p:nvSpPr>
        <p:spPr>
          <a:xfrm>
            <a:off x="868680" y="4747564"/>
            <a:ext cx="3154680" cy="1698955"/>
          </a:xfrm>
          <a:prstGeom prst="rect">
            <a:avLst/>
          </a:prstGeom>
          <a:noFill/>
        </p:spPr>
        <p:txBody>
          <a:bodyPr wrap="square" anchor="t">
            <a:spAutoFit/>
          </a:bodyPr>
          <a:lstStyle/>
          <a:p>
            <a:pPr algn="l"/>
            <a:r>
              <a:rPr sz="1700" b="0">
                <a:solidFill>
                  <a:srgbClr val="1A2238"/>
                </a:solidFill>
                <a:latin typeface="Arial"/>
              </a:rPr>
              <a:t>Probezeit: jederzeit ohne Frist. Danach fristlos aus wichtigem Grund oder durch den Azubi mit 4 Wochen Frist beim Berufswechsel – immer schriftlich</a:t>
            </a:r>
          </a:p>
        </p:txBody>
      </p:sp>
      <p:sp>
        <p:nvSpPr>
          <p:cNvPr id="21" name="Rectangle 20"/>
          <p:cNvSpPr/>
          <p:nvPr/>
        </p:nvSpPr>
        <p:spPr>
          <a:xfrm>
            <a:off x="4389120" y="411480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11480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187952"/>
            <a:ext cx="3154680" cy="457200"/>
          </a:xfrm>
          <a:prstGeom prst="rect">
            <a:avLst/>
          </a:prstGeom>
          <a:noFill/>
        </p:spPr>
        <p:txBody>
          <a:bodyPr wrap="square" anchor="t">
            <a:spAutoFit/>
          </a:bodyPr>
          <a:lstStyle/>
          <a:p>
            <a:pPr algn="l"/>
            <a:r>
              <a:rPr sz="2200" b="1">
                <a:solidFill>
                  <a:srgbClr val="14264B"/>
                </a:solidFill>
                <a:latin typeface="Arial"/>
              </a:rPr>
              <a:t>Jugendliche</a:t>
            </a:r>
          </a:p>
        </p:txBody>
      </p:sp>
      <p:sp>
        <p:nvSpPr>
          <p:cNvPr id="24" name="TextBox 23"/>
          <p:cNvSpPr txBox="1"/>
          <p:nvPr/>
        </p:nvSpPr>
        <p:spPr>
          <a:xfrm>
            <a:off x="4617720" y="4747564"/>
            <a:ext cx="3154680" cy="1698955"/>
          </a:xfrm>
          <a:prstGeom prst="rect">
            <a:avLst/>
          </a:prstGeom>
          <a:noFill/>
        </p:spPr>
        <p:txBody>
          <a:bodyPr wrap="square" anchor="t">
            <a:spAutoFit/>
          </a:bodyPr>
          <a:lstStyle/>
          <a:p>
            <a:pPr algn="l"/>
            <a:r>
              <a:rPr sz="2000" b="0">
                <a:solidFill>
                  <a:srgbClr val="1A2238"/>
                </a:solidFill>
                <a:latin typeface="Arial"/>
              </a:rPr>
              <a:t>höchstens 8 Stunden täglich</a:t>
            </a:r>
          </a:p>
        </p:txBody>
      </p:sp>
      <p:sp>
        <p:nvSpPr>
          <p:cNvPr id="25" name="Rectangle 24"/>
          <p:cNvSpPr/>
          <p:nvPr/>
        </p:nvSpPr>
        <p:spPr>
          <a:xfrm>
            <a:off x="8138159" y="411480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411480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187952"/>
            <a:ext cx="3154680" cy="457200"/>
          </a:xfrm>
          <a:prstGeom prst="rect">
            <a:avLst/>
          </a:prstGeom>
          <a:noFill/>
        </p:spPr>
        <p:txBody>
          <a:bodyPr wrap="square" anchor="t">
            <a:spAutoFit/>
          </a:bodyPr>
          <a:lstStyle/>
          <a:p>
            <a:pPr algn="l"/>
            <a:r>
              <a:rPr sz="2200" b="1">
                <a:solidFill>
                  <a:srgbClr val="14264B"/>
                </a:solidFill>
                <a:latin typeface="Arial"/>
              </a:rPr>
              <a:t>Vertrag</a:t>
            </a:r>
          </a:p>
        </p:txBody>
      </p:sp>
      <p:sp>
        <p:nvSpPr>
          <p:cNvPr id="28" name="TextBox 27"/>
          <p:cNvSpPr txBox="1"/>
          <p:nvPr/>
        </p:nvSpPr>
        <p:spPr>
          <a:xfrm>
            <a:off x="8366759" y="4747564"/>
            <a:ext cx="3154680" cy="1698955"/>
          </a:xfrm>
          <a:prstGeom prst="rect">
            <a:avLst/>
          </a:prstGeom>
          <a:noFill/>
        </p:spPr>
        <p:txBody>
          <a:bodyPr wrap="square" anchor="t">
            <a:spAutoFit/>
          </a:bodyPr>
          <a:lstStyle/>
          <a:p>
            <a:pPr algn="l"/>
            <a:r>
              <a:rPr sz="2000" b="0">
                <a:solidFill>
                  <a:srgbClr val="1A2238"/>
                </a:solidFill>
                <a:latin typeface="Arial"/>
              </a:rPr>
              <a:t>seit August 2024 in Textform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ZIEL UND ERGEBNIS</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Evaluation: Ziel erreicht?</a:t>
            </a:r>
          </a:p>
        </p:txBody>
      </p:sp>
      <p:graphicFrame>
        <p:nvGraphicFramePr>
          <p:cNvPr id="5" name="Table 4"/>
          <p:cNvGraphicFramePr>
            <a:graphicFrameLocks noGrp="1"/>
          </p:cNvGraphicFramePr>
          <p:nvPr/>
        </p:nvGraphicFramePr>
        <p:xfrm>
          <a:off x="640080" y="1371600"/>
          <a:ext cx="10972800" cy="2377440"/>
        </p:xfrm>
        <a:graphic>
          <a:graphicData uri="http://schemas.openxmlformats.org/drawingml/2006/table">
            <a:tbl>
              <a:tblPr firstRow="0" bandRow="0">
                <a:tableStyleId>{5C22544A-7EE6-4342-B048-85BDC9FD1C3A}</a:tableStyleId>
              </a:tblPr>
              <a:tblGrid>
                <a:gridCol w="4572000"/>
                <a:gridCol w="6400800"/>
              </a:tblGrid>
              <a:tr h="475488">
                <a:tc>
                  <a:txBody>
                    <a:bodyPr wrap="square"/>
                    <a:lstStyle/>
                    <a:p>
                      <a:r>
                        <a:rPr sz="1800" b="1">
                          <a:solidFill>
                            <a:srgbClr val="FFFFFF"/>
                          </a:solidFill>
                          <a:latin typeface="Arial"/>
                        </a:rPr>
                        <a:t>Ziel</a:t>
                      </a:r>
                    </a:p>
                  </a:txBody>
                  <a:tcPr marL="91440" marR="91440" marT="45720" marB="45720" anchor="ctr">
                    <a:solidFill>
                      <a:srgbClr val="14264B"/>
                    </a:solidFill>
                  </a:tcPr>
                </a:tc>
                <a:tc>
                  <a:txBody>
                    <a:bodyPr wrap="square"/>
                    <a:lstStyle/>
                    <a:p>
                      <a:r>
                        <a:rPr sz="1800" b="1">
                          <a:solidFill>
                            <a:srgbClr val="FFFFFF"/>
                          </a:solidFill>
                          <a:latin typeface="Arial"/>
                        </a:rPr>
                        <a:t>Ergebnis</a:t>
                      </a:r>
                    </a:p>
                  </a:txBody>
                  <a:tcPr marL="91440" marR="91440" marT="45720" marB="45720" anchor="ctr">
                    <a:solidFill>
                      <a:srgbClr val="14264B"/>
                    </a:solidFill>
                  </a:tcPr>
                </a:tc>
              </a:tr>
              <a:tr h="475488">
                <a:tc>
                  <a:txBody>
                    <a:bodyPr wrap="square"/>
                    <a:lstStyle/>
                    <a:p>
                      <a:r>
                        <a:rPr sz="1800" b="1">
                          <a:solidFill>
                            <a:srgbClr val="14264B"/>
                          </a:solidFill>
                          <a:latin typeface="Arial"/>
                        </a:rPr>
                        <a:t>Alle sechs Punkte des Prüfungskatalogs</a:t>
                      </a:r>
                    </a:p>
                  </a:txBody>
                  <a:tcPr marL="91440" marR="91440" marT="45720" marB="45720" anchor="ctr">
                    <a:solidFill>
                      <a:srgbClr val="FFFFFF"/>
                    </a:solidFill>
                  </a:tcPr>
                </a:tc>
                <a:tc>
                  <a:txBody>
                    <a:bodyPr wrap="square"/>
                    <a:lstStyle/>
                    <a:p>
                      <a:r>
                        <a:rPr sz="1800">
                          <a:solidFill>
                            <a:srgbClr val="1A2238"/>
                          </a:solidFill>
                          <a:latin typeface="Arial"/>
                        </a:rPr>
                        <a:t>Booklet deckt alle sechs ab – jeweils mit Aufgaben und Lösung</a:t>
                      </a:r>
                    </a:p>
                  </a:txBody>
                  <a:tcPr marL="91440" marR="91440" marT="45720" marB="45720" anchor="ctr">
                    <a:solidFill>
                      <a:srgbClr val="FFFFFF"/>
                    </a:solidFill>
                  </a:tcPr>
                </a:tc>
              </a:tr>
              <a:tr h="475488">
                <a:tc>
                  <a:txBody>
                    <a:bodyPr wrap="square"/>
                    <a:lstStyle/>
                    <a:p>
                      <a:r>
                        <a:rPr sz="1800" b="1">
                          <a:solidFill>
                            <a:srgbClr val="14264B"/>
                          </a:solidFill>
                          <a:latin typeface="Arial"/>
                        </a:rPr>
                        <a:t>Quiz-Durchschnitt (Abschluss-Quiz)</a:t>
                      </a:r>
                    </a:p>
                  </a:txBody>
                  <a:tcPr marL="91440" marR="91440" marT="45720" marB="45720" anchor="ctr">
                    <a:solidFill>
                      <a:srgbClr val="F6F8FC"/>
                    </a:solidFill>
                  </a:tcPr>
                </a:tc>
                <a:tc>
                  <a:txBody>
                    <a:bodyPr wrap="square"/>
                    <a:lstStyle/>
                    <a:p>
                      <a:r>
                        <a:rPr sz="1800">
                          <a:solidFill>
                            <a:srgbClr val="1A2238"/>
                          </a:solidFill>
                          <a:latin typeface="Arial"/>
                        </a:rPr>
                        <a:t>[Anzahl] von 5 Fragen richtig</a:t>
                      </a:r>
                    </a:p>
                  </a:txBody>
                  <a:tcPr marL="91440" marR="91440" marT="45720" marB="45720" anchor="ctr">
                    <a:solidFill>
                      <a:srgbClr val="F6F8FC"/>
                    </a:solidFill>
                  </a:tcPr>
                </a:tc>
              </a:tr>
              <a:tr h="475488">
                <a:tc>
                  <a:txBody>
                    <a:bodyPr wrap="square"/>
                    <a:lstStyle/>
                    <a:p>
                      <a:r>
                        <a:rPr sz="1800" b="1">
                          <a:solidFill>
                            <a:srgbClr val="14264B"/>
                          </a:solidFill>
                          <a:latin typeface="Arial"/>
                        </a:rPr>
                        <a:t>Zeit</a:t>
                      </a:r>
                    </a:p>
                  </a:txBody>
                  <a:tcPr marL="91440" marR="91440" marT="45720" marB="45720" anchor="ctr">
                    <a:solidFill>
                      <a:srgbClr val="FFFFFF"/>
                    </a:solidFill>
                  </a:tcPr>
                </a:tc>
                <a:tc>
                  <a:txBody>
                    <a:bodyPr wrap="square"/>
                    <a:lstStyle/>
                    <a:p>
                      <a:r>
                        <a:rPr sz="1800">
                          <a:solidFill>
                            <a:srgbClr val="1A2238"/>
                          </a:solidFill>
                          <a:latin typeface="Arial"/>
                        </a:rPr>
                        <a:t>[eingehalten / nicht eingehalten]</a:t>
                      </a:r>
                    </a:p>
                  </a:txBody>
                  <a:tcPr marL="91440" marR="91440" marT="45720" marB="45720" anchor="ctr">
                    <a:solidFill>
                      <a:srgbClr val="FFFFFF"/>
                    </a:solidFill>
                  </a:tcPr>
                </a:tc>
              </a:tr>
              <a:tr h="475488">
                <a:tc>
                  <a:txBody>
                    <a:bodyPr wrap="square"/>
                    <a:lstStyle/>
                    <a:p>
                      <a:r>
                        <a:rPr sz="1800" b="1">
                          <a:solidFill>
                            <a:srgbClr val="14264B"/>
                          </a:solidFill>
                          <a:latin typeface="Arial"/>
                        </a:rPr>
                        <a:t>Kosten</a:t>
                      </a:r>
                    </a:p>
                  </a:txBody>
                  <a:tcPr marL="91440" marR="91440" marT="45720" marB="45720" anchor="ctr">
                    <a:solidFill>
                      <a:srgbClr val="F6F8FC"/>
                    </a:solidFill>
                  </a:tcPr>
                </a:tc>
                <a:tc>
                  <a:txBody>
                    <a:bodyPr wrap="square"/>
                    <a:lstStyle/>
                    <a:p>
                      <a:r>
                        <a:rPr sz="1800">
                          <a:solidFill>
                            <a:srgbClr val="1A2238"/>
                          </a:solidFill>
                          <a:latin typeface="Arial"/>
                        </a:rPr>
                        <a:t>keine entstanden</a:t>
                      </a:r>
                    </a:p>
                  </a:txBody>
                  <a:tcPr marL="91440" marR="91440" marT="45720" marB="45720" anchor="ctr">
                    <a:solidFill>
                      <a:srgbClr val="F6F8FC"/>
                    </a:solidFill>
                  </a:tcPr>
                </a:tc>
              </a:tr>
            </a:tbl>
          </a:graphicData>
        </a:graphic>
      </p:graphicFrame>
      <p:sp>
        <p:nvSpPr>
          <p:cNvPr id="6" name="TextBox 5"/>
          <p:cNvSpPr txBox="1"/>
          <p:nvPr/>
        </p:nvSpPr>
        <p:spPr>
          <a:xfrm>
            <a:off x="640080" y="3931920"/>
            <a:ext cx="10972800" cy="365760"/>
          </a:xfrm>
          <a:prstGeom prst="rect">
            <a:avLst/>
          </a:prstGeom>
          <a:noFill/>
        </p:spPr>
        <p:txBody>
          <a:bodyPr wrap="square" anchor="t">
            <a:spAutoFit/>
          </a:bodyPr>
          <a:lstStyle/>
          <a:p>
            <a:pPr algn="l"/>
            <a:r>
              <a:rPr sz="2000" b="1">
                <a:solidFill>
                  <a:srgbClr val="14264B"/>
                </a:solidFill>
                <a:latin typeface="Arial"/>
              </a:rPr>
              <a:t>Drei Verbesserungen</a:t>
            </a:r>
          </a:p>
        </p:txBody>
      </p:sp>
      <p:sp>
        <p:nvSpPr>
          <p:cNvPr id="7" name="Rectangle 6"/>
          <p:cNvSpPr/>
          <p:nvPr/>
        </p:nvSpPr>
        <p:spPr>
          <a:xfrm>
            <a:off x="640080" y="4389120"/>
            <a:ext cx="3520440" cy="21945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4389120"/>
            <a:ext cx="91440" cy="21945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462272"/>
            <a:ext cx="3154680" cy="457200"/>
          </a:xfrm>
          <a:prstGeom prst="rect">
            <a:avLst/>
          </a:prstGeom>
          <a:noFill/>
        </p:spPr>
        <p:txBody>
          <a:bodyPr wrap="square" anchor="t">
            <a:spAutoFit/>
          </a:bodyPr>
          <a:lstStyle/>
          <a:p>
            <a:pPr algn="l"/>
            <a:r>
              <a:rPr sz="2000" b="1">
                <a:solidFill>
                  <a:srgbClr val="14264B"/>
                </a:solidFill>
                <a:latin typeface="Arial"/>
              </a:rPr>
              <a:t>1</a:t>
            </a:r>
          </a:p>
        </p:txBody>
      </p:sp>
      <p:sp>
        <p:nvSpPr>
          <p:cNvPr id="10" name="TextBox 9"/>
          <p:cNvSpPr txBox="1"/>
          <p:nvPr/>
        </p:nvSpPr>
        <p:spPr>
          <a:xfrm>
            <a:off x="868680" y="4974336"/>
            <a:ext cx="3154680" cy="1563623"/>
          </a:xfrm>
          <a:prstGeom prst="rect">
            <a:avLst/>
          </a:prstGeom>
          <a:noFill/>
        </p:spPr>
        <p:txBody>
          <a:bodyPr wrap="square" anchor="t">
            <a:spAutoFit/>
          </a:bodyPr>
          <a:lstStyle/>
          <a:p>
            <a:pPr algn="l"/>
            <a:r>
              <a:rPr sz="1700" b="0">
                <a:solidFill>
                  <a:srgbClr val="1A2238"/>
                </a:solidFill>
                <a:latin typeface="Arial"/>
              </a:rPr>
              <a:t>Booklet jährlich aktualisieren – die Mindestausbildungsvergütung wird jedes Jahr neu festgelegt</a:t>
            </a:r>
          </a:p>
        </p:txBody>
      </p:sp>
      <p:sp>
        <p:nvSpPr>
          <p:cNvPr id="11" name="Rectangle 10"/>
          <p:cNvSpPr/>
          <p:nvPr/>
        </p:nvSpPr>
        <p:spPr>
          <a:xfrm>
            <a:off x="4389120" y="4389120"/>
            <a:ext cx="3520440" cy="21945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4389120"/>
            <a:ext cx="91440" cy="21945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4462272"/>
            <a:ext cx="3154680" cy="457200"/>
          </a:xfrm>
          <a:prstGeom prst="rect">
            <a:avLst/>
          </a:prstGeom>
          <a:noFill/>
        </p:spPr>
        <p:txBody>
          <a:bodyPr wrap="square" anchor="t">
            <a:spAutoFit/>
          </a:bodyPr>
          <a:lstStyle/>
          <a:p>
            <a:pPr algn="l"/>
            <a:r>
              <a:rPr sz="2000" b="1">
                <a:solidFill>
                  <a:srgbClr val="14264B"/>
                </a:solidFill>
                <a:latin typeface="Arial"/>
              </a:rPr>
              <a:t>2</a:t>
            </a:r>
          </a:p>
        </p:txBody>
      </p:sp>
      <p:sp>
        <p:nvSpPr>
          <p:cNvPr id="14" name="TextBox 13"/>
          <p:cNvSpPr txBox="1"/>
          <p:nvPr/>
        </p:nvSpPr>
        <p:spPr>
          <a:xfrm>
            <a:off x="4617720" y="4974336"/>
            <a:ext cx="3154680" cy="1563623"/>
          </a:xfrm>
          <a:prstGeom prst="rect">
            <a:avLst/>
          </a:prstGeom>
          <a:noFill/>
        </p:spPr>
        <p:txBody>
          <a:bodyPr wrap="square" anchor="t">
            <a:spAutoFit/>
          </a:bodyPr>
          <a:lstStyle/>
          <a:p>
            <a:pPr algn="l"/>
            <a:r>
              <a:rPr sz="1700" b="0">
                <a:solidFill>
                  <a:srgbClr val="1A2238"/>
                </a:solidFill>
                <a:latin typeface="Arial"/>
              </a:rPr>
              <a:t>Probelesen durch Mitschüler beim nächsten Mal früher einplanen</a:t>
            </a:r>
          </a:p>
        </p:txBody>
      </p:sp>
      <p:sp>
        <p:nvSpPr>
          <p:cNvPr id="15" name="Rectangle 14"/>
          <p:cNvSpPr/>
          <p:nvPr/>
        </p:nvSpPr>
        <p:spPr>
          <a:xfrm>
            <a:off x="8138159" y="4389120"/>
            <a:ext cx="3520440" cy="21945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4389120"/>
            <a:ext cx="91440" cy="21945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59" y="4462272"/>
            <a:ext cx="3154680" cy="457200"/>
          </a:xfrm>
          <a:prstGeom prst="rect">
            <a:avLst/>
          </a:prstGeom>
          <a:noFill/>
        </p:spPr>
        <p:txBody>
          <a:bodyPr wrap="square" anchor="t">
            <a:spAutoFit/>
          </a:bodyPr>
          <a:lstStyle/>
          <a:p>
            <a:pPr algn="l"/>
            <a:r>
              <a:rPr sz="2000" b="1">
                <a:solidFill>
                  <a:srgbClr val="14264B"/>
                </a:solidFill>
                <a:latin typeface="Arial"/>
              </a:rPr>
              <a:t>3</a:t>
            </a:r>
          </a:p>
        </p:txBody>
      </p:sp>
      <p:sp>
        <p:nvSpPr>
          <p:cNvPr id="18" name="TextBox 17"/>
          <p:cNvSpPr txBox="1"/>
          <p:nvPr/>
        </p:nvSpPr>
        <p:spPr>
          <a:xfrm>
            <a:off x="8366759" y="4974336"/>
            <a:ext cx="3154680" cy="1563623"/>
          </a:xfrm>
          <a:prstGeom prst="rect">
            <a:avLst/>
          </a:prstGeom>
          <a:noFill/>
        </p:spPr>
        <p:txBody>
          <a:bodyPr wrap="square" anchor="t">
            <a:spAutoFit/>
          </a:bodyPr>
          <a:lstStyle/>
          <a:p>
            <a:pPr algn="l"/>
            <a:r>
              <a:rPr sz="1700" b="0">
                <a:solidFill>
                  <a:srgbClr val="1A2238"/>
                </a:solidFill>
                <a:latin typeface="Arial"/>
              </a:rPr>
              <a:t>[eigener Vorschlag]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GEMEINSAM UND EINZELN</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Reflexion</a:t>
            </a:r>
          </a:p>
        </p:txBody>
      </p:sp>
      <p:sp>
        <p:nvSpPr>
          <p:cNvPr id="5" name="Rectangle 4"/>
          <p:cNvSpPr/>
          <p:nvPr/>
        </p:nvSpPr>
        <p:spPr>
          <a:xfrm>
            <a:off x="640080" y="1828800"/>
            <a:ext cx="3520440" cy="32918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91440" cy="3291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01952"/>
            <a:ext cx="3154680" cy="457200"/>
          </a:xfrm>
          <a:prstGeom prst="rect">
            <a:avLst/>
          </a:prstGeom>
          <a:noFill/>
        </p:spPr>
        <p:txBody>
          <a:bodyPr wrap="square" anchor="t">
            <a:spAutoFit/>
          </a:bodyPr>
          <a:lstStyle/>
          <a:p>
            <a:pPr algn="l"/>
            <a:r>
              <a:rPr sz="2200" b="1">
                <a:solidFill>
                  <a:srgbClr val="14264B"/>
                </a:solidFill>
                <a:latin typeface="Arial"/>
              </a:rPr>
              <a:t>Was lief gut?</a:t>
            </a:r>
          </a:p>
        </p:txBody>
      </p:sp>
      <p:sp>
        <p:nvSpPr>
          <p:cNvPr id="8" name="TextBox 7"/>
          <p:cNvSpPr txBox="1"/>
          <p:nvPr/>
        </p:nvSpPr>
        <p:spPr>
          <a:xfrm>
            <a:off x="868680" y="3200400"/>
            <a:ext cx="3154680" cy="1874520"/>
          </a:xfrm>
          <a:prstGeom prst="rect">
            <a:avLst/>
          </a:prstGeom>
          <a:noFill/>
        </p:spPr>
        <p:txBody>
          <a:bodyPr wrap="square" anchor="t">
            <a:spAutoFit/>
          </a:bodyPr>
          <a:lstStyle/>
          <a:p>
            <a:pPr algn="l"/>
            <a:r>
              <a:rPr sz="2800" b="0">
                <a:solidFill>
                  <a:srgbClr val="1A2238"/>
                </a:solidFill>
                <a:latin typeface="Arial"/>
              </a:rPr>
              <a:t>[..]</a:t>
            </a:r>
          </a:p>
        </p:txBody>
      </p:sp>
      <p:sp>
        <p:nvSpPr>
          <p:cNvPr id="9" name="Rectangle 8"/>
          <p:cNvSpPr/>
          <p:nvPr/>
        </p:nvSpPr>
        <p:spPr>
          <a:xfrm>
            <a:off x="4389120" y="1828800"/>
            <a:ext cx="3520440" cy="329184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828800"/>
            <a:ext cx="91440" cy="329184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01952"/>
            <a:ext cx="3154680" cy="457200"/>
          </a:xfrm>
          <a:prstGeom prst="rect">
            <a:avLst/>
          </a:prstGeom>
          <a:noFill/>
        </p:spPr>
        <p:txBody>
          <a:bodyPr wrap="square" anchor="t">
            <a:spAutoFit/>
          </a:bodyPr>
          <a:lstStyle/>
          <a:p>
            <a:pPr algn="l"/>
            <a:r>
              <a:rPr sz="2200" b="1">
                <a:solidFill>
                  <a:srgbClr val="14264B"/>
                </a:solidFill>
                <a:latin typeface="Arial"/>
              </a:rPr>
              <a:t>Was war schwierig?</a:t>
            </a:r>
          </a:p>
        </p:txBody>
      </p:sp>
      <p:sp>
        <p:nvSpPr>
          <p:cNvPr id="12" name="TextBox 11"/>
          <p:cNvSpPr txBox="1"/>
          <p:nvPr/>
        </p:nvSpPr>
        <p:spPr>
          <a:xfrm>
            <a:off x="4617720" y="3200400"/>
            <a:ext cx="3154680" cy="1874520"/>
          </a:xfrm>
          <a:prstGeom prst="rect">
            <a:avLst/>
          </a:prstGeom>
          <a:noFill/>
        </p:spPr>
        <p:txBody>
          <a:bodyPr wrap="square" anchor="t">
            <a:spAutoFit/>
          </a:bodyPr>
          <a:lstStyle/>
          <a:p>
            <a:pPr algn="l"/>
            <a:r>
              <a:rPr sz="2800" b="0">
                <a:solidFill>
                  <a:srgbClr val="1A2238"/>
                </a:solidFill>
                <a:latin typeface="Arial"/>
              </a:rPr>
              <a:t>[..]</a:t>
            </a:r>
          </a:p>
        </p:txBody>
      </p:sp>
      <p:sp>
        <p:nvSpPr>
          <p:cNvPr id="13" name="Rectangle 12"/>
          <p:cNvSpPr/>
          <p:nvPr/>
        </p:nvSpPr>
        <p:spPr>
          <a:xfrm>
            <a:off x="8138159" y="1828800"/>
            <a:ext cx="3520440" cy="32918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828800"/>
            <a:ext cx="91440" cy="32918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901952"/>
            <a:ext cx="3154680" cy="457200"/>
          </a:xfrm>
          <a:prstGeom prst="rect">
            <a:avLst/>
          </a:prstGeom>
          <a:noFill/>
        </p:spPr>
        <p:txBody>
          <a:bodyPr wrap="square" anchor="t">
            <a:spAutoFit/>
          </a:bodyPr>
          <a:lstStyle/>
          <a:p>
            <a:pPr algn="l"/>
            <a:r>
              <a:rPr sz="2200" b="1">
                <a:solidFill>
                  <a:srgbClr val="14264B"/>
                </a:solidFill>
                <a:latin typeface="Arial"/>
              </a:rPr>
              <a:t>Was machen wir beim nächsten Mal anders?</a:t>
            </a:r>
          </a:p>
        </p:txBody>
      </p:sp>
      <p:sp>
        <p:nvSpPr>
          <p:cNvPr id="16" name="TextBox 15"/>
          <p:cNvSpPr txBox="1"/>
          <p:nvPr/>
        </p:nvSpPr>
        <p:spPr>
          <a:xfrm>
            <a:off x="8366759" y="3200400"/>
            <a:ext cx="3154680" cy="1874520"/>
          </a:xfrm>
          <a:prstGeom prst="rect">
            <a:avLst/>
          </a:prstGeom>
          <a:noFill/>
        </p:spPr>
        <p:txBody>
          <a:bodyPr wrap="square" anchor="t">
            <a:spAutoFit/>
          </a:bodyPr>
          <a:lstStyle/>
          <a:p>
            <a:pPr algn="l"/>
            <a:r>
              <a:rPr sz="2800" b="0">
                <a:solidFill>
                  <a:srgbClr val="1A2238"/>
                </a:solidFill>
                <a:latin typeface="Arial"/>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457200"/>
          </a:xfrm>
          <a:prstGeom prst="rect">
            <a:avLst/>
          </a:prstGeom>
          <a:noFill/>
        </p:spPr>
        <p:txBody>
          <a:bodyPr wrap="square" anchor="t">
            <a:spAutoFit/>
          </a:bodyPr>
          <a:lstStyle/>
          <a:p>
            <a:pPr algn="l"/>
            <a:r>
              <a:rPr sz="1600" b="1">
                <a:solidFill>
                  <a:srgbClr val="F5A800"/>
                </a:solidFill>
                <a:latin typeface="Arial"/>
              </a:rPr>
              <a:t>FRAGEN &amp; KLASSENFEEDBACK</a:t>
            </a:r>
          </a:p>
        </p:txBody>
      </p:sp>
      <p:sp>
        <p:nvSpPr>
          <p:cNvPr id="5" name="TextBox 4"/>
          <p:cNvSpPr txBox="1"/>
          <p:nvPr/>
        </p:nvSpPr>
        <p:spPr>
          <a:xfrm>
            <a:off x="914400" y="1554480"/>
            <a:ext cx="10332720" cy="914400"/>
          </a:xfrm>
          <a:prstGeom prst="rect">
            <a:avLst/>
          </a:prstGeom>
          <a:noFill/>
        </p:spPr>
        <p:txBody>
          <a:bodyPr wrap="square" anchor="t">
            <a:spAutoFit/>
          </a:bodyPr>
          <a:lstStyle/>
          <a:p>
            <a:pPr algn="l"/>
            <a:r>
              <a:rPr sz="3400" b="1">
                <a:solidFill>
                  <a:srgbClr val="FFFFFF"/>
                </a:solidFill>
                <a:latin typeface="Arial"/>
              </a:rPr>
              <a:t>Was war am Booklet am hilfreichsten, und was fehlt euch noch?</a:t>
            </a:r>
          </a:p>
        </p:txBody>
      </p:sp>
      <p:sp>
        <p:nvSpPr>
          <p:cNvPr id="6" name="TextBox 5"/>
          <p:cNvSpPr txBox="1"/>
          <p:nvPr/>
        </p:nvSpPr>
        <p:spPr>
          <a:xfrm>
            <a:off x="914400" y="3200400"/>
            <a:ext cx="10332720" cy="914400"/>
          </a:xfrm>
          <a:prstGeom prst="rect">
            <a:avLst/>
          </a:prstGeom>
          <a:noFill/>
        </p:spPr>
        <p:txBody>
          <a:bodyPr wrap="square" anchor="t">
            <a:spAutoFit/>
          </a:bodyPr>
          <a:lstStyle/>
          <a:p>
            <a:pPr algn="l"/>
            <a:r>
              <a:rPr sz="3400" b="1">
                <a:solidFill>
                  <a:srgbClr val="FFFFFF"/>
                </a:solidFill>
                <a:latin typeface="Arial"/>
              </a:rPr>
              <a:t>Habt ihr Fragen zum Ausbildungsvertrag oder zu unserem Projekt?</a:t>
            </a:r>
          </a:p>
        </p:txBody>
      </p:sp>
      <p:sp>
        <p:nvSpPr>
          <p:cNvPr id="7" name="Rectangle 6"/>
          <p:cNvSpPr/>
          <p:nvPr/>
        </p:nvSpPr>
        <p:spPr>
          <a:xfrm>
            <a:off x="914400" y="4937760"/>
            <a:ext cx="182880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10058400" cy="914400"/>
          </a:xfrm>
          <a:prstGeom prst="rect">
            <a:avLst/>
          </a:prstGeom>
          <a:noFill/>
        </p:spPr>
        <p:txBody>
          <a:bodyPr wrap="square" anchor="t">
            <a:spAutoFit/>
          </a:bodyPr>
          <a:lstStyle/>
          <a:p>
            <a:pPr algn="l"/>
            <a:r>
              <a:rPr sz="4400" b="1">
                <a:solidFill>
                  <a:srgbClr val="F5A800"/>
                </a:solidFill>
                <a:latin typeface="Arial"/>
              </a:rPr>
              <a:t>Vielen Dank!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r>
              <a:rPr sz="1300" b="1">
                <a:solidFill>
                  <a:srgbClr val="B07A00"/>
                </a:solidFill>
                <a:latin typeface="Arial"/>
              </a:rPr>
              <a:t>AUFGABE, PROBLEM, ZIEL</a:t>
            </a:r>
          </a:p>
        </p:txBody>
      </p:sp>
      <p:sp>
        <p:nvSpPr>
          <p:cNvPr id="4" name="TextBox 3"/>
          <p:cNvSpPr txBox="1"/>
          <p:nvPr/>
        </p:nvSpPr>
        <p:spPr>
          <a:xfrm>
            <a:off x="640080" y="548640"/>
            <a:ext cx="10972800" cy="822960"/>
          </a:xfrm>
          <a:prstGeom prst="rect">
            <a:avLst/>
          </a:prstGeom>
          <a:noFill/>
        </p:spPr>
        <p:txBody>
          <a:bodyPr wrap="square" anchor="t">
            <a:spAutoFit/>
          </a:bodyPr>
          <a:lstStyle/>
          <a:p>
            <a:r>
              <a:rPr sz="3200" b="1">
                <a:solidFill>
                  <a:srgbClr val="14264B"/>
                </a:solidFill>
                <a:latin typeface="Arial"/>
              </a:rPr>
              <a:t>Projektskizze auf einen Blick</a:t>
            </a:r>
          </a:p>
        </p:txBody>
      </p:sp>
      <p:sp>
        <p:nvSpPr>
          <p:cNvPr id="5" name="Rectangle 4"/>
          <p:cNvSpPr/>
          <p:nvPr/>
        </p:nvSpPr>
        <p:spPr>
          <a:xfrm>
            <a:off x="640080" y="1508760"/>
            <a:ext cx="3657600" cy="16002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91440" cy="16002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3291840" cy="457200"/>
          </a:xfrm>
          <a:prstGeom prst="rect">
            <a:avLst/>
          </a:prstGeom>
          <a:noFill/>
        </p:spPr>
        <p:txBody>
          <a:bodyPr wrap="square" anchor="t">
            <a:spAutoFit/>
          </a:bodyPr>
          <a:lstStyle/>
          <a:p>
            <a:r>
              <a:rPr sz="2000" b="1">
                <a:solidFill>
                  <a:srgbClr val="14264B"/>
                </a:solidFill>
                <a:latin typeface="Arial"/>
              </a:rPr>
              <a:t>Ziel</a:t>
            </a:r>
          </a:p>
        </p:txBody>
      </p:sp>
      <p:sp>
        <p:nvSpPr>
          <p:cNvPr id="8" name="TextBox 7"/>
          <p:cNvSpPr txBox="1"/>
          <p:nvPr/>
        </p:nvSpPr>
        <p:spPr>
          <a:xfrm>
            <a:off x="868680" y="2203704"/>
            <a:ext cx="3291840" cy="868680"/>
          </a:xfrm>
          <a:prstGeom prst="rect">
            <a:avLst/>
          </a:prstGeom>
          <a:noFill/>
        </p:spPr>
        <p:txBody>
          <a:bodyPr wrap="square" anchor="t">
            <a:spAutoFit/>
          </a:bodyPr>
          <a:lstStyle/>
          <a:p>
            <a:r>
              <a:rPr sz="1900" b="0">
                <a:solidFill>
                  <a:srgbClr val="1A2238"/>
                </a:solidFill>
                <a:latin typeface="Arial"/>
              </a:rPr>
              <a:t>Booklet zur Prüfungsvorbereitung mit Prüfungstraining</a:t>
            </a:r>
          </a:p>
        </p:txBody>
      </p:sp>
      <p:sp>
        <p:nvSpPr>
          <p:cNvPr id="9" name="Rectangle 8"/>
          <p:cNvSpPr/>
          <p:nvPr/>
        </p:nvSpPr>
        <p:spPr>
          <a:xfrm>
            <a:off x="4480560" y="1508760"/>
            <a:ext cx="3657600" cy="16002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60" y="1508760"/>
            <a:ext cx="91440" cy="16002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1600200"/>
            <a:ext cx="3291840" cy="457200"/>
          </a:xfrm>
          <a:prstGeom prst="rect">
            <a:avLst/>
          </a:prstGeom>
          <a:noFill/>
        </p:spPr>
        <p:txBody>
          <a:bodyPr wrap="square" anchor="t">
            <a:spAutoFit/>
          </a:bodyPr>
          <a:lstStyle/>
          <a:p>
            <a:r>
              <a:rPr sz="2000" b="1">
                <a:solidFill>
                  <a:srgbClr val="14264B"/>
                </a:solidFill>
                <a:latin typeface="Arial"/>
              </a:rPr>
              <a:t>Zielgruppe</a:t>
            </a:r>
          </a:p>
        </p:txBody>
      </p:sp>
      <p:sp>
        <p:nvSpPr>
          <p:cNvPr id="12" name="TextBox 11"/>
          <p:cNvSpPr txBox="1"/>
          <p:nvPr/>
        </p:nvSpPr>
        <p:spPr>
          <a:xfrm>
            <a:off x="4709160" y="2203704"/>
            <a:ext cx="3291840" cy="868680"/>
          </a:xfrm>
          <a:prstGeom prst="rect">
            <a:avLst/>
          </a:prstGeom>
          <a:noFill/>
        </p:spPr>
        <p:txBody>
          <a:bodyPr wrap="square" anchor="t">
            <a:spAutoFit/>
          </a:bodyPr>
          <a:lstStyle/>
          <a:p>
            <a:r>
              <a:rPr sz="1900" b="0">
                <a:solidFill>
                  <a:srgbClr val="1A2238"/>
                </a:solidFill>
                <a:latin typeface="Arial"/>
              </a:rPr>
              <a:t>Mitschüler vor der Abschlussprüfung am 25.11.</a:t>
            </a:r>
          </a:p>
        </p:txBody>
      </p:sp>
      <p:sp>
        <p:nvSpPr>
          <p:cNvPr id="13" name="Rectangle 12"/>
          <p:cNvSpPr/>
          <p:nvPr/>
        </p:nvSpPr>
        <p:spPr>
          <a:xfrm>
            <a:off x="8321040" y="1508760"/>
            <a:ext cx="3246120" cy="16002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1508760"/>
            <a:ext cx="91440" cy="16002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600200"/>
            <a:ext cx="2880360" cy="457200"/>
          </a:xfrm>
          <a:prstGeom prst="rect">
            <a:avLst/>
          </a:prstGeom>
          <a:noFill/>
        </p:spPr>
        <p:txBody>
          <a:bodyPr wrap="square" anchor="t">
            <a:spAutoFit/>
          </a:bodyPr>
          <a:lstStyle/>
          <a:p>
            <a:r>
              <a:rPr sz="2000" b="1">
                <a:solidFill>
                  <a:srgbClr val="14264B"/>
                </a:solidFill>
                <a:latin typeface="Arial"/>
              </a:rPr>
              <a:t>Laufzeit</a:t>
            </a:r>
          </a:p>
        </p:txBody>
      </p:sp>
      <p:sp>
        <p:nvSpPr>
          <p:cNvPr id="16" name="TextBox 15"/>
          <p:cNvSpPr txBox="1"/>
          <p:nvPr/>
        </p:nvSpPr>
        <p:spPr>
          <a:xfrm>
            <a:off x="8549640" y="2203704"/>
            <a:ext cx="2880360" cy="868680"/>
          </a:xfrm>
          <a:prstGeom prst="rect">
            <a:avLst/>
          </a:prstGeom>
          <a:noFill/>
        </p:spPr>
        <p:txBody>
          <a:bodyPr wrap="square" anchor="t">
            <a:spAutoFit/>
          </a:bodyPr>
          <a:lstStyle/>
          <a:p>
            <a:r>
              <a:rPr sz="2200" b="0">
                <a:solidFill>
                  <a:srgbClr val="1A2238"/>
                </a:solidFill>
                <a:latin typeface="Arial"/>
              </a:rPr>
              <a:t>10.09. – 08.10.2026</a:t>
            </a:r>
          </a:p>
        </p:txBody>
      </p:sp>
      <p:sp>
        <p:nvSpPr>
          <p:cNvPr id="17" name="Rectangle 16"/>
          <p:cNvSpPr/>
          <p:nvPr/>
        </p:nvSpPr>
        <p:spPr>
          <a:xfrm>
            <a:off x="640080" y="3337560"/>
            <a:ext cx="5440680" cy="31089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337560"/>
            <a:ext cx="91440" cy="31089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29000"/>
            <a:ext cx="5074920" cy="457200"/>
          </a:xfrm>
          <a:prstGeom prst="rect">
            <a:avLst/>
          </a:prstGeom>
          <a:noFill/>
        </p:spPr>
        <p:txBody>
          <a:bodyPr wrap="square" anchor="t">
            <a:spAutoFit/>
          </a:bodyPr>
          <a:lstStyle/>
          <a:p>
            <a:r>
              <a:rPr sz="2200" b="1">
                <a:solidFill>
                  <a:srgbClr val="14264B"/>
                </a:solidFill>
                <a:latin typeface="Arial"/>
              </a:rPr>
              <a:t>SMART-Ziel 1 · Wissen</a:t>
            </a:r>
          </a:p>
        </p:txBody>
      </p:sp>
      <p:sp>
        <p:nvSpPr>
          <p:cNvPr id="20" name="TextBox 19"/>
          <p:cNvSpPr txBox="1"/>
          <p:nvPr/>
        </p:nvSpPr>
        <p:spPr>
          <a:xfrm>
            <a:off x="868680" y="4080052"/>
            <a:ext cx="5074920" cy="2377439"/>
          </a:xfrm>
          <a:prstGeom prst="rect">
            <a:avLst/>
          </a:prstGeom>
          <a:noFill/>
        </p:spPr>
        <p:txBody>
          <a:bodyPr wrap="square" anchor="t">
            <a:spAutoFit/>
          </a:bodyPr>
          <a:lstStyle/>
          <a:p>
            <a:r>
              <a:rPr sz="2100" b="0">
                <a:solidFill>
                  <a:srgbClr val="1A2238"/>
                </a:solidFill>
                <a:latin typeface="Arial"/>
              </a:rPr>
              <a:t>Bis 08.10. die wichtigsten Regelungen aus BBiG und Ausbildungsvertrag kennen und für alle sechs Prüfungspunkte ein Beispiel erklären können.</a:t>
            </a:r>
          </a:p>
        </p:txBody>
      </p:sp>
      <p:sp>
        <p:nvSpPr>
          <p:cNvPr id="21" name="Rectangle 20"/>
          <p:cNvSpPr/>
          <p:nvPr/>
        </p:nvSpPr>
        <p:spPr>
          <a:xfrm>
            <a:off x="6263640" y="3337560"/>
            <a:ext cx="5303520" cy="31089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337560"/>
            <a:ext cx="91440" cy="31089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29000"/>
            <a:ext cx="4937759" cy="457200"/>
          </a:xfrm>
          <a:prstGeom prst="rect">
            <a:avLst/>
          </a:prstGeom>
          <a:noFill/>
        </p:spPr>
        <p:txBody>
          <a:bodyPr wrap="square" anchor="t">
            <a:spAutoFit/>
          </a:bodyPr>
          <a:lstStyle/>
          <a:p>
            <a:r>
              <a:rPr sz="2200" b="1">
                <a:solidFill>
                  <a:srgbClr val="14264B"/>
                </a:solidFill>
                <a:latin typeface="Arial"/>
              </a:rPr>
              <a:t>SMART-Ziel 2 · Anwendung</a:t>
            </a:r>
          </a:p>
        </p:txBody>
      </p:sp>
      <p:sp>
        <p:nvSpPr>
          <p:cNvPr id="24" name="TextBox 23"/>
          <p:cNvSpPr txBox="1"/>
          <p:nvPr/>
        </p:nvSpPr>
        <p:spPr>
          <a:xfrm>
            <a:off x="6492240" y="4080052"/>
            <a:ext cx="4937759" cy="2377439"/>
          </a:xfrm>
          <a:prstGeom prst="rect">
            <a:avLst/>
          </a:prstGeom>
          <a:noFill/>
        </p:spPr>
        <p:txBody>
          <a:bodyPr wrap="square" anchor="t">
            <a:spAutoFit/>
          </a:bodyPr>
          <a:lstStyle/>
          <a:p>
            <a:r>
              <a:rPr sz="2100" b="0">
                <a:solidFill>
                  <a:srgbClr val="1A2238"/>
                </a:solidFill>
                <a:latin typeface="Arial"/>
              </a:rPr>
              <a:t>Bis 08.10. ordnen Mitschüler mit dem Booklet typische Situationen der passenden Regelung zu: im Abschluss-Quiz im Schnitt mindestens 4 von 5 richtig.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r>
              <a:rPr sz="1300" b="1">
                <a:solidFill>
                  <a:srgbClr val="B07A00"/>
                </a:solidFill>
                <a:latin typeface="Arial"/>
              </a:rPr>
              <a:t>DURCHFÜHRUNG</a:t>
            </a:r>
          </a:p>
        </p:txBody>
      </p:sp>
      <p:sp>
        <p:nvSpPr>
          <p:cNvPr id="4" name="TextBox 3"/>
          <p:cNvSpPr txBox="1"/>
          <p:nvPr/>
        </p:nvSpPr>
        <p:spPr>
          <a:xfrm>
            <a:off x="640080" y="548640"/>
            <a:ext cx="10972800" cy="822960"/>
          </a:xfrm>
          <a:prstGeom prst="rect">
            <a:avLst/>
          </a:prstGeom>
          <a:noFill/>
        </p:spPr>
        <p:txBody>
          <a:bodyPr wrap="square" anchor="t">
            <a:spAutoFit/>
          </a:bodyPr>
          <a:lstStyle/>
          <a:p>
            <a:r>
              <a:rPr sz="3200" b="1">
                <a:solidFill>
                  <a:srgbClr val="14264B"/>
                </a:solidFill>
                <a:latin typeface="Arial"/>
              </a:rPr>
              <a:t>Projektstrukturplan</a:t>
            </a:r>
          </a:p>
        </p:txBody>
      </p:sp>
      <p:pic>
        <p:nvPicPr>
          <p:cNvPr id="5" name="Picture 4" descr="psp_folie.png"/>
          <p:cNvPicPr>
            <a:picLocks noChangeAspect="1"/>
          </p:cNvPicPr>
          <p:nvPr/>
        </p:nvPicPr>
        <p:blipFill>
          <a:blip r:embed="rId3"/>
          <a:stretch>
            <a:fillRect/>
          </a:stretch>
        </p:blipFill>
        <p:spPr>
          <a:xfrm>
            <a:off x="685800" y="1325880"/>
            <a:ext cx="11064240" cy="526868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r>
              <a:rPr sz="1300" b="1">
                <a:solidFill>
                  <a:srgbClr val="B07A00"/>
                </a:solidFill>
                <a:latin typeface="Arial"/>
              </a:rPr>
              <a:t>DURCHFÜHRUNG</a:t>
            </a:r>
          </a:p>
        </p:txBody>
      </p:sp>
      <p:sp>
        <p:nvSpPr>
          <p:cNvPr id="4" name="TextBox 3"/>
          <p:cNvSpPr txBox="1"/>
          <p:nvPr/>
        </p:nvSpPr>
        <p:spPr>
          <a:xfrm>
            <a:off x="640080" y="548640"/>
            <a:ext cx="10972800" cy="822960"/>
          </a:xfrm>
          <a:prstGeom prst="rect">
            <a:avLst/>
          </a:prstGeom>
          <a:noFill/>
        </p:spPr>
        <p:txBody>
          <a:bodyPr wrap="square" anchor="t">
            <a:spAutoFit/>
          </a:bodyPr>
          <a:lstStyle/>
          <a:p>
            <a:r>
              <a:rPr sz="3200" b="1">
                <a:solidFill>
                  <a:srgbClr val="14264B"/>
                </a:solidFill>
                <a:latin typeface="Arial"/>
              </a:rPr>
              <a:t>Projektablaufplan (Soll)</a:t>
            </a:r>
          </a:p>
        </p:txBody>
      </p:sp>
      <p:pic>
        <p:nvPicPr>
          <p:cNvPr id="5" name="Picture 4" descr="gantt_folie.png"/>
          <p:cNvPicPr>
            <a:picLocks noChangeAspect="1"/>
          </p:cNvPicPr>
          <p:nvPr/>
        </p:nvPicPr>
        <p:blipFill>
          <a:blip r:embed="rId3"/>
          <a:stretch>
            <a:fillRect/>
          </a:stretch>
        </p:blipFill>
        <p:spPr>
          <a:xfrm>
            <a:off x="685800" y="1325880"/>
            <a:ext cx="11064240" cy="52686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