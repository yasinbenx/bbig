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Yasin (0:30): „Guten Tag zusammen, wir sind Yasin und Mido. Wir zeigen euch kurz unser Projekt zu den Rechten und Pflichten aus dem Ausbildungsvertrag – und danach macht ihr selbst mit: Rote/Grüne Karte und Vertrags-Detektiv.“</a:t>
            </a:r>
          </a:p>
          <a:p/>
          <a:p>
            <a:r>
              <a:t>ZEITPLAN (intern): Kern ca. 27 Minuten = Projekt 2 · Durchführung 4 · Booklet 2 · Rote/Grüne Karte 5 · Vertrags-Detektiv 8 · Merkblatt, Evaluation und Fragen 6. Mit Modul A Experten-Runde (10 Minuten) und Modul B Abschluss-Mini-Quiz (6 Minuten) ca. 43 Minuten. Die vier ausgeblendeten Zusatzfolien (13 bis 16) liegen direkt nach der Lösung zum Vertrags-Detektiv: Folie einblenden und abspielen.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Yasin (1:00): „Unsere Aufgabe: ein Booklet zur Prüfungsvorbereitung im Fach GP, zum Ausbildungsvertrag. Dazu gab es bisher kein kompaktes Lernmaterial mit Aufgaben und Lösungen. Unser Ziel: Am 25. November sollt ihr die Regeln zu Beginn und Dauer, Arbeitszeit, Vergütung, Urlaub, Probezeit und Kündigung sicher anwenden können.“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Mido (1:00): „Unsere Projektskizze auf einen Blick: Zielgruppe seid ihr, Laufzeit vom 10. September bis 8. Oktober. Dazu zwei SMART-Ziele: Erstens Wissen über den Ausbildungsvertrag, zweitens Anwendung – im Vertrags-Detektiv sollt ihr mindestens vier von fünf Fehlern finden.“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Yasin (1:00): „Der Projektstrukturplan zeigt alle Aufgaben: Vorbereitung mit Planung, die Praxisbeispiele, Booklet und Aufgaben sowie Präsentation und Abschluss – zusammen zehn Arbeitspakete, jeweils mit Verantwortlichen: Yasin, Mido oder wir beide.“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Mido (1:00): „Der Projektablaufplan zeigt den Soll-Plan vom 10. September bis 8. Oktober: Vorbereitung im September, Umsetzung im Oktober. Fünf Meilensteine sichern den Plan, der letzte ist die Präsentation am 8. Oktober.“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Yasin (1:00): „Vorbereitung im September, Umsetzung im Oktober. Recherche und Texte bei mir, Vertragssichtung, Praxisbeispiele, Grafiken und Korrekturlesen bei Mido, Gliederung, Layout und Präsentation gemeinsam.“</a:t>
            </a:r>
          </a:p>
          <a:p>
            <a:r>
              <a:t>Mido (1:00): „Rahmen: zwei Personen, Abgabe am 8. Oktober, keine nennenswerten Kosten. Probleme und Anpassungen sowie Absprachen: [eintragen].“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Mido (2:00): „Unser Booklet hat 13 Seiten: kurze Kapitel entlang der Prüfungsthemen, ein Merkblatt auf einer Seite, Aufgaben mit Erwartungshorizont – also Lösung, Paragraf und Begründung – und ein Mini-Quiz. Dazu kommen Glossar und Quellenverzeichnis. Ihr bekommt es nach den Aktivitäten.“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Yasin (2:00): „Aktivität 1: Rote/Grüne Karte. Grün heißt stimmt, rot heißt stimmt nicht. Ich lese die Aussage vor, auf ‚drei‘ zeigen alle gleichzeitig ihre Karte. Fünf Aussagen jetzt, fünf auf der nächsten Folie.“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Mido (2:00): „Noch fünf Aussagen, gleiche Regel: Auf ‚drei‘ zeigen alle ihre Karte. Danach lösen wir gemeinsam auf.“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Yasin und Mido (1:00): „Wir gehen die zehn Aussagen durch und nennen jeweils den Paragrafen. Wo lag die Klasse falsch? Dort erklären wir die Regel kurz.“</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Mido (5:00): „Aktivität 2: Vertrags-Detektiv. Im Vertragsauszug stecken fünf Fehler. Findet sie in Zweierteams und nennt zu jedem die passende Regel. Ihr habt fünf Minuten.“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Yasin (3:00): „Wir gehen die fünf Fehler durch, jeweils mit Paragraf. Für jeden Fehler gibt es einen Punkt fürs Finden und einen für die Begründung, höchstens zehn Punkte. Wie viele habt ihr gefunden?“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Yasin (2:00): „Experten-Runde: Jede Gruppe bekommt ein Thema und erklärt es in zwei Minuten mit dem Merkblatt. Danach stellt sie der Klasse eine Frage.“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Mido (1:00): „Hier sind die vier Themen mit den passenden Zeilen aus dem Merkblatt. Jede Gruppe zieht eins und bereitet sich vor.“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Yasin (4:00): „Abschluss-Mini-Quiz: fünf neue Situationen, jeder notiert anonym A bis D auf einem Zettel. Die Zettel werden eingesammelt und ausgezählt.“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Mido (2:00): „Hier die Lösungen mit Paragraf. Wir zählen aus, wie viele richtig waren.“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Mido (2:00): „Zum Mitnehmen: das Merkblatt. Kernregeln: Probezeit ein bis vier Monate, Mindestausbildungsvergütung 2026 724, 854, 977 und 1.014 Euro, Mindesturlaub 24 Werktage, Kündigung immer schriftlich, Jugendliche höchstens 8 Stunden täglich, Vertragsinhalt seit August 2024 in Textform.“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Yasin und Mido (2:00): „Hat das Projekt sein Ziel erreicht? Im Vertrags-Detektiv wurden [eintragen] von 5 Fehlern gefunden. Verbesserungen: Booklet jährlich aktualisieren, Probelesen früher einplanen, [eigener Vorschlag]. Reflexion: Gut lief [..], schwierig war [..], beim nächsten Mal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Yasin und Mido (2:00): „Vielen Dank fürs Mitmachen! Zwei Fragen an euch: Was war am Booklet am hilfreichsten, und was fehlt euch noch? Und habt ihr Fragen zum Ausbildungsvertrag oder zu unserem Projekt?“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05840"/>
            <a:ext cx="10515600" cy="457200"/>
          </a:xfrm>
          <a:prstGeom prst="rect">
            <a:avLst/>
          </a:prstGeom>
          <a:noFill/>
        </p:spPr>
        <p:txBody>
          <a:bodyPr wrap="square" anchor="t">
            <a:spAutoFit/>
          </a:bodyPr>
          <a:lstStyle/>
          <a:p>
            <a:pPr algn="l"/>
            <a:r>
              <a:rPr sz="1600" b="1">
                <a:solidFill>
                  <a:srgbClr val="F5A800"/>
                </a:solidFill>
                <a:latin typeface="Arial"/>
              </a:rPr>
              <a:t>PROJEKT IM FACH GP (GESCHÄFTSPROZESSE)</a:t>
            </a:r>
          </a:p>
        </p:txBody>
      </p:sp>
      <p:sp>
        <p:nvSpPr>
          <p:cNvPr id="5" name="TextBox 4"/>
          <p:cNvSpPr txBox="1"/>
          <p:nvPr/>
        </p:nvSpPr>
        <p:spPr>
          <a:xfrm>
            <a:off x="914400" y="1554480"/>
            <a:ext cx="10515600" cy="2011680"/>
          </a:xfrm>
          <a:prstGeom prst="rect">
            <a:avLst/>
          </a:prstGeom>
          <a:noFill/>
        </p:spPr>
        <p:txBody>
          <a:bodyPr wrap="square" anchor="t">
            <a:spAutoFit/>
          </a:bodyPr>
          <a:lstStyle/>
          <a:p>
            <a:pPr algn="l"/>
            <a:r>
              <a:rPr sz="4800" b="1">
                <a:solidFill>
                  <a:srgbClr val="FFFFFF"/>
                </a:solidFill>
                <a:latin typeface="Arial"/>
              </a:rPr>
              <a:t>Rechte und Pflichten aus dem Ausbildungsvertrag</a:t>
            </a:r>
          </a:p>
        </p:txBody>
      </p:sp>
      <p:sp>
        <p:nvSpPr>
          <p:cNvPr id="6" name="TextBox 5"/>
          <p:cNvSpPr txBox="1"/>
          <p:nvPr/>
        </p:nvSpPr>
        <p:spPr>
          <a:xfrm>
            <a:off x="914400" y="3611880"/>
            <a:ext cx="10058400" cy="457200"/>
          </a:xfrm>
          <a:prstGeom prst="rect">
            <a:avLst/>
          </a:prstGeom>
          <a:noFill/>
        </p:spPr>
        <p:txBody>
          <a:bodyPr wrap="square" anchor="t">
            <a:spAutoFit/>
          </a:bodyPr>
          <a:lstStyle/>
          <a:p>
            <a:pPr algn="l"/>
            <a:r>
              <a:rPr sz="2400" b="0">
                <a:solidFill>
                  <a:srgbClr val="DCE3F2"/>
                </a:solidFill>
                <a:latin typeface="Arial"/>
              </a:rPr>
              <a:t>Yasin &amp; Mido · Kaufleute für Büromanagement</a:t>
            </a:r>
          </a:p>
        </p:txBody>
      </p:sp>
      <p:sp>
        <p:nvSpPr>
          <p:cNvPr id="7" name="Rectangle 6"/>
          <p:cNvSpPr/>
          <p:nvPr/>
        </p:nvSpPr>
        <p:spPr>
          <a:xfrm>
            <a:off x="914400" y="4754880"/>
            <a:ext cx="3291840" cy="10058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4754880"/>
            <a:ext cx="3291840" cy="73152"/>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892040"/>
            <a:ext cx="3291840" cy="822960"/>
          </a:xfrm>
          <a:prstGeom prst="rect">
            <a:avLst/>
          </a:prstGeom>
          <a:noFill/>
        </p:spPr>
        <p:txBody>
          <a:bodyPr wrap="square" anchor="ctr">
            <a:spAutoFit/>
          </a:bodyPr>
          <a:lstStyle/>
          <a:p>
            <a:pPr algn="ctr"/>
            <a:r>
              <a:rPr sz="2400" b="1">
                <a:solidFill>
                  <a:srgbClr val="F5A800"/>
                </a:solidFill>
                <a:latin typeface="Arial"/>
              </a:rPr>
              <a:t>1  </a:t>
            </a:r>
            <a:r>
              <a:rPr sz="2400" b="1">
                <a:solidFill>
                  <a:srgbClr val="FFFFFF"/>
                </a:solidFill>
                <a:latin typeface="Arial"/>
              </a:rPr>
              <a:t>Projekt</a:t>
            </a:r>
          </a:p>
        </p:txBody>
      </p:sp>
      <p:sp>
        <p:nvSpPr>
          <p:cNvPr id="10" name="Rectangle 9"/>
          <p:cNvSpPr/>
          <p:nvPr/>
        </p:nvSpPr>
        <p:spPr>
          <a:xfrm>
            <a:off x="4480560" y="4754880"/>
            <a:ext cx="3291840" cy="10058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4754880"/>
            <a:ext cx="3291840" cy="73152"/>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4892040"/>
            <a:ext cx="3291840" cy="822960"/>
          </a:xfrm>
          <a:prstGeom prst="rect">
            <a:avLst/>
          </a:prstGeom>
          <a:noFill/>
        </p:spPr>
        <p:txBody>
          <a:bodyPr wrap="square" anchor="ctr">
            <a:spAutoFit/>
          </a:bodyPr>
          <a:lstStyle/>
          <a:p>
            <a:pPr algn="ctr"/>
            <a:r>
              <a:rPr sz="2400" b="1">
                <a:solidFill>
                  <a:srgbClr val="F5A800"/>
                </a:solidFill>
                <a:latin typeface="Arial"/>
              </a:rPr>
              <a:t>2  </a:t>
            </a:r>
            <a:r>
              <a:rPr sz="2400" b="1">
                <a:solidFill>
                  <a:srgbClr val="FFFFFF"/>
                </a:solidFill>
                <a:latin typeface="Arial"/>
              </a:rPr>
              <a:t>Booklet</a:t>
            </a:r>
          </a:p>
        </p:txBody>
      </p:sp>
      <p:sp>
        <p:nvSpPr>
          <p:cNvPr id="13" name="Rectangle 12"/>
          <p:cNvSpPr/>
          <p:nvPr/>
        </p:nvSpPr>
        <p:spPr>
          <a:xfrm>
            <a:off x="8046720" y="4754880"/>
            <a:ext cx="3291840" cy="10058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4754880"/>
            <a:ext cx="3291840" cy="73152"/>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892040"/>
            <a:ext cx="3291840" cy="822960"/>
          </a:xfrm>
          <a:prstGeom prst="rect">
            <a:avLst/>
          </a:prstGeom>
          <a:noFill/>
        </p:spPr>
        <p:txBody>
          <a:bodyPr wrap="square" anchor="ctr">
            <a:spAutoFit/>
          </a:bodyPr>
          <a:lstStyle/>
          <a:p>
            <a:pPr algn="ctr"/>
            <a:r>
              <a:rPr sz="2400" b="1">
                <a:solidFill>
                  <a:srgbClr val="F5A800"/>
                </a:solidFill>
                <a:latin typeface="Arial"/>
              </a:rPr>
              <a:t>3  </a:t>
            </a:r>
            <a:r>
              <a:rPr sz="2400" b="1">
                <a:solidFill>
                  <a:srgbClr val="FFFFFF"/>
                </a:solidFill>
                <a:latin typeface="Arial"/>
              </a:rPr>
              <a:t>Mitmachen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AUFGABE, PROBLEM, ZIEL</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Unser Projekt in Kürze</a:t>
            </a:r>
          </a:p>
        </p:txBody>
      </p:sp>
      <p:sp>
        <p:nvSpPr>
          <p:cNvPr id="5" name="Rectangle 4"/>
          <p:cNvSpPr/>
          <p:nvPr/>
        </p:nvSpPr>
        <p:spPr>
          <a:xfrm>
            <a:off x="640080" y="1554480"/>
            <a:ext cx="7863840" cy="141732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91440" cy="141732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27632"/>
            <a:ext cx="7498079" cy="457200"/>
          </a:xfrm>
          <a:prstGeom prst="rect">
            <a:avLst/>
          </a:prstGeom>
          <a:noFill/>
        </p:spPr>
        <p:txBody>
          <a:bodyPr wrap="square" anchor="t">
            <a:spAutoFit/>
          </a:bodyPr>
          <a:lstStyle/>
          <a:p>
            <a:pPr algn="l"/>
            <a:r>
              <a:rPr sz="2200" b="1">
                <a:solidFill>
                  <a:srgbClr val="14264B"/>
                </a:solidFill>
                <a:latin typeface="Arial"/>
              </a:rPr>
              <a:t>Aufgabe</a:t>
            </a:r>
          </a:p>
        </p:txBody>
      </p:sp>
      <p:sp>
        <p:nvSpPr>
          <p:cNvPr id="8" name="TextBox 7"/>
          <p:cNvSpPr txBox="1"/>
          <p:nvPr/>
        </p:nvSpPr>
        <p:spPr>
          <a:xfrm>
            <a:off x="868680" y="2187244"/>
            <a:ext cx="7498079" cy="738835"/>
          </a:xfrm>
          <a:prstGeom prst="rect">
            <a:avLst/>
          </a:prstGeom>
          <a:noFill/>
        </p:spPr>
        <p:txBody>
          <a:bodyPr wrap="square" anchor="t">
            <a:spAutoFit/>
          </a:bodyPr>
          <a:lstStyle/>
          <a:p>
            <a:pPr algn="l"/>
            <a:r>
              <a:rPr sz="2000" b="0">
                <a:solidFill>
                  <a:srgbClr val="1A2238"/>
                </a:solidFill>
                <a:latin typeface="Arial"/>
              </a:rPr>
              <a:t>Ein Booklet zur Prüfungsvorbereitung im Fach GP zum Thema Ausbildungsvertrag.</a:t>
            </a:r>
          </a:p>
        </p:txBody>
      </p:sp>
      <p:sp>
        <p:nvSpPr>
          <p:cNvPr id="9" name="Rectangle 8"/>
          <p:cNvSpPr/>
          <p:nvPr/>
        </p:nvSpPr>
        <p:spPr>
          <a:xfrm>
            <a:off x="640080" y="3108960"/>
            <a:ext cx="7863840" cy="141732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108960"/>
            <a:ext cx="91440" cy="141732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182112"/>
            <a:ext cx="7498079" cy="457200"/>
          </a:xfrm>
          <a:prstGeom prst="rect">
            <a:avLst/>
          </a:prstGeom>
          <a:noFill/>
        </p:spPr>
        <p:txBody>
          <a:bodyPr wrap="square" anchor="t">
            <a:spAutoFit/>
          </a:bodyPr>
          <a:lstStyle/>
          <a:p>
            <a:pPr algn="l"/>
            <a:r>
              <a:rPr sz="2200" b="1">
                <a:solidFill>
                  <a:srgbClr val="14264B"/>
                </a:solidFill>
                <a:latin typeface="Arial"/>
              </a:rPr>
              <a:t>Problem</a:t>
            </a:r>
          </a:p>
        </p:txBody>
      </p:sp>
      <p:sp>
        <p:nvSpPr>
          <p:cNvPr id="12" name="TextBox 11"/>
          <p:cNvSpPr txBox="1"/>
          <p:nvPr/>
        </p:nvSpPr>
        <p:spPr>
          <a:xfrm>
            <a:off x="868680" y="3741724"/>
            <a:ext cx="7498079" cy="738835"/>
          </a:xfrm>
          <a:prstGeom prst="rect">
            <a:avLst/>
          </a:prstGeom>
          <a:noFill/>
        </p:spPr>
        <p:txBody>
          <a:bodyPr wrap="square" anchor="t">
            <a:spAutoFit/>
          </a:bodyPr>
          <a:lstStyle/>
          <a:p>
            <a:pPr algn="l"/>
            <a:r>
              <a:rPr sz="2000" b="0">
                <a:solidFill>
                  <a:srgbClr val="1A2238"/>
                </a:solidFill>
                <a:latin typeface="Arial"/>
              </a:rPr>
              <a:t>Bisher gab es dazu kein kompaktes Lernmaterial mit Aufgaben und Lösungen.</a:t>
            </a:r>
          </a:p>
        </p:txBody>
      </p:sp>
      <p:sp>
        <p:nvSpPr>
          <p:cNvPr id="13" name="Rectangle 12"/>
          <p:cNvSpPr/>
          <p:nvPr/>
        </p:nvSpPr>
        <p:spPr>
          <a:xfrm>
            <a:off x="640080" y="4663440"/>
            <a:ext cx="7863840" cy="141732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4663440"/>
            <a:ext cx="91440" cy="141732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736592"/>
            <a:ext cx="7498079" cy="457200"/>
          </a:xfrm>
          <a:prstGeom prst="rect">
            <a:avLst/>
          </a:prstGeom>
          <a:noFill/>
        </p:spPr>
        <p:txBody>
          <a:bodyPr wrap="square" anchor="t">
            <a:spAutoFit/>
          </a:bodyPr>
          <a:lstStyle/>
          <a:p>
            <a:pPr algn="l"/>
            <a:r>
              <a:rPr sz="2200" b="1">
                <a:solidFill>
                  <a:srgbClr val="14264B"/>
                </a:solidFill>
                <a:latin typeface="Arial"/>
              </a:rPr>
              <a:t>Ziel</a:t>
            </a:r>
          </a:p>
        </p:txBody>
      </p:sp>
      <p:sp>
        <p:nvSpPr>
          <p:cNvPr id="16" name="TextBox 15"/>
          <p:cNvSpPr txBox="1"/>
          <p:nvPr/>
        </p:nvSpPr>
        <p:spPr>
          <a:xfrm>
            <a:off x="868680" y="5296204"/>
            <a:ext cx="7498079" cy="738835"/>
          </a:xfrm>
          <a:prstGeom prst="rect">
            <a:avLst/>
          </a:prstGeom>
          <a:noFill/>
        </p:spPr>
        <p:txBody>
          <a:bodyPr wrap="square" anchor="t">
            <a:spAutoFit/>
          </a:bodyPr>
          <a:lstStyle/>
          <a:p>
            <a:pPr algn="l"/>
            <a:r>
              <a:rPr sz="2000" b="0">
                <a:solidFill>
                  <a:srgbClr val="1A2238"/>
                </a:solidFill>
                <a:latin typeface="Arial"/>
              </a:rPr>
              <a:t>Beginn und Dauer, Arbeitszeit, Vergütung, Urlaub, Probezeit und Kündigung sicher anwenden können.</a:t>
            </a:r>
          </a:p>
        </p:txBody>
      </p:sp>
      <p:sp>
        <p:nvSpPr>
          <p:cNvPr id="17" name="Rectangle 16"/>
          <p:cNvSpPr/>
          <p:nvPr/>
        </p:nvSpPr>
        <p:spPr>
          <a:xfrm>
            <a:off x="8869680" y="1554480"/>
            <a:ext cx="2834640" cy="45262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69680" y="1554480"/>
            <a:ext cx="2834640" cy="914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0" y="2103120"/>
            <a:ext cx="2834640" cy="457200"/>
          </a:xfrm>
          <a:prstGeom prst="rect">
            <a:avLst/>
          </a:prstGeom>
          <a:noFill/>
        </p:spPr>
        <p:txBody>
          <a:bodyPr wrap="square" anchor="t">
            <a:spAutoFit/>
          </a:bodyPr>
          <a:lstStyle/>
          <a:p>
            <a:pPr algn="ctr"/>
            <a:r>
              <a:rPr sz="1800" b="1">
                <a:solidFill>
                  <a:srgbClr val="F5A800"/>
                </a:solidFill>
                <a:latin typeface="Arial"/>
              </a:rPr>
              <a:t>IHK-PRÜFUNG</a:t>
            </a:r>
          </a:p>
        </p:txBody>
      </p:sp>
      <p:sp>
        <p:nvSpPr>
          <p:cNvPr id="20" name="TextBox 19"/>
          <p:cNvSpPr txBox="1"/>
          <p:nvPr/>
        </p:nvSpPr>
        <p:spPr>
          <a:xfrm>
            <a:off x="8869680" y="2651760"/>
            <a:ext cx="2834640" cy="1188720"/>
          </a:xfrm>
          <a:prstGeom prst="rect">
            <a:avLst/>
          </a:prstGeom>
          <a:noFill/>
        </p:spPr>
        <p:txBody>
          <a:bodyPr wrap="square" anchor="t">
            <a:spAutoFit/>
          </a:bodyPr>
          <a:lstStyle/>
          <a:p>
            <a:pPr algn="ctr"/>
            <a:r>
              <a:rPr sz="5400" b="1">
                <a:solidFill>
                  <a:srgbClr val="FFFFFF"/>
                </a:solidFill>
                <a:latin typeface="Arial"/>
              </a:rPr>
              <a:t>25.11.</a:t>
            </a:r>
          </a:p>
        </p:txBody>
      </p:sp>
      <p:sp>
        <p:nvSpPr>
          <p:cNvPr id="21" name="TextBox 20"/>
          <p:cNvSpPr txBox="1"/>
          <p:nvPr/>
        </p:nvSpPr>
        <p:spPr>
          <a:xfrm>
            <a:off x="8869680" y="4023360"/>
            <a:ext cx="2834640" cy="1280160"/>
          </a:xfrm>
          <a:prstGeom prst="rect">
            <a:avLst/>
          </a:prstGeom>
          <a:noFill/>
        </p:spPr>
        <p:txBody>
          <a:bodyPr wrap="square" anchor="t">
            <a:spAutoFit/>
          </a:bodyPr>
          <a:lstStyle/>
          <a:p>
            <a:pPr algn="ctr"/>
            <a:r>
              <a:rPr sz="1800" b="0">
                <a:solidFill>
                  <a:srgbClr val="DCE3F2"/>
                </a:solidFill>
                <a:latin typeface="Arial"/>
              </a:rPr>
              <a:t>schriftliche Abschlussprüfung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ZIEL, ZIELGRUPPE, LAUFZEIT</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Projektskizze auf einen Blick</a:t>
            </a:r>
          </a:p>
        </p:txBody>
      </p:sp>
      <p:sp>
        <p:nvSpPr>
          <p:cNvPr id="5" name="Rectangle 4"/>
          <p:cNvSpPr/>
          <p:nvPr/>
        </p:nvSpPr>
        <p:spPr>
          <a:xfrm>
            <a:off x="640080" y="1508760"/>
            <a:ext cx="3657600" cy="160020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91440" cy="160020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81912"/>
            <a:ext cx="3291840" cy="457200"/>
          </a:xfrm>
          <a:prstGeom prst="rect">
            <a:avLst/>
          </a:prstGeom>
          <a:noFill/>
        </p:spPr>
        <p:txBody>
          <a:bodyPr wrap="square" anchor="t">
            <a:spAutoFit/>
          </a:bodyPr>
          <a:lstStyle/>
          <a:p>
            <a:pPr algn="l"/>
            <a:r>
              <a:rPr sz="2000" b="1">
                <a:solidFill>
                  <a:srgbClr val="14264B"/>
                </a:solidFill>
                <a:latin typeface="Arial"/>
              </a:rPr>
              <a:t>Ziel</a:t>
            </a:r>
          </a:p>
        </p:txBody>
      </p:sp>
      <p:sp>
        <p:nvSpPr>
          <p:cNvPr id="8" name="TextBox 7"/>
          <p:cNvSpPr txBox="1"/>
          <p:nvPr/>
        </p:nvSpPr>
        <p:spPr>
          <a:xfrm>
            <a:off x="868680" y="2093976"/>
            <a:ext cx="3291840" cy="969263"/>
          </a:xfrm>
          <a:prstGeom prst="rect">
            <a:avLst/>
          </a:prstGeom>
          <a:noFill/>
        </p:spPr>
        <p:txBody>
          <a:bodyPr wrap="square" anchor="t">
            <a:spAutoFit/>
          </a:bodyPr>
          <a:lstStyle/>
          <a:p>
            <a:pPr algn="l"/>
            <a:r>
              <a:rPr sz="1900" b="0">
                <a:solidFill>
                  <a:srgbClr val="1A2238"/>
                </a:solidFill>
                <a:latin typeface="Arial"/>
              </a:rPr>
              <a:t>Booklet und interaktive Stunde zur Prüfungsvorbereitung</a:t>
            </a:r>
          </a:p>
        </p:txBody>
      </p:sp>
      <p:sp>
        <p:nvSpPr>
          <p:cNvPr id="9" name="Rectangle 8"/>
          <p:cNvSpPr/>
          <p:nvPr/>
        </p:nvSpPr>
        <p:spPr>
          <a:xfrm>
            <a:off x="4480560" y="1508760"/>
            <a:ext cx="3657600" cy="160020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80560" y="1508760"/>
            <a:ext cx="91440" cy="160020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9160" y="1581912"/>
            <a:ext cx="3291840" cy="457200"/>
          </a:xfrm>
          <a:prstGeom prst="rect">
            <a:avLst/>
          </a:prstGeom>
          <a:noFill/>
        </p:spPr>
        <p:txBody>
          <a:bodyPr wrap="square" anchor="t">
            <a:spAutoFit/>
          </a:bodyPr>
          <a:lstStyle/>
          <a:p>
            <a:pPr algn="l"/>
            <a:r>
              <a:rPr sz="2000" b="1">
                <a:solidFill>
                  <a:srgbClr val="14264B"/>
                </a:solidFill>
                <a:latin typeface="Arial"/>
              </a:rPr>
              <a:t>Zielgruppe</a:t>
            </a:r>
          </a:p>
        </p:txBody>
      </p:sp>
      <p:sp>
        <p:nvSpPr>
          <p:cNvPr id="12" name="TextBox 11"/>
          <p:cNvSpPr txBox="1"/>
          <p:nvPr/>
        </p:nvSpPr>
        <p:spPr>
          <a:xfrm>
            <a:off x="4709160" y="2093976"/>
            <a:ext cx="3291840" cy="969263"/>
          </a:xfrm>
          <a:prstGeom prst="rect">
            <a:avLst/>
          </a:prstGeom>
          <a:noFill/>
        </p:spPr>
        <p:txBody>
          <a:bodyPr wrap="square" anchor="t">
            <a:spAutoFit/>
          </a:bodyPr>
          <a:lstStyle/>
          <a:p>
            <a:pPr algn="l"/>
            <a:r>
              <a:rPr sz="1900" b="0">
                <a:solidFill>
                  <a:srgbClr val="1A2238"/>
                </a:solidFill>
                <a:latin typeface="Arial"/>
              </a:rPr>
              <a:t>Mitschüler vor der Abschlussprüfung am 25.11.</a:t>
            </a:r>
          </a:p>
        </p:txBody>
      </p:sp>
      <p:sp>
        <p:nvSpPr>
          <p:cNvPr id="13" name="Rectangle 12"/>
          <p:cNvSpPr/>
          <p:nvPr/>
        </p:nvSpPr>
        <p:spPr>
          <a:xfrm>
            <a:off x="8321040" y="1508760"/>
            <a:ext cx="3246120" cy="160020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1508760"/>
            <a:ext cx="91440" cy="16002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9640" y="1581912"/>
            <a:ext cx="2880360" cy="457200"/>
          </a:xfrm>
          <a:prstGeom prst="rect">
            <a:avLst/>
          </a:prstGeom>
          <a:noFill/>
        </p:spPr>
        <p:txBody>
          <a:bodyPr wrap="square" anchor="t">
            <a:spAutoFit/>
          </a:bodyPr>
          <a:lstStyle/>
          <a:p>
            <a:pPr algn="l"/>
            <a:r>
              <a:rPr sz="2000" b="1">
                <a:solidFill>
                  <a:srgbClr val="14264B"/>
                </a:solidFill>
                <a:latin typeface="Arial"/>
              </a:rPr>
              <a:t>Laufzeit</a:t>
            </a:r>
          </a:p>
        </p:txBody>
      </p:sp>
      <p:sp>
        <p:nvSpPr>
          <p:cNvPr id="16" name="TextBox 15"/>
          <p:cNvSpPr txBox="1"/>
          <p:nvPr/>
        </p:nvSpPr>
        <p:spPr>
          <a:xfrm>
            <a:off x="8549640" y="2093976"/>
            <a:ext cx="2880360" cy="969263"/>
          </a:xfrm>
          <a:prstGeom prst="rect">
            <a:avLst/>
          </a:prstGeom>
          <a:noFill/>
        </p:spPr>
        <p:txBody>
          <a:bodyPr wrap="square" anchor="t">
            <a:spAutoFit/>
          </a:bodyPr>
          <a:lstStyle/>
          <a:p>
            <a:pPr algn="l"/>
            <a:r>
              <a:rPr sz="2200" b="0">
                <a:solidFill>
                  <a:srgbClr val="1A2238"/>
                </a:solidFill>
                <a:latin typeface="Arial"/>
              </a:rPr>
              <a:t>10.09. – 08.10.2026</a:t>
            </a:r>
          </a:p>
        </p:txBody>
      </p:sp>
      <p:sp>
        <p:nvSpPr>
          <p:cNvPr id="17" name="Rectangle 16"/>
          <p:cNvSpPr/>
          <p:nvPr/>
        </p:nvSpPr>
        <p:spPr>
          <a:xfrm>
            <a:off x="640080" y="3337560"/>
            <a:ext cx="5440680" cy="310896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337560"/>
            <a:ext cx="91440" cy="31089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410712"/>
            <a:ext cx="5074920" cy="457200"/>
          </a:xfrm>
          <a:prstGeom prst="rect">
            <a:avLst/>
          </a:prstGeom>
          <a:noFill/>
        </p:spPr>
        <p:txBody>
          <a:bodyPr wrap="square" anchor="t">
            <a:spAutoFit/>
          </a:bodyPr>
          <a:lstStyle/>
          <a:p>
            <a:pPr algn="l"/>
            <a:r>
              <a:rPr sz="2200" b="1">
                <a:solidFill>
                  <a:srgbClr val="14264B"/>
                </a:solidFill>
                <a:latin typeface="Arial"/>
              </a:rPr>
              <a:t>SMART-Ziel 1 · Wissen</a:t>
            </a:r>
          </a:p>
        </p:txBody>
      </p:sp>
      <p:sp>
        <p:nvSpPr>
          <p:cNvPr id="20" name="TextBox 19"/>
          <p:cNvSpPr txBox="1"/>
          <p:nvPr/>
        </p:nvSpPr>
        <p:spPr>
          <a:xfrm>
            <a:off x="868680" y="3970324"/>
            <a:ext cx="5074920" cy="2430475"/>
          </a:xfrm>
          <a:prstGeom prst="rect">
            <a:avLst/>
          </a:prstGeom>
          <a:noFill/>
        </p:spPr>
        <p:txBody>
          <a:bodyPr wrap="square" anchor="t">
            <a:spAutoFit/>
          </a:bodyPr>
          <a:lstStyle/>
          <a:p>
            <a:pPr algn="l"/>
            <a:r>
              <a:rPr sz="2200" b="0">
                <a:solidFill>
                  <a:srgbClr val="1A2238"/>
                </a:solidFill>
                <a:latin typeface="Arial"/>
              </a:rPr>
              <a:t>Bis 08.10. die sechs Prüfungspunkte kennen und zu jedem ein Beispiel erklären können.</a:t>
            </a:r>
          </a:p>
        </p:txBody>
      </p:sp>
      <p:sp>
        <p:nvSpPr>
          <p:cNvPr id="21" name="Rectangle 20"/>
          <p:cNvSpPr/>
          <p:nvPr/>
        </p:nvSpPr>
        <p:spPr>
          <a:xfrm>
            <a:off x="6263640" y="3337560"/>
            <a:ext cx="5303520" cy="310896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63640" y="3337560"/>
            <a:ext cx="91440" cy="310896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410712"/>
            <a:ext cx="4937759" cy="457200"/>
          </a:xfrm>
          <a:prstGeom prst="rect">
            <a:avLst/>
          </a:prstGeom>
          <a:noFill/>
        </p:spPr>
        <p:txBody>
          <a:bodyPr wrap="square" anchor="t">
            <a:spAutoFit/>
          </a:bodyPr>
          <a:lstStyle/>
          <a:p>
            <a:pPr algn="l"/>
            <a:r>
              <a:rPr sz="2200" b="1">
                <a:solidFill>
                  <a:srgbClr val="14264B"/>
                </a:solidFill>
                <a:latin typeface="Arial"/>
              </a:rPr>
              <a:t>SMART-Ziel 2 · Anwendung</a:t>
            </a:r>
          </a:p>
        </p:txBody>
      </p:sp>
      <p:sp>
        <p:nvSpPr>
          <p:cNvPr id="24" name="TextBox 23"/>
          <p:cNvSpPr txBox="1"/>
          <p:nvPr/>
        </p:nvSpPr>
        <p:spPr>
          <a:xfrm>
            <a:off x="6492240" y="3970324"/>
            <a:ext cx="4937759" cy="2430475"/>
          </a:xfrm>
          <a:prstGeom prst="rect">
            <a:avLst/>
          </a:prstGeom>
          <a:noFill/>
        </p:spPr>
        <p:txBody>
          <a:bodyPr wrap="square" anchor="t">
            <a:spAutoFit/>
          </a:bodyPr>
          <a:lstStyle/>
          <a:p>
            <a:pPr algn="l"/>
            <a:r>
              <a:rPr sz="2200" b="0">
                <a:solidFill>
                  <a:srgbClr val="1A2238"/>
                </a:solidFill>
                <a:latin typeface="Arial"/>
              </a:rPr>
              <a:t>Bis 08.10. finden Mitschüler im Vertrags-Detektiv mindestens 4 von 5 Fehlern und begründen sie mit der passenden Regel.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DURCHFÜHRUNG</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Projektstrukturplan</a:t>
            </a:r>
          </a:p>
        </p:txBody>
      </p:sp>
      <p:pic>
        <p:nvPicPr>
          <p:cNvPr id="5" name="Picture 4" descr="v2_psp_folie.png"/>
          <p:cNvPicPr>
            <a:picLocks noChangeAspect="1"/>
          </p:cNvPicPr>
          <p:nvPr/>
        </p:nvPicPr>
        <p:blipFill>
          <a:blip r:embed="rId3"/>
          <a:stretch>
            <a:fillRect/>
          </a:stretch>
        </p:blipFill>
        <p:spPr>
          <a:xfrm>
            <a:off x="685800" y="1325880"/>
            <a:ext cx="11064240" cy="526868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DURCHFÜHRUNG</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Projektablaufplan (Soll)</a:t>
            </a:r>
          </a:p>
        </p:txBody>
      </p:sp>
      <p:pic>
        <p:nvPicPr>
          <p:cNvPr id="5" name="Picture 4" descr="v2_gantt_folie.png"/>
          <p:cNvPicPr>
            <a:picLocks noChangeAspect="1"/>
          </p:cNvPicPr>
          <p:nvPr/>
        </p:nvPicPr>
        <p:blipFill>
          <a:blip r:embed="rId3"/>
          <a:stretch>
            <a:fillRect/>
          </a:stretch>
        </p:blipFill>
        <p:spPr>
          <a:xfrm>
            <a:off x="685800" y="1325880"/>
            <a:ext cx="11064240" cy="527746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VORGEHEN, AUFGABEN, RAHMEN</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Durchführung</a:t>
            </a:r>
          </a:p>
        </p:txBody>
      </p:sp>
      <p:sp>
        <p:nvSpPr>
          <p:cNvPr id="5" name="Rectangle 4"/>
          <p:cNvSpPr/>
          <p:nvPr/>
        </p:nvSpPr>
        <p:spPr>
          <a:xfrm>
            <a:off x="640080" y="1508760"/>
            <a:ext cx="5440680" cy="224028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91440" cy="224028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81912"/>
            <a:ext cx="5074920" cy="457200"/>
          </a:xfrm>
          <a:prstGeom prst="rect">
            <a:avLst/>
          </a:prstGeom>
          <a:noFill/>
        </p:spPr>
        <p:txBody>
          <a:bodyPr wrap="square" anchor="t">
            <a:spAutoFit/>
          </a:bodyPr>
          <a:lstStyle/>
          <a:p>
            <a:pPr algn="l"/>
            <a:r>
              <a:rPr sz="2200" b="1">
                <a:solidFill>
                  <a:srgbClr val="14264B"/>
                </a:solidFill>
                <a:latin typeface="Arial"/>
              </a:rPr>
              <a:t>Vorgehen</a:t>
            </a:r>
          </a:p>
        </p:txBody>
      </p:sp>
      <p:sp>
        <p:nvSpPr>
          <p:cNvPr id="8" name="TextBox 7"/>
          <p:cNvSpPr txBox="1"/>
          <p:nvPr/>
        </p:nvSpPr>
        <p:spPr>
          <a:xfrm>
            <a:off x="868680" y="2141524"/>
            <a:ext cx="5074920" cy="1561795"/>
          </a:xfrm>
          <a:prstGeom prst="rect">
            <a:avLst/>
          </a:prstGeom>
          <a:noFill/>
        </p:spPr>
        <p:txBody>
          <a:bodyPr wrap="square" anchor="t">
            <a:spAutoFit/>
          </a:bodyPr>
          <a:lstStyle/>
          <a:p>
            <a:pPr algn="l"/>
            <a:r>
              <a:rPr sz="2000" b="0">
                <a:solidFill>
                  <a:srgbClr val="1A2238"/>
                </a:solidFill>
                <a:latin typeface="Arial"/>
              </a:rPr>
              <a:t>Vorbereitung im September</a:t>
            </a:r>
          </a:p>
          <a:p>
            <a:pPr algn="l">
              <a:spcBef>
                <a:spcPts val="900"/>
              </a:spcBef>
            </a:pPr>
            <a:r>
              <a:rPr sz="2000" b="0">
                <a:solidFill>
                  <a:srgbClr val="1A2238"/>
                </a:solidFill>
                <a:latin typeface="Arial"/>
              </a:rPr>
              <a:t>Umsetzung im Oktober</a:t>
            </a:r>
          </a:p>
          <a:p>
            <a:pPr algn="l">
              <a:spcBef>
                <a:spcPts val="900"/>
              </a:spcBef>
            </a:pPr>
            <a:r>
              <a:rPr sz="2000" b="0">
                <a:solidFill>
                  <a:srgbClr val="1A2238"/>
                </a:solidFill>
                <a:latin typeface="Arial"/>
              </a:rPr>
              <a:t>Präsentation am 08.10.</a:t>
            </a:r>
          </a:p>
        </p:txBody>
      </p:sp>
      <p:sp>
        <p:nvSpPr>
          <p:cNvPr id="9" name="Rectangle 8"/>
          <p:cNvSpPr/>
          <p:nvPr/>
        </p:nvSpPr>
        <p:spPr>
          <a:xfrm>
            <a:off x="6263640" y="1508760"/>
            <a:ext cx="5303520" cy="224028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508760"/>
            <a:ext cx="91440" cy="224028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581912"/>
            <a:ext cx="4937759" cy="457200"/>
          </a:xfrm>
          <a:prstGeom prst="rect">
            <a:avLst/>
          </a:prstGeom>
          <a:noFill/>
        </p:spPr>
        <p:txBody>
          <a:bodyPr wrap="square" anchor="t">
            <a:spAutoFit/>
          </a:bodyPr>
          <a:lstStyle/>
          <a:p>
            <a:pPr algn="l"/>
            <a:r>
              <a:rPr sz="2200" b="1">
                <a:solidFill>
                  <a:srgbClr val="14264B"/>
                </a:solidFill>
                <a:latin typeface="Arial"/>
              </a:rPr>
              <a:t>Aufgabenverteilung</a:t>
            </a:r>
          </a:p>
        </p:txBody>
      </p:sp>
      <p:sp>
        <p:nvSpPr>
          <p:cNvPr id="12" name="TextBox 11"/>
          <p:cNvSpPr txBox="1"/>
          <p:nvPr/>
        </p:nvSpPr>
        <p:spPr>
          <a:xfrm>
            <a:off x="6492240" y="2141524"/>
            <a:ext cx="4937759" cy="1561795"/>
          </a:xfrm>
          <a:prstGeom prst="rect">
            <a:avLst/>
          </a:prstGeom>
          <a:noFill/>
        </p:spPr>
        <p:txBody>
          <a:bodyPr wrap="square" anchor="t">
            <a:spAutoFit/>
          </a:bodyPr>
          <a:lstStyle/>
          <a:p>
            <a:pPr algn="l"/>
            <a:r>
              <a:rPr sz="1700" b="1">
                <a:solidFill>
                  <a:srgbClr val="14264B"/>
                </a:solidFill>
                <a:latin typeface="Arial"/>
              </a:rPr>
              <a:t>Yasin: </a:t>
            </a:r>
            <a:r>
              <a:rPr sz="1700" b="0">
                <a:solidFill>
                  <a:srgbClr val="1A2238"/>
                </a:solidFill>
                <a:latin typeface="Arial"/>
              </a:rPr>
              <a:t>Recherche, Texte</a:t>
            </a:r>
          </a:p>
          <a:p>
            <a:pPr algn="l">
              <a:spcBef>
                <a:spcPts val="765"/>
              </a:spcBef>
            </a:pPr>
            <a:r>
              <a:rPr sz="1700" b="1">
                <a:solidFill>
                  <a:srgbClr val="14264B"/>
                </a:solidFill>
                <a:latin typeface="Arial"/>
              </a:rPr>
              <a:t>Mido: </a:t>
            </a:r>
            <a:r>
              <a:rPr sz="1700" b="0">
                <a:solidFill>
                  <a:srgbClr val="1A2238"/>
                </a:solidFill>
                <a:latin typeface="Arial"/>
              </a:rPr>
              <a:t>Vertragssichtung, Praxisbeispiele, Grafiken, Korrekturlesen</a:t>
            </a:r>
          </a:p>
          <a:p>
            <a:pPr algn="l">
              <a:spcBef>
                <a:spcPts val="765"/>
              </a:spcBef>
            </a:pPr>
            <a:r>
              <a:rPr sz="1700" b="1">
                <a:solidFill>
                  <a:srgbClr val="14264B"/>
                </a:solidFill>
                <a:latin typeface="Arial"/>
              </a:rPr>
              <a:t>Gemeinsam: </a:t>
            </a:r>
            <a:r>
              <a:rPr sz="1700" b="0">
                <a:solidFill>
                  <a:srgbClr val="1A2238"/>
                </a:solidFill>
                <a:latin typeface="Arial"/>
              </a:rPr>
              <a:t>Gliederung, Layout, Präsentation</a:t>
            </a:r>
          </a:p>
        </p:txBody>
      </p:sp>
      <p:sp>
        <p:nvSpPr>
          <p:cNvPr id="13" name="Rectangle 12"/>
          <p:cNvSpPr/>
          <p:nvPr/>
        </p:nvSpPr>
        <p:spPr>
          <a:xfrm>
            <a:off x="640080" y="3931920"/>
            <a:ext cx="5440680" cy="251460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3931920"/>
            <a:ext cx="91440" cy="25146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005072"/>
            <a:ext cx="5074920" cy="457200"/>
          </a:xfrm>
          <a:prstGeom prst="rect">
            <a:avLst/>
          </a:prstGeom>
          <a:noFill/>
        </p:spPr>
        <p:txBody>
          <a:bodyPr wrap="square" anchor="t">
            <a:spAutoFit/>
          </a:bodyPr>
          <a:lstStyle/>
          <a:p>
            <a:pPr algn="l"/>
            <a:r>
              <a:rPr sz="2200" b="1">
                <a:solidFill>
                  <a:srgbClr val="14264B"/>
                </a:solidFill>
                <a:latin typeface="Arial"/>
              </a:rPr>
              <a:t>Probleme und Anpassungen</a:t>
            </a:r>
          </a:p>
        </p:txBody>
      </p:sp>
      <p:sp>
        <p:nvSpPr>
          <p:cNvPr id="16" name="TextBox 15"/>
          <p:cNvSpPr txBox="1"/>
          <p:nvPr/>
        </p:nvSpPr>
        <p:spPr>
          <a:xfrm>
            <a:off x="868680" y="4564684"/>
            <a:ext cx="5074920" cy="1836115"/>
          </a:xfrm>
          <a:prstGeom prst="rect">
            <a:avLst/>
          </a:prstGeom>
          <a:noFill/>
        </p:spPr>
        <p:txBody>
          <a:bodyPr wrap="square" anchor="t">
            <a:spAutoFit/>
          </a:bodyPr>
          <a:lstStyle/>
          <a:p>
            <a:pPr algn="l"/>
            <a:r>
              <a:rPr sz="2400" b="0">
                <a:solidFill>
                  <a:srgbClr val="1A2238"/>
                </a:solidFill>
                <a:latin typeface="Arial"/>
              </a:rPr>
              <a:t>[eintragen]</a:t>
            </a:r>
          </a:p>
        </p:txBody>
      </p:sp>
      <p:sp>
        <p:nvSpPr>
          <p:cNvPr id="17" name="Rectangle 16"/>
          <p:cNvSpPr/>
          <p:nvPr/>
        </p:nvSpPr>
        <p:spPr>
          <a:xfrm>
            <a:off x="6263640" y="3931920"/>
            <a:ext cx="5303520" cy="251460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3931920"/>
            <a:ext cx="91440" cy="25146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005072"/>
            <a:ext cx="4937759" cy="457200"/>
          </a:xfrm>
          <a:prstGeom prst="rect">
            <a:avLst/>
          </a:prstGeom>
          <a:noFill/>
        </p:spPr>
        <p:txBody>
          <a:bodyPr wrap="square" anchor="t">
            <a:spAutoFit/>
          </a:bodyPr>
          <a:lstStyle/>
          <a:p>
            <a:pPr algn="l"/>
            <a:r>
              <a:rPr sz="1900" b="1">
                <a:solidFill>
                  <a:srgbClr val="14264B"/>
                </a:solidFill>
                <a:latin typeface="Arial"/>
              </a:rPr>
              <a:t>Rahmenbedingungen und Absprachen</a:t>
            </a:r>
          </a:p>
        </p:txBody>
      </p:sp>
      <p:sp>
        <p:nvSpPr>
          <p:cNvPr id="20" name="TextBox 19"/>
          <p:cNvSpPr txBox="1"/>
          <p:nvPr/>
        </p:nvSpPr>
        <p:spPr>
          <a:xfrm>
            <a:off x="6492240" y="4493361"/>
            <a:ext cx="4937759" cy="1907438"/>
          </a:xfrm>
          <a:prstGeom prst="rect">
            <a:avLst/>
          </a:prstGeom>
          <a:noFill/>
        </p:spPr>
        <p:txBody>
          <a:bodyPr wrap="square" anchor="t">
            <a:spAutoFit/>
          </a:bodyPr>
          <a:lstStyle/>
          <a:p>
            <a:pPr algn="l"/>
            <a:r>
              <a:rPr sz="1700" b="1">
                <a:solidFill>
                  <a:srgbClr val="14264B"/>
                </a:solidFill>
                <a:latin typeface="Arial"/>
              </a:rPr>
              <a:t>Rahmen: </a:t>
            </a:r>
            <a:r>
              <a:rPr sz="1700" b="0">
                <a:solidFill>
                  <a:srgbClr val="1A2238"/>
                </a:solidFill>
                <a:latin typeface="Arial"/>
              </a:rPr>
              <a:t>2 Personen, feste Abgabe 08.10., keine nennenswerten Kosten, Vertragsauszüge nur anonymisiert</a:t>
            </a:r>
          </a:p>
          <a:p>
            <a:pPr algn="l">
              <a:spcBef>
                <a:spcPts val="765"/>
              </a:spcBef>
            </a:pPr>
            <a:r>
              <a:rPr sz="1700" b="1">
                <a:solidFill>
                  <a:srgbClr val="14264B"/>
                </a:solidFill>
                <a:latin typeface="Arial"/>
              </a:rPr>
              <a:t>Absprachen: </a:t>
            </a:r>
            <a:r>
              <a:rPr sz="1700" b="0">
                <a:solidFill>
                  <a:srgbClr val="1A2238"/>
                </a:solidFill>
                <a:latin typeface="Arial"/>
              </a:rPr>
              <a:t>[eintragen]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13 SEITEN, FÜNF BAUSTEINE</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Das Booklet im Überblick</a:t>
            </a:r>
          </a:p>
        </p:txBody>
      </p:sp>
      <p:pic>
        <p:nvPicPr>
          <p:cNvPr id="5" name="Picture 4" descr="v2_b1.png"/>
          <p:cNvPicPr>
            <a:picLocks noChangeAspect="1"/>
          </p:cNvPicPr>
          <p:nvPr/>
        </p:nvPicPr>
        <p:blipFill>
          <a:blip r:embed="rId3"/>
          <a:stretch>
            <a:fillRect/>
          </a:stretch>
        </p:blipFill>
        <p:spPr>
          <a:xfrm>
            <a:off x="8686800" y="1371600"/>
            <a:ext cx="3422925" cy="4846320"/>
          </a:xfrm>
          <a:prstGeom prst="rect">
            <a:avLst/>
          </a:prstGeom>
        </p:spPr>
      </p:pic>
      <p:sp>
        <p:nvSpPr>
          <p:cNvPr id="6" name="Rectangle 5"/>
          <p:cNvSpPr/>
          <p:nvPr/>
        </p:nvSpPr>
        <p:spPr>
          <a:xfrm>
            <a:off x="640080" y="1463040"/>
            <a:ext cx="731520" cy="77724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731520" cy="777240"/>
          </a:xfrm>
          <a:prstGeom prst="rect">
            <a:avLst/>
          </a:prstGeom>
          <a:noFill/>
        </p:spPr>
        <p:txBody>
          <a:bodyPr wrap="square" anchor="ctr">
            <a:spAutoFit/>
          </a:bodyPr>
          <a:lstStyle/>
          <a:p>
            <a:pPr algn="ctr"/>
            <a:r>
              <a:rPr sz="2800" b="1">
                <a:solidFill>
                  <a:srgbClr val="F5A800"/>
                </a:solidFill>
                <a:latin typeface="Arial"/>
              </a:rPr>
              <a:t>1</a:t>
            </a:r>
          </a:p>
        </p:txBody>
      </p:sp>
      <p:sp>
        <p:nvSpPr>
          <p:cNvPr id="8" name="Rectangle 7"/>
          <p:cNvSpPr/>
          <p:nvPr/>
        </p:nvSpPr>
        <p:spPr>
          <a:xfrm>
            <a:off x="1371600" y="1463040"/>
            <a:ext cx="694944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1463040"/>
            <a:ext cx="6766560" cy="777240"/>
          </a:xfrm>
          <a:prstGeom prst="rect">
            <a:avLst/>
          </a:prstGeom>
          <a:noFill/>
        </p:spPr>
        <p:txBody>
          <a:bodyPr wrap="square" anchor="ctr">
            <a:spAutoFit/>
          </a:bodyPr>
          <a:lstStyle/>
          <a:p>
            <a:pPr algn="l"/>
            <a:r>
              <a:rPr sz="1900" b="1">
                <a:solidFill>
                  <a:srgbClr val="14264B"/>
                </a:solidFill>
                <a:latin typeface="Arial"/>
              </a:rPr>
              <a:t>Kapitel: </a:t>
            </a:r>
            <a:r>
              <a:rPr sz="1900" b="0">
                <a:solidFill>
                  <a:srgbClr val="1A2238"/>
                </a:solidFill>
                <a:latin typeface="Arial"/>
              </a:rPr>
              <a:t>kurze Kapitel entlang der Prüfungsthemen</a:t>
            </a:r>
          </a:p>
        </p:txBody>
      </p:sp>
      <p:sp>
        <p:nvSpPr>
          <p:cNvPr id="10" name="Rectangle 9"/>
          <p:cNvSpPr/>
          <p:nvPr/>
        </p:nvSpPr>
        <p:spPr>
          <a:xfrm>
            <a:off x="640080" y="2423160"/>
            <a:ext cx="731520" cy="77724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423160"/>
            <a:ext cx="731520" cy="777240"/>
          </a:xfrm>
          <a:prstGeom prst="rect">
            <a:avLst/>
          </a:prstGeom>
          <a:noFill/>
        </p:spPr>
        <p:txBody>
          <a:bodyPr wrap="square" anchor="ctr">
            <a:spAutoFit/>
          </a:bodyPr>
          <a:lstStyle/>
          <a:p>
            <a:pPr algn="ctr"/>
            <a:r>
              <a:rPr sz="2800" b="1">
                <a:solidFill>
                  <a:srgbClr val="F5A800"/>
                </a:solidFill>
                <a:latin typeface="Arial"/>
              </a:rPr>
              <a:t>2</a:t>
            </a:r>
          </a:p>
        </p:txBody>
      </p:sp>
      <p:sp>
        <p:nvSpPr>
          <p:cNvPr id="12" name="Rectangle 11"/>
          <p:cNvSpPr/>
          <p:nvPr/>
        </p:nvSpPr>
        <p:spPr>
          <a:xfrm>
            <a:off x="1371600" y="2423160"/>
            <a:ext cx="694944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8760" y="2423160"/>
            <a:ext cx="6766560" cy="777240"/>
          </a:xfrm>
          <a:prstGeom prst="rect">
            <a:avLst/>
          </a:prstGeom>
          <a:noFill/>
        </p:spPr>
        <p:txBody>
          <a:bodyPr wrap="square" anchor="ctr">
            <a:spAutoFit/>
          </a:bodyPr>
          <a:lstStyle/>
          <a:p>
            <a:pPr algn="l"/>
            <a:r>
              <a:rPr sz="1900" b="1">
                <a:solidFill>
                  <a:srgbClr val="14264B"/>
                </a:solidFill>
                <a:latin typeface="Arial"/>
              </a:rPr>
              <a:t>Merkblatt: </a:t>
            </a:r>
            <a:r>
              <a:rPr sz="1900" b="0">
                <a:solidFill>
                  <a:srgbClr val="1A2238"/>
                </a:solidFill>
                <a:latin typeface="Arial"/>
              </a:rPr>
              <a:t>das Wichtigste auf einer Seite</a:t>
            </a:r>
          </a:p>
        </p:txBody>
      </p:sp>
      <p:sp>
        <p:nvSpPr>
          <p:cNvPr id="14" name="Rectangle 13"/>
          <p:cNvSpPr/>
          <p:nvPr/>
        </p:nvSpPr>
        <p:spPr>
          <a:xfrm>
            <a:off x="640080" y="3383280"/>
            <a:ext cx="731520" cy="77724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383280"/>
            <a:ext cx="731520" cy="777240"/>
          </a:xfrm>
          <a:prstGeom prst="rect">
            <a:avLst/>
          </a:prstGeom>
          <a:noFill/>
        </p:spPr>
        <p:txBody>
          <a:bodyPr wrap="square" anchor="ctr">
            <a:spAutoFit/>
          </a:bodyPr>
          <a:lstStyle/>
          <a:p>
            <a:pPr algn="ctr"/>
            <a:r>
              <a:rPr sz="2800" b="1">
                <a:solidFill>
                  <a:srgbClr val="F5A800"/>
                </a:solidFill>
                <a:latin typeface="Arial"/>
              </a:rPr>
              <a:t>3</a:t>
            </a:r>
          </a:p>
        </p:txBody>
      </p:sp>
      <p:sp>
        <p:nvSpPr>
          <p:cNvPr id="16" name="Rectangle 15"/>
          <p:cNvSpPr/>
          <p:nvPr/>
        </p:nvSpPr>
        <p:spPr>
          <a:xfrm>
            <a:off x="1371600" y="3383280"/>
            <a:ext cx="694944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08760" y="3383280"/>
            <a:ext cx="6766560" cy="777240"/>
          </a:xfrm>
          <a:prstGeom prst="rect">
            <a:avLst/>
          </a:prstGeom>
          <a:noFill/>
        </p:spPr>
        <p:txBody>
          <a:bodyPr wrap="square" anchor="ctr">
            <a:spAutoFit/>
          </a:bodyPr>
          <a:lstStyle/>
          <a:p>
            <a:pPr algn="l"/>
            <a:r>
              <a:rPr sz="1900" b="1">
                <a:solidFill>
                  <a:srgbClr val="14264B"/>
                </a:solidFill>
                <a:latin typeface="Arial"/>
              </a:rPr>
              <a:t>Aufgaben: </a:t>
            </a:r>
            <a:r>
              <a:rPr sz="1900" b="0">
                <a:solidFill>
                  <a:srgbClr val="1A2238"/>
                </a:solidFill>
                <a:latin typeface="Arial"/>
              </a:rPr>
              <a:t>Vertrags-Detektiv, IHK-Fälle, Wahr oder falsch</a:t>
            </a:r>
          </a:p>
        </p:txBody>
      </p:sp>
      <p:sp>
        <p:nvSpPr>
          <p:cNvPr id="18" name="Rectangle 17"/>
          <p:cNvSpPr/>
          <p:nvPr/>
        </p:nvSpPr>
        <p:spPr>
          <a:xfrm>
            <a:off x="640080" y="4343400"/>
            <a:ext cx="731520" cy="77724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343400"/>
            <a:ext cx="731520" cy="777240"/>
          </a:xfrm>
          <a:prstGeom prst="rect">
            <a:avLst/>
          </a:prstGeom>
          <a:noFill/>
        </p:spPr>
        <p:txBody>
          <a:bodyPr wrap="square" anchor="ctr">
            <a:spAutoFit/>
          </a:bodyPr>
          <a:lstStyle/>
          <a:p>
            <a:pPr algn="ctr"/>
            <a:r>
              <a:rPr sz="2800" b="1">
                <a:solidFill>
                  <a:srgbClr val="F5A800"/>
                </a:solidFill>
                <a:latin typeface="Arial"/>
              </a:rPr>
              <a:t>4</a:t>
            </a:r>
          </a:p>
        </p:txBody>
      </p:sp>
      <p:sp>
        <p:nvSpPr>
          <p:cNvPr id="20" name="Rectangle 19"/>
          <p:cNvSpPr/>
          <p:nvPr/>
        </p:nvSpPr>
        <p:spPr>
          <a:xfrm>
            <a:off x="1371600" y="4343400"/>
            <a:ext cx="694944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08760" y="4343400"/>
            <a:ext cx="6766560" cy="777240"/>
          </a:xfrm>
          <a:prstGeom prst="rect">
            <a:avLst/>
          </a:prstGeom>
          <a:noFill/>
        </p:spPr>
        <p:txBody>
          <a:bodyPr wrap="square" anchor="ctr">
            <a:spAutoFit/>
          </a:bodyPr>
          <a:lstStyle/>
          <a:p>
            <a:pPr algn="l"/>
            <a:r>
              <a:rPr sz="1900" b="1">
                <a:solidFill>
                  <a:srgbClr val="14264B"/>
                </a:solidFill>
                <a:latin typeface="Arial"/>
              </a:rPr>
              <a:t>Erwartungshorizont: </a:t>
            </a:r>
            <a:r>
              <a:rPr sz="1900" b="0">
                <a:solidFill>
                  <a:srgbClr val="1A2238"/>
                </a:solidFill>
                <a:latin typeface="Arial"/>
              </a:rPr>
              <a:t>Lösung, Paragraf, Begründung, Punkte</a:t>
            </a:r>
          </a:p>
        </p:txBody>
      </p:sp>
      <p:sp>
        <p:nvSpPr>
          <p:cNvPr id="22" name="Rectangle 21"/>
          <p:cNvSpPr/>
          <p:nvPr/>
        </p:nvSpPr>
        <p:spPr>
          <a:xfrm>
            <a:off x="640080" y="5303520"/>
            <a:ext cx="731520" cy="77724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303520"/>
            <a:ext cx="731520" cy="777240"/>
          </a:xfrm>
          <a:prstGeom prst="rect">
            <a:avLst/>
          </a:prstGeom>
          <a:noFill/>
        </p:spPr>
        <p:txBody>
          <a:bodyPr wrap="square" anchor="ctr">
            <a:spAutoFit/>
          </a:bodyPr>
          <a:lstStyle/>
          <a:p>
            <a:pPr algn="ctr"/>
            <a:r>
              <a:rPr sz="2800" b="1">
                <a:solidFill>
                  <a:srgbClr val="F5A800"/>
                </a:solidFill>
                <a:latin typeface="Arial"/>
              </a:rPr>
              <a:t>5</a:t>
            </a:r>
          </a:p>
        </p:txBody>
      </p:sp>
      <p:sp>
        <p:nvSpPr>
          <p:cNvPr id="24" name="Rectangle 23"/>
          <p:cNvSpPr/>
          <p:nvPr/>
        </p:nvSpPr>
        <p:spPr>
          <a:xfrm>
            <a:off x="1371600" y="5303520"/>
            <a:ext cx="694944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08760" y="5303520"/>
            <a:ext cx="6766560" cy="777240"/>
          </a:xfrm>
          <a:prstGeom prst="rect">
            <a:avLst/>
          </a:prstGeom>
          <a:noFill/>
        </p:spPr>
        <p:txBody>
          <a:bodyPr wrap="square" anchor="ctr">
            <a:spAutoFit/>
          </a:bodyPr>
          <a:lstStyle/>
          <a:p>
            <a:pPr algn="l"/>
            <a:r>
              <a:rPr sz="1900" b="1">
                <a:solidFill>
                  <a:srgbClr val="14264B"/>
                </a:solidFill>
                <a:latin typeface="Arial"/>
              </a:rPr>
              <a:t>Quiz: </a:t>
            </a:r>
            <a:r>
              <a:rPr sz="1900" b="0">
                <a:solidFill>
                  <a:srgbClr val="1A2238"/>
                </a:solidFill>
                <a:latin typeface="Arial"/>
              </a:rPr>
              <a:t>Mini-Quiz zum Selbsttesten</a:t>
            </a:r>
          </a:p>
        </p:txBody>
      </p:sp>
      <p:sp>
        <p:nvSpPr>
          <p:cNvPr id="26" name="TextBox 25"/>
          <p:cNvSpPr txBox="1"/>
          <p:nvPr/>
        </p:nvSpPr>
        <p:spPr>
          <a:xfrm>
            <a:off x="640080" y="6309360"/>
            <a:ext cx="7680960" cy="365760"/>
          </a:xfrm>
          <a:prstGeom prst="rect">
            <a:avLst/>
          </a:prstGeom>
          <a:noFill/>
        </p:spPr>
        <p:txBody>
          <a:bodyPr wrap="square" anchor="t">
            <a:spAutoFit/>
          </a:bodyPr>
          <a:lstStyle/>
          <a:p>
            <a:pPr algn="l"/>
            <a:r>
              <a:rPr sz="1600" b="0">
                <a:solidFill>
                  <a:srgbClr val="5B6680"/>
                </a:solidFill>
                <a:latin typeface="Arial"/>
              </a:rPr>
              <a:t>Dazu: Glossar und Quellenverzeichnis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AKTIVITÄT 1</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Rote/Grüne Karte (1 von 2)</a:t>
            </a:r>
          </a:p>
        </p:txBody>
      </p:sp>
      <p:sp>
        <p:nvSpPr>
          <p:cNvPr id="5" name="Rectangle 4"/>
          <p:cNvSpPr/>
          <p:nvPr/>
        </p:nvSpPr>
        <p:spPr>
          <a:xfrm>
            <a:off x="640080" y="1554480"/>
            <a:ext cx="3383280" cy="484632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3383280" cy="914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3108960" cy="457200"/>
          </a:xfrm>
          <a:prstGeom prst="rect">
            <a:avLst/>
          </a:prstGeom>
          <a:noFill/>
        </p:spPr>
        <p:txBody>
          <a:bodyPr wrap="square" anchor="t">
            <a:spAutoFit/>
          </a:bodyPr>
          <a:lstStyle/>
          <a:p>
            <a:pPr algn="l"/>
            <a:r>
              <a:rPr sz="2400" b="1">
                <a:solidFill>
                  <a:srgbClr val="14264B"/>
                </a:solidFill>
                <a:latin typeface="Arial"/>
              </a:rPr>
              <a:t>Regeln</a:t>
            </a:r>
          </a:p>
        </p:txBody>
      </p:sp>
      <p:sp>
        <p:nvSpPr>
          <p:cNvPr id="8" name="TextBox 7"/>
          <p:cNvSpPr txBox="1"/>
          <p:nvPr/>
        </p:nvSpPr>
        <p:spPr>
          <a:xfrm>
            <a:off x="777240" y="2377440"/>
            <a:ext cx="3108960" cy="3840480"/>
          </a:xfrm>
          <a:prstGeom prst="rect">
            <a:avLst/>
          </a:prstGeom>
          <a:noFill/>
        </p:spPr>
        <p:txBody>
          <a:bodyPr wrap="square" anchor="t">
            <a:spAutoFit/>
          </a:bodyPr>
          <a:lstStyle/>
          <a:p>
            <a:pPr algn="l"/>
            <a:r>
              <a:rPr sz="2200" b="1">
                <a:solidFill>
                  <a:srgbClr val="2E9E4F"/>
                </a:solidFill>
                <a:latin typeface="Arial"/>
              </a:rPr>
              <a:t>Grüne Karte</a:t>
            </a:r>
            <a:r>
              <a:rPr sz="2200" b="0">
                <a:solidFill>
                  <a:srgbClr val="1A2238"/>
                </a:solidFill>
                <a:latin typeface="Arial"/>
              </a:rPr>
              <a:t> = stimmt</a:t>
            </a:r>
          </a:p>
          <a:p>
            <a:pPr algn="l">
              <a:spcBef>
                <a:spcPts val="990"/>
              </a:spcBef>
            </a:pPr>
            <a:r>
              <a:rPr sz="2200" b="1">
                <a:solidFill>
                  <a:srgbClr val="D62839"/>
                </a:solidFill>
                <a:latin typeface="Arial"/>
              </a:rPr>
              <a:t>Rote Karte</a:t>
            </a:r>
            <a:r>
              <a:rPr sz="2200" b="0">
                <a:solidFill>
                  <a:srgbClr val="1A2238"/>
                </a:solidFill>
                <a:latin typeface="Arial"/>
              </a:rPr>
              <a:t> = stimmt nicht</a:t>
            </a:r>
          </a:p>
          <a:p>
            <a:pPr algn="l">
              <a:spcBef>
                <a:spcPts val="990"/>
              </a:spcBef>
            </a:pPr>
            <a:r>
              <a:rPr sz="2200" b="0">
                <a:solidFill>
                  <a:srgbClr val="1A2238"/>
                </a:solidFill>
                <a:latin typeface="Arial"/>
              </a:rPr>
              <a:t>Auf „drei“ zeigen alle gleichzeitig</a:t>
            </a:r>
          </a:p>
        </p:txBody>
      </p:sp>
      <p:sp>
        <p:nvSpPr>
          <p:cNvPr id="9" name="Rectangle 8"/>
          <p:cNvSpPr/>
          <p:nvPr/>
        </p:nvSpPr>
        <p:spPr>
          <a:xfrm>
            <a:off x="4297680" y="1554480"/>
            <a:ext cx="685800" cy="82296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0" y="1554480"/>
            <a:ext cx="685800" cy="822960"/>
          </a:xfrm>
          <a:prstGeom prst="rect">
            <a:avLst/>
          </a:prstGeom>
          <a:noFill/>
        </p:spPr>
        <p:txBody>
          <a:bodyPr wrap="square" anchor="ctr">
            <a:spAutoFit/>
          </a:bodyPr>
          <a:lstStyle/>
          <a:p>
            <a:pPr algn="ctr"/>
            <a:r>
              <a:rPr sz="2800" b="1">
                <a:solidFill>
                  <a:srgbClr val="F5A800"/>
                </a:solidFill>
                <a:latin typeface="Arial"/>
              </a:rPr>
              <a:t>1</a:t>
            </a:r>
          </a:p>
        </p:txBody>
      </p:sp>
      <p:sp>
        <p:nvSpPr>
          <p:cNvPr id="11" name="Rectangle 10"/>
          <p:cNvSpPr/>
          <p:nvPr/>
        </p:nvSpPr>
        <p:spPr>
          <a:xfrm>
            <a:off x="4983480" y="1554480"/>
            <a:ext cx="6720840" cy="82296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1554480"/>
            <a:ext cx="6492240" cy="822960"/>
          </a:xfrm>
          <a:prstGeom prst="rect">
            <a:avLst/>
          </a:prstGeom>
          <a:noFill/>
        </p:spPr>
        <p:txBody>
          <a:bodyPr wrap="square" anchor="ctr">
            <a:spAutoFit/>
          </a:bodyPr>
          <a:lstStyle/>
          <a:p>
            <a:pPr algn="l"/>
            <a:r>
              <a:rPr sz="2000" b="1">
                <a:solidFill>
                  <a:srgbClr val="14264B"/>
                </a:solidFill>
                <a:latin typeface="Arial"/>
              </a:rPr>
              <a:t>Die Probezeit darf höchstens vier Monate dauern.</a:t>
            </a:r>
          </a:p>
        </p:txBody>
      </p:sp>
      <p:sp>
        <p:nvSpPr>
          <p:cNvPr id="13" name="Rectangle 12"/>
          <p:cNvSpPr/>
          <p:nvPr/>
        </p:nvSpPr>
        <p:spPr>
          <a:xfrm>
            <a:off x="4297680" y="2532888"/>
            <a:ext cx="685800" cy="82296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2532888"/>
            <a:ext cx="685800" cy="822960"/>
          </a:xfrm>
          <a:prstGeom prst="rect">
            <a:avLst/>
          </a:prstGeom>
          <a:noFill/>
        </p:spPr>
        <p:txBody>
          <a:bodyPr wrap="square" anchor="ctr">
            <a:spAutoFit/>
          </a:bodyPr>
          <a:lstStyle/>
          <a:p>
            <a:pPr algn="ctr"/>
            <a:r>
              <a:rPr sz="2800" b="1">
                <a:solidFill>
                  <a:srgbClr val="F5A800"/>
                </a:solidFill>
                <a:latin typeface="Arial"/>
              </a:rPr>
              <a:t>2</a:t>
            </a:r>
          </a:p>
        </p:txBody>
      </p:sp>
      <p:sp>
        <p:nvSpPr>
          <p:cNvPr id="15" name="Rectangle 14"/>
          <p:cNvSpPr/>
          <p:nvPr/>
        </p:nvSpPr>
        <p:spPr>
          <a:xfrm>
            <a:off x="4983480" y="2532888"/>
            <a:ext cx="6720840" cy="82296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2532888"/>
            <a:ext cx="6492240" cy="822960"/>
          </a:xfrm>
          <a:prstGeom prst="rect">
            <a:avLst/>
          </a:prstGeom>
          <a:noFill/>
        </p:spPr>
        <p:txBody>
          <a:bodyPr wrap="square" anchor="ctr">
            <a:spAutoFit/>
          </a:bodyPr>
          <a:lstStyle/>
          <a:p>
            <a:pPr algn="l"/>
            <a:r>
              <a:rPr sz="2000" b="1">
                <a:solidFill>
                  <a:srgbClr val="14264B"/>
                </a:solidFill>
                <a:latin typeface="Arial"/>
              </a:rPr>
              <a:t>Die Probezeit darf sechs Monate dauern, wenn der Azubi zustimmt.</a:t>
            </a:r>
          </a:p>
        </p:txBody>
      </p:sp>
      <p:sp>
        <p:nvSpPr>
          <p:cNvPr id="17" name="Rectangle 16"/>
          <p:cNvSpPr/>
          <p:nvPr/>
        </p:nvSpPr>
        <p:spPr>
          <a:xfrm>
            <a:off x="4297680" y="3511296"/>
            <a:ext cx="685800" cy="82296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0" y="3511296"/>
            <a:ext cx="685800" cy="822960"/>
          </a:xfrm>
          <a:prstGeom prst="rect">
            <a:avLst/>
          </a:prstGeom>
          <a:noFill/>
        </p:spPr>
        <p:txBody>
          <a:bodyPr wrap="square" anchor="ctr">
            <a:spAutoFit/>
          </a:bodyPr>
          <a:lstStyle/>
          <a:p>
            <a:pPr algn="ctr"/>
            <a:r>
              <a:rPr sz="2800" b="1">
                <a:solidFill>
                  <a:srgbClr val="F5A800"/>
                </a:solidFill>
                <a:latin typeface="Arial"/>
              </a:rPr>
              <a:t>3</a:t>
            </a:r>
          </a:p>
        </p:txBody>
      </p:sp>
      <p:sp>
        <p:nvSpPr>
          <p:cNvPr id="19" name="Rectangle 18"/>
          <p:cNvSpPr/>
          <p:nvPr/>
        </p:nvSpPr>
        <p:spPr>
          <a:xfrm>
            <a:off x="4983480" y="3511296"/>
            <a:ext cx="6720840" cy="82296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20640" y="3511296"/>
            <a:ext cx="6492240" cy="822960"/>
          </a:xfrm>
          <a:prstGeom prst="rect">
            <a:avLst/>
          </a:prstGeom>
          <a:noFill/>
        </p:spPr>
        <p:txBody>
          <a:bodyPr wrap="square" anchor="ctr">
            <a:spAutoFit/>
          </a:bodyPr>
          <a:lstStyle/>
          <a:p>
            <a:pPr algn="l"/>
            <a:r>
              <a:rPr sz="2000" b="1">
                <a:solidFill>
                  <a:srgbClr val="14264B"/>
                </a:solidFill>
                <a:latin typeface="Arial"/>
              </a:rPr>
              <a:t>In der Probezeit kann der Azubi jederzeit ohne Frist kündigen.</a:t>
            </a:r>
          </a:p>
        </p:txBody>
      </p:sp>
      <p:sp>
        <p:nvSpPr>
          <p:cNvPr id="21" name="Rectangle 20"/>
          <p:cNvSpPr/>
          <p:nvPr/>
        </p:nvSpPr>
        <p:spPr>
          <a:xfrm>
            <a:off x="4297680" y="4489704"/>
            <a:ext cx="685800" cy="82296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4489704"/>
            <a:ext cx="685800" cy="822960"/>
          </a:xfrm>
          <a:prstGeom prst="rect">
            <a:avLst/>
          </a:prstGeom>
          <a:noFill/>
        </p:spPr>
        <p:txBody>
          <a:bodyPr wrap="square" anchor="ctr">
            <a:spAutoFit/>
          </a:bodyPr>
          <a:lstStyle/>
          <a:p>
            <a:pPr algn="ctr"/>
            <a:r>
              <a:rPr sz="2800" b="1">
                <a:solidFill>
                  <a:srgbClr val="F5A800"/>
                </a:solidFill>
                <a:latin typeface="Arial"/>
              </a:rPr>
              <a:t>4</a:t>
            </a:r>
          </a:p>
        </p:txBody>
      </p:sp>
      <p:sp>
        <p:nvSpPr>
          <p:cNvPr id="23" name="Rectangle 22"/>
          <p:cNvSpPr/>
          <p:nvPr/>
        </p:nvSpPr>
        <p:spPr>
          <a:xfrm>
            <a:off x="4983480" y="4489704"/>
            <a:ext cx="6720840" cy="82296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4489704"/>
            <a:ext cx="6492240" cy="822960"/>
          </a:xfrm>
          <a:prstGeom prst="rect">
            <a:avLst/>
          </a:prstGeom>
          <a:noFill/>
        </p:spPr>
        <p:txBody>
          <a:bodyPr wrap="square" anchor="ctr">
            <a:spAutoFit/>
          </a:bodyPr>
          <a:lstStyle/>
          <a:p>
            <a:pPr algn="l"/>
            <a:r>
              <a:rPr sz="2000" b="1">
                <a:solidFill>
                  <a:srgbClr val="14264B"/>
                </a:solidFill>
                <a:latin typeface="Arial"/>
              </a:rPr>
              <a:t>Nach der Probezeit darf der Azubi mit vier Wochen Frist kündigen, wenn er den Beruf wechseln will.</a:t>
            </a:r>
          </a:p>
        </p:txBody>
      </p:sp>
      <p:sp>
        <p:nvSpPr>
          <p:cNvPr id="25" name="Rectangle 24"/>
          <p:cNvSpPr/>
          <p:nvPr/>
        </p:nvSpPr>
        <p:spPr>
          <a:xfrm>
            <a:off x="4297680" y="5468112"/>
            <a:ext cx="685800" cy="82296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97680" y="5468112"/>
            <a:ext cx="685800" cy="822960"/>
          </a:xfrm>
          <a:prstGeom prst="rect">
            <a:avLst/>
          </a:prstGeom>
          <a:noFill/>
        </p:spPr>
        <p:txBody>
          <a:bodyPr wrap="square" anchor="ctr">
            <a:spAutoFit/>
          </a:bodyPr>
          <a:lstStyle/>
          <a:p>
            <a:pPr algn="ctr"/>
            <a:r>
              <a:rPr sz="2800" b="1">
                <a:solidFill>
                  <a:srgbClr val="F5A800"/>
                </a:solidFill>
                <a:latin typeface="Arial"/>
              </a:rPr>
              <a:t>5</a:t>
            </a:r>
          </a:p>
        </p:txBody>
      </p:sp>
      <p:sp>
        <p:nvSpPr>
          <p:cNvPr id="27" name="Rectangle 26"/>
          <p:cNvSpPr/>
          <p:nvPr/>
        </p:nvSpPr>
        <p:spPr>
          <a:xfrm>
            <a:off x="4983480" y="5468112"/>
            <a:ext cx="6720840" cy="82296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0" y="5468112"/>
            <a:ext cx="6492240" cy="822960"/>
          </a:xfrm>
          <a:prstGeom prst="rect">
            <a:avLst/>
          </a:prstGeom>
          <a:noFill/>
        </p:spPr>
        <p:txBody>
          <a:bodyPr wrap="square" anchor="ctr">
            <a:spAutoFit/>
          </a:bodyPr>
          <a:lstStyle/>
          <a:p>
            <a:pPr algn="l"/>
            <a:r>
              <a:rPr sz="2000" b="1">
                <a:solidFill>
                  <a:srgbClr val="14264B"/>
                </a:solidFill>
                <a:latin typeface="Arial"/>
              </a:rPr>
              <a:t>Eine Kündigung per E-Mail ist wirksam, wenn sie rechtzeitig ankommt.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AKTIVITÄT 1</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Rote/Grüne Karte (2 von 2)</a:t>
            </a:r>
          </a:p>
        </p:txBody>
      </p:sp>
      <p:sp>
        <p:nvSpPr>
          <p:cNvPr id="5" name="Rectangle 4"/>
          <p:cNvSpPr/>
          <p:nvPr/>
        </p:nvSpPr>
        <p:spPr>
          <a:xfrm>
            <a:off x="640080" y="1554480"/>
            <a:ext cx="685800" cy="82296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685800" cy="822960"/>
          </a:xfrm>
          <a:prstGeom prst="rect">
            <a:avLst/>
          </a:prstGeom>
          <a:noFill/>
        </p:spPr>
        <p:txBody>
          <a:bodyPr wrap="square" anchor="ctr">
            <a:spAutoFit/>
          </a:bodyPr>
          <a:lstStyle/>
          <a:p>
            <a:pPr algn="ctr"/>
            <a:r>
              <a:rPr sz="2800" b="1">
                <a:solidFill>
                  <a:srgbClr val="F5A800"/>
                </a:solidFill>
                <a:latin typeface="Arial"/>
              </a:rPr>
              <a:t>6</a:t>
            </a:r>
          </a:p>
        </p:txBody>
      </p:sp>
      <p:sp>
        <p:nvSpPr>
          <p:cNvPr id="7" name="Rectangle 6"/>
          <p:cNvSpPr/>
          <p:nvPr/>
        </p:nvSpPr>
        <p:spPr>
          <a:xfrm>
            <a:off x="1325880" y="1554480"/>
            <a:ext cx="10378440" cy="82296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1554480"/>
            <a:ext cx="10149840" cy="822960"/>
          </a:xfrm>
          <a:prstGeom prst="rect">
            <a:avLst/>
          </a:prstGeom>
          <a:noFill/>
        </p:spPr>
        <p:txBody>
          <a:bodyPr wrap="square" anchor="ctr">
            <a:spAutoFit/>
          </a:bodyPr>
          <a:lstStyle/>
          <a:p>
            <a:pPr algn="l"/>
            <a:r>
              <a:rPr sz="2400" b="1">
                <a:solidFill>
                  <a:srgbClr val="14264B"/>
                </a:solidFill>
                <a:latin typeface="Arial"/>
              </a:rPr>
              <a:t>Die Mindestausbildungsvergütung im 1. Jahr beträgt bei Beginn 2026 724 €.</a:t>
            </a:r>
          </a:p>
        </p:txBody>
      </p:sp>
      <p:sp>
        <p:nvSpPr>
          <p:cNvPr id="9" name="Rectangle 8"/>
          <p:cNvSpPr/>
          <p:nvPr/>
        </p:nvSpPr>
        <p:spPr>
          <a:xfrm>
            <a:off x="640080" y="2532888"/>
            <a:ext cx="685800" cy="82296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32888"/>
            <a:ext cx="685800" cy="822960"/>
          </a:xfrm>
          <a:prstGeom prst="rect">
            <a:avLst/>
          </a:prstGeom>
          <a:noFill/>
        </p:spPr>
        <p:txBody>
          <a:bodyPr wrap="square" anchor="ctr">
            <a:spAutoFit/>
          </a:bodyPr>
          <a:lstStyle/>
          <a:p>
            <a:pPr algn="ctr"/>
            <a:r>
              <a:rPr sz="2800" b="1">
                <a:solidFill>
                  <a:srgbClr val="F5A800"/>
                </a:solidFill>
                <a:latin typeface="Arial"/>
              </a:rPr>
              <a:t>7</a:t>
            </a:r>
          </a:p>
        </p:txBody>
      </p:sp>
      <p:sp>
        <p:nvSpPr>
          <p:cNvPr id="11" name="Rectangle 10"/>
          <p:cNvSpPr/>
          <p:nvPr/>
        </p:nvSpPr>
        <p:spPr>
          <a:xfrm>
            <a:off x="1325880" y="2532888"/>
            <a:ext cx="10378440" cy="82296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63040" y="2532888"/>
            <a:ext cx="10149840" cy="822960"/>
          </a:xfrm>
          <a:prstGeom prst="rect">
            <a:avLst/>
          </a:prstGeom>
          <a:noFill/>
        </p:spPr>
        <p:txBody>
          <a:bodyPr wrap="square" anchor="ctr">
            <a:spAutoFit/>
          </a:bodyPr>
          <a:lstStyle/>
          <a:p>
            <a:pPr algn="l"/>
            <a:r>
              <a:rPr sz="2400" b="1">
                <a:solidFill>
                  <a:srgbClr val="14264B"/>
                </a:solidFill>
                <a:latin typeface="Arial"/>
              </a:rPr>
              <a:t>Ein volljähriger Azubi hat mindestens 24 Werktage Urlaub.</a:t>
            </a:r>
          </a:p>
        </p:txBody>
      </p:sp>
      <p:sp>
        <p:nvSpPr>
          <p:cNvPr id="13" name="Rectangle 12"/>
          <p:cNvSpPr/>
          <p:nvPr/>
        </p:nvSpPr>
        <p:spPr>
          <a:xfrm>
            <a:off x="640080" y="3511296"/>
            <a:ext cx="685800" cy="82296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511296"/>
            <a:ext cx="685800" cy="822960"/>
          </a:xfrm>
          <a:prstGeom prst="rect">
            <a:avLst/>
          </a:prstGeom>
          <a:noFill/>
        </p:spPr>
        <p:txBody>
          <a:bodyPr wrap="square" anchor="ctr">
            <a:spAutoFit/>
          </a:bodyPr>
          <a:lstStyle/>
          <a:p>
            <a:pPr algn="ctr"/>
            <a:r>
              <a:rPr sz="2800" b="1">
                <a:solidFill>
                  <a:srgbClr val="F5A800"/>
                </a:solidFill>
                <a:latin typeface="Arial"/>
              </a:rPr>
              <a:t>8</a:t>
            </a:r>
          </a:p>
        </p:txBody>
      </p:sp>
      <p:sp>
        <p:nvSpPr>
          <p:cNvPr id="15" name="Rectangle 14"/>
          <p:cNvSpPr/>
          <p:nvPr/>
        </p:nvSpPr>
        <p:spPr>
          <a:xfrm>
            <a:off x="1325880" y="3511296"/>
            <a:ext cx="10378440" cy="82296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63040" y="3511296"/>
            <a:ext cx="10149840" cy="822960"/>
          </a:xfrm>
          <a:prstGeom prst="rect">
            <a:avLst/>
          </a:prstGeom>
          <a:noFill/>
        </p:spPr>
        <p:txBody>
          <a:bodyPr wrap="square" anchor="ctr">
            <a:spAutoFit/>
          </a:bodyPr>
          <a:lstStyle/>
          <a:p>
            <a:pPr algn="l"/>
            <a:r>
              <a:rPr sz="2400" b="1">
                <a:solidFill>
                  <a:srgbClr val="14264B"/>
                </a:solidFill>
                <a:latin typeface="Arial"/>
              </a:rPr>
              <a:t>Werktage sind nur Montag bis Freitag.</a:t>
            </a:r>
          </a:p>
        </p:txBody>
      </p:sp>
      <p:sp>
        <p:nvSpPr>
          <p:cNvPr id="17" name="Rectangle 16"/>
          <p:cNvSpPr/>
          <p:nvPr/>
        </p:nvSpPr>
        <p:spPr>
          <a:xfrm>
            <a:off x="640080" y="4489704"/>
            <a:ext cx="685800" cy="82296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489704"/>
            <a:ext cx="685800" cy="822960"/>
          </a:xfrm>
          <a:prstGeom prst="rect">
            <a:avLst/>
          </a:prstGeom>
          <a:noFill/>
        </p:spPr>
        <p:txBody>
          <a:bodyPr wrap="square" anchor="ctr">
            <a:spAutoFit/>
          </a:bodyPr>
          <a:lstStyle/>
          <a:p>
            <a:pPr algn="ctr"/>
            <a:r>
              <a:rPr sz="2800" b="1">
                <a:solidFill>
                  <a:srgbClr val="F5A800"/>
                </a:solidFill>
                <a:latin typeface="Arial"/>
              </a:rPr>
              <a:t>9</a:t>
            </a:r>
          </a:p>
        </p:txBody>
      </p:sp>
      <p:sp>
        <p:nvSpPr>
          <p:cNvPr id="19" name="Rectangle 18"/>
          <p:cNvSpPr/>
          <p:nvPr/>
        </p:nvSpPr>
        <p:spPr>
          <a:xfrm>
            <a:off x="1325880" y="4489704"/>
            <a:ext cx="10378440" cy="82296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63040" y="4489704"/>
            <a:ext cx="10149840" cy="822960"/>
          </a:xfrm>
          <a:prstGeom prst="rect">
            <a:avLst/>
          </a:prstGeom>
          <a:noFill/>
        </p:spPr>
        <p:txBody>
          <a:bodyPr wrap="square" anchor="ctr">
            <a:spAutoFit/>
          </a:bodyPr>
          <a:lstStyle/>
          <a:p>
            <a:pPr algn="l"/>
            <a:r>
              <a:rPr sz="2400" b="1">
                <a:solidFill>
                  <a:srgbClr val="14264B"/>
                </a:solidFill>
                <a:latin typeface="Arial"/>
              </a:rPr>
              <a:t>Jugendliche dürfen täglich bis zu 10 Stunden arbeiten.</a:t>
            </a:r>
          </a:p>
        </p:txBody>
      </p:sp>
      <p:sp>
        <p:nvSpPr>
          <p:cNvPr id="21" name="Rectangle 20"/>
          <p:cNvSpPr/>
          <p:nvPr/>
        </p:nvSpPr>
        <p:spPr>
          <a:xfrm>
            <a:off x="640080" y="5468112"/>
            <a:ext cx="685800" cy="82296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468112"/>
            <a:ext cx="685800" cy="822960"/>
          </a:xfrm>
          <a:prstGeom prst="rect">
            <a:avLst/>
          </a:prstGeom>
          <a:noFill/>
        </p:spPr>
        <p:txBody>
          <a:bodyPr wrap="square" anchor="ctr">
            <a:spAutoFit/>
          </a:bodyPr>
          <a:lstStyle/>
          <a:p>
            <a:pPr algn="ctr"/>
            <a:r>
              <a:rPr sz="2800" b="1">
                <a:solidFill>
                  <a:srgbClr val="F5A800"/>
                </a:solidFill>
                <a:latin typeface="Arial"/>
              </a:rPr>
              <a:t>10</a:t>
            </a:r>
          </a:p>
        </p:txBody>
      </p:sp>
      <p:sp>
        <p:nvSpPr>
          <p:cNvPr id="23" name="Rectangle 22"/>
          <p:cNvSpPr/>
          <p:nvPr/>
        </p:nvSpPr>
        <p:spPr>
          <a:xfrm>
            <a:off x="1325880" y="5468112"/>
            <a:ext cx="10378440" cy="82296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63040" y="5468112"/>
            <a:ext cx="10149840" cy="822960"/>
          </a:xfrm>
          <a:prstGeom prst="rect">
            <a:avLst/>
          </a:prstGeom>
          <a:noFill/>
        </p:spPr>
        <p:txBody>
          <a:bodyPr wrap="square" anchor="ctr">
            <a:spAutoFit/>
          </a:bodyPr>
          <a:lstStyle/>
          <a:p>
            <a:pPr algn="l"/>
            <a:r>
              <a:rPr sz="2400" b="1">
                <a:solidFill>
                  <a:srgbClr val="14264B"/>
                </a:solidFill>
                <a:latin typeface="Arial"/>
              </a:rPr>
              <a:t>Der Betrieb muss den Azubi am Arbeitstag vor der schriftlichen Abschlussprüfung freistellen.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AKTIVITÄT 1</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Lösung: Rote/Grüne Karte</a:t>
            </a:r>
          </a:p>
        </p:txBody>
      </p:sp>
      <p:graphicFrame>
        <p:nvGraphicFramePr>
          <p:cNvPr id="5" name="Table 4"/>
          <p:cNvGraphicFramePr>
            <a:graphicFrameLocks noGrp="1"/>
          </p:cNvGraphicFramePr>
          <p:nvPr/>
        </p:nvGraphicFramePr>
        <p:xfrm>
          <a:off x="640080" y="1371600"/>
          <a:ext cx="10972800" cy="5029200"/>
        </p:xfrm>
        <a:graphic>
          <a:graphicData uri="http://schemas.openxmlformats.org/drawingml/2006/table">
            <a:tbl>
              <a:tblPr firstRow="0" bandRow="0">
                <a:tableStyleId>{5C22544A-7EE6-4342-B048-85BDC9FD1C3A}</a:tableStyleId>
              </a:tblPr>
              <a:tblGrid>
                <a:gridCol w="822960"/>
                <a:gridCol w="2286000"/>
                <a:gridCol w="7863840"/>
              </a:tblGrid>
              <a:tr h="457200">
                <a:tc>
                  <a:txBody>
                    <a:bodyPr wrap="square"/>
                    <a:lstStyle/>
                    <a:p>
                      <a:r>
                        <a:rPr sz="1500" b="1">
                          <a:solidFill>
                            <a:srgbClr val="FFFFFF"/>
                          </a:solidFill>
                          <a:latin typeface="Arial"/>
                        </a:rPr>
                        <a:t>Nr.</a:t>
                      </a:r>
                    </a:p>
                  </a:txBody>
                  <a:tcPr marL="91440" marR="91440" marT="27432" marB="27432" anchor="ctr">
                    <a:solidFill>
                      <a:srgbClr val="14264B"/>
                    </a:solidFill>
                  </a:tcPr>
                </a:tc>
                <a:tc>
                  <a:txBody>
                    <a:bodyPr wrap="square"/>
                    <a:lstStyle/>
                    <a:p>
                      <a:r>
                        <a:rPr sz="1500" b="1">
                          <a:solidFill>
                            <a:srgbClr val="FFFFFF"/>
                          </a:solidFill>
                          <a:latin typeface="Arial"/>
                        </a:rPr>
                        <a:t>Karte</a:t>
                      </a:r>
                    </a:p>
                  </a:txBody>
                  <a:tcPr marL="91440" marR="91440" marT="27432" marB="27432" anchor="ctr">
                    <a:solidFill>
                      <a:srgbClr val="14264B"/>
                    </a:solidFill>
                  </a:tcPr>
                </a:tc>
                <a:tc>
                  <a:txBody>
                    <a:bodyPr wrap="square"/>
                    <a:lstStyle/>
                    <a:p>
                      <a:r>
                        <a:rPr sz="1500" b="1">
                          <a:solidFill>
                            <a:srgbClr val="FFFFFF"/>
                          </a:solidFill>
                          <a:latin typeface="Arial"/>
                        </a:rPr>
                        <a:t>Begründung</a:t>
                      </a:r>
                    </a:p>
                  </a:txBody>
                  <a:tcPr marL="91440" marR="91440" marT="27432" marB="27432" anchor="ctr">
                    <a:solidFill>
                      <a:srgbClr val="14264B"/>
                    </a:solidFill>
                  </a:tcPr>
                </a:tc>
              </a:tr>
              <a:tr h="457200">
                <a:tc>
                  <a:txBody>
                    <a:bodyPr wrap="square"/>
                    <a:lstStyle/>
                    <a:p>
                      <a:r>
                        <a:rPr sz="1500" b="1">
                          <a:solidFill>
                            <a:srgbClr val="14264B"/>
                          </a:solidFill>
                          <a:latin typeface="Arial"/>
                        </a:rPr>
                        <a:t>1</a:t>
                      </a:r>
                    </a:p>
                  </a:txBody>
                  <a:tcPr marL="91440" marR="91440" marT="27432" marB="27432" anchor="ctr">
                    <a:solidFill>
                      <a:srgbClr val="FFFFFF"/>
                    </a:solidFill>
                  </a:tcPr>
                </a:tc>
                <a:tc>
                  <a:txBody>
                    <a:bodyPr wrap="square"/>
                    <a:lstStyle/>
                    <a:p>
                      <a:r>
                        <a:rPr sz="1500" b="1">
                          <a:solidFill>
                            <a:srgbClr val="FFFFFF"/>
                          </a:solidFill>
                          <a:latin typeface="Arial"/>
                        </a:rPr>
                        <a:t>Stimmt</a:t>
                      </a:r>
                    </a:p>
                  </a:txBody>
                  <a:tcPr marL="91440" marR="91440" marT="27432" marB="27432" anchor="ctr">
                    <a:solidFill>
                      <a:srgbClr val="2E9E4F"/>
                    </a:solidFill>
                  </a:tcPr>
                </a:tc>
                <a:tc>
                  <a:txBody>
                    <a:bodyPr wrap="square"/>
                    <a:lstStyle/>
                    <a:p>
                      <a:r>
                        <a:rPr sz="1500">
                          <a:solidFill>
                            <a:srgbClr val="1A2238"/>
                          </a:solidFill>
                          <a:latin typeface="Arial"/>
                        </a:rPr>
                        <a:t>§ 20 BBiG</a:t>
                      </a:r>
                    </a:p>
                  </a:txBody>
                  <a:tcPr marL="91440" marR="91440" marT="27432" marB="27432" anchor="ctr">
                    <a:solidFill>
                      <a:srgbClr val="FFFFFF"/>
                    </a:solidFill>
                  </a:tcPr>
                </a:tc>
              </a:tr>
              <a:tr h="457200">
                <a:tc>
                  <a:txBody>
                    <a:bodyPr wrap="square"/>
                    <a:lstStyle/>
                    <a:p>
                      <a:r>
                        <a:rPr sz="1500" b="1">
                          <a:solidFill>
                            <a:srgbClr val="14264B"/>
                          </a:solidFill>
                          <a:latin typeface="Arial"/>
                        </a:rPr>
                        <a:t>2</a:t>
                      </a:r>
                    </a:p>
                  </a:txBody>
                  <a:tcPr marL="91440" marR="91440" marT="27432" marB="27432" anchor="ctr">
                    <a:solidFill>
                      <a:srgbClr val="F6F8FC"/>
                    </a:solidFill>
                  </a:tcPr>
                </a:tc>
                <a:tc>
                  <a:txBody>
                    <a:bodyPr wrap="square"/>
                    <a:lstStyle/>
                    <a:p>
                      <a:r>
                        <a:rPr sz="1500" b="1">
                          <a:solidFill>
                            <a:srgbClr val="FFFFFF"/>
                          </a:solidFill>
                          <a:latin typeface="Arial"/>
                        </a:rPr>
                        <a:t>Stimmt nicht</a:t>
                      </a:r>
                    </a:p>
                  </a:txBody>
                  <a:tcPr marL="91440" marR="91440" marT="27432" marB="27432" anchor="ctr">
                    <a:solidFill>
                      <a:srgbClr val="D62839"/>
                    </a:solidFill>
                  </a:tcPr>
                </a:tc>
                <a:tc>
                  <a:txBody>
                    <a:bodyPr wrap="square"/>
                    <a:lstStyle/>
                    <a:p>
                      <a:r>
                        <a:rPr sz="1500">
                          <a:solidFill>
                            <a:srgbClr val="1A2238"/>
                          </a:solidFill>
                          <a:latin typeface="Arial"/>
                        </a:rPr>
                        <a:t>höchstens vier Monate (§ 20 BBiG)</a:t>
                      </a:r>
                    </a:p>
                  </a:txBody>
                  <a:tcPr marL="91440" marR="91440" marT="27432" marB="27432" anchor="ctr">
                    <a:solidFill>
                      <a:srgbClr val="F6F8FC"/>
                    </a:solidFill>
                  </a:tcPr>
                </a:tc>
              </a:tr>
              <a:tr h="457200">
                <a:tc>
                  <a:txBody>
                    <a:bodyPr wrap="square"/>
                    <a:lstStyle/>
                    <a:p>
                      <a:r>
                        <a:rPr sz="1500" b="1">
                          <a:solidFill>
                            <a:srgbClr val="14264B"/>
                          </a:solidFill>
                          <a:latin typeface="Arial"/>
                        </a:rPr>
                        <a:t>3</a:t>
                      </a:r>
                    </a:p>
                  </a:txBody>
                  <a:tcPr marL="91440" marR="91440" marT="27432" marB="27432" anchor="ctr">
                    <a:solidFill>
                      <a:srgbClr val="FFFFFF"/>
                    </a:solidFill>
                  </a:tcPr>
                </a:tc>
                <a:tc>
                  <a:txBody>
                    <a:bodyPr wrap="square"/>
                    <a:lstStyle/>
                    <a:p>
                      <a:r>
                        <a:rPr sz="1500" b="1">
                          <a:solidFill>
                            <a:srgbClr val="FFFFFF"/>
                          </a:solidFill>
                          <a:latin typeface="Arial"/>
                        </a:rPr>
                        <a:t>Stimmt</a:t>
                      </a:r>
                    </a:p>
                  </a:txBody>
                  <a:tcPr marL="91440" marR="91440" marT="27432" marB="27432" anchor="ctr">
                    <a:solidFill>
                      <a:srgbClr val="2E9E4F"/>
                    </a:solidFill>
                  </a:tcPr>
                </a:tc>
                <a:tc>
                  <a:txBody>
                    <a:bodyPr wrap="square"/>
                    <a:lstStyle/>
                    <a:p>
                      <a:r>
                        <a:rPr sz="1500">
                          <a:solidFill>
                            <a:srgbClr val="1A2238"/>
                          </a:solidFill>
                          <a:latin typeface="Arial"/>
                        </a:rPr>
                        <a:t>§ 22 Abs. 1 BBiG</a:t>
                      </a:r>
                    </a:p>
                  </a:txBody>
                  <a:tcPr marL="91440" marR="91440" marT="27432" marB="27432" anchor="ctr">
                    <a:solidFill>
                      <a:srgbClr val="FFFFFF"/>
                    </a:solidFill>
                  </a:tcPr>
                </a:tc>
              </a:tr>
              <a:tr h="457200">
                <a:tc>
                  <a:txBody>
                    <a:bodyPr wrap="square"/>
                    <a:lstStyle/>
                    <a:p>
                      <a:r>
                        <a:rPr sz="1500" b="1">
                          <a:solidFill>
                            <a:srgbClr val="14264B"/>
                          </a:solidFill>
                          <a:latin typeface="Arial"/>
                        </a:rPr>
                        <a:t>4</a:t>
                      </a:r>
                    </a:p>
                  </a:txBody>
                  <a:tcPr marL="91440" marR="91440" marT="27432" marB="27432" anchor="ctr">
                    <a:solidFill>
                      <a:srgbClr val="F6F8FC"/>
                    </a:solidFill>
                  </a:tcPr>
                </a:tc>
                <a:tc>
                  <a:txBody>
                    <a:bodyPr wrap="square"/>
                    <a:lstStyle/>
                    <a:p>
                      <a:r>
                        <a:rPr sz="1500" b="1">
                          <a:solidFill>
                            <a:srgbClr val="FFFFFF"/>
                          </a:solidFill>
                          <a:latin typeface="Arial"/>
                        </a:rPr>
                        <a:t>Stimmt</a:t>
                      </a:r>
                    </a:p>
                  </a:txBody>
                  <a:tcPr marL="91440" marR="91440" marT="27432" marB="27432" anchor="ctr">
                    <a:solidFill>
                      <a:srgbClr val="2E9E4F"/>
                    </a:solidFill>
                  </a:tcPr>
                </a:tc>
                <a:tc>
                  <a:txBody>
                    <a:bodyPr wrap="square"/>
                    <a:lstStyle/>
                    <a:p>
                      <a:r>
                        <a:rPr sz="1500">
                          <a:solidFill>
                            <a:srgbClr val="1A2238"/>
                          </a:solidFill>
                          <a:latin typeface="Arial"/>
                        </a:rPr>
                        <a:t>§ 22 Abs. 2 BBiG</a:t>
                      </a:r>
                    </a:p>
                  </a:txBody>
                  <a:tcPr marL="91440" marR="91440" marT="27432" marB="27432" anchor="ctr">
                    <a:solidFill>
                      <a:srgbClr val="F6F8FC"/>
                    </a:solidFill>
                  </a:tcPr>
                </a:tc>
              </a:tr>
              <a:tr h="457200">
                <a:tc>
                  <a:txBody>
                    <a:bodyPr wrap="square"/>
                    <a:lstStyle/>
                    <a:p>
                      <a:r>
                        <a:rPr sz="1500" b="1">
                          <a:solidFill>
                            <a:srgbClr val="14264B"/>
                          </a:solidFill>
                          <a:latin typeface="Arial"/>
                        </a:rPr>
                        <a:t>5</a:t>
                      </a:r>
                    </a:p>
                  </a:txBody>
                  <a:tcPr marL="91440" marR="91440" marT="27432" marB="27432" anchor="ctr">
                    <a:solidFill>
                      <a:srgbClr val="FFFFFF"/>
                    </a:solidFill>
                  </a:tcPr>
                </a:tc>
                <a:tc>
                  <a:txBody>
                    <a:bodyPr wrap="square"/>
                    <a:lstStyle/>
                    <a:p>
                      <a:r>
                        <a:rPr sz="1500" b="1">
                          <a:solidFill>
                            <a:srgbClr val="FFFFFF"/>
                          </a:solidFill>
                          <a:latin typeface="Arial"/>
                        </a:rPr>
                        <a:t>Stimmt nicht</a:t>
                      </a:r>
                    </a:p>
                  </a:txBody>
                  <a:tcPr marL="91440" marR="91440" marT="27432" marB="27432" anchor="ctr">
                    <a:solidFill>
                      <a:srgbClr val="D62839"/>
                    </a:solidFill>
                  </a:tcPr>
                </a:tc>
                <a:tc>
                  <a:txBody>
                    <a:bodyPr wrap="square"/>
                    <a:lstStyle/>
                    <a:p>
                      <a:r>
                        <a:rPr sz="1500">
                          <a:solidFill>
                            <a:srgbClr val="1A2238"/>
                          </a:solidFill>
                          <a:latin typeface="Arial"/>
                        </a:rPr>
                        <a:t>Sie muss schriftlich erfolgen, die elektronische Form ist ausgeschlossen (§ 22 Abs. 3 BBiG)</a:t>
                      </a:r>
                    </a:p>
                  </a:txBody>
                  <a:tcPr marL="91440" marR="91440" marT="27432" marB="27432" anchor="ctr">
                    <a:solidFill>
                      <a:srgbClr val="FFFFFF"/>
                    </a:solidFill>
                  </a:tcPr>
                </a:tc>
              </a:tr>
              <a:tr h="457200">
                <a:tc>
                  <a:txBody>
                    <a:bodyPr wrap="square"/>
                    <a:lstStyle/>
                    <a:p>
                      <a:r>
                        <a:rPr sz="1500" b="1">
                          <a:solidFill>
                            <a:srgbClr val="14264B"/>
                          </a:solidFill>
                          <a:latin typeface="Arial"/>
                        </a:rPr>
                        <a:t>6</a:t>
                      </a:r>
                    </a:p>
                  </a:txBody>
                  <a:tcPr marL="91440" marR="91440" marT="27432" marB="27432" anchor="ctr">
                    <a:solidFill>
                      <a:srgbClr val="F6F8FC"/>
                    </a:solidFill>
                  </a:tcPr>
                </a:tc>
                <a:tc>
                  <a:txBody>
                    <a:bodyPr wrap="square"/>
                    <a:lstStyle/>
                    <a:p>
                      <a:r>
                        <a:rPr sz="1500" b="1">
                          <a:solidFill>
                            <a:srgbClr val="FFFFFF"/>
                          </a:solidFill>
                          <a:latin typeface="Arial"/>
                        </a:rPr>
                        <a:t>Stimmt</a:t>
                      </a:r>
                    </a:p>
                  </a:txBody>
                  <a:tcPr marL="91440" marR="91440" marT="27432" marB="27432" anchor="ctr">
                    <a:solidFill>
                      <a:srgbClr val="2E9E4F"/>
                    </a:solidFill>
                  </a:tcPr>
                </a:tc>
                <a:tc>
                  <a:txBody>
                    <a:bodyPr wrap="square"/>
                    <a:lstStyle/>
                    <a:p>
                      <a:r>
                        <a:rPr sz="1500">
                          <a:solidFill>
                            <a:srgbClr val="1A2238"/>
                          </a:solidFill>
                          <a:latin typeface="Arial"/>
                        </a:rPr>
                        <a:t>§ 17 BBiG</a:t>
                      </a:r>
                    </a:p>
                  </a:txBody>
                  <a:tcPr marL="91440" marR="91440" marT="27432" marB="27432" anchor="ctr">
                    <a:solidFill>
                      <a:srgbClr val="F6F8FC"/>
                    </a:solidFill>
                  </a:tcPr>
                </a:tc>
              </a:tr>
              <a:tr h="457200">
                <a:tc>
                  <a:txBody>
                    <a:bodyPr wrap="square"/>
                    <a:lstStyle/>
                    <a:p>
                      <a:r>
                        <a:rPr sz="1500" b="1">
                          <a:solidFill>
                            <a:srgbClr val="14264B"/>
                          </a:solidFill>
                          <a:latin typeface="Arial"/>
                        </a:rPr>
                        <a:t>7</a:t>
                      </a:r>
                    </a:p>
                  </a:txBody>
                  <a:tcPr marL="91440" marR="91440" marT="27432" marB="27432" anchor="ctr">
                    <a:solidFill>
                      <a:srgbClr val="FFFFFF"/>
                    </a:solidFill>
                  </a:tcPr>
                </a:tc>
                <a:tc>
                  <a:txBody>
                    <a:bodyPr wrap="square"/>
                    <a:lstStyle/>
                    <a:p>
                      <a:r>
                        <a:rPr sz="1500" b="1">
                          <a:solidFill>
                            <a:srgbClr val="FFFFFF"/>
                          </a:solidFill>
                          <a:latin typeface="Arial"/>
                        </a:rPr>
                        <a:t>Stimmt</a:t>
                      </a:r>
                    </a:p>
                  </a:txBody>
                  <a:tcPr marL="91440" marR="91440" marT="27432" marB="27432" anchor="ctr">
                    <a:solidFill>
                      <a:srgbClr val="2E9E4F"/>
                    </a:solidFill>
                  </a:tcPr>
                </a:tc>
                <a:tc>
                  <a:txBody>
                    <a:bodyPr wrap="square"/>
                    <a:lstStyle/>
                    <a:p>
                      <a:r>
                        <a:rPr sz="1500">
                          <a:solidFill>
                            <a:srgbClr val="1A2238"/>
                          </a:solidFill>
                          <a:latin typeface="Arial"/>
                        </a:rPr>
                        <a:t>§ 3 BUrlG</a:t>
                      </a:r>
                    </a:p>
                  </a:txBody>
                  <a:tcPr marL="91440" marR="91440" marT="27432" marB="27432" anchor="ctr">
                    <a:solidFill>
                      <a:srgbClr val="FFFFFF"/>
                    </a:solidFill>
                  </a:tcPr>
                </a:tc>
              </a:tr>
              <a:tr h="457200">
                <a:tc>
                  <a:txBody>
                    <a:bodyPr wrap="square"/>
                    <a:lstStyle/>
                    <a:p>
                      <a:r>
                        <a:rPr sz="1500" b="1">
                          <a:solidFill>
                            <a:srgbClr val="14264B"/>
                          </a:solidFill>
                          <a:latin typeface="Arial"/>
                        </a:rPr>
                        <a:t>8</a:t>
                      </a:r>
                    </a:p>
                  </a:txBody>
                  <a:tcPr marL="91440" marR="91440" marT="27432" marB="27432" anchor="ctr">
                    <a:solidFill>
                      <a:srgbClr val="F6F8FC"/>
                    </a:solidFill>
                  </a:tcPr>
                </a:tc>
                <a:tc>
                  <a:txBody>
                    <a:bodyPr wrap="square"/>
                    <a:lstStyle/>
                    <a:p>
                      <a:r>
                        <a:rPr sz="1500" b="1">
                          <a:solidFill>
                            <a:srgbClr val="FFFFFF"/>
                          </a:solidFill>
                          <a:latin typeface="Arial"/>
                        </a:rPr>
                        <a:t>Stimmt nicht</a:t>
                      </a:r>
                    </a:p>
                  </a:txBody>
                  <a:tcPr marL="91440" marR="91440" marT="27432" marB="27432" anchor="ctr">
                    <a:solidFill>
                      <a:srgbClr val="D62839"/>
                    </a:solidFill>
                  </a:tcPr>
                </a:tc>
                <a:tc>
                  <a:txBody>
                    <a:bodyPr wrap="square"/>
                    <a:lstStyle/>
                    <a:p>
                      <a:r>
                        <a:rPr sz="1500">
                          <a:solidFill>
                            <a:srgbClr val="1A2238"/>
                          </a:solidFill>
                          <a:latin typeface="Arial"/>
                        </a:rPr>
                        <a:t>Werktage sind alle Kalendertage außer Sonntagen und gesetzlichen Feiertagen</a:t>
                      </a:r>
                    </a:p>
                  </a:txBody>
                  <a:tcPr marL="91440" marR="91440" marT="27432" marB="27432" anchor="ctr">
                    <a:solidFill>
                      <a:srgbClr val="F6F8FC"/>
                    </a:solidFill>
                  </a:tcPr>
                </a:tc>
              </a:tr>
              <a:tr h="457200">
                <a:tc>
                  <a:txBody>
                    <a:bodyPr wrap="square"/>
                    <a:lstStyle/>
                    <a:p>
                      <a:r>
                        <a:rPr sz="1500" b="1">
                          <a:solidFill>
                            <a:srgbClr val="14264B"/>
                          </a:solidFill>
                          <a:latin typeface="Arial"/>
                        </a:rPr>
                        <a:t>9</a:t>
                      </a:r>
                    </a:p>
                  </a:txBody>
                  <a:tcPr marL="91440" marR="91440" marT="27432" marB="27432" anchor="ctr">
                    <a:solidFill>
                      <a:srgbClr val="FFFFFF"/>
                    </a:solidFill>
                  </a:tcPr>
                </a:tc>
                <a:tc>
                  <a:txBody>
                    <a:bodyPr wrap="square"/>
                    <a:lstStyle/>
                    <a:p>
                      <a:r>
                        <a:rPr sz="1500" b="1">
                          <a:solidFill>
                            <a:srgbClr val="FFFFFF"/>
                          </a:solidFill>
                          <a:latin typeface="Arial"/>
                        </a:rPr>
                        <a:t>Stimmt nicht</a:t>
                      </a:r>
                    </a:p>
                  </a:txBody>
                  <a:tcPr marL="91440" marR="91440" marT="27432" marB="27432" anchor="ctr">
                    <a:solidFill>
                      <a:srgbClr val="D62839"/>
                    </a:solidFill>
                  </a:tcPr>
                </a:tc>
                <a:tc>
                  <a:txBody>
                    <a:bodyPr wrap="square"/>
                    <a:lstStyle/>
                    <a:p>
                      <a:r>
                        <a:rPr sz="1500">
                          <a:solidFill>
                            <a:srgbClr val="1A2238"/>
                          </a:solidFill>
                          <a:latin typeface="Arial"/>
                        </a:rPr>
                        <a:t>höchstens 8 Stunden täglich und 40 pro Woche (§ 8 JArbSchG)</a:t>
                      </a:r>
                    </a:p>
                  </a:txBody>
                  <a:tcPr marL="91440" marR="91440" marT="27432" marB="27432" anchor="ctr">
                    <a:solidFill>
                      <a:srgbClr val="FFFFFF"/>
                    </a:solidFill>
                  </a:tcPr>
                </a:tc>
              </a:tr>
              <a:tr h="457200">
                <a:tc>
                  <a:txBody>
                    <a:bodyPr wrap="square"/>
                    <a:lstStyle/>
                    <a:p>
                      <a:r>
                        <a:rPr sz="1500" b="1">
                          <a:solidFill>
                            <a:srgbClr val="14264B"/>
                          </a:solidFill>
                          <a:latin typeface="Arial"/>
                        </a:rPr>
                        <a:t>10</a:t>
                      </a:r>
                    </a:p>
                  </a:txBody>
                  <a:tcPr marL="91440" marR="91440" marT="27432" marB="27432" anchor="ctr">
                    <a:solidFill>
                      <a:srgbClr val="F6F8FC"/>
                    </a:solidFill>
                  </a:tcPr>
                </a:tc>
                <a:tc>
                  <a:txBody>
                    <a:bodyPr wrap="square"/>
                    <a:lstStyle/>
                    <a:p>
                      <a:r>
                        <a:rPr sz="1500" b="1">
                          <a:solidFill>
                            <a:srgbClr val="FFFFFF"/>
                          </a:solidFill>
                          <a:latin typeface="Arial"/>
                        </a:rPr>
                        <a:t>Stimmt</a:t>
                      </a:r>
                    </a:p>
                  </a:txBody>
                  <a:tcPr marL="91440" marR="91440" marT="27432" marB="27432" anchor="ctr">
                    <a:solidFill>
                      <a:srgbClr val="2E9E4F"/>
                    </a:solidFill>
                  </a:tcPr>
                </a:tc>
                <a:tc>
                  <a:txBody>
                    <a:bodyPr wrap="square"/>
                    <a:lstStyle/>
                    <a:p>
                      <a:r>
                        <a:rPr sz="1500">
                          <a:solidFill>
                            <a:srgbClr val="1A2238"/>
                          </a:solidFill>
                          <a:latin typeface="Arial"/>
                        </a:rPr>
                        <a:t>§ 15 BBiG</a:t>
                      </a:r>
                    </a:p>
                  </a:txBody>
                  <a:tcPr marL="91440" marR="91440" marT="27432" marB="27432" anchor="ctr">
                    <a:solidFill>
                      <a:srgbClr val="F6F8FC"/>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AKTIVITÄT 2</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Vertrags-Detektiv: 5 Fehler</a:t>
            </a:r>
          </a:p>
        </p:txBody>
      </p:sp>
      <p:sp>
        <p:nvSpPr>
          <p:cNvPr id="5" name="Rectangle 4"/>
          <p:cNvSpPr/>
          <p:nvPr/>
        </p:nvSpPr>
        <p:spPr>
          <a:xfrm>
            <a:off x="640080" y="1417320"/>
            <a:ext cx="10972800" cy="5074920"/>
          </a:xfrm>
          <a:prstGeom prst="rect">
            <a:avLst/>
          </a:prstGeom>
          <a:solidFill>
            <a:srgbClr val="F6F8FC"/>
          </a:solidFill>
          <a:ln w="15240">
            <a:solidFill>
              <a:srgbClr val="BFC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10789920" cy="914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607040" cy="1623882"/>
          </a:xfrm>
          <a:prstGeom prst="rect">
            <a:avLst/>
          </a:prstGeom>
          <a:noFill/>
        </p:spPr>
        <p:txBody>
          <a:bodyPr wrap="square" anchor="t">
            <a:spAutoFit/>
          </a:bodyPr>
          <a:lstStyle/>
          <a:p>
            <a:pPr algn="l"/>
            <a:r>
              <a:rPr sz="1800" b="1">
                <a:solidFill>
                  <a:srgbClr val="14264B"/>
                </a:solidFill>
                <a:latin typeface="Times New Roman"/>
              </a:rPr>
              <a:t>Berufsausbildungsvertrag (Auszug, fiktiv)</a:t>
            </a:r>
          </a:p>
          <a:p>
            <a:pPr algn="l">
              <a:spcBef>
                <a:spcPts val="810"/>
              </a:spcBef>
            </a:pPr>
            <a:r>
              <a:rPr sz="1800" b="0">
                <a:solidFill>
                  <a:srgbClr val="1A2238"/>
                </a:solidFill>
                <a:latin typeface="Times New Roman"/>
              </a:rPr>
              <a:t>Ausbildende: Muster GmbH (nicht tarifgebunden)</a:t>
            </a:r>
          </a:p>
          <a:p>
            <a:pPr algn="l">
              <a:spcBef>
                <a:spcPts val="810"/>
              </a:spcBef>
            </a:pPr>
            <a:r>
              <a:rPr sz="1800" b="0">
                <a:solidFill>
                  <a:srgbClr val="1A2238"/>
                </a:solidFill>
                <a:latin typeface="Times New Roman"/>
              </a:rPr>
              <a:t>Auszubildender: Jonas Muster, geboren am 20.11.2009</a:t>
            </a:r>
          </a:p>
          <a:p>
            <a:pPr algn="l">
              <a:spcBef>
                <a:spcPts val="810"/>
              </a:spcBef>
            </a:pPr>
            <a:r>
              <a:rPr sz="1800" b="0">
                <a:solidFill>
                  <a:srgbClr val="1A2238"/>
                </a:solidFill>
                <a:latin typeface="Times New Roman"/>
              </a:rPr>
              <a:t>Beruf: Kaufmann für Büromanagement</a:t>
            </a:r>
          </a:p>
        </p:txBody>
      </p:sp>
      <p:sp>
        <p:nvSpPr>
          <p:cNvPr id="8" name="TextBox 7"/>
          <p:cNvSpPr txBox="1"/>
          <p:nvPr/>
        </p:nvSpPr>
        <p:spPr>
          <a:xfrm>
            <a:off x="822960" y="3306378"/>
            <a:ext cx="10515600" cy="374538"/>
          </a:xfrm>
          <a:prstGeom prst="rect">
            <a:avLst/>
          </a:prstGeom>
          <a:noFill/>
        </p:spPr>
        <p:txBody>
          <a:bodyPr wrap="square" anchor="t">
            <a:spAutoFit/>
          </a:bodyPr>
          <a:lstStyle/>
          <a:p>
            <a:pPr algn="l"/>
            <a:r>
              <a:rPr sz="1800" b="0">
                <a:solidFill>
                  <a:srgbClr val="1A2238"/>
                </a:solidFill>
                <a:latin typeface="Times New Roman"/>
              </a:rPr>
              <a:t>§ 1 Beginn und Dauer: Die Ausbildung beginnt am 01.09.2026 und dauert drei Jahre.</a:t>
            </a:r>
          </a:p>
        </p:txBody>
      </p:sp>
      <p:sp>
        <p:nvSpPr>
          <p:cNvPr id="9" name="TextBox 8"/>
          <p:cNvSpPr txBox="1"/>
          <p:nvPr/>
        </p:nvSpPr>
        <p:spPr>
          <a:xfrm>
            <a:off x="822960" y="3708349"/>
            <a:ext cx="10515600" cy="374538"/>
          </a:xfrm>
          <a:prstGeom prst="rect">
            <a:avLst/>
          </a:prstGeom>
          <a:noFill/>
        </p:spPr>
        <p:txBody>
          <a:bodyPr wrap="square" anchor="t">
            <a:spAutoFit/>
          </a:bodyPr>
          <a:lstStyle/>
          <a:p>
            <a:pPr algn="l"/>
            <a:r>
              <a:rPr sz="1800" b="0">
                <a:solidFill>
                  <a:srgbClr val="1A2238"/>
                </a:solidFill>
                <a:latin typeface="Times New Roman"/>
              </a:rPr>
              <a:t>§ 2 Probezeit: Die Probezeit beträgt sechs Monate.</a:t>
            </a:r>
          </a:p>
        </p:txBody>
      </p:sp>
      <p:sp>
        <p:nvSpPr>
          <p:cNvPr id="10" name="TextBox 9"/>
          <p:cNvSpPr txBox="1"/>
          <p:nvPr/>
        </p:nvSpPr>
        <p:spPr>
          <a:xfrm>
            <a:off x="822960" y="4110319"/>
            <a:ext cx="10515600" cy="374538"/>
          </a:xfrm>
          <a:prstGeom prst="rect">
            <a:avLst/>
          </a:prstGeom>
          <a:noFill/>
        </p:spPr>
        <p:txBody>
          <a:bodyPr wrap="square" anchor="t">
            <a:spAutoFit/>
          </a:bodyPr>
          <a:lstStyle/>
          <a:p>
            <a:pPr algn="l"/>
            <a:r>
              <a:rPr sz="1800" b="0">
                <a:solidFill>
                  <a:srgbClr val="1A2238"/>
                </a:solidFill>
                <a:latin typeface="Times New Roman"/>
              </a:rPr>
              <a:t>§ 3 Vergütung: Die monatliche Ausbildungsvergütung beträgt im 1. Ausbildungsjahr 650 € brutto.</a:t>
            </a:r>
          </a:p>
        </p:txBody>
      </p:sp>
      <p:sp>
        <p:nvSpPr>
          <p:cNvPr id="11" name="TextBox 10"/>
          <p:cNvSpPr txBox="1"/>
          <p:nvPr/>
        </p:nvSpPr>
        <p:spPr>
          <a:xfrm>
            <a:off x="822960" y="4512289"/>
            <a:ext cx="10515600" cy="374538"/>
          </a:xfrm>
          <a:prstGeom prst="rect">
            <a:avLst/>
          </a:prstGeom>
          <a:noFill/>
        </p:spPr>
        <p:txBody>
          <a:bodyPr wrap="square" anchor="t">
            <a:spAutoFit/>
          </a:bodyPr>
          <a:lstStyle/>
          <a:p>
            <a:pPr algn="l"/>
            <a:r>
              <a:rPr sz="1800" b="0">
                <a:solidFill>
                  <a:srgbClr val="1A2238"/>
                </a:solidFill>
                <a:latin typeface="Times New Roman"/>
              </a:rPr>
              <a:t>§ 4 Ausbildungszeit: Die tägliche Ausbildungszeit beträgt 9 Stunden.</a:t>
            </a:r>
          </a:p>
        </p:txBody>
      </p:sp>
      <p:sp>
        <p:nvSpPr>
          <p:cNvPr id="12" name="TextBox 11"/>
          <p:cNvSpPr txBox="1"/>
          <p:nvPr/>
        </p:nvSpPr>
        <p:spPr>
          <a:xfrm>
            <a:off x="822960" y="4914259"/>
            <a:ext cx="10515600" cy="374538"/>
          </a:xfrm>
          <a:prstGeom prst="rect">
            <a:avLst/>
          </a:prstGeom>
          <a:noFill/>
        </p:spPr>
        <p:txBody>
          <a:bodyPr wrap="square" anchor="t">
            <a:spAutoFit/>
          </a:bodyPr>
          <a:lstStyle/>
          <a:p>
            <a:pPr algn="l"/>
            <a:r>
              <a:rPr sz="1800" b="0">
                <a:solidFill>
                  <a:srgbClr val="1A2238"/>
                </a:solidFill>
                <a:latin typeface="Times New Roman"/>
              </a:rPr>
              <a:t>§ 5 Urlaub: Der Urlaubsanspruch beträgt 20 Werktage pro Kalenderjahr.</a:t>
            </a:r>
          </a:p>
        </p:txBody>
      </p:sp>
      <p:sp>
        <p:nvSpPr>
          <p:cNvPr id="13" name="TextBox 12"/>
          <p:cNvSpPr txBox="1"/>
          <p:nvPr/>
        </p:nvSpPr>
        <p:spPr>
          <a:xfrm>
            <a:off x="822960" y="5316230"/>
            <a:ext cx="10515600" cy="657636"/>
          </a:xfrm>
          <a:prstGeom prst="rect">
            <a:avLst/>
          </a:prstGeom>
          <a:noFill/>
        </p:spPr>
        <p:txBody>
          <a:bodyPr wrap="square" anchor="t">
            <a:spAutoFit/>
          </a:bodyPr>
          <a:lstStyle/>
          <a:p>
            <a:pPr algn="l"/>
            <a:r>
              <a:rPr sz="1800" b="0">
                <a:solidFill>
                  <a:srgbClr val="1A2238"/>
                </a:solidFill>
                <a:latin typeface="Times New Roman"/>
              </a:rPr>
              <a:t>§ 6 Kündigung: Während der Probezeit kann das Ausbildungsverhältnis nur mit einer Frist von vier Wochen gekündigt werden.</a:t>
            </a:r>
          </a:p>
        </p:txBody>
      </p:sp>
      <p:sp>
        <p:nvSpPr>
          <p:cNvPr id="14" name="TextBox 13"/>
          <p:cNvSpPr txBox="1"/>
          <p:nvPr/>
        </p:nvSpPr>
        <p:spPr>
          <a:xfrm>
            <a:off x="822960" y="6001298"/>
            <a:ext cx="10515600" cy="657636"/>
          </a:xfrm>
          <a:prstGeom prst="rect">
            <a:avLst/>
          </a:prstGeom>
          <a:noFill/>
        </p:spPr>
        <p:txBody>
          <a:bodyPr wrap="square" anchor="t">
            <a:spAutoFit/>
          </a:bodyPr>
          <a:lstStyle/>
          <a:p>
            <a:pPr algn="l"/>
            <a:r>
              <a:rPr sz="1800" b="0">
                <a:solidFill>
                  <a:srgbClr val="1A2238"/>
                </a:solidFill>
                <a:latin typeface="Times New Roman"/>
              </a:rPr>
              <a:t>§ 7 Pflichten: Die Ausbildungsmittel stellt der Betrieb kostenlos zur Verfügung. Der Auszubildende führt einen Ausbildungsnachweis.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AKTIVITÄT 2</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Lösung: Vertrags-Detektiv</a:t>
            </a:r>
          </a:p>
        </p:txBody>
      </p:sp>
      <p:sp>
        <p:nvSpPr>
          <p:cNvPr id="5" name="Rectangle 4"/>
          <p:cNvSpPr/>
          <p:nvPr/>
        </p:nvSpPr>
        <p:spPr>
          <a:xfrm>
            <a:off x="640080" y="1417320"/>
            <a:ext cx="7040880" cy="5120640"/>
          </a:xfrm>
          <a:prstGeom prst="rect">
            <a:avLst/>
          </a:prstGeom>
          <a:solidFill>
            <a:srgbClr val="F6F8FC"/>
          </a:solidFill>
          <a:ln w="15240">
            <a:solidFill>
              <a:srgbClr val="BFC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463040"/>
            <a:ext cx="6949440" cy="914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27632"/>
            <a:ext cx="6766559" cy="1223604"/>
          </a:xfrm>
          <a:prstGeom prst="rect">
            <a:avLst/>
          </a:prstGeom>
          <a:noFill/>
        </p:spPr>
        <p:txBody>
          <a:bodyPr wrap="square" anchor="t">
            <a:spAutoFit/>
          </a:bodyPr>
          <a:lstStyle/>
          <a:p>
            <a:pPr algn="l"/>
            <a:r>
              <a:rPr sz="1300" b="1">
                <a:solidFill>
                  <a:srgbClr val="14264B"/>
                </a:solidFill>
                <a:latin typeface="Times New Roman"/>
              </a:rPr>
              <a:t>Berufsausbildungsvertrag (Auszug, fiktiv)</a:t>
            </a:r>
          </a:p>
          <a:p>
            <a:pPr algn="l">
              <a:spcBef>
                <a:spcPts val="585"/>
              </a:spcBef>
            </a:pPr>
            <a:r>
              <a:rPr sz="1300" b="0">
                <a:solidFill>
                  <a:srgbClr val="1A2238"/>
                </a:solidFill>
                <a:latin typeface="Times New Roman"/>
              </a:rPr>
              <a:t>Ausbildende: Muster GmbH (nicht tarifgebunden)</a:t>
            </a:r>
          </a:p>
          <a:p>
            <a:pPr algn="l">
              <a:spcBef>
                <a:spcPts val="585"/>
              </a:spcBef>
            </a:pPr>
            <a:r>
              <a:rPr sz="1300" b="0">
                <a:solidFill>
                  <a:srgbClr val="1A2238"/>
                </a:solidFill>
                <a:latin typeface="Times New Roman"/>
              </a:rPr>
              <a:t>Auszubildender: Jonas Muster, geboren am 20.11.2009</a:t>
            </a:r>
          </a:p>
          <a:p>
            <a:pPr algn="l">
              <a:spcBef>
                <a:spcPts val="585"/>
              </a:spcBef>
            </a:pPr>
            <a:r>
              <a:rPr sz="1300" b="0">
                <a:solidFill>
                  <a:srgbClr val="1A2238"/>
                </a:solidFill>
                <a:latin typeface="Times New Roman"/>
              </a:rPr>
              <a:t>Beruf: Kaufmann für Büromanagement</a:t>
            </a:r>
          </a:p>
        </p:txBody>
      </p:sp>
      <p:sp>
        <p:nvSpPr>
          <p:cNvPr id="8" name="TextBox 7"/>
          <p:cNvSpPr txBox="1"/>
          <p:nvPr/>
        </p:nvSpPr>
        <p:spPr>
          <a:xfrm>
            <a:off x="777240" y="2906100"/>
            <a:ext cx="6675120" cy="295899"/>
          </a:xfrm>
          <a:prstGeom prst="rect">
            <a:avLst/>
          </a:prstGeom>
          <a:noFill/>
        </p:spPr>
        <p:txBody>
          <a:bodyPr wrap="square" anchor="t">
            <a:spAutoFit/>
          </a:bodyPr>
          <a:lstStyle/>
          <a:p>
            <a:pPr algn="l"/>
            <a:r>
              <a:rPr sz="1300" b="0">
                <a:solidFill>
                  <a:srgbClr val="1A2238"/>
                </a:solidFill>
                <a:latin typeface="Times New Roman"/>
              </a:rPr>
              <a:t>§ 1 Beginn und Dauer: Die Ausbildung beginnt am 01.09.2026 und dauert drei Jahre.</a:t>
            </a:r>
          </a:p>
        </p:txBody>
      </p:sp>
      <p:sp>
        <p:nvSpPr>
          <p:cNvPr id="9" name="Rectangle 8"/>
          <p:cNvSpPr/>
          <p:nvPr/>
        </p:nvSpPr>
        <p:spPr>
          <a:xfrm>
            <a:off x="731520" y="3211144"/>
            <a:ext cx="6858000" cy="295899"/>
          </a:xfrm>
          <a:prstGeom prst="rect">
            <a:avLst/>
          </a:prstGeom>
          <a:solidFill>
            <a:srgbClr val="FDE3E1"/>
          </a:solidFill>
          <a:ln w="15240">
            <a:solidFill>
              <a:srgbClr val="D628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229432"/>
            <a:ext cx="5303520" cy="295899"/>
          </a:xfrm>
          <a:prstGeom prst="rect">
            <a:avLst/>
          </a:prstGeom>
          <a:noFill/>
        </p:spPr>
        <p:txBody>
          <a:bodyPr wrap="square" anchor="t">
            <a:spAutoFit/>
          </a:bodyPr>
          <a:lstStyle/>
          <a:p>
            <a:pPr algn="l"/>
            <a:r>
              <a:rPr sz="1300" b="0">
                <a:solidFill>
                  <a:srgbClr val="1A2238"/>
                </a:solidFill>
                <a:latin typeface="Times New Roman"/>
              </a:rPr>
              <a:t>§ 2 Probezeit: Die Probezeit beträgt sechs Monate.</a:t>
            </a:r>
          </a:p>
        </p:txBody>
      </p:sp>
      <p:sp>
        <p:nvSpPr>
          <p:cNvPr id="11" name="Rectangle 10"/>
          <p:cNvSpPr/>
          <p:nvPr/>
        </p:nvSpPr>
        <p:spPr>
          <a:xfrm>
            <a:off x="6355079" y="3240222"/>
            <a:ext cx="1143000" cy="274320"/>
          </a:xfrm>
          <a:prstGeom prst="rect">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79" y="3240222"/>
            <a:ext cx="1143000" cy="274320"/>
          </a:xfrm>
          <a:prstGeom prst="rect">
            <a:avLst/>
          </a:prstGeom>
          <a:noFill/>
        </p:spPr>
        <p:txBody>
          <a:bodyPr wrap="square" anchor="ctr">
            <a:spAutoFit/>
          </a:bodyPr>
          <a:lstStyle/>
          <a:p>
            <a:pPr algn="ctr"/>
            <a:r>
              <a:rPr sz="1200" b="1">
                <a:solidFill>
                  <a:srgbClr val="FFFFFF"/>
                </a:solidFill>
                <a:latin typeface="Arial"/>
              </a:rPr>
              <a:t>Fehler 1</a:t>
            </a:r>
          </a:p>
        </p:txBody>
      </p:sp>
      <p:sp>
        <p:nvSpPr>
          <p:cNvPr id="13" name="Rectangle 12"/>
          <p:cNvSpPr/>
          <p:nvPr/>
        </p:nvSpPr>
        <p:spPr>
          <a:xfrm>
            <a:off x="731520" y="3534476"/>
            <a:ext cx="6858000" cy="500359"/>
          </a:xfrm>
          <a:prstGeom prst="rect">
            <a:avLst/>
          </a:prstGeom>
          <a:solidFill>
            <a:srgbClr val="FDE3E1"/>
          </a:solidFill>
          <a:ln w="15240">
            <a:solidFill>
              <a:srgbClr val="D628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52764"/>
            <a:ext cx="5303520" cy="500359"/>
          </a:xfrm>
          <a:prstGeom prst="rect">
            <a:avLst/>
          </a:prstGeom>
          <a:noFill/>
        </p:spPr>
        <p:txBody>
          <a:bodyPr wrap="square" anchor="t">
            <a:spAutoFit/>
          </a:bodyPr>
          <a:lstStyle/>
          <a:p>
            <a:pPr algn="l"/>
            <a:r>
              <a:rPr sz="1300" b="0">
                <a:solidFill>
                  <a:srgbClr val="1A2238"/>
                </a:solidFill>
                <a:latin typeface="Times New Roman"/>
              </a:rPr>
              <a:t>§ 3 Vergütung: Die monatliche Ausbildungsvergütung beträgt im 1. Ausbildungsjahr 650 € brutto.</a:t>
            </a:r>
          </a:p>
        </p:txBody>
      </p:sp>
      <p:sp>
        <p:nvSpPr>
          <p:cNvPr id="15" name="Rectangle 14"/>
          <p:cNvSpPr/>
          <p:nvPr/>
        </p:nvSpPr>
        <p:spPr>
          <a:xfrm>
            <a:off x="6355079" y="3665783"/>
            <a:ext cx="1143000" cy="274320"/>
          </a:xfrm>
          <a:prstGeom prst="rect">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79" y="3665783"/>
            <a:ext cx="1143000" cy="274320"/>
          </a:xfrm>
          <a:prstGeom prst="rect">
            <a:avLst/>
          </a:prstGeom>
          <a:noFill/>
        </p:spPr>
        <p:txBody>
          <a:bodyPr wrap="square" anchor="ctr">
            <a:spAutoFit/>
          </a:bodyPr>
          <a:lstStyle/>
          <a:p>
            <a:pPr algn="ctr"/>
            <a:r>
              <a:rPr sz="1200" b="1">
                <a:solidFill>
                  <a:srgbClr val="FFFFFF"/>
                </a:solidFill>
                <a:latin typeface="Arial"/>
              </a:rPr>
              <a:t>Fehler 2</a:t>
            </a:r>
          </a:p>
        </p:txBody>
      </p:sp>
      <p:sp>
        <p:nvSpPr>
          <p:cNvPr id="17" name="Rectangle 16"/>
          <p:cNvSpPr/>
          <p:nvPr/>
        </p:nvSpPr>
        <p:spPr>
          <a:xfrm>
            <a:off x="731520" y="4062267"/>
            <a:ext cx="6858000" cy="500359"/>
          </a:xfrm>
          <a:prstGeom prst="rect">
            <a:avLst/>
          </a:prstGeom>
          <a:solidFill>
            <a:srgbClr val="FDE3E1"/>
          </a:solidFill>
          <a:ln w="15240">
            <a:solidFill>
              <a:srgbClr val="D628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080555"/>
            <a:ext cx="5303520" cy="500359"/>
          </a:xfrm>
          <a:prstGeom prst="rect">
            <a:avLst/>
          </a:prstGeom>
          <a:noFill/>
        </p:spPr>
        <p:txBody>
          <a:bodyPr wrap="square" anchor="t">
            <a:spAutoFit/>
          </a:bodyPr>
          <a:lstStyle/>
          <a:p>
            <a:pPr algn="l"/>
            <a:r>
              <a:rPr sz="1300" b="0">
                <a:solidFill>
                  <a:srgbClr val="1A2238"/>
                </a:solidFill>
                <a:latin typeface="Times New Roman"/>
              </a:rPr>
              <a:t>§ 4 Ausbildungszeit: Die tägliche Ausbildungszeit beträgt 9 Stunden.</a:t>
            </a:r>
          </a:p>
        </p:txBody>
      </p:sp>
      <p:sp>
        <p:nvSpPr>
          <p:cNvPr id="19" name="Rectangle 18"/>
          <p:cNvSpPr/>
          <p:nvPr/>
        </p:nvSpPr>
        <p:spPr>
          <a:xfrm>
            <a:off x="6355079" y="4193575"/>
            <a:ext cx="1143000" cy="274320"/>
          </a:xfrm>
          <a:prstGeom prst="rect">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79" y="4193575"/>
            <a:ext cx="1143000" cy="274320"/>
          </a:xfrm>
          <a:prstGeom prst="rect">
            <a:avLst/>
          </a:prstGeom>
          <a:noFill/>
        </p:spPr>
        <p:txBody>
          <a:bodyPr wrap="square" anchor="ctr">
            <a:spAutoFit/>
          </a:bodyPr>
          <a:lstStyle/>
          <a:p>
            <a:pPr algn="ctr"/>
            <a:r>
              <a:rPr sz="1200" b="1">
                <a:solidFill>
                  <a:srgbClr val="FFFFFF"/>
                </a:solidFill>
                <a:latin typeface="Arial"/>
              </a:rPr>
              <a:t>Fehler 3</a:t>
            </a:r>
          </a:p>
        </p:txBody>
      </p:sp>
      <p:sp>
        <p:nvSpPr>
          <p:cNvPr id="21" name="Rectangle 20"/>
          <p:cNvSpPr/>
          <p:nvPr/>
        </p:nvSpPr>
        <p:spPr>
          <a:xfrm>
            <a:off x="731520" y="4590059"/>
            <a:ext cx="6858000" cy="500359"/>
          </a:xfrm>
          <a:prstGeom prst="rect">
            <a:avLst/>
          </a:prstGeom>
          <a:solidFill>
            <a:srgbClr val="FDE3E1"/>
          </a:solidFill>
          <a:ln w="15240">
            <a:solidFill>
              <a:srgbClr val="D628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608347"/>
            <a:ext cx="5303520" cy="500359"/>
          </a:xfrm>
          <a:prstGeom prst="rect">
            <a:avLst/>
          </a:prstGeom>
          <a:noFill/>
        </p:spPr>
        <p:txBody>
          <a:bodyPr wrap="square" anchor="t">
            <a:spAutoFit/>
          </a:bodyPr>
          <a:lstStyle/>
          <a:p>
            <a:pPr algn="l"/>
            <a:r>
              <a:rPr sz="1300" b="0">
                <a:solidFill>
                  <a:srgbClr val="1A2238"/>
                </a:solidFill>
                <a:latin typeface="Times New Roman"/>
              </a:rPr>
              <a:t>§ 5 Urlaub: Der Urlaubsanspruch beträgt 20 Werktage pro Kalenderjahr.</a:t>
            </a:r>
          </a:p>
        </p:txBody>
      </p:sp>
      <p:sp>
        <p:nvSpPr>
          <p:cNvPr id="23" name="Rectangle 22"/>
          <p:cNvSpPr/>
          <p:nvPr/>
        </p:nvSpPr>
        <p:spPr>
          <a:xfrm>
            <a:off x="6355079" y="4721367"/>
            <a:ext cx="1143000" cy="274320"/>
          </a:xfrm>
          <a:prstGeom prst="rect">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79" y="4721367"/>
            <a:ext cx="1143000" cy="274320"/>
          </a:xfrm>
          <a:prstGeom prst="rect">
            <a:avLst/>
          </a:prstGeom>
          <a:noFill/>
        </p:spPr>
        <p:txBody>
          <a:bodyPr wrap="square" anchor="ctr">
            <a:spAutoFit/>
          </a:bodyPr>
          <a:lstStyle/>
          <a:p>
            <a:pPr algn="ctr"/>
            <a:r>
              <a:rPr sz="1200" b="1">
                <a:solidFill>
                  <a:srgbClr val="FFFFFF"/>
                </a:solidFill>
                <a:latin typeface="Arial"/>
              </a:rPr>
              <a:t>Fehler 4</a:t>
            </a:r>
          </a:p>
        </p:txBody>
      </p:sp>
      <p:sp>
        <p:nvSpPr>
          <p:cNvPr id="25" name="Rectangle 24"/>
          <p:cNvSpPr/>
          <p:nvPr/>
        </p:nvSpPr>
        <p:spPr>
          <a:xfrm>
            <a:off x="731520" y="5117851"/>
            <a:ext cx="6858000" cy="500359"/>
          </a:xfrm>
          <a:prstGeom prst="rect">
            <a:avLst/>
          </a:prstGeom>
          <a:solidFill>
            <a:srgbClr val="FDE3E1"/>
          </a:solidFill>
          <a:ln w="15240">
            <a:solidFill>
              <a:srgbClr val="D628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136139"/>
            <a:ext cx="5303520" cy="500359"/>
          </a:xfrm>
          <a:prstGeom prst="rect">
            <a:avLst/>
          </a:prstGeom>
          <a:noFill/>
        </p:spPr>
        <p:txBody>
          <a:bodyPr wrap="square" anchor="t">
            <a:spAutoFit/>
          </a:bodyPr>
          <a:lstStyle/>
          <a:p>
            <a:pPr algn="l"/>
            <a:r>
              <a:rPr sz="1300" b="0">
                <a:solidFill>
                  <a:srgbClr val="1A2238"/>
                </a:solidFill>
                <a:latin typeface="Times New Roman"/>
              </a:rPr>
              <a:t>§ 6 Kündigung: Während der Probezeit kann das Ausbildungsverhältnis nur mit einer Frist von vier Wochen gekündigt werden.</a:t>
            </a:r>
          </a:p>
        </p:txBody>
      </p:sp>
      <p:sp>
        <p:nvSpPr>
          <p:cNvPr id="27" name="Rectangle 26"/>
          <p:cNvSpPr/>
          <p:nvPr/>
        </p:nvSpPr>
        <p:spPr>
          <a:xfrm>
            <a:off x="6355079" y="5249158"/>
            <a:ext cx="1143000" cy="274320"/>
          </a:xfrm>
          <a:prstGeom prst="rect">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79" y="5249158"/>
            <a:ext cx="1143000" cy="274320"/>
          </a:xfrm>
          <a:prstGeom prst="rect">
            <a:avLst/>
          </a:prstGeom>
          <a:noFill/>
        </p:spPr>
        <p:txBody>
          <a:bodyPr wrap="square" anchor="ctr">
            <a:spAutoFit/>
          </a:bodyPr>
          <a:lstStyle/>
          <a:p>
            <a:pPr algn="ctr"/>
            <a:r>
              <a:rPr sz="1200" b="1">
                <a:solidFill>
                  <a:srgbClr val="FFFFFF"/>
                </a:solidFill>
                <a:latin typeface="Arial"/>
              </a:rPr>
              <a:t>Fehler 5</a:t>
            </a:r>
          </a:p>
        </p:txBody>
      </p:sp>
      <p:sp>
        <p:nvSpPr>
          <p:cNvPr id="29" name="TextBox 28"/>
          <p:cNvSpPr txBox="1"/>
          <p:nvPr/>
        </p:nvSpPr>
        <p:spPr>
          <a:xfrm>
            <a:off x="777240" y="5663930"/>
            <a:ext cx="6675120" cy="500359"/>
          </a:xfrm>
          <a:prstGeom prst="rect">
            <a:avLst/>
          </a:prstGeom>
          <a:noFill/>
        </p:spPr>
        <p:txBody>
          <a:bodyPr wrap="square" anchor="t">
            <a:spAutoFit/>
          </a:bodyPr>
          <a:lstStyle/>
          <a:p>
            <a:pPr algn="l"/>
            <a:r>
              <a:rPr sz="1300" b="0">
                <a:solidFill>
                  <a:srgbClr val="1A2238"/>
                </a:solidFill>
                <a:latin typeface="Times New Roman"/>
              </a:rPr>
              <a:t>§ 7 Pflichten: Die Ausbildungsmittel stellt der Betrieb kostenlos zur Verfügung. Der Auszubildende führt einen Ausbildungsnachweis.</a:t>
            </a:r>
          </a:p>
        </p:txBody>
      </p:sp>
      <p:sp>
        <p:nvSpPr>
          <p:cNvPr id="30" name="Rectangle 29"/>
          <p:cNvSpPr/>
          <p:nvPr/>
        </p:nvSpPr>
        <p:spPr>
          <a:xfrm>
            <a:off x="7863840" y="1417320"/>
            <a:ext cx="3749039" cy="91440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863840" y="1417320"/>
            <a:ext cx="91440" cy="914400"/>
          </a:xfrm>
          <a:prstGeom prst="rect">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0" y="1435608"/>
            <a:ext cx="3520440" cy="868680"/>
          </a:xfrm>
          <a:prstGeom prst="rect">
            <a:avLst/>
          </a:prstGeom>
          <a:noFill/>
        </p:spPr>
        <p:txBody>
          <a:bodyPr wrap="square" anchor="ctr">
            <a:spAutoFit/>
          </a:bodyPr>
          <a:lstStyle/>
          <a:p>
            <a:pPr algn="l"/>
            <a:r>
              <a:rPr sz="1300" b="1">
                <a:solidFill>
                  <a:srgbClr val="14264B"/>
                </a:solidFill>
                <a:latin typeface="Arial"/>
              </a:rPr>
              <a:t>Fehler 1 · § 2 Probezeit: </a:t>
            </a:r>
          </a:p>
          <a:p>
            <a:pPr algn="l">
              <a:spcBef>
                <a:spcPts val="585"/>
              </a:spcBef>
            </a:pPr>
            <a:r>
              <a:rPr sz="1300" b="0">
                <a:solidFill>
                  <a:srgbClr val="1A2238"/>
                </a:solidFill>
                <a:latin typeface="Arial"/>
              </a:rPr>
              <a:t>höchstens vier Monate (§ 20 BBiG)</a:t>
            </a:r>
          </a:p>
        </p:txBody>
      </p:sp>
      <p:sp>
        <p:nvSpPr>
          <p:cNvPr id="33" name="Rectangle 32"/>
          <p:cNvSpPr/>
          <p:nvPr/>
        </p:nvSpPr>
        <p:spPr>
          <a:xfrm>
            <a:off x="7863840" y="2441448"/>
            <a:ext cx="3749039" cy="91440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863840" y="2441448"/>
            <a:ext cx="91440" cy="914400"/>
          </a:xfrm>
          <a:prstGeom prst="rect">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0" y="2459736"/>
            <a:ext cx="3520440" cy="868680"/>
          </a:xfrm>
          <a:prstGeom prst="rect">
            <a:avLst/>
          </a:prstGeom>
          <a:noFill/>
        </p:spPr>
        <p:txBody>
          <a:bodyPr wrap="square" anchor="ctr">
            <a:spAutoFit/>
          </a:bodyPr>
          <a:lstStyle/>
          <a:p>
            <a:pPr algn="l"/>
            <a:r>
              <a:rPr sz="1300" b="1">
                <a:solidFill>
                  <a:srgbClr val="14264B"/>
                </a:solidFill>
                <a:latin typeface="Arial"/>
              </a:rPr>
              <a:t>Fehler 2 · § 3 Vergütung: </a:t>
            </a:r>
          </a:p>
          <a:p>
            <a:pPr algn="l">
              <a:spcBef>
                <a:spcPts val="585"/>
              </a:spcBef>
            </a:pPr>
            <a:r>
              <a:rPr sz="1300" b="0">
                <a:solidFill>
                  <a:srgbClr val="1A2238"/>
                </a:solidFill>
                <a:latin typeface="Arial"/>
              </a:rPr>
              <a:t>mindestens 724 € im 1. Jahr (§ 17 BBiG)</a:t>
            </a:r>
          </a:p>
        </p:txBody>
      </p:sp>
      <p:sp>
        <p:nvSpPr>
          <p:cNvPr id="36" name="Rectangle 35"/>
          <p:cNvSpPr/>
          <p:nvPr/>
        </p:nvSpPr>
        <p:spPr>
          <a:xfrm>
            <a:off x="7863840" y="3465576"/>
            <a:ext cx="3749039" cy="91440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863840" y="3465576"/>
            <a:ext cx="91440" cy="914400"/>
          </a:xfrm>
          <a:prstGeom prst="rect">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20" y="3483864"/>
            <a:ext cx="3520440" cy="868680"/>
          </a:xfrm>
          <a:prstGeom prst="rect">
            <a:avLst/>
          </a:prstGeom>
          <a:noFill/>
        </p:spPr>
        <p:txBody>
          <a:bodyPr wrap="square" anchor="ctr">
            <a:spAutoFit/>
          </a:bodyPr>
          <a:lstStyle/>
          <a:p>
            <a:pPr algn="l"/>
            <a:r>
              <a:rPr sz="1300" b="1">
                <a:solidFill>
                  <a:srgbClr val="14264B"/>
                </a:solidFill>
                <a:latin typeface="Arial"/>
              </a:rPr>
              <a:t>Fehler 3 · § 4 Ausbildungszeit: </a:t>
            </a:r>
          </a:p>
          <a:p>
            <a:pPr algn="l">
              <a:spcBef>
                <a:spcPts val="585"/>
              </a:spcBef>
            </a:pPr>
            <a:r>
              <a:rPr sz="1300" b="0">
                <a:solidFill>
                  <a:srgbClr val="1A2238"/>
                </a:solidFill>
                <a:latin typeface="Arial"/>
              </a:rPr>
              <a:t>Jugendliche höchstens 8 Stunden täglich und 40 pro Woche (§ 8 JArbSchG)</a:t>
            </a:r>
          </a:p>
        </p:txBody>
      </p:sp>
      <p:sp>
        <p:nvSpPr>
          <p:cNvPr id="39" name="Rectangle 38"/>
          <p:cNvSpPr/>
          <p:nvPr/>
        </p:nvSpPr>
        <p:spPr>
          <a:xfrm>
            <a:off x="7863840" y="4489704"/>
            <a:ext cx="3749039" cy="91440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863840" y="4489704"/>
            <a:ext cx="91440" cy="914400"/>
          </a:xfrm>
          <a:prstGeom prst="rect">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0" y="4507992"/>
            <a:ext cx="3520440" cy="868680"/>
          </a:xfrm>
          <a:prstGeom prst="rect">
            <a:avLst/>
          </a:prstGeom>
          <a:noFill/>
        </p:spPr>
        <p:txBody>
          <a:bodyPr wrap="square" anchor="ctr">
            <a:spAutoFit/>
          </a:bodyPr>
          <a:lstStyle/>
          <a:p>
            <a:pPr algn="l"/>
            <a:r>
              <a:rPr sz="1300" b="1">
                <a:solidFill>
                  <a:srgbClr val="14264B"/>
                </a:solidFill>
                <a:latin typeface="Arial"/>
              </a:rPr>
              <a:t>Fehler 4 · § 5 Urlaub: </a:t>
            </a:r>
          </a:p>
          <a:p>
            <a:pPr algn="l">
              <a:spcBef>
                <a:spcPts val="585"/>
              </a:spcBef>
            </a:pPr>
            <a:r>
              <a:rPr sz="1300" b="0">
                <a:solidFill>
                  <a:srgbClr val="1A2238"/>
                </a:solidFill>
                <a:latin typeface="Arial"/>
              </a:rPr>
              <a:t>mindestens 24 Werktage, Jugendliche je nach Alter 25 bis 30 (§ 3 BUrlG, § 19 JArbSchG)</a:t>
            </a:r>
          </a:p>
        </p:txBody>
      </p:sp>
      <p:sp>
        <p:nvSpPr>
          <p:cNvPr id="42" name="Rectangle 41"/>
          <p:cNvSpPr/>
          <p:nvPr/>
        </p:nvSpPr>
        <p:spPr>
          <a:xfrm>
            <a:off x="7863840" y="5513832"/>
            <a:ext cx="3749039" cy="91440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863840" y="5513832"/>
            <a:ext cx="91440" cy="914400"/>
          </a:xfrm>
          <a:prstGeom prst="rect">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6720" y="5532120"/>
            <a:ext cx="3520440" cy="868680"/>
          </a:xfrm>
          <a:prstGeom prst="rect">
            <a:avLst/>
          </a:prstGeom>
          <a:noFill/>
        </p:spPr>
        <p:txBody>
          <a:bodyPr wrap="square" anchor="ctr">
            <a:spAutoFit/>
          </a:bodyPr>
          <a:lstStyle/>
          <a:p>
            <a:pPr algn="l"/>
            <a:r>
              <a:rPr sz="1300" b="1">
                <a:solidFill>
                  <a:srgbClr val="14264B"/>
                </a:solidFill>
                <a:latin typeface="Arial"/>
              </a:rPr>
              <a:t>Fehler 5 · § 6 Kündigung: </a:t>
            </a:r>
          </a:p>
          <a:p>
            <a:pPr algn="l">
              <a:spcBef>
                <a:spcPts val="585"/>
              </a:spcBef>
            </a:pPr>
            <a:r>
              <a:rPr sz="1300" b="0">
                <a:solidFill>
                  <a:srgbClr val="1A2238"/>
                </a:solidFill>
                <a:latin typeface="Arial"/>
              </a:rPr>
              <a:t>in der Probezeit jederzeit ohne Frist, schriftlich (§ 22 Abs. 1 und 3 BBiG)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ZUSATZFOLIE · AUSGEBLENDET</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Modul A: Experten-Runde (10 Minuten)</a:t>
            </a:r>
          </a:p>
        </p:txBody>
      </p:sp>
      <p:sp>
        <p:nvSpPr>
          <p:cNvPr id="5" name="Oval 4"/>
          <p:cNvSpPr/>
          <p:nvPr/>
        </p:nvSpPr>
        <p:spPr>
          <a:xfrm>
            <a:off x="731520" y="1691640"/>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1</a:t>
            </a:r>
          </a:p>
        </p:txBody>
      </p:sp>
      <p:sp>
        <p:nvSpPr>
          <p:cNvPr id="6" name="TextBox 5"/>
          <p:cNvSpPr txBox="1"/>
          <p:nvPr/>
        </p:nvSpPr>
        <p:spPr>
          <a:xfrm>
            <a:off x="1508760" y="1600200"/>
            <a:ext cx="9875520" cy="914400"/>
          </a:xfrm>
          <a:prstGeom prst="rect">
            <a:avLst/>
          </a:prstGeom>
          <a:noFill/>
        </p:spPr>
        <p:txBody>
          <a:bodyPr wrap="square" anchor="ctr">
            <a:spAutoFit/>
          </a:bodyPr>
          <a:lstStyle/>
          <a:p>
            <a:pPr algn="l"/>
            <a:r>
              <a:rPr sz="2600" b="0">
                <a:solidFill>
                  <a:srgbClr val="1A2238"/>
                </a:solidFill>
                <a:latin typeface="Arial"/>
              </a:rPr>
              <a:t>Vier Gruppen, vier Themen: Probezeit, Urlaub, Vergütung, Kündigung</a:t>
            </a:r>
          </a:p>
        </p:txBody>
      </p:sp>
      <p:sp>
        <p:nvSpPr>
          <p:cNvPr id="7" name="Oval 6"/>
          <p:cNvSpPr/>
          <p:nvPr/>
        </p:nvSpPr>
        <p:spPr>
          <a:xfrm>
            <a:off x="731520" y="2788920"/>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2</a:t>
            </a:r>
          </a:p>
        </p:txBody>
      </p:sp>
      <p:sp>
        <p:nvSpPr>
          <p:cNvPr id="8" name="TextBox 7"/>
          <p:cNvSpPr txBox="1"/>
          <p:nvPr/>
        </p:nvSpPr>
        <p:spPr>
          <a:xfrm>
            <a:off x="1508760" y="2697480"/>
            <a:ext cx="9875520" cy="914400"/>
          </a:xfrm>
          <a:prstGeom prst="rect">
            <a:avLst/>
          </a:prstGeom>
          <a:noFill/>
        </p:spPr>
        <p:txBody>
          <a:bodyPr wrap="square" anchor="ctr">
            <a:spAutoFit/>
          </a:bodyPr>
          <a:lstStyle/>
          <a:p>
            <a:pPr algn="l"/>
            <a:r>
              <a:rPr sz="2600" b="0">
                <a:solidFill>
                  <a:srgbClr val="1A2238"/>
                </a:solidFill>
                <a:latin typeface="Arial"/>
              </a:rPr>
              <a:t>Vorbereiten mit dem Merkblatt</a:t>
            </a:r>
          </a:p>
        </p:txBody>
      </p:sp>
      <p:sp>
        <p:nvSpPr>
          <p:cNvPr id="9" name="Oval 8"/>
          <p:cNvSpPr/>
          <p:nvPr/>
        </p:nvSpPr>
        <p:spPr>
          <a:xfrm>
            <a:off x="731520" y="3886200"/>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3</a:t>
            </a:r>
          </a:p>
        </p:txBody>
      </p:sp>
      <p:sp>
        <p:nvSpPr>
          <p:cNvPr id="10" name="TextBox 9"/>
          <p:cNvSpPr txBox="1"/>
          <p:nvPr/>
        </p:nvSpPr>
        <p:spPr>
          <a:xfrm>
            <a:off x="1508760" y="3794760"/>
            <a:ext cx="9875520" cy="914400"/>
          </a:xfrm>
          <a:prstGeom prst="rect">
            <a:avLst/>
          </a:prstGeom>
          <a:noFill/>
        </p:spPr>
        <p:txBody>
          <a:bodyPr wrap="square" anchor="ctr">
            <a:spAutoFit/>
          </a:bodyPr>
          <a:lstStyle/>
          <a:p>
            <a:pPr algn="l"/>
            <a:r>
              <a:rPr sz="2600" b="0">
                <a:solidFill>
                  <a:srgbClr val="1A2238"/>
                </a:solidFill>
                <a:latin typeface="Arial"/>
              </a:rPr>
              <a:t>Jede Gruppe erklärt ihr Thema in 2 Minuten</a:t>
            </a:r>
          </a:p>
        </p:txBody>
      </p:sp>
      <p:sp>
        <p:nvSpPr>
          <p:cNvPr id="11" name="Oval 10"/>
          <p:cNvSpPr/>
          <p:nvPr/>
        </p:nvSpPr>
        <p:spPr>
          <a:xfrm>
            <a:off x="731520" y="498347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4</a:t>
            </a:r>
          </a:p>
        </p:txBody>
      </p:sp>
      <p:sp>
        <p:nvSpPr>
          <p:cNvPr id="12" name="TextBox 11"/>
          <p:cNvSpPr txBox="1"/>
          <p:nvPr/>
        </p:nvSpPr>
        <p:spPr>
          <a:xfrm>
            <a:off x="1508760" y="4892040"/>
            <a:ext cx="9875520" cy="914400"/>
          </a:xfrm>
          <a:prstGeom prst="rect">
            <a:avLst/>
          </a:prstGeom>
          <a:noFill/>
        </p:spPr>
        <p:txBody>
          <a:bodyPr wrap="square" anchor="ctr">
            <a:spAutoFit/>
          </a:bodyPr>
          <a:lstStyle/>
          <a:p>
            <a:pPr algn="l"/>
            <a:r>
              <a:rPr sz="2600" b="0">
                <a:solidFill>
                  <a:srgbClr val="1A2238"/>
                </a:solidFill>
                <a:latin typeface="Arial"/>
              </a:rPr>
              <a:t>Danach stellt sie der Klasse eine Frage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ZUSATZFOLIE · AUSGEBLENDET</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Modul A: Die vier Themen</a:t>
            </a:r>
          </a:p>
        </p:txBody>
      </p:sp>
      <p:sp>
        <p:nvSpPr>
          <p:cNvPr id="5" name="Rectangle 4"/>
          <p:cNvSpPr/>
          <p:nvPr/>
        </p:nvSpPr>
        <p:spPr>
          <a:xfrm>
            <a:off x="640080" y="1508760"/>
            <a:ext cx="5440680" cy="228600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91440" cy="228600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81912"/>
            <a:ext cx="5074920" cy="457200"/>
          </a:xfrm>
          <a:prstGeom prst="rect">
            <a:avLst/>
          </a:prstGeom>
          <a:noFill/>
        </p:spPr>
        <p:txBody>
          <a:bodyPr wrap="square" anchor="t">
            <a:spAutoFit/>
          </a:bodyPr>
          <a:lstStyle/>
          <a:p>
            <a:pPr algn="l"/>
            <a:r>
              <a:rPr sz="2000" b="1">
                <a:solidFill>
                  <a:srgbClr val="14264B"/>
                </a:solidFill>
                <a:latin typeface="Arial"/>
              </a:rPr>
              <a:t>Probezeit · § 20, § 22 Abs. 1 BBiG</a:t>
            </a:r>
          </a:p>
        </p:txBody>
      </p:sp>
      <p:sp>
        <p:nvSpPr>
          <p:cNvPr id="8" name="TextBox 7"/>
          <p:cNvSpPr txBox="1"/>
          <p:nvPr/>
        </p:nvSpPr>
        <p:spPr>
          <a:xfrm>
            <a:off x="868680" y="2093976"/>
            <a:ext cx="5074920" cy="1655063"/>
          </a:xfrm>
          <a:prstGeom prst="rect">
            <a:avLst/>
          </a:prstGeom>
          <a:noFill/>
        </p:spPr>
        <p:txBody>
          <a:bodyPr wrap="square" anchor="t">
            <a:spAutoFit/>
          </a:bodyPr>
          <a:lstStyle/>
          <a:p>
            <a:pPr algn="l"/>
            <a:r>
              <a:rPr sz="1700" b="0">
                <a:solidFill>
                  <a:srgbClr val="1A2238"/>
                </a:solidFill>
                <a:latin typeface="Arial"/>
              </a:rPr>
              <a:t>Ein bis vier Monate; Kündigung jederzeit ohne Frist, schriftlich</a:t>
            </a:r>
          </a:p>
        </p:txBody>
      </p:sp>
      <p:sp>
        <p:nvSpPr>
          <p:cNvPr id="9" name="Rectangle 8"/>
          <p:cNvSpPr/>
          <p:nvPr/>
        </p:nvSpPr>
        <p:spPr>
          <a:xfrm>
            <a:off x="6263640" y="1508760"/>
            <a:ext cx="5440680" cy="228600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508760"/>
            <a:ext cx="91440" cy="2286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581912"/>
            <a:ext cx="5074920" cy="457200"/>
          </a:xfrm>
          <a:prstGeom prst="rect">
            <a:avLst/>
          </a:prstGeom>
          <a:noFill/>
        </p:spPr>
        <p:txBody>
          <a:bodyPr wrap="square" anchor="t">
            <a:spAutoFit/>
          </a:bodyPr>
          <a:lstStyle/>
          <a:p>
            <a:pPr algn="l"/>
            <a:r>
              <a:rPr sz="2000" b="1">
                <a:solidFill>
                  <a:srgbClr val="14264B"/>
                </a:solidFill>
                <a:latin typeface="Arial"/>
              </a:rPr>
              <a:t>Urlaub · § 19 JArbSchG, § 3 BUrlG</a:t>
            </a:r>
          </a:p>
        </p:txBody>
      </p:sp>
      <p:sp>
        <p:nvSpPr>
          <p:cNvPr id="12" name="TextBox 11"/>
          <p:cNvSpPr txBox="1"/>
          <p:nvPr/>
        </p:nvSpPr>
        <p:spPr>
          <a:xfrm>
            <a:off x="6492240" y="2093976"/>
            <a:ext cx="5074920" cy="1655063"/>
          </a:xfrm>
          <a:prstGeom prst="rect">
            <a:avLst/>
          </a:prstGeom>
          <a:noFill/>
        </p:spPr>
        <p:txBody>
          <a:bodyPr wrap="square" anchor="t">
            <a:spAutoFit/>
          </a:bodyPr>
          <a:lstStyle/>
          <a:p>
            <a:pPr algn="l"/>
            <a:r>
              <a:rPr sz="1700" b="0">
                <a:solidFill>
                  <a:srgbClr val="1A2238"/>
                </a:solidFill>
                <a:latin typeface="Arial"/>
              </a:rPr>
              <a:t>Zu Jahresbeginn unter 16: 30, unter 17: 27, unter 18: 25, ab 18: 24 Werktage</a:t>
            </a:r>
          </a:p>
        </p:txBody>
      </p:sp>
      <p:sp>
        <p:nvSpPr>
          <p:cNvPr id="13" name="Rectangle 12"/>
          <p:cNvSpPr/>
          <p:nvPr/>
        </p:nvSpPr>
        <p:spPr>
          <a:xfrm>
            <a:off x="640080" y="3977639"/>
            <a:ext cx="5440680" cy="228600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3977639"/>
            <a:ext cx="91440" cy="2286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050791"/>
            <a:ext cx="5074920" cy="457200"/>
          </a:xfrm>
          <a:prstGeom prst="rect">
            <a:avLst/>
          </a:prstGeom>
          <a:noFill/>
        </p:spPr>
        <p:txBody>
          <a:bodyPr wrap="square" anchor="t">
            <a:spAutoFit/>
          </a:bodyPr>
          <a:lstStyle/>
          <a:p>
            <a:pPr algn="l"/>
            <a:r>
              <a:rPr sz="2000" b="1">
                <a:solidFill>
                  <a:srgbClr val="14264B"/>
                </a:solidFill>
                <a:latin typeface="Arial"/>
              </a:rPr>
              <a:t>Vergütung · § 17 BBiG</a:t>
            </a:r>
          </a:p>
        </p:txBody>
      </p:sp>
      <p:sp>
        <p:nvSpPr>
          <p:cNvPr id="16" name="TextBox 15"/>
          <p:cNvSpPr txBox="1"/>
          <p:nvPr/>
        </p:nvSpPr>
        <p:spPr>
          <a:xfrm>
            <a:off x="868680" y="4562855"/>
            <a:ext cx="5074920" cy="1655063"/>
          </a:xfrm>
          <a:prstGeom prst="rect">
            <a:avLst/>
          </a:prstGeom>
          <a:noFill/>
        </p:spPr>
        <p:txBody>
          <a:bodyPr wrap="square" anchor="t">
            <a:spAutoFit/>
          </a:bodyPr>
          <a:lstStyle/>
          <a:p>
            <a:pPr algn="l"/>
            <a:r>
              <a:rPr sz="1700" b="0">
                <a:solidFill>
                  <a:srgbClr val="1A2238"/>
                </a:solidFill>
                <a:latin typeface="Arial"/>
              </a:rPr>
              <a:t>Mindestens 724 / 854 / 977 / 1.014 € (1.–4. Jahr, Beginn 2026)</a:t>
            </a:r>
          </a:p>
        </p:txBody>
      </p:sp>
      <p:sp>
        <p:nvSpPr>
          <p:cNvPr id="17" name="Rectangle 16"/>
          <p:cNvSpPr/>
          <p:nvPr/>
        </p:nvSpPr>
        <p:spPr>
          <a:xfrm>
            <a:off x="6263640" y="3977639"/>
            <a:ext cx="5440680" cy="228600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3977639"/>
            <a:ext cx="91440" cy="228600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050791"/>
            <a:ext cx="5074920" cy="457200"/>
          </a:xfrm>
          <a:prstGeom prst="rect">
            <a:avLst/>
          </a:prstGeom>
          <a:noFill/>
        </p:spPr>
        <p:txBody>
          <a:bodyPr wrap="square" anchor="t">
            <a:spAutoFit/>
          </a:bodyPr>
          <a:lstStyle/>
          <a:p>
            <a:pPr algn="l"/>
            <a:r>
              <a:rPr sz="2000" b="1">
                <a:solidFill>
                  <a:srgbClr val="14264B"/>
                </a:solidFill>
                <a:latin typeface="Arial"/>
              </a:rPr>
              <a:t>Kündigung · § 22 Abs. 2 bis 4 BBiG</a:t>
            </a:r>
          </a:p>
        </p:txBody>
      </p:sp>
      <p:sp>
        <p:nvSpPr>
          <p:cNvPr id="20" name="TextBox 19"/>
          <p:cNvSpPr txBox="1"/>
          <p:nvPr/>
        </p:nvSpPr>
        <p:spPr>
          <a:xfrm>
            <a:off x="6492240" y="4562855"/>
            <a:ext cx="5074920" cy="1655063"/>
          </a:xfrm>
          <a:prstGeom prst="rect">
            <a:avLst/>
          </a:prstGeom>
          <a:noFill/>
        </p:spPr>
        <p:txBody>
          <a:bodyPr wrap="square" anchor="t">
            <a:spAutoFit/>
          </a:bodyPr>
          <a:lstStyle/>
          <a:p>
            <a:pPr algn="l"/>
            <a:r>
              <a:rPr sz="1700" b="0">
                <a:solidFill>
                  <a:srgbClr val="1A2238"/>
                </a:solidFill>
                <a:latin typeface="Arial"/>
              </a:rPr>
              <a:t>Fristlos aus wichtigem Grund (innerhalb von zwei Wochen nach Kenntnis) oder durch den Azubi mit vier Wochen Frist bei Berufswechsel; immer schriftlich, mit Gründen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MODUL B: ABSCHLUSS-MINI-QUIZ (6 MINUTEN)</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Fünf neue Situationen</a:t>
            </a:r>
          </a:p>
        </p:txBody>
      </p:sp>
      <p:sp>
        <p:nvSpPr>
          <p:cNvPr id="5" name="Rectangle 4"/>
          <p:cNvSpPr/>
          <p:nvPr/>
        </p:nvSpPr>
        <p:spPr>
          <a:xfrm>
            <a:off x="640080" y="1417320"/>
            <a:ext cx="5486400" cy="150876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91440" cy="15087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444752"/>
            <a:ext cx="5212080" cy="1463039"/>
          </a:xfrm>
          <a:prstGeom prst="rect">
            <a:avLst/>
          </a:prstGeom>
          <a:noFill/>
        </p:spPr>
        <p:txBody>
          <a:bodyPr wrap="square" anchor="t">
            <a:spAutoFit/>
          </a:bodyPr>
          <a:lstStyle/>
          <a:p>
            <a:pPr algn="l"/>
            <a:r>
              <a:rPr sz="1250" b="1">
                <a:solidFill>
                  <a:srgbClr val="F5A800"/>
                </a:solidFill>
                <a:latin typeface="Arial"/>
              </a:rPr>
              <a:t>1  </a:t>
            </a:r>
            <a:r>
              <a:rPr sz="1250" b="1">
                <a:solidFill>
                  <a:srgbClr val="14264B"/>
                </a:solidFill>
                <a:latin typeface="Arial"/>
              </a:rPr>
              <a:t>Eine Auszubildende ist zu Jahresbeginn 15 Jahre alt. Wie viele Werktage Mindesturlaub hat sie?</a:t>
            </a:r>
          </a:p>
          <a:p>
            <a:pPr algn="l">
              <a:spcBef>
                <a:spcPts val="562"/>
              </a:spcBef>
            </a:pPr>
            <a:r>
              <a:rPr sz="1250" b="0">
                <a:solidFill>
                  <a:srgbClr val="1A2238"/>
                </a:solidFill>
                <a:latin typeface="Arial"/>
              </a:rPr>
              <a:t>A 24  ·  B 25  ·  C 27  ·  D 30</a:t>
            </a:r>
          </a:p>
        </p:txBody>
      </p:sp>
      <p:sp>
        <p:nvSpPr>
          <p:cNvPr id="8" name="Rectangle 7"/>
          <p:cNvSpPr/>
          <p:nvPr/>
        </p:nvSpPr>
        <p:spPr>
          <a:xfrm>
            <a:off x="640080" y="3063240"/>
            <a:ext cx="5486400" cy="150876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063240"/>
            <a:ext cx="91440" cy="15087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3090672"/>
            <a:ext cx="5212080" cy="1463039"/>
          </a:xfrm>
          <a:prstGeom prst="rect">
            <a:avLst/>
          </a:prstGeom>
          <a:noFill/>
        </p:spPr>
        <p:txBody>
          <a:bodyPr wrap="square" anchor="t">
            <a:spAutoFit/>
          </a:bodyPr>
          <a:lstStyle/>
          <a:p>
            <a:pPr algn="l"/>
            <a:r>
              <a:rPr sz="1250" b="1">
                <a:solidFill>
                  <a:srgbClr val="F5A800"/>
                </a:solidFill>
                <a:latin typeface="Arial"/>
              </a:rPr>
              <a:t>2  </a:t>
            </a:r>
            <a:r>
              <a:rPr sz="1250" b="1">
                <a:solidFill>
                  <a:srgbClr val="14264B"/>
                </a:solidFill>
                <a:latin typeface="Arial"/>
              </a:rPr>
              <a:t>Ein Betrieb will eine Probezeit von sechs Monaten festlegen. Ist das zulässig?</a:t>
            </a:r>
          </a:p>
          <a:p>
            <a:pPr algn="l">
              <a:spcBef>
                <a:spcPts val="562"/>
              </a:spcBef>
            </a:pPr>
            <a:r>
              <a:rPr sz="1250" b="0">
                <a:solidFill>
                  <a:srgbClr val="1A2238"/>
                </a:solidFill>
                <a:latin typeface="Arial"/>
              </a:rPr>
              <a:t>A Ja, wenn der Azubi zustimmt  ·  B Ja, in großen Betrieben  ·  C Nein, höchstens vier Monate  ·  D Nein, höchstens drei Monate</a:t>
            </a:r>
          </a:p>
        </p:txBody>
      </p:sp>
      <p:sp>
        <p:nvSpPr>
          <p:cNvPr id="11" name="Rectangle 10"/>
          <p:cNvSpPr/>
          <p:nvPr/>
        </p:nvSpPr>
        <p:spPr>
          <a:xfrm>
            <a:off x="640080" y="4709160"/>
            <a:ext cx="5486400" cy="150876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4709160"/>
            <a:ext cx="91440" cy="15087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4736592"/>
            <a:ext cx="5212080" cy="1463039"/>
          </a:xfrm>
          <a:prstGeom prst="rect">
            <a:avLst/>
          </a:prstGeom>
          <a:noFill/>
        </p:spPr>
        <p:txBody>
          <a:bodyPr wrap="square" anchor="t">
            <a:spAutoFit/>
          </a:bodyPr>
          <a:lstStyle/>
          <a:p>
            <a:pPr algn="l"/>
            <a:r>
              <a:rPr sz="1250" b="1">
                <a:solidFill>
                  <a:srgbClr val="F5A800"/>
                </a:solidFill>
                <a:latin typeface="Arial"/>
              </a:rPr>
              <a:t>3  </a:t>
            </a:r>
            <a:r>
              <a:rPr sz="1250" b="1">
                <a:solidFill>
                  <a:srgbClr val="14264B"/>
                </a:solidFill>
                <a:latin typeface="Arial"/>
              </a:rPr>
              <a:t>Ein Azubi kündigt nach der Probezeit mündlich, weil er den Beruf wechseln will. Ist das wirksam?</a:t>
            </a:r>
          </a:p>
          <a:p>
            <a:pPr algn="l">
              <a:spcBef>
                <a:spcPts val="562"/>
              </a:spcBef>
            </a:pPr>
            <a:r>
              <a:rPr sz="1250" b="0">
                <a:solidFill>
                  <a:srgbClr val="1A2238"/>
                </a:solidFill>
                <a:latin typeface="Arial"/>
              </a:rPr>
              <a:t>A Ja, mit vier Wochen Frist  ·  B Ja, ohne Frist  ·  C Nein, die Kündigung muss schriftlich mit Angabe der Gründe erfolgen  ·  D Nein, nur die IHK darf kündigen</a:t>
            </a:r>
          </a:p>
        </p:txBody>
      </p:sp>
      <p:sp>
        <p:nvSpPr>
          <p:cNvPr id="14" name="Rectangle 13"/>
          <p:cNvSpPr/>
          <p:nvPr/>
        </p:nvSpPr>
        <p:spPr>
          <a:xfrm>
            <a:off x="6309360" y="1417320"/>
            <a:ext cx="5486400" cy="233172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417320"/>
            <a:ext cx="91440" cy="233172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444752"/>
            <a:ext cx="5212080" cy="2286000"/>
          </a:xfrm>
          <a:prstGeom prst="rect">
            <a:avLst/>
          </a:prstGeom>
          <a:noFill/>
        </p:spPr>
        <p:txBody>
          <a:bodyPr wrap="square" anchor="t">
            <a:spAutoFit/>
          </a:bodyPr>
          <a:lstStyle/>
          <a:p>
            <a:pPr algn="l"/>
            <a:r>
              <a:rPr sz="1250" b="1">
                <a:solidFill>
                  <a:srgbClr val="F5A800"/>
                </a:solidFill>
                <a:latin typeface="Arial"/>
              </a:rPr>
              <a:t>4  </a:t>
            </a:r>
            <a:r>
              <a:rPr sz="1250" b="1">
                <a:solidFill>
                  <a:srgbClr val="14264B"/>
                </a:solidFill>
                <a:latin typeface="Arial"/>
              </a:rPr>
              <a:t>Ein nicht tarifgebundener Betrieb zahlt im 2. Ausbildungsjahr (Beginn 2026) 800 €. Ist das zulässig?</a:t>
            </a:r>
          </a:p>
          <a:p>
            <a:pPr algn="l">
              <a:spcBef>
                <a:spcPts val="562"/>
              </a:spcBef>
            </a:pPr>
            <a:r>
              <a:rPr sz="1250" b="0">
                <a:solidFill>
                  <a:srgbClr val="1A2238"/>
                </a:solidFill>
                <a:latin typeface="Arial"/>
              </a:rPr>
              <a:t>A Ja, weil es mehr als im 1. Jahr ist  ·  B Ja, wenn der Betrieb nicht tarifgebunden ist  ·  C Nein, im 2. Jahr gelten mindestens 854 €  ·  D Nein, im 2. Jahr gelten mindestens 977 €</a:t>
            </a:r>
          </a:p>
        </p:txBody>
      </p:sp>
      <p:sp>
        <p:nvSpPr>
          <p:cNvPr id="17" name="Rectangle 16"/>
          <p:cNvSpPr/>
          <p:nvPr/>
        </p:nvSpPr>
        <p:spPr>
          <a:xfrm>
            <a:off x="6309360" y="3886200"/>
            <a:ext cx="5486400" cy="233172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3886200"/>
            <a:ext cx="91440" cy="233172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3913632"/>
            <a:ext cx="5212080" cy="2286000"/>
          </a:xfrm>
          <a:prstGeom prst="rect">
            <a:avLst/>
          </a:prstGeom>
          <a:noFill/>
        </p:spPr>
        <p:txBody>
          <a:bodyPr wrap="square" anchor="t">
            <a:spAutoFit/>
          </a:bodyPr>
          <a:lstStyle/>
          <a:p>
            <a:pPr algn="l"/>
            <a:r>
              <a:rPr sz="1250" b="1">
                <a:solidFill>
                  <a:srgbClr val="F5A800"/>
                </a:solidFill>
                <a:latin typeface="Arial"/>
              </a:rPr>
              <a:t>5  </a:t>
            </a:r>
            <a:r>
              <a:rPr sz="1250" b="1">
                <a:solidFill>
                  <a:srgbClr val="14264B"/>
                </a:solidFill>
                <a:latin typeface="Arial"/>
              </a:rPr>
              <a:t>Ein volljähriger Azubi soll an einem Tag 10 Stunden arbeiten; im Durchschnitt von sechs Monaten bleibt es bei 8 Stunden. Ist das zulässig?</a:t>
            </a:r>
          </a:p>
          <a:p>
            <a:pPr algn="l">
              <a:spcBef>
                <a:spcPts val="562"/>
              </a:spcBef>
            </a:pPr>
            <a:r>
              <a:rPr sz="1250" b="0">
                <a:solidFill>
                  <a:srgbClr val="1A2238"/>
                </a:solidFill>
                <a:latin typeface="Arial"/>
              </a:rPr>
              <a:t>A Nein, höchstens 8 Stunden  ·  B Ja, nach dem Arbeitszeitgesetz, wenn der Durchschnitt von 8 Stunden nicht überschritten wird  ·  C Nein, nur mit Zustimmung der IHK  ·  D Ja, dann sind sogar 12 Stunden erlaubt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MODUL B: LÖSUNG</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Lösung: Abschluss-Mini-Quiz</a:t>
            </a:r>
          </a:p>
        </p:txBody>
      </p:sp>
      <p:graphicFrame>
        <p:nvGraphicFramePr>
          <p:cNvPr id="5" name="Table 4"/>
          <p:cNvGraphicFramePr>
            <a:graphicFrameLocks noGrp="1"/>
          </p:cNvGraphicFramePr>
          <p:nvPr/>
        </p:nvGraphicFramePr>
        <p:xfrm>
          <a:off x="640080" y="1463040"/>
          <a:ext cx="10972800" cy="4663440"/>
        </p:xfrm>
        <a:graphic>
          <a:graphicData uri="http://schemas.openxmlformats.org/drawingml/2006/table">
            <a:tbl>
              <a:tblPr firstRow="0" bandRow="0">
                <a:tableStyleId>{5C22544A-7EE6-4342-B048-85BDC9FD1C3A}</a:tableStyleId>
              </a:tblPr>
              <a:tblGrid>
                <a:gridCol w="822960"/>
                <a:gridCol w="6949440"/>
                <a:gridCol w="3200400"/>
              </a:tblGrid>
              <a:tr h="777240">
                <a:tc>
                  <a:txBody>
                    <a:bodyPr wrap="square"/>
                    <a:lstStyle/>
                    <a:p>
                      <a:r>
                        <a:rPr sz="1700" b="1">
                          <a:solidFill>
                            <a:srgbClr val="FFFFFF"/>
                          </a:solidFill>
                          <a:latin typeface="Arial"/>
                        </a:rPr>
                        <a:t>Nr.</a:t>
                      </a:r>
                    </a:p>
                  </a:txBody>
                  <a:tcPr marL="91440" marR="91440" marT="27432" marB="27432" anchor="ctr">
                    <a:solidFill>
                      <a:srgbClr val="14264B"/>
                    </a:solidFill>
                  </a:tcPr>
                </a:tc>
                <a:tc>
                  <a:txBody>
                    <a:bodyPr wrap="square"/>
                    <a:lstStyle/>
                    <a:p>
                      <a:r>
                        <a:rPr sz="1700" b="1">
                          <a:solidFill>
                            <a:srgbClr val="FFFFFF"/>
                          </a:solidFill>
                          <a:latin typeface="Arial"/>
                        </a:rPr>
                        <a:t>Lösung</a:t>
                      </a:r>
                    </a:p>
                  </a:txBody>
                  <a:tcPr marL="91440" marR="91440" marT="27432" marB="27432" anchor="ctr">
                    <a:solidFill>
                      <a:srgbClr val="14264B"/>
                    </a:solidFill>
                  </a:tcPr>
                </a:tc>
                <a:tc>
                  <a:txBody>
                    <a:bodyPr wrap="square"/>
                    <a:lstStyle/>
                    <a:p>
                      <a:r>
                        <a:rPr sz="1700" b="1">
                          <a:solidFill>
                            <a:srgbClr val="FFFFFF"/>
                          </a:solidFill>
                          <a:latin typeface="Arial"/>
                        </a:rPr>
                        <a:t>Paragraf</a:t>
                      </a:r>
                    </a:p>
                  </a:txBody>
                  <a:tcPr marL="91440" marR="91440" marT="27432" marB="27432" anchor="ctr">
                    <a:solidFill>
                      <a:srgbClr val="14264B"/>
                    </a:solidFill>
                  </a:tcPr>
                </a:tc>
              </a:tr>
              <a:tr h="777240">
                <a:tc>
                  <a:txBody>
                    <a:bodyPr wrap="square"/>
                    <a:lstStyle/>
                    <a:p>
                      <a:r>
                        <a:rPr sz="1700" b="1">
                          <a:solidFill>
                            <a:srgbClr val="14264B"/>
                          </a:solidFill>
                          <a:latin typeface="Arial"/>
                        </a:rPr>
                        <a:t>1</a:t>
                      </a:r>
                    </a:p>
                  </a:txBody>
                  <a:tcPr marL="91440" marR="91440" marT="27432" marB="27432" anchor="ctr">
                    <a:solidFill>
                      <a:srgbClr val="FFFFFF"/>
                    </a:solidFill>
                  </a:tcPr>
                </a:tc>
                <a:tc>
                  <a:txBody>
                    <a:bodyPr wrap="square"/>
                    <a:lstStyle/>
                    <a:p>
                      <a:r>
                        <a:rPr sz="1700">
                          <a:solidFill>
                            <a:srgbClr val="1A2238"/>
                          </a:solidFill>
                          <a:latin typeface="Arial"/>
                        </a:rPr>
                        <a:t>D – 30</a:t>
                      </a:r>
                    </a:p>
                  </a:txBody>
                  <a:tcPr marL="91440" marR="91440" marT="27432" marB="27432" anchor="ctr">
                    <a:solidFill>
                      <a:srgbClr val="FFFFFF"/>
                    </a:solidFill>
                  </a:tcPr>
                </a:tc>
                <a:tc>
                  <a:txBody>
                    <a:bodyPr wrap="square"/>
                    <a:lstStyle/>
                    <a:p>
                      <a:r>
                        <a:rPr sz="1700">
                          <a:solidFill>
                            <a:srgbClr val="1A2238"/>
                          </a:solidFill>
                          <a:latin typeface="Arial"/>
                        </a:rPr>
                        <a:t>§ 19 JArbSchG (unter 16 Jahren)</a:t>
                      </a:r>
                    </a:p>
                  </a:txBody>
                  <a:tcPr marL="91440" marR="91440" marT="27432" marB="27432" anchor="ctr">
                    <a:solidFill>
                      <a:srgbClr val="FFFFFF"/>
                    </a:solidFill>
                  </a:tcPr>
                </a:tc>
              </a:tr>
              <a:tr h="777240">
                <a:tc>
                  <a:txBody>
                    <a:bodyPr wrap="square"/>
                    <a:lstStyle/>
                    <a:p>
                      <a:r>
                        <a:rPr sz="1700" b="1">
                          <a:solidFill>
                            <a:srgbClr val="14264B"/>
                          </a:solidFill>
                          <a:latin typeface="Arial"/>
                        </a:rPr>
                        <a:t>2</a:t>
                      </a:r>
                    </a:p>
                  </a:txBody>
                  <a:tcPr marL="91440" marR="91440" marT="27432" marB="27432" anchor="ctr">
                    <a:solidFill>
                      <a:srgbClr val="F6F8FC"/>
                    </a:solidFill>
                  </a:tcPr>
                </a:tc>
                <a:tc>
                  <a:txBody>
                    <a:bodyPr wrap="square"/>
                    <a:lstStyle/>
                    <a:p>
                      <a:r>
                        <a:rPr sz="1700">
                          <a:solidFill>
                            <a:srgbClr val="1A2238"/>
                          </a:solidFill>
                          <a:latin typeface="Arial"/>
                        </a:rPr>
                        <a:t>C – Nein, höchstens vier Monate</a:t>
                      </a:r>
                    </a:p>
                  </a:txBody>
                  <a:tcPr marL="91440" marR="91440" marT="27432" marB="27432" anchor="ctr">
                    <a:solidFill>
                      <a:srgbClr val="F6F8FC"/>
                    </a:solidFill>
                  </a:tcPr>
                </a:tc>
                <a:tc>
                  <a:txBody>
                    <a:bodyPr wrap="square"/>
                    <a:lstStyle/>
                    <a:p>
                      <a:r>
                        <a:rPr sz="1700">
                          <a:solidFill>
                            <a:srgbClr val="1A2238"/>
                          </a:solidFill>
                          <a:latin typeface="Arial"/>
                        </a:rPr>
                        <a:t>§ 20 BBiG</a:t>
                      </a:r>
                    </a:p>
                  </a:txBody>
                  <a:tcPr marL="91440" marR="91440" marT="27432" marB="27432" anchor="ctr">
                    <a:solidFill>
                      <a:srgbClr val="F6F8FC"/>
                    </a:solidFill>
                  </a:tcPr>
                </a:tc>
              </a:tr>
              <a:tr h="777240">
                <a:tc>
                  <a:txBody>
                    <a:bodyPr wrap="square"/>
                    <a:lstStyle/>
                    <a:p>
                      <a:r>
                        <a:rPr sz="1700" b="1">
                          <a:solidFill>
                            <a:srgbClr val="14264B"/>
                          </a:solidFill>
                          <a:latin typeface="Arial"/>
                        </a:rPr>
                        <a:t>3</a:t>
                      </a:r>
                    </a:p>
                  </a:txBody>
                  <a:tcPr marL="91440" marR="91440" marT="27432" marB="27432" anchor="ctr">
                    <a:solidFill>
                      <a:srgbClr val="FFFFFF"/>
                    </a:solidFill>
                  </a:tcPr>
                </a:tc>
                <a:tc>
                  <a:txBody>
                    <a:bodyPr wrap="square"/>
                    <a:lstStyle/>
                    <a:p>
                      <a:r>
                        <a:rPr sz="1700">
                          <a:solidFill>
                            <a:srgbClr val="1A2238"/>
                          </a:solidFill>
                          <a:latin typeface="Arial"/>
                        </a:rPr>
                        <a:t>C – Nein, die Kündigung muss schriftlich mit Angabe der Gründe erfolgen</a:t>
                      </a:r>
                    </a:p>
                  </a:txBody>
                  <a:tcPr marL="91440" marR="91440" marT="27432" marB="27432" anchor="ctr">
                    <a:solidFill>
                      <a:srgbClr val="FFFFFF"/>
                    </a:solidFill>
                  </a:tcPr>
                </a:tc>
                <a:tc>
                  <a:txBody>
                    <a:bodyPr wrap="square"/>
                    <a:lstStyle/>
                    <a:p>
                      <a:r>
                        <a:rPr sz="1700">
                          <a:solidFill>
                            <a:srgbClr val="1A2238"/>
                          </a:solidFill>
                          <a:latin typeface="Arial"/>
                        </a:rPr>
                        <a:t>§ 22 Abs. 2 und 3 BBiG</a:t>
                      </a:r>
                    </a:p>
                  </a:txBody>
                  <a:tcPr marL="91440" marR="91440" marT="27432" marB="27432" anchor="ctr">
                    <a:solidFill>
                      <a:srgbClr val="FFFFFF"/>
                    </a:solidFill>
                  </a:tcPr>
                </a:tc>
              </a:tr>
              <a:tr h="777240">
                <a:tc>
                  <a:txBody>
                    <a:bodyPr wrap="square"/>
                    <a:lstStyle/>
                    <a:p>
                      <a:r>
                        <a:rPr sz="1700" b="1">
                          <a:solidFill>
                            <a:srgbClr val="14264B"/>
                          </a:solidFill>
                          <a:latin typeface="Arial"/>
                        </a:rPr>
                        <a:t>4</a:t>
                      </a:r>
                    </a:p>
                  </a:txBody>
                  <a:tcPr marL="91440" marR="91440" marT="27432" marB="27432" anchor="ctr">
                    <a:solidFill>
                      <a:srgbClr val="F6F8FC"/>
                    </a:solidFill>
                  </a:tcPr>
                </a:tc>
                <a:tc>
                  <a:txBody>
                    <a:bodyPr wrap="square"/>
                    <a:lstStyle/>
                    <a:p>
                      <a:r>
                        <a:rPr sz="1700">
                          <a:solidFill>
                            <a:srgbClr val="1A2238"/>
                          </a:solidFill>
                          <a:latin typeface="Arial"/>
                        </a:rPr>
                        <a:t>C – Nein, im 2. Jahr gelten mindestens 854 €</a:t>
                      </a:r>
                    </a:p>
                  </a:txBody>
                  <a:tcPr marL="91440" marR="91440" marT="27432" marB="27432" anchor="ctr">
                    <a:solidFill>
                      <a:srgbClr val="F6F8FC"/>
                    </a:solidFill>
                  </a:tcPr>
                </a:tc>
                <a:tc>
                  <a:txBody>
                    <a:bodyPr wrap="square"/>
                    <a:lstStyle/>
                    <a:p>
                      <a:r>
                        <a:rPr sz="1700">
                          <a:solidFill>
                            <a:srgbClr val="1A2238"/>
                          </a:solidFill>
                          <a:latin typeface="Arial"/>
                        </a:rPr>
                        <a:t>§ 17 BBiG</a:t>
                      </a:r>
                    </a:p>
                  </a:txBody>
                  <a:tcPr marL="91440" marR="91440" marT="27432" marB="27432" anchor="ctr">
                    <a:solidFill>
                      <a:srgbClr val="F6F8FC"/>
                    </a:solidFill>
                  </a:tcPr>
                </a:tc>
              </a:tr>
              <a:tr h="777240">
                <a:tc>
                  <a:txBody>
                    <a:bodyPr wrap="square"/>
                    <a:lstStyle/>
                    <a:p>
                      <a:r>
                        <a:rPr sz="1700" b="1">
                          <a:solidFill>
                            <a:srgbClr val="14264B"/>
                          </a:solidFill>
                          <a:latin typeface="Arial"/>
                        </a:rPr>
                        <a:t>5</a:t>
                      </a:r>
                    </a:p>
                  </a:txBody>
                  <a:tcPr marL="91440" marR="91440" marT="27432" marB="27432" anchor="ctr">
                    <a:solidFill>
                      <a:srgbClr val="FFFFFF"/>
                    </a:solidFill>
                  </a:tcPr>
                </a:tc>
                <a:tc>
                  <a:txBody>
                    <a:bodyPr wrap="square"/>
                    <a:lstStyle/>
                    <a:p>
                      <a:r>
                        <a:rPr sz="1700">
                          <a:solidFill>
                            <a:srgbClr val="1A2238"/>
                          </a:solidFill>
                          <a:latin typeface="Arial"/>
                        </a:rPr>
                        <a:t>B – Ja, nach dem Arbeitszeitgesetz, wenn der Durchschnitt von 8 Stunden nicht überschritten wird</a:t>
                      </a:r>
                    </a:p>
                  </a:txBody>
                  <a:tcPr marL="91440" marR="91440" marT="27432" marB="27432" anchor="ctr">
                    <a:solidFill>
                      <a:srgbClr val="FFFFFF"/>
                    </a:solidFill>
                  </a:tcPr>
                </a:tc>
                <a:tc>
                  <a:txBody>
                    <a:bodyPr wrap="square"/>
                    <a:lstStyle/>
                    <a:p>
                      <a:r>
                        <a:rPr sz="1700">
                          <a:solidFill>
                            <a:srgbClr val="1A2238"/>
                          </a:solidFill>
                          <a:latin typeface="Arial"/>
                        </a:rPr>
                        <a:t>§ 3 ArbZG</a:t>
                      </a:r>
                    </a:p>
                  </a:txBody>
                  <a:tcPr marL="91440" marR="91440" marT="27432" marB="27432"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DAS WICHTIGSTE AUF EINER SEITE</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Merkblatt und Zusammenfassung</a:t>
            </a:r>
          </a:p>
        </p:txBody>
      </p:sp>
      <p:sp>
        <p:nvSpPr>
          <p:cNvPr id="5" name="Rectangle 4"/>
          <p:cNvSpPr/>
          <p:nvPr/>
        </p:nvSpPr>
        <p:spPr>
          <a:xfrm>
            <a:off x="640080" y="1554480"/>
            <a:ext cx="3520440" cy="23774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91440" cy="23774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27632"/>
            <a:ext cx="3154680" cy="457200"/>
          </a:xfrm>
          <a:prstGeom prst="rect">
            <a:avLst/>
          </a:prstGeom>
          <a:noFill/>
        </p:spPr>
        <p:txBody>
          <a:bodyPr wrap="square" anchor="t">
            <a:spAutoFit/>
          </a:bodyPr>
          <a:lstStyle/>
          <a:p>
            <a:pPr algn="l"/>
            <a:r>
              <a:rPr sz="2200" b="1">
                <a:solidFill>
                  <a:srgbClr val="14264B"/>
                </a:solidFill>
                <a:latin typeface="Arial"/>
              </a:rPr>
              <a:t>Probezeit</a:t>
            </a:r>
          </a:p>
        </p:txBody>
      </p:sp>
      <p:sp>
        <p:nvSpPr>
          <p:cNvPr id="8" name="TextBox 7"/>
          <p:cNvSpPr txBox="1"/>
          <p:nvPr/>
        </p:nvSpPr>
        <p:spPr>
          <a:xfrm>
            <a:off x="868680" y="2187244"/>
            <a:ext cx="3154680" cy="1698955"/>
          </a:xfrm>
          <a:prstGeom prst="rect">
            <a:avLst/>
          </a:prstGeom>
          <a:noFill/>
        </p:spPr>
        <p:txBody>
          <a:bodyPr wrap="square" anchor="t">
            <a:spAutoFit/>
          </a:bodyPr>
          <a:lstStyle/>
          <a:p>
            <a:pPr algn="l"/>
            <a:r>
              <a:rPr sz="2000" b="0">
                <a:solidFill>
                  <a:srgbClr val="1A2238"/>
                </a:solidFill>
                <a:latin typeface="Arial"/>
              </a:rPr>
              <a:t>ein bis vier Monate</a:t>
            </a:r>
          </a:p>
        </p:txBody>
      </p:sp>
      <p:sp>
        <p:nvSpPr>
          <p:cNvPr id="9" name="Rectangle 8"/>
          <p:cNvSpPr/>
          <p:nvPr/>
        </p:nvSpPr>
        <p:spPr>
          <a:xfrm>
            <a:off x="4389120" y="1554480"/>
            <a:ext cx="3520440" cy="23774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554480"/>
            <a:ext cx="91440" cy="23774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627632"/>
            <a:ext cx="3154680" cy="457200"/>
          </a:xfrm>
          <a:prstGeom prst="rect">
            <a:avLst/>
          </a:prstGeom>
          <a:noFill/>
        </p:spPr>
        <p:txBody>
          <a:bodyPr wrap="square" anchor="t">
            <a:spAutoFit/>
          </a:bodyPr>
          <a:lstStyle/>
          <a:p>
            <a:pPr algn="l"/>
            <a:r>
              <a:rPr sz="2200" b="1">
                <a:solidFill>
                  <a:srgbClr val="14264B"/>
                </a:solidFill>
                <a:latin typeface="Arial"/>
              </a:rPr>
              <a:t>Vergütung 2026</a:t>
            </a:r>
          </a:p>
        </p:txBody>
      </p:sp>
      <p:sp>
        <p:nvSpPr>
          <p:cNvPr id="12" name="TextBox 11"/>
          <p:cNvSpPr txBox="1"/>
          <p:nvPr/>
        </p:nvSpPr>
        <p:spPr>
          <a:xfrm>
            <a:off x="4617720" y="2187244"/>
            <a:ext cx="3154680" cy="1698955"/>
          </a:xfrm>
          <a:prstGeom prst="rect">
            <a:avLst/>
          </a:prstGeom>
          <a:noFill/>
        </p:spPr>
        <p:txBody>
          <a:bodyPr wrap="square" anchor="t">
            <a:spAutoFit/>
          </a:bodyPr>
          <a:lstStyle/>
          <a:p>
            <a:pPr algn="l"/>
            <a:r>
              <a:rPr sz="2000" b="0">
                <a:solidFill>
                  <a:srgbClr val="1A2238"/>
                </a:solidFill>
                <a:latin typeface="Arial"/>
              </a:rPr>
              <a:t>724 / 854 / 977 / 1.014 €</a:t>
            </a:r>
          </a:p>
        </p:txBody>
      </p:sp>
      <p:sp>
        <p:nvSpPr>
          <p:cNvPr id="13" name="Rectangle 12"/>
          <p:cNvSpPr/>
          <p:nvPr/>
        </p:nvSpPr>
        <p:spPr>
          <a:xfrm>
            <a:off x="8138159" y="1554480"/>
            <a:ext cx="3520440" cy="23774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59" y="1554480"/>
            <a:ext cx="91440" cy="23774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59" y="1627632"/>
            <a:ext cx="3154680" cy="457200"/>
          </a:xfrm>
          <a:prstGeom prst="rect">
            <a:avLst/>
          </a:prstGeom>
          <a:noFill/>
        </p:spPr>
        <p:txBody>
          <a:bodyPr wrap="square" anchor="t">
            <a:spAutoFit/>
          </a:bodyPr>
          <a:lstStyle/>
          <a:p>
            <a:pPr algn="l"/>
            <a:r>
              <a:rPr sz="2200" b="1">
                <a:solidFill>
                  <a:srgbClr val="14264B"/>
                </a:solidFill>
                <a:latin typeface="Arial"/>
              </a:rPr>
              <a:t>Urlaub</a:t>
            </a:r>
          </a:p>
        </p:txBody>
      </p:sp>
      <p:sp>
        <p:nvSpPr>
          <p:cNvPr id="16" name="TextBox 15"/>
          <p:cNvSpPr txBox="1"/>
          <p:nvPr/>
        </p:nvSpPr>
        <p:spPr>
          <a:xfrm>
            <a:off x="8366759" y="2187244"/>
            <a:ext cx="3154680" cy="1698955"/>
          </a:xfrm>
          <a:prstGeom prst="rect">
            <a:avLst/>
          </a:prstGeom>
          <a:noFill/>
        </p:spPr>
        <p:txBody>
          <a:bodyPr wrap="square" anchor="t">
            <a:spAutoFit/>
          </a:bodyPr>
          <a:lstStyle/>
          <a:p>
            <a:pPr algn="l"/>
            <a:r>
              <a:rPr sz="2000" b="0">
                <a:solidFill>
                  <a:srgbClr val="1A2238"/>
                </a:solidFill>
                <a:latin typeface="Arial"/>
              </a:rPr>
              <a:t>ab 18 Jahren 24 Werktage, darunter 25, 27 oder 30</a:t>
            </a:r>
          </a:p>
        </p:txBody>
      </p:sp>
      <p:sp>
        <p:nvSpPr>
          <p:cNvPr id="17" name="Rectangle 16"/>
          <p:cNvSpPr/>
          <p:nvPr/>
        </p:nvSpPr>
        <p:spPr>
          <a:xfrm>
            <a:off x="640080" y="4114800"/>
            <a:ext cx="3520440" cy="23774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4114800"/>
            <a:ext cx="91440" cy="23774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187952"/>
            <a:ext cx="3154680" cy="457200"/>
          </a:xfrm>
          <a:prstGeom prst="rect">
            <a:avLst/>
          </a:prstGeom>
          <a:noFill/>
        </p:spPr>
        <p:txBody>
          <a:bodyPr wrap="square" anchor="t">
            <a:spAutoFit/>
          </a:bodyPr>
          <a:lstStyle/>
          <a:p>
            <a:pPr algn="l"/>
            <a:r>
              <a:rPr sz="2200" b="1">
                <a:solidFill>
                  <a:srgbClr val="14264B"/>
                </a:solidFill>
                <a:latin typeface="Arial"/>
              </a:rPr>
              <a:t>Kündigung</a:t>
            </a:r>
          </a:p>
        </p:txBody>
      </p:sp>
      <p:sp>
        <p:nvSpPr>
          <p:cNvPr id="20" name="TextBox 19"/>
          <p:cNvSpPr txBox="1"/>
          <p:nvPr/>
        </p:nvSpPr>
        <p:spPr>
          <a:xfrm>
            <a:off x="868680" y="4747564"/>
            <a:ext cx="3154680" cy="1698955"/>
          </a:xfrm>
          <a:prstGeom prst="rect">
            <a:avLst/>
          </a:prstGeom>
          <a:noFill/>
        </p:spPr>
        <p:txBody>
          <a:bodyPr wrap="square" anchor="t">
            <a:spAutoFit/>
          </a:bodyPr>
          <a:lstStyle/>
          <a:p>
            <a:pPr algn="l"/>
            <a:r>
              <a:rPr sz="1700" b="0">
                <a:solidFill>
                  <a:srgbClr val="1A2238"/>
                </a:solidFill>
                <a:latin typeface="Arial"/>
              </a:rPr>
              <a:t>Probezeit: jederzeit ohne Frist. Danach fristlos aus wichtigem Grund oder durch den Azubi mit 4 Wochen Frist beim Berufswechsel – immer schriftlich</a:t>
            </a:r>
          </a:p>
        </p:txBody>
      </p:sp>
      <p:sp>
        <p:nvSpPr>
          <p:cNvPr id="21" name="Rectangle 20"/>
          <p:cNvSpPr/>
          <p:nvPr/>
        </p:nvSpPr>
        <p:spPr>
          <a:xfrm>
            <a:off x="4389120" y="4114800"/>
            <a:ext cx="3520440" cy="23774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4114800"/>
            <a:ext cx="91440" cy="23774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7720" y="4187952"/>
            <a:ext cx="3154680" cy="457200"/>
          </a:xfrm>
          <a:prstGeom prst="rect">
            <a:avLst/>
          </a:prstGeom>
          <a:noFill/>
        </p:spPr>
        <p:txBody>
          <a:bodyPr wrap="square" anchor="t">
            <a:spAutoFit/>
          </a:bodyPr>
          <a:lstStyle/>
          <a:p>
            <a:pPr algn="l"/>
            <a:r>
              <a:rPr sz="2200" b="1">
                <a:solidFill>
                  <a:srgbClr val="14264B"/>
                </a:solidFill>
                <a:latin typeface="Arial"/>
              </a:rPr>
              <a:t>Jugendliche</a:t>
            </a:r>
          </a:p>
        </p:txBody>
      </p:sp>
      <p:sp>
        <p:nvSpPr>
          <p:cNvPr id="24" name="TextBox 23"/>
          <p:cNvSpPr txBox="1"/>
          <p:nvPr/>
        </p:nvSpPr>
        <p:spPr>
          <a:xfrm>
            <a:off x="4617720" y="4747564"/>
            <a:ext cx="3154680" cy="1698955"/>
          </a:xfrm>
          <a:prstGeom prst="rect">
            <a:avLst/>
          </a:prstGeom>
          <a:noFill/>
        </p:spPr>
        <p:txBody>
          <a:bodyPr wrap="square" anchor="t">
            <a:spAutoFit/>
          </a:bodyPr>
          <a:lstStyle/>
          <a:p>
            <a:pPr algn="l"/>
            <a:r>
              <a:rPr sz="2000" b="0">
                <a:solidFill>
                  <a:srgbClr val="1A2238"/>
                </a:solidFill>
                <a:latin typeface="Arial"/>
              </a:rPr>
              <a:t>höchstens 8 Stunden täglich</a:t>
            </a:r>
          </a:p>
        </p:txBody>
      </p:sp>
      <p:sp>
        <p:nvSpPr>
          <p:cNvPr id="25" name="Rectangle 24"/>
          <p:cNvSpPr/>
          <p:nvPr/>
        </p:nvSpPr>
        <p:spPr>
          <a:xfrm>
            <a:off x="8138159" y="4114800"/>
            <a:ext cx="3520440" cy="23774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59" y="4114800"/>
            <a:ext cx="91440" cy="23774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59" y="4187952"/>
            <a:ext cx="3154680" cy="457200"/>
          </a:xfrm>
          <a:prstGeom prst="rect">
            <a:avLst/>
          </a:prstGeom>
          <a:noFill/>
        </p:spPr>
        <p:txBody>
          <a:bodyPr wrap="square" anchor="t">
            <a:spAutoFit/>
          </a:bodyPr>
          <a:lstStyle/>
          <a:p>
            <a:pPr algn="l"/>
            <a:r>
              <a:rPr sz="2200" b="1">
                <a:solidFill>
                  <a:srgbClr val="14264B"/>
                </a:solidFill>
                <a:latin typeface="Arial"/>
              </a:rPr>
              <a:t>Vertrag</a:t>
            </a:r>
          </a:p>
        </p:txBody>
      </p:sp>
      <p:sp>
        <p:nvSpPr>
          <p:cNvPr id="28" name="TextBox 27"/>
          <p:cNvSpPr txBox="1"/>
          <p:nvPr/>
        </p:nvSpPr>
        <p:spPr>
          <a:xfrm>
            <a:off x="8366759" y="4747564"/>
            <a:ext cx="3154680" cy="1698955"/>
          </a:xfrm>
          <a:prstGeom prst="rect">
            <a:avLst/>
          </a:prstGeom>
          <a:noFill/>
        </p:spPr>
        <p:txBody>
          <a:bodyPr wrap="square" anchor="t">
            <a:spAutoFit/>
          </a:bodyPr>
          <a:lstStyle/>
          <a:p>
            <a:pPr algn="l"/>
            <a:r>
              <a:rPr sz="2000" b="0">
                <a:solidFill>
                  <a:srgbClr val="1A2238"/>
                </a:solidFill>
                <a:latin typeface="Arial"/>
              </a:rPr>
              <a:t>seit August 2024 in Textform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ZIEL ERREICHT?</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Evaluation und Reflexion</a:t>
            </a:r>
          </a:p>
        </p:txBody>
      </p:sp>
      <p:sp>
        <p:nvSpPr>
          <p:cNvPr id="5" name="Rectangle 4"/>
          <p:cNvSpPr/>
          <p:nvPr/>
        </p:nvSpPr>
        <p:spPr>
          <a:xfrm>
            <a:off x="640080" y="1508760"/>
            <a:ext cx="5440680" cy="141732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08760"/>
            <a:ext cx="91440" cy="141732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81912"/>
            <a:ext cx="5074920" cy="457200"/>
          </a:xfrm>
          <a:prstGeom prst="rect">
            <a:avLst/>
          </a:prstGeom>
          <a:noFill/>
        </p:spPr>
        <p:txBody>
          <a:bodyPr wrap="square" anchor="t">
            <a:spAutoFit/>
          </a:bodyPr>
          <a:lstStyle/>
          <a:p>
            <a:pPr algn="l"/>
            <a:r>
              <a:rPr sz="2000" b="1">
                <a:solidFill>
                  <a:srgbClr val="14264B"/>
                </a:solidFill>
                <a:latin typeface="Arial"/>
              </a:rPr>
              <a:t>Ergebnis Vertrags-Detektiv</a:t>
            </a:r>
          </a:p>
        </p:txBody>
      </p:sp>
      <p:sp>
        <p:nvSpPr>
          <p:cNvPr id="8" name="TextBox 7"/>
          <p:cNvSpPr txBox="1"/>
          <p:nvPr/>
        </p:nvSpPr>
        <p:spPr>
          <a:xfrm>
            <a:off x="868680" y="2093976"/>
            <a:ext cx="5074920" cy="786384"/>
          </a:xfrm>
          <a:prstGeom prst="rect">
            <a:avLst/>
          </a:prstGeom>
          <a:noFill/>
        </p:spPr>
        <p:txBody>
          <a:bodyPr wrap="square" anchor="t">
            <a:spAutoFit/>
          </a:bodyPr>
          <a:lstStyle/>
          <a:p>
            <a:pPr algn="l"/>
            <a:r>
              <a:rPr sz="2200" b="1">
                <a:solidFill>
                  <a:srgbClr val="14264B"/>
                </a:solidFill>
                <a:latin typeface="Arial"/>
              </a:rPr>
              <a:t>[eintragen]</a:t>
            </a:r>
            <a:r>
              <a:rPr sz="2200" b="0">
                <a:solidFill>
                  <a:srgbClr val="1A2238"/>
                </a:solidFill>
                <a:latin typeface="Arial"/>
              </a:rPr>
              <a:t> von 5 Fehlern gefunden</a:t>
            </a:r>
          </a:p>
        </p:txBody>
      </p:sp>
      <p:sp>
        <p:nvSpPr>
          <p:cNvPr id="9" name="Rectangle 8"/>
          <p:cNvSpPr/>
          <p:nvPr/>
        </p:nvSpPr>
        <p:spPr>
          <a:xfrm>
            <a:off x="640080" y="3108960"/>
            <a:ext cx="5440680" cy="333756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108960"/>
            <a:ext cx="91440" cy="33375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182112"/>
            <a:ext cx="5120640" cy="457200"/>
          </a:xfrm>
          <a:prstGeom prst="rect">
            <a:avLst/>
          </a:prstGeom>
          <a:noFill/>
        </p:spPr>
        <p:txBody>
          <a:bodyPr wrap="square" anchor="t">
            <a:spAutoFit/>
          </a:bodyPr>
          <a:lstStyle/>
          <a:p>
            <a:pPr algn="l"/>
            <a:r>
              <a:rPr sz="2000" b="1">
                <a:solidFill>
                  <a:srgbClr val="14264B"/>
                </a:solidFill>
                <a:latin typeface="Arial"/>
              </a:rPr>
              <a:t>Verbesserungsvorschläge</a:t>
            </a:r>
          </a:p>
        </p:txBody>
      </p:sp>
      <p:sp>
        <p:nvSpPr>
          <p:cNvPr id="12" name="TextBox 11"/>
          <p:cNvSpPr txBox="1"/>
          <p:nvPr/>
        </p:nvSpPr>
        <p:spPr>
          <a:xfrm>
            <a:off x="868680" y="3703320"/>
            <a:ext cx="5120640" cy="2743200"/>
          </a:xfrm>
          <a:prstGeom prst="rect">
            <a:avLst/>
          </a:prstGeom>
          <a:noFill/>
        </p:spPr>
        <p:txBody>
          <a:bodyPr wrap="square" anchor="t">
            <a:spAutoFit/>
          </a:bodyPr>
          <a:lstStyle/>
          <a:p>
            <a:pPr algn="l"/>
            <a:r>
              <a:rPr sz="1600" b="0">
                <a:solidFill>
                  <a:srgbClr val="1A2238"/>
                </a:solidFill>
                <a:latin typeface="Arial"/>
              </a:rPr>
              <a:t>1  Booklet jährlich aktualisieren (die Mindestausbildungsvergütung wird jedes Jahr neu festgelegt)</a:t>
            </a:r>
          </a:p>
          <a:p>
            <a:pPr algn="l">
              <a:spcBef>
                <a:spcPts val="720"/>
              </a:spcBef>
            </a:pPr>
            <a:r>
              <a:rPr sz="1600" b="0">
                <a:solidFill>
                  <a:srgbClr val="1A2238"/>
                </a:solidFill>
                <a:latin typeface="Arial"/>
              </a:rPr>
              <a:t>2  Probelesen durch Mitschüler früher einplanen</a:t>
            </a:r>
          </a:p>
          <a:p>
            <a:pPr algn="l">
              <a:spcBef>
                <a:spcPts val="720"/>
              </a:spcBef>
            </a:pPr>
            <a:r>
              <a:rPr sz="1600" b="0">
                <a:solidFill>
                  <a:srgbClr val="1A2238"/>
                </a:solidFill>
                <a:latin typeface="Arial"/>
              </a:rPr>
              <a:t>3  [eigener Vorschlag]</a:t>
            </a:r>
          </a:p>
        </p:txBody>
      </p:sp>
      <p:sp>
        <p:nvSpPr>
          <p:cNvPr id="13" name="Rectangle 12"/>
          <p:cNvSpPr/>
          <p:nvPr/>
        </p:nvSpPr>
        <p:spPr>
          <a:xfrm>
            <a:off x="6263640" y="1508760"/>
            <a:ext cx="5303520" cy="246888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508760"/>
            <a:ext cx="91440" cy="246888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581912"/>
            <a:ext cx="4937759" cy="457200"/>
          </a:xfrm>
          <a:prstGeom prst="rect">
            <a:avLst/>
          </a:prstGeom>
          <a:noFill/>
        </p:spPr>
        <p:txBody>
          <a:bodyPr wrap="square" anchor="t">
            <a:spAutoFit/>
          </a:bodyPr>
          <a:lstStyle/>
          <a:p>
            <a:pPr algn="l"/>
            <a:r>
              <a:rPr sz="2000" b="1">
                <a:solidFill>
                  <a:srgbClr val="14264B"/>
                </a:solidFill>
                <a:latin typeface="Arial"/>
              </a:rPr>
              <a:t>Reflexion</a:t>
            </a:r>
          </a:p>
        </p:txBody>
      </p:sp>
      <p:sp>
        <p:nvSpPr>
          <p:cNvPr id="16" name="TextBox 15"/>
          <p:cNvSpPr txBox="1"/>
          <p:nvPr/>
        </p:nvSpPr>
        <p:spPr>
          <a:xfrm>
            <a:off x="6492240" y="2093976"/>
            <a:ext cx="4937759" cy="1837944"/>
          </a:xfrm>
          <a:prstGeom prst="rect">
            <a:avLst/>
          </a:prstGeom>
          <a:noFill/>
        </p:spPr>
        <p:txBody>
          <a:bodyPr wrap="square" anchor="t">
            <a:spAutoFit/>
          </a:bodyPr>
          <a:lstStyle/>
          <a:p>
            <a:pPr algn="l"/>
            <a:r>
              <a:rPr sz="2000" b="1">
                <a:solidFill>
                  <a:srgbClr val="14264B"/>
                </a:solidFill>
                <a:latin typeface="Arial"/>
              </a:rPr>
              <a:t>Gut lief: </a:t>
            </a:r>
            <a:r>
              <a:rPr sz="2000" b="0">
                <a:solidFill>
                  <a:srgbClr val="1A2238"/>
                </a:solidFill>
                <a:latin typeface="Arial"/>
              </a:rPr>
              <a:t>[..]</a:t>
            </a:r>
          </a:p>
          <a:p>
            <a:pPr algn="l">
              <a:spcBef>
                <a:spcPts val="900"/>
              </a:spcBef>
            </a:pPr>
            <a:r>
              <a:rPr sz="2000" b="1">
                <a:solidFill>
                  <a:srgbClr val="14264B"/>
                </a:solidFill>
                <a:latin typeface="Arial"/>
              </a:rPr>
              <a:t>Schwierig war: </a:t>
            </a:r>
            <a:r>
              <a:rPr sz="2000" b="0">
                <a:solidFill>
                  <a:srgbClr val="1A2238"/>
                </a:solidFill>
                <a:latin typeface="Arial"/>
              </a:rPr>
              <a:t>[..]</a:t>
            </a:r>
          </a:p>
          <a:p>
            <a:pPr algn="l">
              <a:spcBef>
                <a:spcPts val="900"/>
              </a:spcBef>
            </a:pPr>
            <a:r>
              <a:rPr sz="2000" b="1">
                <a:solidFill>
                  <a:srgbClr val="14264B"/>
                </a:solidFill>
                <a:latin typeface="Arial"/>
              </a:rPr>
              <a:t>Beim nächsten Mal: </a:t>
            </a:r>
            <a:r>
              <a:rPr sz="2000" b="0">
                <a:solidFill>
                  <a:srgbClr val="1A2238"/>
                </a:solidFill>
                <a:latin typeface="Arial"/>
              </a:rPr>
              <a:t>[..]</a:t>
            </a:r>
          </a:p>
        </p:txBody>
      </p:sp>
      <p:sp>
        <p:nvSpPr>
          <p:cNvPr id="17" name="Rectangle 16"/>
          <p:cNvSpPr/>
          <p:nvPr/>
        </p:nvSpPr>
        <p:spPr>
          <a:xfrm>
            <a:off x="6263640" y="4160520"/>
            <a:ext cx="5303520" cy="228600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4160520"/>
            <a:ext cx="91440" cy="2286000"/>
          </a:xfrm>
          <a:prstGeom prst="rect">
            <a:avLst/>
          </a:prstGeom>
          <a:solidFill>
            <a:srgbClr val="5B66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233672"/>
            <a:ext cx="4937759" cy="457200"/>
          </a:xfrm>
          <a:prstGeom prst="rect">
            <a:avLst/>
          </a:prstGeom>
          <a:noFill/>
        </p:spPr>
        <p:txBody>
          <a:bodyPr wrap="square" anchor="t">
            <a:spAutoFit/>
          </a:bodyPr>
          <a:lstStyle/>
          <a:p>
            <a:pPr algn="l"/>
            <a:r>
              <a:rPr sz="2000" b="1">
                <a:solidFill>
                  <a:srgbClr val="14264B"/>
                </a:solidFill>
                <a:latin typeface="Arial"/>
              </a:rPr>
              <a:t>Feedback der Klasse</a:t>
            </a:r>
          </a:p>
        </p:txBody>
      </p:sp>
      <p:sp>
        <p:nvSpPr>
          <p:cNvPr id="20" name="TextBox 19"/>
          <p:cNvSpPr txBox="1"/>
          <p:nvPr/>
        </p:nvSpPr>
        <p:spPr>
          <a:xfrm>
            <a:off x="6492240" y="4745736"/>
            <a:ext cx="4937759" cy="1655063"/>
          </a:xfrm>
          <a:prstGeom prst="rect">
            <a:avLst/>
          </a:prstGeom>
          <a:noFill/>
        </p:spPr>
        <p:txBody>
          <a:bodyPr wrap="square" anchor="t">
            <a:spAutoFit/>
          </a:bodyPr>
          <a:lstStyle/>
          <a:p>
            <a:pPr algn="l"/>
            <a:r>
              <a:rPr sz="2400" b="0">
                <a:solidFill>
                  <a:srgbClr val="1A2238"/>
                </a:solidFill>
                <a:latin typeface="Arial"/>
              </a:rPr>
              <a:t>[eintragen]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058400" cy="457200"/>
          </a:xfrm>
          <a:prstGeom prst="rect">
            <a:avLst/>
          </a:prstGeom>
          <a:noFill/>
        </p:spPr>
        <p:txBody>
          <a:bodyPr wrap="square" anchor="t">
            <a:spAutoFit/>
          </a:bodyPr>
          <a:lstStyle/>
          <a:p>
            <a:pPr algn="l"/>
            <a:r>
              <a:rPr sz="1600" b="1">
                <a:solidFill>
                  <a:srgbClr val="F5A800"/>
                </a:solidFill>
                <a:latin typeface="Arial"/>
              </a:rPr>
              <a:t>FRAGEN &amp; KLASSENFEEDBACK</a:t>
            </a:r>
          </a:p>
        </p:txBody>
      </p:sp>
      <p:sp>
        <p:nvSpPr>
          <p:cNvPr id="5" name="TextBox 4"/>
          <p:cNvSpPr txBox="1"/>
          <p:nvPr/>
        </p:nvSpPr>
        <p:spPr>
          <a:xfrm>
            <a:off x="914400" y="1554480"/>
            <a:ext cx="10332720" cy="1097280"/>
          </a:xfrm>
          <a:prstGeom prst="rect">
            <a:avLst/>
          </a:prstGeom>
          <a:noFill/>
        </p:spPr>
        <p:txBody>
          <a:bodyPr wrap="square" anchor="t">
            <a:spAutoFit/>
          </a:bodyPr>
          <a:lstStyle/>
          <a:p>
            <a:pPr algn="l"/>
            <a:r>
              <a:rPr sz="3400" b="1">
                <a:solidFill>
                  <a:srgbClr val="FFFFFF"/>
                </a:solidFill>
                <a:latin typeface="Arial"/>
              </a:rPr>
              <a:t>Was war am Booklet am hilfreichsten, und was fehlt euch noch?</a:t>
            </a:r>
          </a:p>
        </p:txBody>
      </p:sp>
      <p:sp>
        <p:nvSpPr>
          <p:cNvPr id="6" name="TextBox 5"/>
          <p:cNvSpPr txBox="1"/>
          <p:nvPr/>
        </p:nvSpPr>
        <p:spPr>
          <a:xfrm>
            <a:off x="914400" y="3200400"/>
            <a:ext cx="10332720" cy="1097280"/>
          </a:xfrm>
          <a:prstGeom prst="rect">
            <a:avLst/>
          </a:prstGeom>
          <a:noFill/>
        </p:spPr>
        <p:txBody>
          <a:bodyPr wrap="square" anchor="t">
            <a:spAutoFit/>
          </a:bodyPr>
          <a:lstStyle/>
          <a:p>
            <a:pPr algn="l"/>
            <a:r>
              <a:rPr sz="3400" b="1">
                <a:solidFill>
                  <a:srgbClr val="FFFFFF"/>
                </a:solidFill>
                <a:latin typeface="Arial"/>
              </a:rPr>
              <a:t>Habt ihr Fragen zum Ausbildungsvertrag oder zu unserem Projekt?</a:t>
            </a:r>
          </a:p>
        </p:txBody>
      </p:sp>
      <p:sp>
        <p:nvSpPr>
          <p:cNvPr id="7" name="Rectangle 6"/>
          <p:cNvSpPr/>
          <p:nvPr/>
        </p:nvSpPr>
        <p:spPr>
          <a:xfrm>
            <a:off x="914400" y="4937760"/>
            <a:ext cx="1828800" cy="73152"/>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120640"/>
            <a:ext cx="10058400" cy="914400"/>
          </a:xfrm>
          <a:prstGeom prst="rect">
            <a:avLst/>
          </a:prstGeom>
          <a:noFill/>
        </p:spPr>
        <p:txBody>
          <a:bodyPr wrap="square" anchor="t">
            <a:spAutoFit/>
          </a:bodyPr>
          <a:lstStyle/>
          <a:p>
            <a:pPr algn="l"/>
            <a:r>
              <a:rPr sz="4400" b="1">
                <a:solidFill>
                  <a:srgbClr val="F5A800"/>
                </a:solidFill>
                <a:latin typeface="Arial"/>
              </a:rPr>
              <a:t>Vielen Dank!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