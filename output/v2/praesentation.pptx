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0:30</a:t>
            </a:r>
          </a:p>
          <a:p>
            <a:r>
              <a:t>SPRECHTEXT: „Guten Tag zusammen! Wir sind Yasin und Mido und halten heute die Stunde zu den Rechten und Pflichten aus dem Ausbildungsvertrag. Wir erklären die wichtigsten Regeln, ihr übt sie am Handy, und wir besprechen die Ergebnisse gemeinsam.“</a:t>
            </a:r>
          </a:p>
          <a:p>
            <a:r>
              <a:t>ZEITPLAN (intern): Phase 1 Einstieg und Vorwissen 4:00 · Phase 2 Erarbeitung 3 × 4:00 = 12:00 · Phase 3 Aufgaben erklären 3:00 · Phase 4 Übungsphase 13:00 · Phase 5 Besprechung 8:00 · Phase 6 Sicherung und Abschluss 5:00 = 45:00. Folien 28 bis 35 sind ausgeblendet (Reserve und Plan 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2:00</a:t>
            </a:r>
          </a:p>
          <a:p>
            <a:r>
              <a:t>SPRECHTEXT: „Bevor wir starten: Was wisst ihr schon? Meldet euch bitte: Wer hat seinen Ausbildungsvertrag schon richtig gelesen? Danach vier Fragen. Antwortet frei, wir schreiben an der Tafel mit und lösen noch nicht auf.“</a:t>
            </a:r>
          </a:p>
          <a:p>
            <a:r>
              <a:t>MODERATIONSFRAGE AN DIE KLASSE: Wer hat seinen Ausbildungsvertrag schon richtig gelesen? (Handzeichen) Dann Fragen a bis d, Antworten der Klasse an der Tafel mitschreiben, nicht auflösen.</a:t>
            </a:r>
          </a:p>
          <a:p>
            <a:r>
              <a:t>ERWARTET: a) vier Monate · b) 24 Werktage ab 18 Jahren (jüngere haben mehr) · c) keine Frist · d) ja, schriftlich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0:45</a:t>
            </a:r>
          </a:p>
          <a:p>
            <a:r>
              <a:t>SPRECHTEXT: „Das sind unsere Lernziele für heute. Am Ende könnt ihr nennen, was in einen Ausbildungsvertrag gehört, Vergütung, Urlaub und Arbeitszeit bestimmen, Probezeit und Kündigung richtig anwenden und Fälle mit der passenden Regel begründen.“</a:t>
            </a:r>
          </a:p>
          <a:p>
            <a:r>
              <a:t>MODERATIONSFRAGE AN DIE KLASSE: Welches Ziel ist euch am wichtigsten? (Meinungsabfrage, keine Wertung)</a:t>
            </a:r>
          </a:p>
          <a:p>
            <a:r>
              <a:t>ERWARTET: Freie Antworten der Klasse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0:45</a:t>
            </a:r>
          </a:p>
          <a:p>
            <a:r>
              <a:t>SPRECHTEXT: „So läuft die Stunde: erst euer Vorwissen, dann zwölf Minuten Erklären in drei Teilen, drei Minuten Aufgaben erklären, dreizehn Minuten Üben am Handy, acht Minuten gemeinsame Besprechung und zum Schluss Quiz und Abschluss.“</a:t>
            </a:r>
          </a:p>
          <a:p>
            <a:r>
              <a:t>MODERATIONSFRAGE AN DIE KLASSE: Wer hat sein Handy dabei? (Handzeichen)</a:t>
            </a:r>
          </a:p>
          <a:p>
            <a:r>
              <a:t>ERWARTET: Wer kein Handy hat, schaut zu zweit mit (Plan B: Beamer-Folien 29 bis 35)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1:15</a:t>
            </a:r>
          </a:p>
          <a:p>
            <a:r>
              <a:t>SPRECHTEXT: „Ein Ausbildungsvertrag muss nach § 11 BBiG bestimmte Angaben enthalten: Beginn und Dauer, tägliche Ausbildungszeit, Probezeit, Vergütung, Urlaub und die Kündigungsvoraussetzungen. Seit dem 1. August 2024 genügt dafür die Textform, zum Beispiel per E-Mail.“</a:t>
            </a:r>
          </a:p>
          <a:p>
            <a:r>
              <a:t>MODERATIONSFRAGE AN DIE KLASSE: Welche sechs Angaben gehören in den Vertrag?</a:t>
            </a:r>
          </a:p>
          <a:p>
            <a:r>
              <a:t>ERWARTET: Beginn und Dauer, tägliche Ausbildungszeit, Probezeit, Vergütung, Urlaub, Kündigungsvoraussetzungen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1:00</a:t>
            </a:r>
          </a:p>
          <a:p>
            <a:r>
              <a:t>SPRECHTEXT: „Zu Beginn und Dauer: Eine Verkürzung beantragen Azubi und Betrieb gemeinsam bei der zuständigen Stelle. Eine Verlängerung gibt es nur in Ausnahmefällen auf Antrag des Azubis oder nach nicht bestandener Prüfung, höchstens um ein Jahr. Die Ausbildung endet mit der Bekanntgabe des Prüfungsergebnisses.“</a:t>
            </a:r>
          </a:p>
          <a:p>
            <a:r>
              <a:t>MODERATIONSFRAGE AN DIE KLASSE: Wer beantragt eine Verkürzung?</a:t>
            </a:r>
          </a:p>
          <a:p>
            <a:r>
              <a:t>ERWARTET: Azubi und Betrieb gemeinsam bei der zuständigen Stelle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1:15</a:t>
            </a:r>
          </a:p>
          <a:p>
            <a:r>
              <a:t>SPRECHTEXT: „Beide Seiten haben Pflichten. Azubis lernen, arbeiten sorgfältig, befolgen Weisungen, wahren Geheimnisse und führen den Ausbildungsnachweis. Der Betrieb vermittelt das Ausbildungsziel, stellt Ausbildungsmittel kostenlos, gibt für Berufsschule und Prüfungen frei, stellt ein Zeugnis aus und zahlt die Vergütung.“</a:t>
            </a:r>
          </a:p>
          <a:p>
            <a:r>
              <a:t>MODERATIONSFRAGE AN DIE KLASSE: Wer stellt die Ausbildungsmittel zur Verfügung, und was kostet das den Azubi?</a:t>
            </a:r>
          </a:p>
          <a:p>
            <a:r>
              <a:t>ERWARTET: Der Betrieb, kostenlos (§ 14 BBiG)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0:30</a:t>
            </a:r>
          </a:p>
          <a:p>
            <a:r>
              <a:t>SPRECHTEXT: „Blitzfrage 1: Welche Form genügt seit dem 01.08.2024 für den Vertragsinhalt? Ihr habt zehn Sekunden. Antwortet mit Handzeichen oder ruft den Buchstaben.“</a:t>
            </a:r>
          </a:p>
          <a:p>
            <a:r>
              <a:t>MODERATIONSFRAGE AN DIE KLASSE: Welche Form genügt seit dem 01.08.2024 für den Vertragsinhalt?</a:t>
            </a:r>
          </a:p>
          <a:p>
            <a:r>
              <a:t>ERWARTET: Lösung B: Textform (§ 11 BBiG)</a:t>
            </a:r>
          </a:p>
          <a:p>
            <a:r>
              <a:t>LÖSUNG (nur hier in den Notizen):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1:15</a:t>
            </a:r>
          </a:p>
          <a:p>
            <a:r>
              <a:t>SPRECHTEXT: „Für Jugendliche gilt das Jugendarbeitsschutzgesetz: höchstens 8 Stunden täglich und 40 pro Woche, ausnahmsweise 8,5 Stunden täglich bei Ausgleich. Volljährige arbeiten 8 Stunden täglich, bis zu 10 Stunden mit Ausgleich innerhalb von sechs Monaten, höchstens 48 Stunden pro Woche.“</a:t>
            </a:r>
          </a:p>
          <a:p>
            <a:r>
              <a:t>MODERATIONSFRAGE AN DIE KLASSE: Wie viele Stunden dürfen Jugendliche täglich höchstens arbeiten?</a:t>
            </a:r>
          </a:p>
          <a:p>
            <a:r>
              <a:t>ERWARTET: 8 Stunden täglich (ausnahmsweise 8,5 Stunden bei Ausgleich)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1:00</a:t>
            </a:r>
          </a:p>
          <a:p>
            <a:r>
              <a:t>SPRECHTEXT: „Seit 2020 gibt es eine gesetzliche Mindestausbildungsvergütung. Bei Beginn 2026 sind es 724, 854, 977 und 1.014 Euro im ersten bis vierten Jahr. Die Beträge dürfen nicht unterschritten werden und werden jedes Jahr neu festgelegt.“</a:t>
            </a:r>
          </a:p>
          <a:p>
            <a:r>
              <a:t>MODERATIONSFRAGE AN DIE KLASSE: Wie hoch ist die Mindestvergütung im 2. Jahr bei Beginn 2026?</a:t>
            </a:r>
          </a:p>
          <a:p>
            <a:r>
              <a:t>ERWARTET: 854 €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1:15</a:t>
            </a:r>
          </a:p>
          <a:p>
            <a:r>
              <a:t>SPRECHTEXT: „Der Mindesturlaub hängt vom Alter zu Jahresbeginn ab: unter 16 sind es 30, unter 17 sind es 27, unter 18 sind es 25 und ab 18 sind es 24 Werktage. Werktage sind alle Kalendertage außer Sonntagen und gesetzlichen Feiertagen.“</a:t>
            </a:r>
          </a:p>
          <a:p>
            <a:r>
              <a:t>MODERATIONSFRAGE AN DIE KLASSE: Zählt der Samstag als Werktag?</a:t>
            </a:r>
          </a:p>
          <a:p>
            <a:r>
              <a:t>ERWARTET: Ja, Werktage sind alle Kalendertage außer Sonntagen und gesetzlichen Feiertagen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0:30</a:t>
            </a:r>
          </a:p>
          <a:p>
            <a:r>
              <a:t>SPRECHTEXT: „Blitzfrage 2: 24 Werktage Urlaub: Wie viele Arbeitstage sind das bei einer Fünf-Tage-Woche? Ihr habt zehn Sekunden. Antwortet mit Handzeichen oder ruft den Buchstaben.“</a:t>
            </a:r>
          </a:p>
          <a:p>
            <a:r>
              <a:t>MODERATIONSFRAGE AN DIE KLASSE: 24 Werktage Urlaub: Wie viele Arbeitstage sind das bei einer Fünf-Tage-Woche?</a:t>
            </a:r>
          </a:p>
          <a:p>
            <a:r>
              <a:t>ERWARTET: Lösung B: 20 Arbeitstage (§ 3 BUrlG)</a:t>
            </a:r>
          </a:p>
          <a:p>
            <a:r>
              <a:t>LÖSUNG (nur hier in den Notizen): 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0:45</a:t>
            </a:r>
          </a:p>
          <a:p>
            <a:r>
              <a:t>SPRECHTEXT: „Jedes Ausbildungsverhältnis beginnt mit einer Probezeit nach § 20 BBiG. Sie dauert mindestens einen und höchstens vier Monate.“</a:t>
            </a:r>
          </a:p>
          <a:p>
            <a:r>
              <a:t>MODERATIONSFRAGE AN DIE KLASSE: Darf die Probezeit sechs Monate dauern, wenn der Azubi zustimmt?</a:t>
            </a:r>
          </a:p>
          <a:p>
            <a:r>
              <a:t>ERWARTET: Nein, höchstens vier Monate (§ 20 BBiG)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1:15</a:t>
            </a:r>
          </a:p>
          <a:p>
            <a:r>
              <a:t>SPRECHTEXT: „In der Probezeit können beide Seiten jederzeit ohne Frist kündigen. Nach der Probezeit geht es nur noch fristlos aus wichtigem Grund, für beide Seiten, oder durch den Azubi mit vier Wochen Frist, wenn er die Ausbildung aufgibt oder den Beruf wechseln will.“</a:t>
            </a:r>
          </a:p>
          <a:p>
            <a:r>
              <a:t>MODERATIONSFRAGE AN DIE KLASSE: Welche Frist hat der Azubi nach der Probezeit bei Berufswechsel?</a:t>
            </a:r>
          </a:p>
          <a:p>
            <a:r>
              <a:t>ERWARTET: Vier Wochen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1:15</a:t>
            </a:r>
          </a:p>
          <a:p>
            <a:r>
              <a:t>SPRECHTEXT: „Jede Kündigung muss schriftlich erfolgen, die elektronische Form ist ausgeschlossen. Nach der Probezeit braucht sie die Angabe der Gründe. Eine Kündigung aus wichtigem Grund ist nur innerhalb von zwei Wochen möglich, nachdem die Gründe bekannt wurden.“</a:t>
            </a:r>
          </a:p>
          <a:p>
            <a:r>
              <a:t>MODERATIONSFRAGE AN DIE KLASSE: Ist eine Kündigung per E-Mail wirksam?</a:t>
            </a:r>
          </a:p>
          <a:p>
            <a:r>
              <a:t>ERWARTET: Nein, sie muss schriftlich erfolgen, die elektronische Form ist ausgeschlossen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0:45</a:t>
            </a:r>
          </a:p>
          <a:p>
            <a:r>
              <a:t>SPRECHTEXT: „Blitzfrage 3: Wann muss eine Kündigung aus wichtigem Grund ausgesprochen werden? Ihr habt zehn Sekunden. Antwortet mit Handzeichen oder ruft den Buchstaben.“</a:t>
            </a:r>
          </a:p>
          <a:p>
            <a:r>
              <a:t>MODERATIONSFRAGE AN DIE KLASSE: Wann muss eine Kündigung aus wichtigem Grund ausgesprochen werden?</a:t>
            </a:r>
          </a:p>
          <a:p>
            <a:r>
              <a:t>ERWARTET: Lösung B: Innerhalb von zwei Wochen nach Kenntnis (§ 22 Abs. 4 BBiG)</a:t>
            </a:r>
          </a:p>
          <a:p>
            <a:r>
              <a:t>LÖSUNG (nur hier in den Notizen): 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1:00</a:t>
            </a:r>
          </a:p>
          <a:p>
            <a:r>
              <a:t>SPRECHTEXT: „Jetzt seid ihr dran. Scannt den QR-Code und öffnet die Seite. Ihr bearbeitet drei Aufgaben: Rote/Grüne Karte allein, Vertrags-Detektiv und IHK-Fälle zu zweit. Wer schnell fertig ist, nimmt die Fälle D und E oder die Experten-Karten.“</a:t>
            </a:r>
          </a:p>
          <a:p>
            <a:r>
              <a:t>MODERATIONSFRAGE AN DIE KLASSE: Wer hat die Seite geöffnet? (Handzeichen)</a:t>
            </a:r>
          </a:p>
          <a:p>
            <a:r>
              <a:t>ERWARTET: Mehrheit meldet sich; sonst QR-Code erneut zeigen</a:t>
            </a:r>
          </a:p>
          <a:p>
            <a:r>
              <a:t>HINWEIS (intern): QR-Code 20 Sekunden stehen lassen. Kein Handy? Zu zweit mitschauen, Plan B: Folien 29 bis 35.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0:30</a:t>
            </a:r>
          </a:p>
          <a:p>
            <a:r>
              <a:t>SPRECHTEXT: „Aufgabe 1: Rote/Grüne Karte. Zehn Aussagen, eine pro Bildschirm. Tippt Stimmt oder Stimmt nicht und lest danach die Lösung. Das ist euer Schnell-Check, drei Minuten.“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0:45</a:t>
            </a:r>
          </a:p>
          <a:p>
            <a:r>
              <a:t>SPRECHTEXT: „Aufgabe 2: Vertrags-Detektiv. Lest den Vertragsauszug und tippt bis zu fünf Zeilen mit Fehlern an. Dann prüft ihr und begründet jeden Fehler mit der passenden Regel. Notizen und Merkblatt dürft ihr nutzen. Fünf Minuten, zu zweit.“</a:t>
            </a:r>
          </a:p>
          <a:p>
            <a:r>
              <a:t>MODERATIONSFRAGE AN DIE KLASSE: Wo findet ihr die passende Regel schnell?</a:t>
            </a:r>
          </a:p>
          <a:p>
            <a:r>
              <a:t>ERWARTET: Im Merkblatt, Spalte „Paragraf“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0:45</a:t>
            </a:r>
          </a:p>
          <a:p>
            <a:r>
              <a:t>SPRECHTEXT: „Aufgabe 3: IHK-Fälle A bis C. Lest den Fall, wählt Antwort A bis D und begründet sie mit einer Regel. Fünf Minuten, zu zweit. Merkt euch eine Frage für die Besprechung.“</a:t>
            </a:r>
          </a:p>
          <a:p>
            <a:r>
              <a:t>MODERATIONSFRAGE AN DIE KLASSE: Worauf achtet ihr bei der Begründung?</a:t>
            </a:r>
          </a:p>
          <a:p>
            <a:r>
              <a:t>ERWARTET: Passende Regel mit Paragraf nennen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 und Mido</a:t>
            </a:r>
          </a:p>
          <a:p>
            <a:r>
              <a:t>DAUER: 13:00</a:t>
            </a:r>
          </a:p>
          <a:p>
            <a:r>
              <a:t>SPRECHTEXT: „Los geht's, ihr habt dreizehn Minuten. Wir gehen durch die Reihen und helfen. Nach drei, acht und dreizehn Minuten sagen wir die Zeit an. Fertig? Dann nehmt die Reserve auf der Website.“</a:t>
            </a:r>
          </a:p>
          <a:p>
            <a:r>
              <a:t>MODERATIONSFRAGE AN DIE KLASSE: (beim Gehen) Welche Regel hilft euch hier?</a:t>
            </a:r>
          </a:p>
          <a:p>
            <a:r>
              <a:t>ERWARTET: Passenden Paragrafen im Merkblatt finden</a:t>
            </a:r>
          </a:p>
          <a:p>
            <a:r>
              <a:t>HINWEIS (intern): Wir gehen durch die Klasse, helfen und merken uns typische Fehler für die Besprechung. Zeit ansagen nach Minute 3, 8 und 13. Schnell fertig: Fälle D und E, Experten-Karten.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4:00</a:t>
            </a:r>
          </a:p>
          <a:p>
            <a:r>
              <a:t>SPRECHTEXT: „Wir besprechen den Vertrags-Detektiv. Die Zeilen 1 und 7 sind korrekt, in fünf Zeilen steckt ein Fehler. Fehler 1: Die Probezeit darf höchstens vier Monate dauern. Wer hat welchen Fehler gefunden, und mit welcher Regel?“</a:t>
            </a:r>
          </a:p>
          <a:p>
            <a:r>
              <a:t>MODERATIONSFRAGE AN DIE KLASSE: Wer hat Fehler 1 gefunden? Welche Regel? Dann Fehler 2 bis 5 reihum abfragen.</a:t>
            </a:r>
          </a:p>
          <a:p>
            <a:r>
              <a:t>ERWARTET: Fehler 1: höchstens vier Monate (§ 20 BBiG) · Fehler 2: mindestens 724 € im 1. Jahr (§ 17 BBiG) · Fehler 3: Jugendliche höchstens 8 Stunden täglich und 40 pro Woche (§ 8 JArbSchG) · Fehler 4: mindestens 24 Werktage, Jugendliche 25 bis 30 (§ 3 BUrlG, § 19 JArbSchG) · Fehler 5: in der Probezeit jederzeit ohne Frist, schriftlich (§ 22 Abs. 1 und 3 BBiG)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2:30</a:t>
            </a:r>
          </a:p>
          <a:p>
            <a:r>
              <a:t>SPRECHTEXT: „Jetzt die IHK-Fälle A bis C. Für Fall A war die richtige Antwort B: In der Probezeit ist die Kündigung jederzeit ohne Frist möglich, aber schriftlich. Bei Fall B und Fall C war es jeweils C. Wie habt ihr begründet?“</a:t>
            </a:r>
          </a:p>
          <a:p>
            <a:r>
              <a:t>MODERATIONSFRAGE AN DIE KLASSE: Welche Antwort habt ihr gewählt, und mit welcher Regel?</a:t>
            </a:r>
          </a:p>
          <a:p>
            <a:r>
              <a:t>ERWARTET: A: B (§ 22 Abs. 1 und 3 BBiG) · B: C, 25 Werktage (§ 19 JArbSchG) · C: C, mindestens 724 € (§ 17 BBiG)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1:30</a:t>
            </a:r>
          </a:p>
          <a:p>
            <a:r>
              <a:t>SPRECHTEXT: „Nur wenn ihr sie bearbeitet habt: Fall D und Fall E. Bei beiden war die richtige Antwort B. Fall D: Jugendliche arbeiten höchstens 8 Stunden täglich. Fall E: Die Verkürzung beantragen Azubi und Betrieb gemeinsam bei der zuständigen Stelle.“</a:t>
            </a:r>
          </a:p>
          <a:p>
            <a:r>
              <a:t>MODERATIONSFRAGE AN DIE KLASSE: Wer hat Fall D oder E bearbeitet? Welche Regel gilt?</a:t>
            </a:r>
          </a:p>
          <a:p>
            <a:r>
              <a:t>ERWARTET: D: B (§ 8 JArbSchG) · E: B (§ 8 Abs. 1 BBiG)</a:t>
            </a:r>
          </a:p>
          <a:p>
            <a:r>
              <a:t>HINWEIS (intern): Nur wenn bearbeitet. Sonst die 1:30 auf Folie 22 und 23 verteilen.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3:00</a:t>
            </a:r>
          </a:p>
          <a:p>
            <a:r>
              <a:t>SPRECHTEXT: „Zum Abschluss das Mini-Quiz: fünf Fragen auf der Website, allein, drei Minuten. Zeigt, was ihr könnt! Danach Handzeichen: Wer hat fünf, vier, drei oder weniger richtig?“</a:t>
            </a:r>
          </a:p>
          <a:p>
            <a:r>
              <a:t>MODERATIONSFRAGE AN DIE KLASSE: Wer hat 5, 4, 3 oder weniger richtig? (Handzeichen)</a:t>
            </a:r>
          </a:p>
          <a:p>
            <a:r>
              <a:t>ERWARTET: Zahlen aufschreiben (für den Projektbericht)</a:t>
            </a:r>
          </a:p>
          <a:p>
            <a:r>
              <a:t>HINWEIS (intern): Handzeichen-Zahlen notieren.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1:00</a:t>
            </a:r>
          </a:p>
          <a:p>
            <a:r>
              <a:t>SPRECHTEXT: „Zurück zu unseren Anfangsfragen: Die Probezeit dauert höchstens vier Monate, der Mindesturlaub beträgt ab 18 Jahren 24 Werktage, für Jugendliche 25 bis 30. In der Probezeit gilt keine Frist, aber schriftlich. Ja, jede Kündigung muss schriftlich erfolgen.“</a:t>
            </a:r>
          </a:p>
          <a:p>
            <a:r>
              <a:t>MODERATIONSFRAGE AN DIE KLASSE: Was war neu für euch?</a:t>
            </a:r>
          </a:p>
          <a:p>
            <a:r>
              <a:t>ERWARTET: Freie Antworten der Klasse (mit den Anfangsantworten an der Tafel vergleichen)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1:00</a:t>
            </a:r>
          </a:p>
          <a:p>
            <a:r>
              <a:t>SPRECHTEXT: „Das Merkblatt habt ihr ausgeteilt bekommen, über den QR-Code übt ihr weiter. Zwei Fragen an euch: Was war hilfreich? Was fehlt euch noch? Vielen Dank fürs Mitmachen!“</a:t>
            </a:r>
          </a:p>
          <a:p>
            <a:r>
              <a:t>MODERATIONSFRAGE AN DIE KLASSE: Was war hilfreich? Was fehlt euch noch?</a:t>
            </a:r>
          </a:p>
          <a:p>
            <a:r>
              <a:t>ERWARTET: Freie Antworten; Rückmeldungen notieren</a:t>
            </a:r>
          </a:p>
          <a:p>
            <a:r>
              <a:t>HINWEIS (intern): Feedback der Klasse in einem Satz festhalten (für den Projektbericht).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Reserve (nicht in den 45 Minuten)</a:t>
            </a:r>
          </a:p>
          <a:p>
            <a:r>
              <a:t>SPRECHTEXT: „Schnell fertig? Dann nehmt auf der Website die Experten-Karten: Thema wählen, dem Partner in einer Minute erklären und die Frage lösen. Oder bearbeitet die Fälle D und E.“</a:t>
            </a:r>
          </a:p>
          <a:p>
            <a:r>
              <a:t>MODERATIONSFRAGE AN DIE KLASSE: Welches Thema habt ihr gewählt, und was war die Frage?</a:t>
            </a:r>
          </a:p>
          <a:p>
            <a:r>
              <a:t>ERWARTET: Karten: Probezeit, Urlaub, Vergütung, Kündigung</a:t>
            </a:r>
          </a:p>
          <a:p>
            <a:r>
              <a:t>NUR ANZEIGEN, wenn jemand schneller fertig ist.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Reserve (nicht in den 45 Minuten)</a:t>
            </a:r>
          </a:p>
          <a:p>
            <a:r>
              <a:t>SPRECHTEXT: „Plan B ohne Handy: Wir lesen die Aussagen nacheinander vor. Daumen hoch heißt Stimmt, Daumen runter heißt Stimmt nicht. Auf drei zeigen alle gleichzeitig. Danach lösen wir auf.“</a:t>
            </a:r>
          </a:p>
          <a:p>
            <a:r>
              <a:t>MODERATIONSFRAGE AN DIE KLASSE: Stimmt die Aussage? (Daumen hoch oder runter)</a:t>
            </a:r>
          </a:p>
          <a:p>
            <a:r>
              <a:t>ERWARTET: Lösungen auf der nächsten Folie</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Reserve (nicht in den 45 Minuten)</a:t>
            </a:r>
          </a:p>
          <a:p>
            <a:r>
              <a:t>SPRECHTEXT: „Hier die Lösungen mit Paragraf. Bei jeder falschen Abstimmung erklären wir die Regel kurz.“</a:t>
            </a:r>
          </a:p>
          <a:p>
            <a:r>
              <a:t>MODERATIONSFRAGE AN DIE KLASSE: Bei welcher Aussage lag die Klasse falsch? Warum?</a:t>
            </a:r>
          </a:p>
          <a:p>
            <a:r>
              <a:t>ERWARTET: Begründung mit Paragraf von der Folie nennen</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Reserve (nicht in den 45 Minuten)</a:t>
            </a:r>
          </a:p>
          <a:p>
            <a:r>
              <a:t>SPRECHTEXT: „Plan B ohne Handy: Lest den Vertragsauszug auf der Folie. In fünf Zeilen steckt ein Fehler. Notiert die Zeilennummern und die passende Regel, wir besprechen sie danach.“</a:t>
            </a:r>
          </a:p>
          <a:p>
            <a:r>
              <a:t>MODERATIONSFRAGE AN DIE KLASSE: In welchen Zeilen steckt ein Fehler?</a:t>
            </a:r>
          </a:p>
          <a:p>
            <a:r>
              <a:t>ERWARTET: Zeilen 2 bis 6 (Lösung: Folie 22)</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Reserve (nicht in den 45 Minuten)</a:t>
            </a:r>
          </a:p>
          <a:p>
            <a:r>
              <a:t>SPRECHTEXT: „Plan B ohne Handy: Lest die Fälle A bis C. Wählt Antwort A bis D und begründet mit einer Regel. Wir besprechen die Lösungen danach auf Folie 23.“</a:t>
            </a:r>
          </a:p>
          <a:p>
            <a:r>
              <a:t>MODERATIONSFRAGE AN DIE KLASSE: Welche Antwort wählt ihr, und mit welcher Regel?</a:t>
            </a:r>
          </a:p>
          <a:p>
            <a:r>
              <a:t>ERWARTET: Lösungen: A B, B C, C C (Folie 23)</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Reserve (nicht in den 45 Minuten)</a:t>
            </a:r>
          </a:p>
          <a:p>
            <a:r>
              <a:t>SPRECHTEXT: „Plan B ohne Handy: Lest die Fälle D und E, wählt Antwort A bis D und begründet mit einer Regel. Die Lösungen besprechen wir auf Folie 24.“</a:t>
            </a:r>
          </a:p>
          <a:p>
            <a:r>
              <a:t>MODERATIONSFRAGE AN DIE KLASSE: Welche Antwort wählt ihr, und mit welcher Regel?</a:t>
            </a:r>
          </a:p>
          <a:p>
            <a:r>
              <a:t>ERWARTET: Lösungen: D B, E B (Folie 24)</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Mido</a:t>
            </a:r>
          </a:p>
          <a:p>
            <a:r>
              <a:t>DAUER: Reserve (nicht in den 45 Minuten)</a:t>
            </a:r>
          </a:p>
          <a:p>
            <a:r>
              <a:t>SPRECHTEXT: „Plan B ohne Handy: Fünf Fragen, antwortet mit A bis D auf einem Zettel. Danach lösen wir auf und zählen mit Handzeichen, wer fünf, vier, drei oder weniger richtig hat.“</a:t>
            </a:r>
          </a:p>
          <a:p>
            <a:r>
              <a:t>MODERATIONSFRAGE AN DIE KLASSE: Wer hat 5, 4, 3 oder weniger richtig? (Handzeichen)</a:t>
            </a:r>
          </a:p>
          <a:p>
            <a:r>
              <a:t>ERWARTET: Zahlen aufschreiben (für den Projektbericht)</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Yasin</a:t>
            </a:r>
          </a:p>
          <a:p>
            <a:r>
              <a:t>DAUER: Reserve (nicht in den 45 Minuten)</a:t>
            </a:r>
          </a:p>
          <a:p>
            <a:r>
              <a:t>SPRECHTEXT: „Hier die Lösungen mit Paragraf. Zählt eure richtigen Antworten.“</a:t>
            </a:r>
          </a:p>
          <a:p>
            <a:r>
              <a:t>MODERATIONSFRAGE AN DIE KLASSE: Wo hattet ihr eine andere Antwort? Warum?</a:t>
            </a:r>
          </a:p>
          <a:p>
            <a:r>
              <a:t>ERWARTET: Regel von der Folie nennen</a:t>
            </a:r>
          </a:p>
          <a:p>
            <a:r>
              <a:t>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515600" cy="457200"/>
          </a:xfrm>
          <a:prstGeom prst="rect">
            <a:avLst/>
          </a:prstGeom>
          <a:noFill/>
        </p:spPr>
        <p:txBody>
          <a:bodyPr wrap="square" anchor="t">
            <a:spAutoFit/>
          </a:bodyPr>
          <a:lstStyle/>
          <a:p>
            <a:pPr algn="l"/>
            <a:r>
              <a:rPr sz="1600" b="1">
                <a:solidFill>
                  <a:srgbClr val="F5A800"/>
                </a:solidFill>
                <a:latin typeface="Arial"/>
              </a:rPr>
              <a:t>UNTERRICHTSSTUNDE IM FACH GP</a:t>
            </a:r>
          </a:p>
        </p:txBody>
      </p:sp>
      <p:sp>
        <p:nvSpPr>
          <p:cNvPr id="5" name="TextBox 4"/>
          <p:cNvSpPr txBox="1"/>
          <p:nvPr/>
        </p:nvSpPr>
        <p:spPr>
          <a:xfrm>
            <a:off x="914400" y="1645920"/>
            <a:ext cx="10515600" cy="2103120"/>
          </a:xfrm>
          <a:prstGeom prst="rect">
            <a:avLst/>
          </a:prstGeom>
          <a:noFill/>
        </p:spPr>
        <p:txBody>
          <a:bodyPr wrap="square" anchor="t">
            <a:spAutoFit/>
          </a:bodyPr>
          <a:lstStyle/>
          <a:p>
            <a:pPr algn="l"/>
            <a:r>
              <a:rPr sz="4800" b="1">
                <a:solidFill>
                  <a:srgbClr val="FFFFFF"/>
                </a:solidFill>
                <a:latin typeface="Arial"/>
              </a:rPr>
              <a:t>Rechte und Pflichten aus dem Ausbildungsvertrag</a:t>
            </a:r>
          </a:p>
        </p:txBody>
      </p:sp>
      <p:sp>
        <p:nvSpPr>
          <p:cNvPr id="6" name="Rectangle 5"/>
          <p:cNvSpPr/>
          <p:nvPr/>
        </p:nvSpPr>
        <p:spPr>
          <a:xfrm>
            <a:off x="914400" y="3931920"/>
            <a:ext cx="182880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640080"/>
          </a:xfrm>
          <a:prstGeom prst="rect">
            <a:avLst/>
          </a:prstGeom>
          <a:noFill/>
        </p:spPr>
        <p:txBody>
          <a:bodyPr wrap="square" anchor="t">
            <a:spAutoFit/>
          </a:bodyPr>
          <a:lstStyle/>
          <a:p>
            <a:pPr algn="l"/>
            <a:r>
              <a:rPr sz="3000" b="0">
                <a:solidFill>
                  <a:srgbClr val="DCE3F2"/>
                </a:solidFill>
                <a:latin typeface="Arial"/>
              </a:rPr>
              <a:t>Yasin &amp; Mido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EINSTIEG UND VORWISSEN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Was wisst ihr schon?</a:t>
            </a:r>
          </a:p>
        </p:txBody>
      </p:sp>
      <p:sp>
        <p:nvSpPr>
          <p:cNvPr id="5" name="Rectangle 4"/>
          <p:cNvSpPr/>
          <p:nvPr/>
        </p:nvSpPr>
        <p:spPr>
          <a:xfrm>
            <a:off x="640080" y="1417320"/>
            <a:ext cx="10881360" cy="10058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0058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8503920" cy="1005840"/>
          </a:xfrm>
          <a:prstGeom prst="rect">
            <a:avLst/>
          </a:prstGeom>
          <a:noFill/>
        </p:spPr>
        <p:txBody>
          <a:bodyPr wrap="square" anchor="ctr">
            <a:spAutoFit/>
          </a:bodyPr>
          <a:lstStyle/>
          <a:p>
            <a:pPr algn="l"/>
            <a:r>
              <a:rPr sz="2600" b="1">
                <a:solidFill>
                  <a:srgbClr val="FFFFFF"/>
                </a:solidFill>
                <a:latin typeface="Arial"/>
              </a:rPr>
              <a:t>Wer hat seinen Ausbildungsvertrag schon richtig gelesen?</a:t>
            </a:r>
          </a:p>
        </p:txBody>
      </p:sp>
      <p:sp>
        <p:nvSpPr>
          <p:cNvPr id="8" name="Rounded Rectangle 7"/>
          <p:cNvSpPr/>
          <p:nvPr/>
        </p:nvSpPr>
        <p:spPr>
          <a:xfrm>
            <a:off x="9509760" y="1645920"/>
            <a:ext cx="1828800" cy="548640"/>
          </a:xfrm>
          <a:prstGeom prst="round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0" y="1645920"/>
            <a:ext cx="1828800" cy="548640"/>
          </a:xfrm>
          <a:prstGeom prst="rect">
            <a:avLst/>
          </a:prstGeom>
          <a:noFill/>
        </p:spPr>
        <p:txBody>
          <a:bodyPr wrap="square" anchor="ctr">
            <a:spAutoFit/>
          </a:bodyPr>
          <a:lstStyle/>
          <a:p>
            <a:pPr algn="ctr"/>
            <a:r>
              <a:rPr sz="2000" b="1">
                <a:solidFill>
                  <a:srgbClr val="14264B"/>
                </a:solidFill>
                <a:latin typeface="Arial"/>
              </a:rPr>
              <a:t>Handzeichen</a:t>
            </a:r>
          </a:p>
        </p:txBody>
      </p:sp>
      <p:sp>
        <p:nvSpPr>
          <p:cNvPr id="10" name="Rectangle 9"/>
          <p:cNvSpPr/>
          <p:nvPr/>
        </p:nvSpPr>
        <p:spPr>
          <a:xfrm>
            <a:off x="640080" y="269748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697480"/>
            <a:ext cx="91440"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315468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a</a:t>
            </a:r>
          </a:p>
        </p:txBody>
      </p:sp>
      <p:sp>
        <p:nvSpPr>
          <p:cNvPr id="13" name="TextBox 12"/>
          <p:cNvSpPr txBox="1"/>
          <p:nvPr/>
        </p:nvSpPr>
        <p:spPr>
          <a:xfrm>
            <a:off x="1691639" y="2697480"/>
            <a:ext cx="4206240" cy="1554480"/>
          </a:xfrm>
          <a:prstGeom prst="rect">
            <a:avLst/>
          </a:prstGeom>
          <a:noFill/>
        </p:spPr>
        <p:txBody>
          <a:bodyPr wrap="square" anchor="ctr">
            <a:spAutoFit/>
          </a:bodyPr>
          <a:lstStyle/>
          <a:p>
            <a:pPr algn="l"/>
            <a:r>
              <a:rPr sz="2400" b="1">
                <a:solidFill>
                  <a:srgbClr val="14264B"/>
                </a:solidFill>
                <a:latin typeface="Arial"/>
              </a:rPr>
              <a:t>Wie lange darf die Probezeit höchstens dauern?</a:t>
            </a:r>
          </a:p>
        </p:txBody>
      </p:sp>
      <p:sp>
        <p:nvSpPr>
          <p:cNvPr id="14" name="Rectangle 13"/>
          <p:cNvSpPr/>
          <p:nvPr/>
        </p:nvSpPr>
        <p:spPr>
          <a:xfrm>
            <a:off x="6172200" y="269748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697480"/>
            <a:ext cx="91440"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315468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b</a:t>
            </a:r>
          </a:p>
        </p:txBody>
      </p:sp>
      <p:sp>
        <p:nvSpPr>
          <p:cNvPr id="17" name="TextBox 16"/>
          <p:cNvSpPr txBox="1"/>
          <p:nvPr/>
        </p:nvSpPr>
        <p:spPr>
          <a:xfrm>
            <a:off x="7223760" y="2697480"/>
            <a:ext cx="4206240" cy="1554480"/>
          </a:xfrm>
          <a:prstGeom prst="rect">
            <a:avLst/>
          </a:prstGeom>
          <a:noFill/>
        </p:spPr>
        <p:txBody>
          <a:bodyPr wrap="square" anchor="ctr">
            <a:spAutoFit/>
          </a:bodyPr>
          <a:lstStyle/>
          <a:p>
            <a:pPr algn="l"/>
            <a:r>
              <a:rPr sz="2400" b="1">
                <a:solidFill>
                  <a:srgbClr val="14264B"/>
                </a:solidFill>
                <a:latin typeface="Arial"/>
              </a:rPr>
              <a:t>Wie viele Urlaubstage stehen einem Azubi mindestens zu?</a:t>
            </a:r>
          </a:p>
        </p:txBody>
      </p:sp>
      <p:sp>
        <p:nvSpPr>
          <p:cNvPr id="18" name="Rectangle 17"/>
          <p:cNvSpPr/>
          <p:nvPr/>
        </p:nvSpPr>
        <p:spPr>
          <a:xfrm>
            <a:off x="640080" y="443484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434840"/>
            <a:ext cx="91440"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8680" y="489204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c</a:t>
            </a:r>
          </a:p>
        </p:txBody>
      </p:sp>
      <p:sp>
        <p:nvSpPr>
          <p:cNvPr id="21" name="TextBox 20"/>
          <p:cNvSpPr txBox="1"/>
          <p:nvPr/>
        </p:nvSpPr>
        <p:spPr>
          <a:xfrm>
            <a:off x="1691639" y="4434840"/>
            <a:ext cx="4206240" cy="1554480"/>
          </a:xfrm>
          <a:prstGeom prst="rect">
            <a:avLst/>
          </a:prstGeom>
          <a:noFill/>
        </p:spPr>
        <p:txBody>
          <a:bodyPr wrap="square" anchor="ctr">
            <a:spAutoFit/>
          </a:bodyPr>
          <a:lstStyle/>
          <a:p>
            <a:pPr algn="l"/>
            <a:r>
              <a:rPr sz="2400" b="1">
                <a:solidFill>
                  <a:srgbClr val="14264B"/>
                </a:solidFill>
                <a:latin typeface="Arial"/>
              </a:rPr>
              <a:t>Welche Kündigungsfrist gilt in der Probezeit?</a:t>
            </a:r>
          </a:p>
        </p:txBody>
      </p:sp>
      <p:sp>
        <p:nvSpPr>
          <p:cNvPr id="22" name="Rectangle 21"/>
          <p:cNvSpPr/>
          <p:nvPr/>
        </p:nvSpPr>
        <p:spPr>
          <a:xfrm>
            <a:off x="6172200" y="443484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434840"/>
            <a:ext cx="91440"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0800" y="489204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d</a:t>
            </a:r>
          </a:p>
        </p:txBody>
      </p:sp>
      <p:sp>
        <p:nvSpPr>
          <p:cNvPr id="25" name="TextBox 24"/>
          <p:cNvSpPr txBox="1"/>
          <p:nvPr/>
        </p:nvSpPr>
        <p:spPr>
          <a:xfrm>
            <a:off x="7223760" y="4434840"/>
            <a:ext cx="4206240" cy="1554480"/>
          </a:xfrm>
          <a:prstGeom prst="rect">
            <a:avLst/>
          </a:prstGeom>
          <a:noFill/>
        </p:spPr>
        <p:txBody>
          <a:bodyPr wrap="square" anchor="ctr">
            <a:spAutoFit/>
          </a:bodyPr>
          <a:lstStyle/>
          <a:p>
            <a:pPr algn="l"/>
            <a:r>
              <a:rPr sz="2400" b="1">
                <a:solidFill>
                  <a:srgbClr val="14264B"/>
                </a:solidFill>
                <a:latin typeface="Arial"/>
              </a:rPr>
              <a:t>Muss eine Kündigung schriftlich sein?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EINSTIEG UND VORWISSEN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Lernziele</a:t>
            </a:r>
          </a:p>
        </p:txBody>
      </p:sp>
      <p:sp>
        <p:nvSpPr>
          <p:cNvPr id="5" name="TextBox 4"/>
          <p:cNvSpPr txBox="1"/>
          <p:nvPr/>
        </p:nvSpPr>
        <p:spPr>
          <a:xfrm>
            <a:off x="640080" y="1417320"/>
            <a:ext cx="10881360" cy="640080"/>
          </a:xfrm>
          <a:prstGeom prst="rect">
            <a:avLst/>
          </a:prstGeom>
          <a:noFill/>
        </p:spPr>
        <p:txBody>
          <a:bodyPr wrap="square" anchor="t">
            <a:spAutoFit/>
          </a:bodyPr>
          <a:lstStyle/>
          <a:p>
            <a:pPr algn="l"/>
            <a:r>
              <a:rPr sz="2800" b="1">
                <a:solidFill>
                  <a:srgbClr val="14264B"/>
                </a:solidFill>
                <a:latin typeface="Arial"/>
              </a:rPr>
              <a:t>Am Ende könnt ihr:</a:t>
            </a:r>
          </a:p>
        </p:txBody>
      </p:sp>
      <p:sp>
        <p:nvSpPr>
          <p:cNvPr id="6" name="Rectangle 5"/>
          <p:cNvSpPr/>
          <p:nvPr/>
        </p:nvSpPr>
        <p:spPr>
          <a:xfrm>
            <a:off x="640080" y="2194560"/>
            <a:ext cx="10881360" cy="8686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91440" cy="8686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04288"/>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1</a:t>
            </a:r>
          </a:p>
        </p:txBody>
      </p:sp>
      <p:sp>
        <p:nvSpPr>
          <p:cNvPr id="9" name="TextBox 8"/>
          <p:cNvSpPr txBox="1"/>
          <p:nvPr/>
        </p:nvSpPr>
        <p:spPr>
          <a:xfrm>
            <a:off x="1783080" y="2194560"/>
            <a:ext cx="9601200" cy="868680"/>
          </a:xfrm>
          <a:prstGeom prst="rect">
            <a:avLst/>
          </a:prstGeom>
          <a:noFill/>
        </p:spPr>
        <p:txBody>
          <a:bodyPr wrap="square" anchor="ctr">
            <a:spAutoFit/>
          </a:bodyPr>
          <a:lstStyle/>
          <a:p>
            <a:pPr algn="l"/>
            <a:r>
              <a:rPr sz="2800" b="0">
                <a:solidFill>
                  <a:srgbClr val="1A2238"/>
                </a:solidFill>
                <a:latin typeface="Arial"/>
              </a:rPr>
              <a:t>nennen, was in einen Ausbildungsvertrag gehört</a:t>
            </a:r>
          </a:p>
        </p:txBody>
      </p:sp>
      <p:sp>
        <p:nvSpPr>
          <p:cNvPr id="10" name="Rectangle 9"/>
          <p:cNvSpPr/>
          <p:nvPr/>
        </p:nvSpPr>
        <p:spPr>
          <a:xfrm>
            <a:off x="640080" y="3218688"/>
            <a:ext cx="10881360" cy="8686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218688"/>
            <a:ext cx="91440" cy="8686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3328416"/>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2</a:t>
            </a:r>
          </a:p>
        </p:txBody>
      </p:sp>
      <p:sp>
        <p:nvSpPr>
          <p:cNvPr id="13" name="TextBox 12"/>
          <p:cNvSpPr txBox="1"/>
          <p:nvPr/>
        </p:nvSpPr>
        <p:spPr>
          <a:xfrm>
            <a:off x="1783080" y="3218688"/>
            <a:ext cx="9601200" cy="868680"/>
          </a:xfrm>
          <a:prstGeom prst="rect">
            <a:avLst/>
          </a:prstGeom>
          <a:noFill/>
        </p:spPr>
        <p:txBody>
          <a:bodyPr wrap="square" anchor="ctr">
            <a:spAutoFit/>
          </a:bodyPr>
          <a:lstStyle/>
          <a:p>
            <a:pPr algn="l"/>
            <a:r>
              <a:rPr sz="2800" b="0">
                <a:solidFill>
                  <a:srgbClr val="1A2238"/>
                </a:solidFill>
                <a:latin typeface="Arial"/>
              </a:rPr>
              <a:t>Vergütung, Urlaub und Arbeitszeit bestimmen</a:t>
            </a:r>
          </a:p>
        </p:txBody>
      </p:sp>
      <p:sp>
        <p:nvSpPr>
          <p:cNvPr id="14" name="Rectangle 13"/>
          <p:cNvSpPr/>
          <p:nvPr/>
        </p:nvSpPr>
        <p:spPr>
          <a:xfrm>
            <a:off x="640080" y="4242816"/>
            <a:ext cx="10881360" cy="8686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242816"/>
            <a:ext cx="91440" cy="8686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352544"/>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3</a:t>
            </a:r>
          </a:p>
        </p:txBody>
      </p:sp>
      <p:sp>
        <p:nvSpPr>
          <p:cNvPr id="17" name="TextBox 16"/>
          <p:cNvSpPr txBox="1"/>
          <p:nvPr/>
        </p:nvSpPr>
        <p:spPr>
          <a:xfrm>
            <a:off x="1783080" y="4242816"/>
            <a:ext cx="9601200" cy="868680"/>
          </a:xfrm>
          <a:prstGeom prst="rect">
            <a:avLst/>
          </a:prstGeom>
          <a:noFill/>
        </p:spPr>
        <p:txBody>
          <a:bodyPr wrap="square" anchor="ctr">
            <a:spAutoFit/>
          </a:bodyPr>
          <a:lstStyle/>
          <a:p>
            <a:pPr algn="l"/>
            <a:r>
              <a:rPr sz="2800" b="0">
                <a:solidFill>
                  <a:srgbClr val="1A2238"/>
                </a:solidFill>
                <a:latin typeface="Arial"/>
              </a:rPr>
              <a:t>Probezeit und Kündigung richtig anwenden</a:t>
            </a:r>
          </a:p>
        </p:txBody>
      </p:sp>
      <p:sp>
        <p:nvSpPr>
          <p:cNvPr id="18" name="Rectangle 17"/>
          <p:cNvSpPr/>
          <p:nvPr/>
        </p:nvSpPr>
        <p:spPr>
          <a:xfrm>
            <a:off x="640080" y="5266944"/>
            <a:ext cx="10881360" cy="8686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266944"/>
            <a:ext cx="91440" cy="8686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376672"/>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4</a:t>
            </a:r>
          </a:p>
        </p:txBody>
      </p:sp>
      <p:sp>
        <p:nvSpPr>
          <p:cNvPr id="21" name="TextBox 20"/>
          <p:cNvSpPr txBox="1"/>
          <p:nvPr/>
        </p:nvSpPr>
        <p:spPr>
          <a:xfrm>
            <a:off x="1783080" y="5266944"/>
            <a:ext cx="9601200" cy="868680"/>
          </a:xfrm>
          <a:prstGeom prst="rect">
            <a:avLst/>
          </a:prstGeom>
          <a:noFill/>
        </p:spPr>
        <p:txBody>
          <a:bodyPr wrap="square" anchor="ctr">
            <a:spAutoFit/>
          </a:bodyPr>
          <a:lstStyle/>
          <a:p>
            <a:pPr algn="l"/>
            <a:r>
              <a:rPr sz="2800" b="0">
                <a:solidFill>
                  <a:srgbClr val="1A2238"/>
                </a:solidFill>
                <a:latin typeface="Arial"/>
              </a:rPr>
              <a:t>Fälle mit der passenden Regel begründen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EINSTIEG UND VORWISSEN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Ablauf der Stunde</a:t>
            </a:r>
          </a:p>
        </p:txBody>
      </p:sp>
      <p:sp>
        <p:nvSpPr>
          <p:cNvPr id="5" name="TextBox 4"/>
          <p:cNvSpPr txBox="1"/>
          <p:nvPr/>
        </p:nvSpPr>
        <p:spPr>
          <a:xfrm>
            <a:off x="640080" y="1463040"/>
            <a:ext cx="4023360" cy="685800"/>
          </a:xfrm>
          <a:prstGeom prst="rect">
            <a:avLst/>
          </a:prstGeom>
          <a:noFill/>
        </p:spPr>
        <p:txBody>
          <a:bodyPr wrap="square" anchor="ctr">
            <a:spAutoFit/>
          </a:bodyPr>
          <a:lstStyle/>
          <a:p>
            <a:pPr algn="l"/>
            <a:r>
              <a:rPr sz="2600" b="1">
                <a:solidFill>
                  <a:srgbClr val="14264B"/>
                </a:solidFill>
                <a:latin typeface="Arial"/>
              </a:rPr>
              <a:t>Vorwissen</a:t>
            </a:r>
          </a:p>
        </p:txBody>
      </p:sp>
      <p:sp>
        <p:nvSpPr>
          <p:cNvPr id="6" name="Rectangle 5"/>
          <p:cNvSpPr/>
          <p:nvPr/>
        </p:nvSpPr>
        <p:spPr>
          <a:xfrm>
            <a:off x="4754880" y="1508760"/>
            <a:ext cx="2011680" cy="5943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1508760"/>
            <a:ext cx="2011680" cy="594360"/>
          </a:xfrm>
          <a:prstGeom prst="rect">
            <a:avLst/>
          </a:prstGeom>
          <a:noFill/>
        </p:spPr>
        <p:txBody>
          <a:bodyPr wrap="square" anchor="ctr">
            <a:spAutoFit/>
          </a:bodyPr>
          <a:lstStyle/>
          <a:p>
            <a:pPr algn="ctr"/>
            <a:r>
              <a:rPr sz="2200" b="1">
                <a:solidFill>
                  <a:srgbClr val="FFFFFF"/>
                </a:solidFill>
                <a:latin typeface="Arial"/>
              </a:rPr>
              <a:t>4 Min.</a:t>
            </a:r>
          </a:p>
        </p:txBody>
      </p:sp>
      <p:sp>
        <p:nvSpPr>
          <p:cNvPr id="8" name="TextBox 7"/>
          <p:cNvSpPr txBox="1"/>
          <p:nvPr/>
        </p:nvSpPr>
        <p:spPr>
          <a:xfrm>
            <a:off x="640080" y="2267712"/>
            <a:ext cx="4023360" cy="685800"/>
          </a:xfrm>
          <a:prstGeom prst="rect">
            <a:avLst/>
          </a:prstGeom>
          <a:noFill/>
        </p:spPr>
        <p:txBody>
          <a:bodyPr wrap="square" anchor="ctr">
            <a:spAutoFit/>
          </a:bodyPr>
          <a:lstStyle/>
          <a:p>
            <a:pPr algn="l"/>
            <a:r>
              <a:rPr sz="2600" b="1">
                <a:solidFill>
                  <a:srgbClr val="14264B"/>
                </a:solidFill>
                <a:latin typeface="Arial"/>
              </a:rPr>
              <a:t>Erklären</a:t>
            </a:r>
          </a:p>
        </p:txBody>
      </p:sp>
      <p:sp>
        <p:nvSpPr>
          <p:cNvPr id="9" name="Rectangle 8"/>
          <p:cNvSpPr/>
          <p:nvPr/>
        </p:nvSpPr>
        <p:spPr>
          <a:xfrm>
            <a:off x="4754880" y="2313432"/>
            <a:ext cx="6035040" cy="5943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313432"/>
            <a:ext cx="6035040" cy="594360"/>
          </a:xfrm>
          <a:prstGeom prst="rect">
            <a:avLst/>
          </a:prstGeom>
          <a:noFill/>
        </p:spPr>
        <p:txBody>
          <a:bodyPr wrap="square" anchor="ctr">
            <a:spAutoFit/>
          </a:bodyPr>
          <a:lstStyle/>
          <a:p>
            <a:pPr algn="ctr"/>
            <a:r>
              <a:rPr sz="2200" b="1">
                <a:solidFill>
                  <a:srgbClr val="FFFFFF"/>
                </a:solidFill>
                <a:latin typeface="Arial"/>
              </a:rPr>
              <a:t>12 Min.</a:t>
            </a:r>
          </a:p>
        </p:txBody>
      </p:sp>
      <p:sp>
        <p:nvSpPr>
          <p:cNvPr id="11" name="TextBox 10"/>
          <p:cNvSpPr txBox="1"/>
          <p:nvPr/>
        </p:nvSpPr>
        <p:spPr>
          <a:xfrm>
            <a:off x="640080" y="3072384"/>
            <a:ext cx="4023360" cy="685800"/>
          </a:xfrm>
          <a:prstGeom prst="rect">
            <a:avLst/>
          </a:prstGeom>
          <a:noFill/>
        </p:spPr>
        <p:txBody>
          <a:bodyPr wrap="square" anchor="ctr">
            <a:spAutoFit/>
          </a:bodyPr>
          <a:lstStyle/>
          <a:p>
            <a:pPr algn="l"/>
            <a:r>
              <a:rPr sz="2600" b="1">
                <a:solidFill>
                  <a:srgbClr val="14264B"/>
                </a:solidFill>
                <a:latin typeface="Arial"/>
              </a:rPr>
              <a:t>Aufgaben erklären</a:t>
            </a:r>
          </a:p>
        </p:txBody>
      </p:sp>
      <p:sp>
        <p:nvSpPr>
          <p:cNvPr id="12" name="Rectangle 11"/>
          <p:cNvSpPr/>
          <p:nvPr/>
        </p:nvSpPr>
        <p:spPr>
          <a:xfrm>
            <a:off x="4754880" y="3118104"/>
            <a:ext cx="1508760" cy="5943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3118104"/>
            <a:ext cx="1508760" cy="594360"/>
          </a:xfrm>
          <a:prstGeom prst="rect">
            <a:avLst/>
          </a:prstGeom>
          <a:noFill/>
        </p:spPr>
        <p:txBody>
          <a:bodyPr wrap="square" anchor="ctr">
            <a:spAutoFit/>
          </a:bodyPr>
          <a:lstStyle/>
          <a:p>
            <a:pPr algn="ctr"/>
            <a:r>
              <a:rPr sz="2200" b="1">
                <a:solidFill>
                  <a:srgbClr val="FFFFFF"/>
                </a:solidFill>
                <a:latin typeface="Arial"/>
              </a:rPr>
              <a:t>3 Min.</a:t>
            </a:r>
          </a:p>
        </p:txBody>
      </p:sp>
      <p:sp>
        <p:nvSpPr>
          <p:cNvPr id="14" name="TextBox 13"/>
          <p:cNvSpPr txBox="1"/>
          <p:nvPr/>
        </p:nvSpPr>
        <p:spPr>
          <a:xfrm>
            <a:off x="640080" y="3877056"/>
            <a:ext cx="4023360" cy="685800"/>
          </a:xfrm>
          <a:prstGeom prst="rect">
            <a:avLst/>
          </a:prstGeom>
          <a:noFill/>
        </p:spPr>
        <p:txBody>
          <a:bodyPr wrap="square" anchor="ctr">
            <a:spAutoFit/>
          </a:bodyPr>
          <a:lstStyle/>
          <a:p>
            <a:pPr algn="l"/>
            <a:r>
              <a:rPr sz="2600" b="1">
                <a:solidFill>
                  <a:srgbClr val="14264B"/>
                </a:solidFill>
                <a:latin typeface="Arial"/>
              </a:rPr>
              <a:t>Üben</a:t>
            </a:r>
          </a:p>
        </p:txBody>
      </p:sp>
      <p:sp>
        <p:nvSpPr>
          <p:cNvPr id="15" name="Rectangle 14"/>
          <p:cNvSpPr/>
          <p:nvPr/>
        </p:nvSpPr>
        <p:spPr>
          <a:xfrm>
            <a:off x="4754880" y="3922776"/>
            <a:ext cx="6537960" cy="5943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922776"/>
            <a:ext cx="6537960" cy="594360"/>
          </a:xfrm>
          <a:prstGeom prst="rect">
            <a:avLst/>
          </a:prstGeom>
          <a:noFill/>
        </p:spPr>
        <p:txBody>
          <a:bodyPr wrap="square" anchor="ctr">
            <a:spAutoFit/>
          </a:bodyPr>
          <a:lstStyle/>
          <a:p>
            <a:pPr algn="ctr"/>
            <a:r>
              <a:rPr sz="2200" b="1">
                <a:solidFill>
                  <a:srgbClr val="14264B"/>
                </a:solidFill>
                <a:latin typeface="Arial"/>
              </a:rPr>
              <a:t>13 Min.</a:t>
            </a:r>
          </a:p>
        </p:txBody>
      </p:sp>
      <p:sp>
        <p:nvSpPr>
          <p:cNvPr id="17" name="TextBox 16"/>
          <p:cNvSpPr txBox="1"/>
          <p:nvPr/>
        </p:nvSpPr>
        <p:spPr>
          <a:xfrm>
            <a:off x="640080" y="4681728"/>
            <a:ext cx="4023360" cy="685800"/>
          </a:xfrm>
          <a:prstGeom prst="rect">
            <a:avLst/>
          </a:prstGeom>
          <a:noFill/>
        </p:spPr>
        <p:txBody>
          <a:bodyPr wrap="square" anchor="ctr">
            <a:spAutoFit/>
          </a:bodyPr>
          <a:lstStyle/>
          <a:p>
            <a:pPr algn="l"/>
            <a:r>
              <a:rPr sz="2600" b="1">
                <a:solidFill>
                  <a:srgbClr val="14264B"/>
                </a:solidFill>
                <a:latin typeface="Arial"/>
              </a:rPr>
              <a:t>Besprechen</a:t>
            </a:r>
          </a:p>
        </p:txBody>
      </p:sp>
      <p:sp>
        <p:nvSpPr>
          <p:cNvPr id="18" name="Rectangle 17"/>
          <p:cNvSpPr/>
          <p:nvPr/>
        </p:nvSpPr>
        <p:spPr>
          <a:xfrm>
            <a:off x="4754880" y="4727448"/>
            <a:ext cx="4023360" cy="5943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4727448"/>
            <a:ext cx="4023360" cy="594360"/>
          </a:xfrm>
          <a:prstGeom prst="rect">
            <a:avLst/>
          </a:prstGeom>
          <a:noFill/>
        </p:spPr>
        <p:txBody>
          <a:bodyPr wrap="square" anchor="ctr">
            <a:spAutoFit/>
          </a:bodyPr>
          <a:lstStyle/>
          <a:p>
            <a:pPr algn="ctr"/>
            <a:r>
              <a:rPr sz="2200" b="1">
                <a:solidFill>
                  <a:srgbClr val="FFFFFF"/>
                </a:solidFill>
                <a:latin typeface="Arial"/>
              </a:rPr>
              <a:t>8 Min.</a:t>
            </a:r>
          </a:p>
        </p:txBody>
      </p:sp>
      <p:sp>
        <p:nvSpPr>
          <p:cNvPr id="20" name="TextBox 19"/>
          <p:cNvSpPr txBox="1"/>
          <p:nvPr/>
        </p:nvSpPr>
        <p:spPr>
          <a:xfrm>
            <a:off x="640080" y="5486400"/>
            <a:ext cx="4023360" cy="685800"/>
          </a:xfrm>
          <a:prstGeom prst="rect">
            <a:avLst/>
          </a:prstGeom>
          <a:noFill/>
        </p:spPr>
        <p:txBody>
          <a:bodyPr wrap="square" anchor="ctr">
            <a:spAutoFit/>
          </a:bodyPr>
          <a:lstStyle/>
          <a:p>
            <a:pPr algn="l"/>
            <a:r>
              <a:rPr sz="2600" b="1">
                <a:solidFill>
                  <a:srgbClr val="14264B"/>
                </a:solidFill>
                <a:latin typeface="Arial"/>
              </a:rPr>
              <a:t>Quiz und Abschluss</a:t>
            </a:r>
          </a:p>
        </p:txBody>
      </p:sp>
      <p:sp>
        <p:nvSpPr>
          <p:cNvPr id="21" name="Rectangle 20"/>
          <p:cNvSpPr/>
          <p:nvPr/>
        </p:nvSpPr>
        <p:spPr>
          <a:xfrm>
            <a:off x="4754880" y="5532120"/>
            <a:ext cx="2514600" cy="5943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5532120"/>
            <a:ext cx="2514600" cy="594360"/>
          </a:xfrm>
          <a:prstGeom prst="rect">
            <a:avLst/>
          </a:prstGeom>
          <a:noFill/>
        </p:spPr>
        <p:txBody>
          <a:bodyPr wrap="square" anchor="ctr">
            <a:spAutoFit/>
          </a:bodyPr>
          <a:lstStyle/>
          <a:p>
            <a:pPr algn="ctr"/>
            <a:r>
              <a:rPr sz="2200" b="1">
                <a:solidFill>
                  <a:srgbClr val="FFFFFF"/>
                </a:solidFill>
                <a:latin typeface="Arial"/>
              </a:rPr>
              <a:t>5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Der Ausbildungsvertrag (Teil 1)</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11 BBiG</a:t>
            </a:r>
          </a:p>
        </p:txBody>
      </p:sp>
      <p:sp>
        <p:nvSpPr>
          <p:cNvPr id="6" name="Rectangle 5"/>
          <p:cNvSpPr/>
          <p:nvPr/>
        </p:nvSpPr>
        <p:spPr>
          <a:xfrm>
            <a:off x="640080" y="141732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lendar.png"/>
          <p:cNvPicPr>
            <a:picLocks noChangeAspect="1"/>
          </p:cNvPicPr>
          <p:nvPr/>
        </p:nvPicPr>
        <p:blipFill>
          <a:blip r:embed="rId3"/>
          <a:stretch>
            <a:fillRect/>
          </a:stretch>
        </p:blipFill>
        <p:spPr>
          <a:xfrm>
            <a:off x="777240" y="1508760"/>
            <a:ext cx="777240" cy="777240"/>
          </a:xfrm>
          <a:prstGeom prst="rect">
            <a:avLst/>
          </a:prstGeom>
        </p:spPr>
      </p:pic>
      <p:sp>
        <p:nvSpPr>
          <p:cNvPr id="8" name="TextBox 7"/>
          <p:cNvSpPr txBox="1"/>
          <p:nvPr/>
        </p:nvSpPr>
        <p:spPr>
          <a:xfrm>
            <a:off x="1691639" y="1417320"/>
            <a:ext cx="4251960" cy="960120"/>
          </a:xfrm>
          <a:prstGeom prst="rect">
            <a:avLst/>
          </a:prstGeom>
          <a:noFill/>
        </p:spPr>
        <p:txBody>
          <a:bodyPr wrap="square" anchor="ctr">
            <a:spAutoFit/>
          </a:bodyPr>
          <a:lstStyle/>
          <a:p>
            <a:pPr algn="l"/>
            <a:r>
              <a:rPr sz="2100" b="1">
                <a:solidFill>
                  <a:srgbClr val="14264B"/>
                </a:solidFill>
                <a:latin typeface="Arial"/>
              </a:rPr>
              <a:t>Beginn und Dauer</a:t>
            </a:r>
          </a:p>
        </p:txBody>
      </p:sp>
      <p:sp>
        <p:nvSpPr>
          <p:cNvPr id="9" name="Rectangle 8"/>
          <p:cNvSpPr/>
          <p:nvPr/>
        </p:nvSpPr>
        <p:spPr>
          <a:xfrm>
            <a:off x="6172200" y="141732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lock.png"/>
          <p:cNvPicPr>
            <a:picLocks noChangeAspect="1"/>
          </p:cNvPicPr>
          <p:nvPr/>
        </p:nvPicPr>
        <p:blipFill>
          <a:blip r:embed="rId4"/>
          <a:stretch>
            <a:fillRect/>
          </a:stretch>
        </p:blipFill>
        <p:spPr>
          <a:xfrm>
            <a:off x="6309360" y="1508760"/>
            <a:ext cx="777240" cy="777240"/>
          </a:xfrm>
          <a:prstGeom prst="rect">
            <a:avLst/>
          </a:prstGeom>
        </p:spPr>
      </p:pic>
      <p:sp>
        <p:nvSpPr>
          <p:cNvPr id="11" name="TextBox 10"/>
          <p:cNvSpPr txBox="1"/>
          <p:nvPr/>
        </p:nvSpPr>
        <p:spPr>
          <a:xfrm>
            <a:off x="7223760" y="1417320"/>
            <a:ext cx="4251960" cy="960120"/>
          </a:xfrm>
          <a:prstGeom prst="rect">
            <a:avLst/>
          </a:prstGeom>
          <a:noFill/>
        </p:spPr>
        <p:txBody>
          <a:bodyPr wrap="square" anchor="ctr">
            <a:spAutoFit/>
          </a:bodyPr>
          <a:lstStyle/>
          <a:p>
            <a:pPr algn="l"/>
            <a:r>
              <a:rPr sz="2100" b="1">
                <a:solidFill>
                  <a:srgbClr val="14264B"/>
                </a:solidFill>
                <a:latin typeface="Arial"/>
              </a:rPr>
              <a:t>tägliche Ausbildungszeit</a:t>
            </a:r>
          </a:p>
        </p:txBody>
      </p:sp>
      <p:sp>
        <p:nvSpPr>
          <p:cNvPr id="12" name="Rectangle 11"/>
          <p:cNvSpPr/>
          <p:nvPr/>
        </p:nvSpPr>
        <p:spPr>
          <a:xfrm>
            <a:off x="640080" y="251460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ourglass.png"/>
          <p:cNvPicPr>
            <a:picLocks noChangeAspect="1"/>
          </p:cNvPicPr>
          <p:nvPr/>
        </p:nvPicPr>
        <p:blipFill>
          <a:blip r:embed="rId5"/>
          <a:stretch>
            <a:fillRect/>
          </a:stretch>
        </p:blipFill>
        <p:spPr>
          <a:xfrm>
            <a:off x="777240" y="2606040"/>
            <a:ext cx="777240" cy="777240"/>
          </a:xfrm>
          <a:prstGeom prst="rect">
            <a:avLst/>
          </a:prstGeom>
        </p:spPr>
      </p:pic>
      <p:sp>
        <p:nvSpPr>
          <p:cNvPr id="14" name="TextBox 13"/>
          <p:cNvSpPr txBox="1"/>
          <p:nvPr/>
        </p:nvSpPr>
        <p:spPr>
          <a:xfrm>
            <a:off x="1691639" y="2514600"/>
            <a:ext cx="4251960" cy="960120"/>
          </a:xfrm>
          <a:prstGeom prst="rect">
            <a:avLst/>
          </a:prstGeom>
          <a:noFill/>
        </p:spPr>
        <p:txBody>
          <a:bodyPr wrap="square" anchor="ctr">
            <a:spAutoFit/>
          </a:bodyPr>
          <a:lstStyle/>
          <a:p>
            <a:pPr algn="l"/>
            <a:r>
              <a:rPr sz="2100" b="1">
                <a:solidFill>
                  <a:srgbClr val="14264B"/>
                </a:solidFill>
                <a:latin typeface="Arial"/>
              </a:rPr>
              <a:t>Probezeit</a:t>
            </a:r>
          </a:p>
        </p:txBody>
      </p:sp>
      <p:sp>
        <p:nvSpPr>
          <p:cNvPr id="15" name="Rectangle 14"/>
          <p:cNvSpPr/>
          <p:nvPr/>
        </p:nvSpPr>
        <p:spPr>
          <a:xfrm>
            <a:off x="6172200" y="251460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uro.png"/>
          <p:cNvPicPr>
            <a:picLocks noChangeAspect="1"/>
          </p:cNvPicPr>
          <p:nvPr/>
        </p:nvPicPr>
        <p:blipFill>
          <a:blip r:embed="rId6"/>
          <a:stretch>
            <a:fillRect/>
          </a:stretch>
        </p:blipFill>
        <p:spPr>
          <a:xfrm>
            <a:off x="6309360" y="2606040"/>
            <a:ext cx="777240" cy="777240"/>
          </a:xfrm>
          <a:prstGeom prst="rect">
            <a:avLst/>
          </a:prstGeom>
        </p:spPr>
      </p:pic>
      <p:sp>
        <p:nvSpPr>
          <p:cNvPr id="17" name="TextBox 16"/>
          <p:cNvSpPr txBox="1"/>
          <p:nvPr/>
        </p:nvSpPr>
        <p:spPr>
          <a:xfrm>
            <a:off x="7223760" y="2514600"/>
            <a:ext cx="4251960" cy="960120"/>
          </a:xfrm>
          <a:prstGeom prst="rect">
            <a:avLst/>
          </a:prstGeom>
          <a:noFill/>
        </p:spPr>
        <p:txBody>
          <a:bodyPr wrap="square" anchor="ctr">
            <a:spAutoFit/>
          </a:bodyPr>
          <a:lstStyle/>
          <a:p>
            <a:pPr algn="l"/>
            <a:r>
              <a:rPr sz="2100" b="1">
                <a:solidFill>
                  <a:srgbClr val="14264B"/>
                </a:solidFill>
                <a:latin typeface="Arial"/>
              </a:rPr>
              <a:t>Vergütung</a:t>
            </a:r>
          </a:p>
        </p:txBody>
      </p:sp>
      <p:sp>
        <p:nvSpPr>
          <p:cNvPr id="18" name="Rectangle 17"/>
          <p:cNvSpPr/>
          <p:nvPr/>
        </p:nvSpPr>
        <p:spPr>
          <a:xfrm>
            <a:off x="640080" y="361188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lm.png"/>
          <p:cNvPicPr>
            <a:picLocks noChangeAspect="1"/>
          </p:cNvPicPr>
          <p:nvPr/>
        </p:nvPicPr>
        <p:blipFill>
          <a:blip r:embed="rId7"/>
          <a:stretch>
            <a:fillRect/>
          </a:stretch>
        </p:blipFill>
        <p:spPr>
          <a:xfrm>
            <a:off x="777240" y="3703320"/>
            <a:ext cx="777240" cy="777240"/>
          </a:xfrm>
          <a:prstGeom prst="rect">
            <a:avLst/>
          </a:prstGeom>
        </p:spPr>
      </p:pic>
      <p:sp>
        <p:nvSpPr>
          <p:cNvPr id="20" name="TextBox 19"/>
          <p:cNvSpPr txBox="1"/>
          <p:nvPr/>
        </p:nvSpPr>
        <p:spPr>
          <a:xfrm>
            <a:off x="1691639" y="3611880"/>
            <a:ext cx="4251960" cy="960120"/>
          </a:xfrm>
          <a:prstGeom prst="rect">
            <a:avLst/>
          </a:prstGeom>
          <a:noFill/>
        </p:spPr>
        <p:txBody>
          <a:bodyPr wrap="square" anchor="ctr">
            <a:spAutoFit/>
          </a:bodyPr>
          <a:lstStyle/>
          <a:p>
            <a:pPr algn="l"/>
            <a:r>
              <a:rPr sz="2100" b="1">
                <a:solidFill>
                  <a:srgbClr val="14264B"/>
                </a:solidFill>
                <a:latin typeface="Arial"/>
              </a:rPr>
              <a:t>Urlaub</a:t>
            </a:r>
          </a:p>
        </p:txBody>
      </p:sp>
      <p:sp>
        <p:nvSpPr>
          <p:cNvPr id="21" name="Rectangle 20"/>
          <p:cNvSpPr/>
          <p:nvPr/>
        </p:nvSpPr>
        <p:spPr>
          <a:xfrm>
            <a:off x="6172200" y="3611880"/>
            <a:ext cx="5349240" cy="96012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oc.png"/>
          <p:cNvPicPr>
            <a:picLocks noChangeAspect="1"/>
          </p:cNvPicPr>
          <p:nvPr/>
        </p:nvPicPr>
        <p:blipFill>
          <a:blip r:embed="rId8"/>
          <a:stretch>
            <a:fillRect/>
          </a:stretch>
        </p:blipFill>
        <p:spPr>
          <a:xfrm>
            <a:off x="6309360" y="3703320"/>
            <a:ext cx="777240" cy="777240"/>
          </a:xfrm>
          <a:prstGeom prst="rect">
            <a:avLst/>
          </a:prstGeom>
        </p:spPr>
      </p:pic>
      <p:sp>
        <p:nvSpPr>
          <p:cNvPr id="23" name="TextBox 22"/>
          <p:cNvSpPr txBox="1"/>
          <p:nvPr/>
        </p:nvSpPr>
        <p:spPr>
          <a:xfrm>
            <a:off x="7223760" y="3611880"/>
            <a:ext cx="4251960" cy="960120"/>
          </a:xfrm>
          <a:prstGeom prst="rect">
            <a:avLst/>
          </a:prstGeom>
          <a:noFill/>
        </p:spPr>
        <p:txBody>
          <a:bodyPr wrap="square" anchor="ctr">
            <a:spAutoFit/>
          </a:bodyPr>
          <a:lstStyle/>
          <a:p>
            <a:pPr algn="l"/>
            <a:r>
              <a:rPr sz="2100" b="1">
                <a:solidFill>
                  <a:srgbClr val="14264B"/>
                </a:solidFill>
                <a:latin typeface="Arial"/>
              </a:rPr>
              <a:t>Kündigungsvoraussetzungen</a:t>
            </a:r>
          </a:p>
        </p:txBody>
      </p:sp>
      <p:sp>
        <p:nvSpPr>
          <p:cNvPr id="24" name="Rectangle 23"/>
          <p:cNvSpPr/>
          <p:nvPr/>
        </p:nvSpPr>
        <p:spPr>
          <a:xfrm>
            <a:off x="640080" y="4846320"/>
            <a:ext cx="10881360" cy="13716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846320"/>
            <a:ext cx="91440" cy="13716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846320"/>
            <a:ext cx="10515600" cy="1371600"/>
          </a:xfrm>
          <a:prstGeom prst="rect">
            <a:avLst/>
          </a:prstGeom>
          <a:noFill/>
        </p:spPr>
        <p:txBody>
          <a:bodyPr wrap="square" anchor="ctr">
            <a:spAutoFit/>
          </a:bodyPr>
          <a:lstStyle/>
          <a:p>
            <a:pPr algn="l"/>
            <a:r>
              <a:rPr sz="2400" b="1">
                <a:solidFill>
                  <a:srgbClr val="14264B"/>
                </a:solidFill>
                <a:latin typeface="Arial"/>
              </a:rPr>
              <a:t>Textform: </a:t>
            </a:r>
            <a:r>
              <a:rPr sz="2400" b="0">
                <a:solidFill>
                  <a:srgbClr val="1A2238"/>
                </a:solidFill>
                <a:latin typeface="Arial"/>
              </a:rPr>
              <a:t>Seit 01.08.2024 genügt für den Vertragsinhalt die Textform (zum Beispiel per E-Mail); vorher war die Papierform vorgeschrieben.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Beginn und Dauer (Teil 1)</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8, § 21 BBiG</a:t>
            </a:r>
          </a:p>
        </p:txBody>
      </p:sp>
      <p:sp>
        <p:nvSpPr>
          <p:cNvPr id="6" name="Rectangle 5"/>
          <p:cNvSpPr/>
          <p:nvPr/>
        </p:nvSpPr>
        <p:spPr>
          <a:xfrm>
            <a:off x="1097280" y="1828800"/>
            <a:ext cx="8595360" cy="4572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8595360" cy="457200"/>
          </a:xfrm>
          <a:prstGeom prst="rect">
            <a:avLst/>
          </a:prstGeom>
          <a:noFill/>
        </p:spPr>
        <p:txBody>
          <a:bodyPr wrap="square" anchor="ctr">
            <a:spAutoFit/>
          </a:bodyPr>
          <a:lstStyle/>
          <a:p>
            <a:pPr algn="ctr"/>
            <a:r>
              <a:rPr sz="2200" b="1">
                <a:solidFill>
                  <a:srgbClr val="FFFFFF"/>
                </a:solidFill>
                <a:latin typeface="Arial"/>
              </a:rPr>
              <a:t>Ausbildungsdauer</a:t>
            </a:r>
          </a:p>
        </p:txBody>
      </p:sp>
      <p:sp>
        <p:nvSpPr>
          <p:cNvPr id="8" name="Oval 7"/>
          <p:cNvSpPr/>
          <p:nvPr/>
        </p:nvSpPr>
        <p:spPr>
          <a:xfrm>
            <a:off x="914400" y="1783080"/>
            <a:ext cx="548640" cy="548640"/>
          </a:xfrm>
          <a:prstGeom prst="ellipse">
            <a:avLst/>
          </a:prstGeom>
          <a:solidFill>
            <a:srgbClr val="F5A800"/>
          </a:solidFill>
          <a:ln w="381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1783080"/>
            <a:ext cx="548640" cy="548640"/>
          </a:xfrm>
          <a:prstGeom prst="ellipse">
            <a:avLst/>
          </a:prstGeom>
          <a:solidFill>
            <a:srgbClr val="F5A800"/>
          </a:solidFill>
          <a:ln w="381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23160"/>
            <a:ext cx="2377440" cy="548640"/>
          </a:xfrm>
          <a:prstGeom prst="rect">
            <a:avLst/>
          </a:prstGeom>
          <a:noFill/>
        </p:spPr>
        <p:txBody>
          <a:bodyPr wrap="square" anchor="t">
            <a:spAutoFit/>
          </a:bodyPr>
          <a:lstStyle/>
          <a:p>
            <a:pPr algn="l"/>
            <a:r>
              <a:rPr sz="2400" b="1">
                <a:solidFill>
                  <a:srgbClr val="14264B"/>
                </a:solidFill>
                <a:latin typeface="Arial"/>
              </a:rPr>
              <a:t>Beginn</a:t>
            </a:r>
          </a:p>
        </p:txBody>
      </p:sp>
      <p:sp>
        <p:nvSpPr>
          <p:cNvPr id="11" name="TextBox 10"/>
          <p:cNvSpPr txBox="1"/>
          <p:nvPr/>
        </p:nvSpPr>
        <p:spPr>
          <a:xfrm>
            <a:off x="7955279" y="2423160"/>
            <a:ext cx="3840480" cy="548640"/>
          </a:xfrm>
          <a:prstGeom prst="rect">
            <a:avLst/>
          </a:prstGeom>
          <a:noFill/>
        </p:spPr>
        <p:txBody>
          <a:bodyPr wrap="square" anchor="t">
            <a:spAutoFit/>
          </a:bodyPr>
          <a:lstStyle/>
          <a:p>
            <a:pPr algn="r"/>
            <a:r>
              <a:rPr sz="2400" b="1">
                <a:solidFill>
                  <a:srgbClr val="14264B"/>
                </a:solidFill>
                <a:latin typeface="Arial"/>
              </a:rPr>
              <a:t>Prüfung</a:t>
            </a:r>
          </a:p>
        </p:txBody>
      </p:sp>
      <p:sp>
        <p:nvSpPr>
          <p:cNvPr id="12" name="TextBox 11"/>
          <p:cNvSpPr txBox="1"/>
          <p:nvPr/>
        </p:nvSpPr>
        <p:spPr>
          <a:xfrm>
            <a:off x="4754880" y="2788920"/>
            <a:ext cx="7040880" cy="457200"/>
          </a:xfrm>
          <a:prstGeom prst="rect">
            <a:avLst/>
          </a:prstGeom>
          <a:noFill/>
        </p:spPr>
        <p:txBody>
          <a:bodyPr wrap="square" anchor="t">
            <a:spAutoFit/>
          </a:bodyPr>
          <a:lstStyle/>
          <a:p>
            <a:pPr algn="r"/>
            <a:r>
              <a:rPr sz="2000" b="0">
                <a:solidFill>
                  <a:srgbClr val="1A2238"/>
                </a:solidFill>
                <a:latin typeface="Arial"/>
              </a:rPr>
              <a:t>Ende mit Bekanntgabe des Prüfungsergebnisses</a:t>
            </a:r>
          </a:p>
        </p:txBody>
      </p:sp>
      <p:sp>
        <p:nvSpPr>
          <p:cNvPr id="13" name="Rectangle 12"/>
          <p:cNvSpPr/>
          <p:nvPr/>
        </p:nvSpPr>
        <p:spPr>
          <a:xfrm>
            <a:off x="640080" y="3383280"/>
            <a:ext cx="5349240" cy="2926080"/>
          </a:xfrm>
          <a:prstGeom prst="rect">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383280"/>
            <a:ext cx="91440" cy="2926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56432"/>
            <a:ext cx="4983479" cy="548640"/>
          </a:xfrm>
          <a:prstGeom prst="rect">
            <a:avLst/>
          </a:prstGeom>
          <a:noFill/>
        </p:spPr>
        <p:txBody>
          <a:bodyPr wrap="square" anchor="t">
            <a:spAutoFit/>
          </a:bodyPr>
          <a:lstStyle/>
          <a:p>
            <a:pPr algn="l"/>
            <a:r>
              <a:rPr sz="2600" b="1">
                <a:solidFill>
                  <a:srgbClr val="14264B"/>
                </a:solidFill>
                <a:latin typeface="Arial"/>
              </a:rPr>
              <a:t>Verkürzung</a:t>
            </a:r>
          </a:p>
        </p:txBody>
      </p:sp>
      <p:sp>
        <p:nvSpPr>
          <p:cNvPr id="16" name="TextBox 15"/>
          <p:cNvSpPr txBox="1"/>
          <p:nvPr/>
        </p:nvSpPr>
        <p:spPr>
          <a:xfrm>
            <a:off x="868680" y="4281220"/>
            <a:ext cx="4983479" cy="1982419"/>
          </a:xfrm>
          <a:prstGeom prst="rect">
            <a:avLst/>
          </a:prstGeom>
          <a:noFill/>
        </p:spPr>
        <p:txBody>
          <a:bodyPr wrap="square" anchor="t">
            <a:spAutoFit/>
          </a:bodyPr>
          <a:lstStyle/>
          <a:p>
            <a:pPr algn="l"/>
            <a:r>
              <a:rPr sz="2400" b="0">
                <a:solidFill>
                  <a:srgbClr val="1A2238"/>
                </a:solidFill>
                <a:latin typeface="Arial"/>
              </a:rPr>
              <a:t>auf gemeinsamen Antrag von Azubi und Betrieb bei der zuständigen Stelle</a:t>
            </a:r>
          </a:p>
        </p:txBody>
      </p:sp>
      <p:sp>
        <p:nvSpPr>
          <p:cNvPr id="17" name="Rectangle 16"/>
          <p:cNvSpPr/>
          <p:nvPr/>
        </p:nvSpPr>
        <p:spPr>
          <a:xfrm>
            <a:off x="6172200" y="3383280"/>
            <a:ext cx="5349240" cy="2926080"/>
          </a:xfrm>
          <a:prstGeom prst="rect">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383280"/>
            <a:ext cx="91440" cy="2926080"/>
          </a:xfrm>
          <a:prstGeom prst="rect">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456432"/>
            <a:ext cx="4983479" cy="548640"/>
          </a:xfrm>
          <a:prstGeom prst="rect">
            <a:avLst/>
          </a:prstGeom>
          <a:noFill/>
        </p:spPr>
        <p:txBody>
          <a:bodyPr wrap="square" anchor="t">
            <a:spAutoFit/>
          </a:bodyPr>
          <a:lstStyle/>
          <a:p>
            <a:pPr algn="l"/>
            <a:r>
              <a:rPr sz="2600" b="1">
                <a:solidFill>
                  <a:srgbClr val="14264B"/>
                </a:solidFill>
                <a:latin typeface="Arial"/>
              </a:rPr>
              <a:t>Verlängerung</a:t>
            </a:r>
          </a:p>
        </p:txBody>
      </p:sp>
      <p:sp>
        <p:nvSpPr>
          <p:cNvPr id="20" name="TextBox 19"/>
          <p:cNvSpPr txBox="1"/>
          <p:nvPr/>
        </p:nvSpPr>
        <p:spPr>
          <a:xfrm>
            <a:off x="6400800" y="4281220"/>
            <a:ext cx="4983479" cy="1982419"/>
          </a:xfrm>
          <a:prstGeom prst="rect">
            <a:avLst/>
          </a:prstGeom>
          <a:noFill/>
        </p:spPr>
        <p:txBody>
          <a:bodyPr wrap="square" anchor="t">
            <a:spAutoFit/>
          </a:bodyPr>
          <a:lstStyle/>
          <a:p>
            <a:pPr algn="l"/>
            <a:r>
              <a:rPr sz="2400" b="0">
                <a:solidFill>
                  <a:srgbClr val="1A2238"/>
                </a:solidFill>
                <a:latin typeface="Arial"/>
              </a:rPr>
              <a:t>nur in Ausnahmefällen auf Antrag des Azubis oder nach nicht bestandener Prüfung bis zur Wiederholungsprüfung, höchstens um ein Jahr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Pflichten (Teil 1)</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13–17 BBiG</a:t>
            </a:r>
          </a:p>
        </p:txBody>
      </p:sp>
      <p:sp>
        <p:nvSpPr>
          <p:cNvPr id="6" name="Rectangle 5"/>
          <p:cNvSpPr/>
          <p:nvPr/>
        </p:nvSpPr>
        <p:spPr>
          <a:xfrm>
            <a:off x="640080" y="1417320"/>
            <a:ext cx="5349240"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5029200" cy="640080"/>
          </a:xfrm>
          <a:prstGeom prst="rect">
            <a:avLst/>
          </a:prstGeom>
          <a:noFill/>
        </p:spPr>
        <p:txBody>
          <a:bodyPr wrap="square" anchor="ctr">
            <a:spAutoFit/>
          </a:bodyPr>
          <a:lstStyle/>
          <a:p>
            <a:pPr algn="l"/>
            <a:r>
              <a:rPr sz="2600" b="1">
                <a:solidFill>
                  <a:srgbClr val="FFFFFF"/>
                </a:solidFill>
                <a:latin typeface="Arial"/>
              </a:rPr>
              <a:t>Azubis (§ 13)</a:t>
            </a:r>
          </a:p>
        </p:txBody>
      </p:sp>
      <p:sp>
        <p:nvSpPr>
          <p:cNvPr id="8" name="Rectangle 7"/>
          <p:cNvSpPr/>
          <p:nvPr/>
        </p:nvSpPr>
        <p:spPr>
          <a:xfrm>
            <a:off x="6172200" y="1417320"/>
            <a:ext cx="5349240" cy="6400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17320"/>
            <a:ext cx="5029200" cy="640080"/>
          </a:xfrm>
          <a:prstGeom prst="rect">
            <a:avLst/>
          </a:prstGeom>
          <a:noFill/>
        </p:spPr>
        <p:txBody>
          <a:bodyPr wrap="square" anchor="ctr">
            <a:spAutoFit/>
          </a:bodyPr>
          <a:lstStyle/>
          <a:p>
            <a:pPr algn="l"/>
            <a:r>
              <a:rPr sz="2600" b="1">
                <a:solidFill>
                  <a:srgbClr val="14264B"/>
                </a:solidFill>
                <a:latin typeface="Arial"/>
              </a:rPr>
              <a:t>Ausbildende (§§ 14–17)</a:t>
            </a:r>
          </a:p>
        </p:txBody>
      </p:sp>
      <p:sp>
        <p:nvSpPr>
          <p:cNvPr id="10" name="TextBox 9"/>
          <p:cNvSpPr txBox="1"/>
          <p:nvPr/>
        </p:nvSpPr>
        <p:spPr>
          <a:xfrm>
            <a:off x="640080" y="2194560"/>
            <a:ext cx="5349240" cy="4023360"/>
          </a:xfrm>
          <a:prstGeom prst="rect">
            <a:avLst/>
          </a:prstGeom>
          <a:noFill/>
        </p:spPr>
        <p:txBody>
          <a:bodyPr wrap="square" anchor="t">
            <a:spAutoFit/>
          </a:bodyPr>
          <a:lstStyle/>
          <a:p>
            <a:pPr algn="l"/>
            <a:r>
              <a:rPr sz="2400" b="1">
                <a:solidFill>
                  <a:srgbClr val="F5A800"/>
                </a:solidFill>
                <a:latin typeface="Arial"/>
              </a:rPr>
              <a:t>•  </a:t>
            </a:r>
            <a:r>
              <a:rPr sz="2400" b="0">
                <a:solidFill>
                  <a:srgbClr val="1A2238"/>
                </a:solidFill>
                <a:latin typeface="Arial"/>
              </a:rPr>
              <a:t>lernen</a:t>
            </a:r>
          </a:p>
          <a:p>
            <a:pPr algn="l">
              <a:spcBef>
                <a:spcPts val="1080"/>
              </a:spcBef>
            </a:pPr>
            <a:r>
              <a:rPr sz="2400" b="1">
                <a:solidFill>
                  <a:srgbClr val="F5A800"/>
                </a:solidFill>
                <a:latin typeface="Arial"/>
              </a:rPr>
              <a:t>•  </a:t>
            </a:r>
            <a:r>
              <a:rPr sz="2400" b="0">
                <a:solidFill>
                  <a:srgbClr val="1A2238"/>
                </a:solidFill>
                <a:latin typeface="Arial"/>
              </a:rPr>
              <a:t>sorgfältig arbeiten</a:t>
            </a:r>
          </a:p>
          <a:p>
            <a:pPr algn="l">
              <a:spcBef>
                <a:spcPts val="1080"/>
              </a:spcBef>
            </a:pPr>
            <a:r>
              <a:rPr sz="2400" b="1">
                <a:solidFill>
                  <a:srgbClr val="F5A800"/>
                </a:solidFill>
                <a:latin typeface="Arial"/>
              </a:rPr>
              <a:t>•  </a:t>
            </a:r>
            <a:r>
              <a:rPr sz="2400" b="0">
                <a:solidFill>
                  <a:srgbClr val="1A2238"/>
                </a:solidFill>
                <a:latin typeface="Arial"/>
              </a:rPr>
              <a:t>Weisungen befolgen und Ordnung beachten</a:t>
            </a:r>
          </a:p>
          <a:p>
            <a:pPr algn="l">
              <a:spcBef>
                <a:spcPts val="1080"/>
              </a:spcBef>
            </a:pPr>
            <a:r>
              <a:rPr sz="2400" b="1">
                <a:solidFill>
                  <a:srgbClr val="F5A800"/>
                </a:solidFill>
                <a:latin typeface="Arial"/>
              </a:rPr>
              <a:t>•  </a:t>
            </a:r>
            <a:r>
              <a:rPr sz="2400" b="0">
                <a:solidFill>
                  <a:srgbClr val="1A2238"/>
                </a:solidFill>
                <a:latin typeface="Arial"/>
              </a:rPr>
              <a:t>Geheimnisse wahren</a:t>
            </a:r>
          </a:p>
          <a:p>
            <a:pPr algn="l">
              <a:spcBef>
                <a:spcPts val="1080"/>
              </a:spcBef>
            </a:pPr>
            <a:r>
              <a:rPr sz="2400" b="1">
                <a:solidFill>
                  <a:srgbClr val="F5A800"/>
                </a:solidFill>
                <a:latin typeface="Arial"/>
              </a:rPr>
              <a:t>•  </a:t>
            </a:r>
            <a:r>
              <a:rPr sz="2400" b="0">
                <a:solidFill>
                  <a:srgbClr val="1A2238"/>
                </a:solidFill>
                <a:latin typeface="Arial"/>
              </a:rPr>
              <a:t>Ausbildungsnachweis führen</a:t>
            </a:r>
          </a:p>
        </p:txBody>
      </p:sp>
      <p:sp>
        <p:nvSpPr>
          <p:cNvPr id="11" name="TextBox 10"/>
          <p:cNvSpPr txBox="1"/>
          <p:nvPr/>
        </p:nvSpPr>
        <p:spPr>
          <a:xfrm>
            <a:off x="6172200" y="2194560"/>
            <a:ext cx="5349240" cy="4023360"/>
          </a:xfrm>
          <a:prstGeom prst="rect">
            <a:avLst/>
          </a:prstGeom>
          <a:noFill/>
        </p:spPr>
        <p:txBody>
          <a:bodyPr wrap="square" anchor="t">
            <a:spAutoFit/>
          </a:bodyPr>
          <a:lstStyle/>
          <a:p>
            <a:pPr algn="l"/>
            <a:r>
              <a:rPr sz="2400" b="1">
                <a:solidFill>
                  <a:srgbClr val="F5A800"/>
                </a:solidFill>
                <a:latin typeface="Arial"/>
              </a:rPr>
              <a:t>•  </a:t>
            </a:r>
            <a:r>
              <a:rPr sz="2400" b="0">
                <a:solidFill>
                  <a:srgbClr val="1A2238"/>
                </a:solidFill>
                <a:latin typeface="Arial"/>
              </a:rPr>
              <a:t>Ausbildungsziel vermitteln</a:t>
            </a:r>
          </a:p>
          <a:p>
            <a:pPr algn="l">
              <a:spcBef>
                <a:spcPts val="1080"/>
              </a:spcBef>
            </a:pPr>
            <a:r>
              <a:rPr sz="2400" b="1">
                <a:solidFill>
                  <a:srgbClr val="F5A800"/>
                </a:solidFill>
                <a:latin typeface="Arial"/>
              </a:rPr>
              <a:t>•  </a:t>
            </a:r>
            <a:r>
              <a:rPr sz="2400" b="0">
                <a:solidFill>
                  <a:srgbClr val="1A2238"/>
                </a:solidFill>
                <a:latin typeface="Arial"/>
              </a:rPr>
              <a:t>Ausbildungsmittel kostenlos stellen</a:t>
            </a:r>
          </a:p>
          <a:p>
            <a:pPr algn="l">
              <a:spcBef>
                <a:spcPts val="1080"/>
              </a:spcBef>
            </a:pPr>
            <a:r>
              <a:rPr sz="2400" b="1">
                <a:solidFill>
                  <a:srgbClr val="F5A800"/>
                </a:solidFill>
                <a:latin typeface="Arial"/>
              </a:rPr>
              <a:t>•  </a:t>
            </a:r>
            <a:r>
              <a:rPr sz="2400" b="0">
                <a:solidFill>
                  <a:srgbClr val="1A2238"/>
                </a:solidFill>
                <a:latin typeface="Arial"/>
              </a:rPr>
              <a:t>für Berufsschule und Prüfungen freistellen</a:t>
            </a:r>
          </a:p>
          <a:p>
            <a:pPr algn="l">
              <a:spcBef>
                <a:spcPts val="1080"/>
              </a:spcBef>
            </a:pPr>
            <a:r>
              <a:rPr sz="2400" b="1">
                <a:solidFill>
                  <a:srgbClr val="F5A800"/>
                </a:solidFill>
                <a:latin typeface="Arial"/>
              </a:rPr>
              <a:t>•  </a:t>
            </a:r>
            <a:r>
              <a:rPr sz="2400" b="0">
                <a:solidFill>
                  <a:srgbClr val="1A2238"/>
                </a:solidFill>
                <a:latin typeface="Arial"/>
              </a:rPr>
              <a:t>Zeugnis ausstellen</a:t>
            </a:r>
          </a:p>
          <a:p>
            <a:pPr algn="l">
              <a:spcBef>
                <a:spcPts val="1080"/>
              </a:spcBef>
            </a:pPr>
            <a:r>
              <a:rPr sz="2400" b="1">
                <a:solidFill>
                  <a:srgbClr val="F5A800"/>
                </a:solidFill>
                <a:latin typeface="Arial"/>
              </a:rPr>
              <a:t>•  </a:t>
            </a:r>
            <a:r>
              <a:rPr sz="2400" b="0">
                <a:solidFill>
                  <a:srgbClr val="1A2238"/>
                </a:solidFill>
                <a:latin typeface="Arial"/>
              </a:rPr>
              <a:t>Vergütung zahlen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Blitzfrage 1 (Teil 1)</a:t>
            </a:r>
          </a:p>
        </p:txBody>
      </p:sp>
      <p:sp>
        <p:nvSpPr>
          <p:cNvPr id="5" name="Rectangle 4"/>
          <p:cNvSpPr/>
          <p:nvPr/>
        </p:nvSpPr>
        <p:spPr>
          <a:xfrm>
            <a:off x="640080" y="1417320"/>
            <a:ext cx="10881360" cy="10972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0972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10515600" cy="1097280"/>
          </a:xfrm>
          <a:prstGeom prst="rect">
            <a:avLst/>
          </a:prstGeom>
          <a:noFill/>
        </p:spPr>
        <p:txBody>
          <a:bodyPr wrap="square" anchor="ctr">
            <a:spAutoFit/>
          </a:bodyPr>
          <a:lstStyle/>
          <a:p>
            <a:pPr algn="l"/>
            <a:r>
              <a:rPr sz="2800" b="1">
                <a:solidFill>
                  <a:srgbClr val="FFFFFF"/>
                </a:solidFill>
                <a:latin typeface="Arial"/>
              </a:rPr>
              <a:t>Welche Form genügt seit dem 01.08.2024 für den Vertragsinhalt?</a:t>
            </a:r>
          </a:p>
        </p:txBody>
      </p:sp>
      <p:sp>
        <p:nvSpPr>
          <p:cNvPr id="8" name="Rounded Rectangle 7"/>
          <p:cNvSpPr/>
          <p:nvPr/>
        </p:nvSpPr>
        <p:spPr>
          <a:xfrm>
            <a:off x="640080" y="274320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85750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A</a:t>
            </a:r>
          </a:p>
        </p:txBody>
      </p:sp>
      <p:sp>
        <p:nvSpPr>
          <p:cNvPr id="10" name="TextBox 9"/>
          <p:cNvSpPr txBox="1"/>
          <p:nvPr/>
        </p:nvSpPr>
        <p:spPr>
          <a:xfrm>
            <a:off x="1600200" y="2743200"/>
            <a:ext cx="9601200" cy="868680"/>
          </a:xfrm>
          <a:prstGeom prst="rect">
            <a:avLst/>
          </a:prstGeom>
          <a:noFill/>
        </p:spPr>
        <p:txBody>
          <a:bodyPr wrap="square" anchor="ctr">
            <a:spAutoFit/>
          </a:bodyPr>
          <a:lstStyle/>
          <a:p>
            <a:pPr algn="l"/>
            <a:r>
              <a:rPr sz="2600" b="0">
                <a:solidFill>
                  <a:srgbClr val="1A2238"/>
                </a:solidFill>
                <a:latin typeface="Arial"/>
              </a:rPr>
              <a:t>Nur Papier mit Unterschrift</a:t>
            </a:r>
          </a:p>
        </p:txBody>
      </p:sp>
      <p:sp>
        <p:nvSpPr>
          <p:cNvPr id="11" name="Rounded Rectangle 10"/>
          <p:cNvSpPr/>
          <p:nvPr/>
        </p:nvSpPr>
        <p:spPr>
          <a:xfrm>
            <a:off x="640080" y="379476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390906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B</a:t>
            </a:r>
          </a:p>
        </p:txBody>
      </p:sp>
      <p:sp>
        <p:nvSpPr>
          <p:cNvPr id="13" name="TextBox 12"/>
          <p:cNvSpPr txBox="1"/>
          <p:nvPr/>
        </p:nvSpPr>
        <p:spPr>
          <a:xfrm>
            <a:off x="1600200" y="3794760"/>
            <a:ext cx="9601200" cy="868680"/>
          </a:xfrm>
          <a:prstGeom prst="rect">
            <a:avLst/>
          </a:prstGeom>
          <a:noFill/>
        </p:spPr>
        <p:txBody>
          <a:bodyPr wrap="square" anchor="ctr">
            <a:spAutoFit/>
          </a:bodyPr>
          <a:lstStyle/>
          <a:p>
            <a:pPr algn="l"/>
            <a:r>
              <a:rPr sz="2600" b="0">
                <a:solidFill>
                  <a:srgbClr val="1A2238"/>
                </a:solidFill>
                <a:latin typeface="Arial"/>
              </a:rPr>
              <a:t>Textform, zum Beispiel E-Mail</a:t>
            </a:r>
          </a:p>
        </p:txBody>
      </p:sp>
      <p:sp>
        <p:nvSpPr>
          <p:cNvPr id="14" name="Rounded Rectangle 13"/>
          <p:cNvSpPr/>
          <p:nvPr/>
        </p:nvSpPr>
        <p:spPr>
          <a:xfrm>
            <a:off x="640080" y="484632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496062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C</a:t>
            </a:r>
          </a:p>
        </p:txBody>
      </p:sp>
      <p:sp>
        <p:nvSpPr>
          <p:cNvPr id="16" name="TextBox 15"/>
          <p:cNvSpPr txBox="1"/>
          <p:nvPr/>
        </p:nvSpPr>
        <p:spPr>
          <a:xfrm>
            <a:off x="1600200" y="4846320"/>
            <a:ext cx="9601200" cy="868680"/>
          </a:xfrm>
          <a:prstGeom prst="rect">
            <a:avLst/>
          </a:prstGeom>
          <a:noFill/>
        </p:spPr>
        <p:txBody>
          <a:bodyPr wrap="square" anchor="ctr">
            <a:spAutoFit/>
          </a:bodyPr>
          <a:lstStyle/>
          <a:p>
            <a:pPr algn="l"/>
            <a:r>
              <a:rPr sz="2600" b="0">
                <a:solidFill>
                  <a:srgbClr val="1A2238"/>
                </a:solidFill>
                <a:latin typeface="Arial"/>
              </a:rPr>
              <a:t>Mündlich reicht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Ausbildungszeit (Teil 2)</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8 JArbSchG · § 3 ArbZG</a:t>
            </a:r>
          </a:p>
        </p:txBody>
      </p:sp>
      <p:sp>
        <p:nvSpPr>
          <p:cNvPr id="6" name="Rectangle 5"/>
          <p:cNvSpPr/>
          <p:nvPr/>
        </p:nvSpPr>
        <p:spPr>
          <a:xfrm>
            <a:off x="640080" y="1417320"/>
            <a:ext cx="5349240"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5029200" cy="640080"/>
          </a:xfrm>
          <a:prstGeom prst="rect">
            <a:avLst/>
          </a:prstGeom>
          <a:noFill/>
        </p:spPr>
        <p:txBody>
          <a:bodyPr wrap="square" anchor="ctr">
            <a:spAutoFit/>
          </a:bodyPr>
          <a:lstStyle/>
          <a:p>
            <a:pPr algn="l"/>
            <a:r>
              <a:rPr sz="2600" b="1">
                <a:solidFill>
                  <a:srgbClr val="FFFFFF"/>
                </a:solidFill>
                <a:latin typeface="Arial"/>
              </a:rPr>
              <a:t>Jugendliche</a:t>
            </a:r>
          </a:p>
        </p:txBody>
      </p:sp>
      <p:sp>
        <p:nvSpPr>
          <p:cNvPr id="8" name="Rectangle 7"/>
          <p:cNvSpPr/>
          <p:nvPr/>
        </p:nvSpPr>
        <p:spPr>
          <a:xfrm>
            <a:off x="6172200" y="1417320"/>
            <a:ext cx="5349240" cy="6400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17320"/>
            <a:ext cx="5029200" cy="640080"/>
          </a:xfrm>
          <a:prstGeom prst="rect">
            <a:avLst/>
          </a:prstGeom>
          <a:noFill/>
        </p:spPr>
        <p:txBody>
          <a:bodyPr wrap="square" anchor="ctr">
            <a:spAutoFit/>
          </a:bodyPr>
          <a:lstStyle/>
          <a:p>
            <a:pPr algn="l"/>
            <a:r>
              <a:rPr sz="2600" b="1">
                <a:solidFill>
                  <a:srgbClr val="14264B"/>
                </a:solidFill>
                <a:latin typeface="Arial"/>
              </a:rPr>
              <a:t>Volljährige</a:t>
            </a:r>
          </a:p>
        </p:txBody>
      </p:sp>
      <p:sp>
        <p:nvSpPr>
          <p:cNvPr id="10" name="TextBox 9"/>
          <p:cNvSpPr txBox="1"/>
          <p:nvPr/>
        </p:nvSpPr>
        <p:spPr>
          <a:xfrm>
            <a:off x="640080" y="2286000"/>
            <a:ext cx="5349240" cy="3931920"/>
          </a:xfrm>
          <a:prstGeom prst="rect">
            <a:avLst/>
          </a:prstGeom>
          <a:noFill/>
        </p:spPr>
        <p:txBody>
          <a:bodyPr wrap="square" anchor="t">
            <a:spAutoFit/>
          </a:bodyPr>
          <a:lstStyle/>
          <a:p>
            <a:pPr algn="l"/>
            <a:r>
              <a:rPr sz="2400" b="1">
                <a:solidFill>
                  <a:srgbClr val="F5A800"/>
                </a:solidFill>
                <a:latin typeface="Arial"/>
              </a:rPr>
              <a:t>•  </a:t>
            </a:r>
            <a:r>
              <a:rPr sz="2400" b="0">
                <a:solidFill>
                  <a:srgbClr val="1A2238"/>
                </a:solidFill>
                <a:latin typeface="Arial"/>
              </a:rPr>
              <a:t>höchstens 8 Stunden täglich</a:t>
            </a:r>
          </a:p>
          <a:p>
            <a:pPr algn="l">
              <a:spcBef>
                <a:spcPts val="1080"/>
              </a:spcBef>
            </a:pPr>
            <a:r>
              <a:rPr sz="2400" b="1">
                <a:solidFill>
                  <a:srgbClr val="F5A800"/>
                </a:solidFill>
                <a:latin typeface="Arial"/>
              </a:rPr>
              <a:t>•  </a:t>
            </a:r>
            <a:r>
              <a:rPr sz="2400" b="0">
                <a:solidFill>
                  <a:srgbClr val="1A2238"/>
                </a:solidFill>
                <a:latin typeface="Arial"/>
              </a:rPr>
              <a:t>höchstens 40 Stunden pro Woche</a:t>
            </a:r>
          </a:p>
          <a:p>
            <a:pPr algn="l">
              <a:spcBef>
                <a:spcPts val="1080"/>
              </a:spcBef>
            </a:pPr>
            <a:r>
              <a:rPr sz="2400" b="1">
                <a:solidFill>
                  <a:srgbClr val="F5A800"/>
                </a:solidFill>
                <a:latin typeface="Arial"/>
              </a:rPr>
              <a:t>•  </a:t>
            </a:r>
            <a:r>
              <a:rPr sz="2400" b="0">
                <a:solidFill>
                  <a:srgbClr val="1A2238"/>
                </a:solidFill>
                <a:latin typeface="Arial"/>
              </a:rPr>
              <a:t>ausnahmsweise 8,5 Stunden täglich bei Ausgleich</a:t>
            </a:r>
          </a:p>
        </p:txBody>
      </p:sp>
      <p:sp>
        <p:nvSpPr>
          <p:cNvPr id="11" name="TextBox 10"/>
          <p:cNvSpPr txBox="1"/>
          <p:nvPr/>
        </p:nvSpPr>
        <p:spPr>
          <a:xfrm>
            <a:off x="6172200" y="2286000"/>
            <a:ext cx="5349240" cy="3931920"/>
          </a:xfrm>
          <a:prstGeom prst="rect">
            <a:avLst/>
          </a:prstGeom>
          <a:noFill/>
        </p:spPr>
        <p:txBody>
          <a:bodyPr wrap="square" anchor="t">
            <a:spAutoFit/>
          </a:bodyPr>
          <a:lstStyle/>
          <a:p>
            <a:pPr algn="l"/>
            <a:r>
              <a:rPr sz="2400" b="1">
                <a:solidFill>
                  <a:srgbClr val="F5A800"/>
                </a:solidFill>
                <a:latin typeface="Arial"/>
              </a:rPr>
              <a:t>•  </a:t>
            </a:r>
            <a:r>
              <a:rPr sz="2400" b="0">
                <a:solidFill>
                  <a:srgbClr val="1A2238"/>
                </a:solidFill>
                <a:latin typeface="Arial"/>
              </a:rPr>
              <a:t>8 Stunden täglich</a:t>
            </a:r>
          </a:p>
          <a:p>
            <a:pPr algn="l">
              <a:spcBef>
                <a:spcPts val="1080"/>
              </a:spcBef>
            </a:pPr>
            <a:r>
              <a:rPr sz="2400" b="1">
                <a:solidFill>
                  <a:srgbClr val="F5A800"/>
                </a:solidFill>
                <a:latin typeface="Arial"/>
              </a:rPr>
              <a:t>•  </a:t>
            </a:r>
            <a:r>
              <a:rPr sz="2400" b="0">
                <a:solidFill>
                  <a:srgbClr val="1A2238"/>
                </a:solidFill>
                <a:latin typeface="Arial"/>
              </a:rPr>
              <a:t>bis 10 Stunden mit Ausgleich innerhalb von sechs Monaten</a:t>
            </a:r>
          </a:p>
          <a:p>
            <a:pPr algn="l">
              <a:spcBef>
                <a:spcPts val="1080"/>
              </a:spcBef>
            </a:pPr>
            <a:r>
              <a:rPr sz="2400" b="1">
                <a:solidFill>
                  <a:srgbClr val="F5A800"/>
                </a:solidFill>
                <a:latin typeface="Arial"/>
              </a:rPr>
              <a:t>•  </a:t>
            </a:r>
            <a:r>
              <a:rPr sz="2400" b="0">
                <a:solidFill>
                  <a:srgbClr val="1A2238"/>
                </a:solidFill>
                <a:latin typeface="Arial"/>
              </a:rPr>
              <a:t>höchstens 48 Stunden pro Woche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Vergütung (Teil 2)</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17 BBiG</a:t>
            </a:r>
          </a:p>
        </p:txBody>
      </p:sp>
      <p:sp>
        <p:nvSpPr>
          <p:cNvPr id="6" name="TextBox 5"/>
          <p:cNvSpPr txBox="1"/>
          <p:nvPr/>
        </p:nvSpPr>
        <p:spPr>
          <a:xfrm>
            <a:off x="640080" y="1371600"/>
            <a:ext cx="10881360" cy="548640"/>
          </a:xfrm>
          <a:prstGeom prst="rect">
            <a:avLst/>
          </a:prstGeom>
          <a:noFill/>
        </p:spPr>
        <p:txBody>
          <a:bodyPr wrap="square" anchor="t">
            <a:spAutoFit/>
          </a:bodyPr>
          <a:lstStyle/>
          <a:p>
            <a:pPr algn="l"/>
            <a:r>
              <a:rPr sz="2600" b="1">
                <a:solidFill>
                  <a:srgbClr val="14264B"/>
                </a:solidFill>
                <a:latin typeface="Arial"/>
              </a:rPr>
              <a:t>Mindestausbildungsvergütung bei Beginn 2026</a:t>
            </a:r>
          </a:p>
        </p:txBody>
      </p:sp>
      <p:graphicFrame>
        <p:nvGraphicFramePr>
          <p:cNvPr id="7" name="Table 6"/>
          <p:cNvGraphicFramePr>
            <a:graphicFrameLocks noGrp="1"/>
          </p:cNvGraphicFramePr>
          <p:nvPr/>
        </p:nvGraphicFramePr>
        <p:xfrm>
          <a:off x="640080" y="2011680"/>
          <a:ext cx="10881360" cy="3291840"/>
        </p:xfrm>
        <a:graphic>
          <a:graphicData uri="http://schemas.openxmlformats.org/drawingml/2006/table">
            <a:tbl>
              <a:tblPr firstRow="0" bandRow="0">
                <a:tableStyleId>{5C22544A-7EE6-4342-B048-85BDC9FD1C3A}</a:tableStyleId>
              </a:tblPr>
              <a:tblGrid>
                <a:gridCol w="5394960"/>
                <a:gridCol w="5486400"/>
              </a:tblGrid>
              <a:tr h="658368">
                <a:tc>
                  <a:txBody>
                    <a:bodyPr wrap="square"/>
                    <a:lstStyle/>
                    <a:p>
                      <a:r>
                        <a:rPr sz="2800" b="1">
                          <a:solidFill>
                            <a:srgbClr val="FFFFFF"/>
                          </a:solidFill>
                          <a:latin typeface="Arial"/>
                        </a:rPr>
                        <a:t>Ausbildungsjahr</a:t>
                      </a:r>
                    </a:p>
                  </a:txBody>
                  <a:tcPr marL="109728" marR="109728" marT="36576" marB="36576" anchor="ctr">
                    <a:solidFill>
                      <a:srgbClr val="14264B"/>
                    </a:solidFill>
                  </a:tcPr>
                </a:tc>
                <a:tc>
                  <a:txBody>
                    <a:bodyPr wrap="square"/>
                    <a:lstStyle/>
                    <a:p>
                      <a:r>
                        <a:rPr sz="2800" b="1">
                          <a:solidFill>
                            <a:srgbClr val="FFFFFF"/>
                          </a:solidFill>
                          <a:latin typeface="Arial"/>
                        </a:rPr>
                        <a:t>Mindestvergütung</a:t>
                      </a:r>
                    </a:p>
                  </a:txBody>
                  <a:tcPr marL="109728" marR="109728" marT="36576" marB="36576" anchor="ctr">
                    <a:solidFill>
                      <a:srgbClr val="14264B"/>
                    </a:solidFill>
                  </a:tcPr>
                </a:tc>
              </a:tr>
              <a:tr h="658368">
                <a:tc>
                  <a:txBody>
                    <a:bodyPr wrap="square"/>
                    <a:lstStyle/>
                    <a:p>
                      <a:r>
                        <a:rPr sz="2800" b="1">
                          <a:solidFill>
                            <a:srgbClr val="14264B"/>
                          </a:solidFill>
                          <a:latin typeface="Arial"/>
                        </a:rPr>
                        <a:t>1. Jahr</a:t>
                      </a:r>
                    </a:p>
                  </a:txBody>
                  <a:tcPr marL="109728" marR="109728" marT="36576" marB="36576" anchor="ctr">
                    <a:solidFill>
                      <a:srgbClr val="FFFFFF"/>
                    </a:solidFill>
                  </a:tcPr>
                </a:tc>
                <a:tc>
                  <a:txBody>
                    <a:bodyPr wrap="square"/>
                    <a:lstStyle/>
                    <a:p>
                      <a:r>
                        <a:rPr sz="2800">
                          <a:solidFill>
                            <a:srgbClr val="1A2238"/>
                          </a:solidFill>
                          <a:latin typeface="Arial"/>
                        </a:rPr>
                        <a:t>724 €</a:t>
                      </a:r>
                    </a:p>
                  </a:txBody>
                  <a:tcPr marL="109728" marR="109728" marT="36576" marB="36576" anchor="ctr">
                    <a:solidFill>
                      <a:srgbClr val="FFFFFF"/>
                    </a:solidFill>
                  </a:tcPr>
                </a:tc>
              </a:tr>
              <a:tr h="658368">
                <a:tc>
                  <a:txBody>
                    <a:bodyPr wrap="square"/>
                    <a:lstStyle/>
                    <a:p>
                      <a:r>
                        <a:rPr sz="2800" b="1">
                          <a:solidFill>
                            <a:srgbClr val="14264B"/>
                          </a:solidFill>
                          <a:latin typeface="Arial"/>
                        </a:rPr>
                        <a:t>2. Jahr</a:t>
                      </a:r>
                    </a:p>
                  </a:txBody>
                  <a:tcPr marL="109728" marR="109728" marT="36576" marB="36576" anchor="ctr">
                    <a:solidFill>
                      <a:srgbClr val="F6F8FC"/>
                    </a:solidFill>
                  </a:tcPr>
                </a:tc>
                <a:tc>
                  <a:txBody>
                    <a:bodyPr wrap="square"/>
                    <a:lstStyle/>
                    <a:p>
                      <a:r>
                        <a:rPr sz="2800">
                          <a:solidFill>
                            <a:srgbClr val="1A2238"/>
                          </a:solidFill>
                          <a:latin typeface="Arial"/>
                        </a:rPr>
                        <a:t>854 €</a:t>
                      </a:r>
                    </a:p>
                  </a:txBody>
                  <a:tcPr marL="109728" marR="109728" marT="36576" marB="36576" anchor="ctr">
                    <a:solidFill>
                      <a:srgbClr val="F6F8FC"/>
                    </a:solidFill>
                  </a:tcPr>
                </a:tc>
              </a:tr>
              <a:tr h="658368">
                <a:tc>
                  <a:txBody>
                    <a:bodyPr wrap="square"/>
                    <a:lstStyle/>
                    <a:p>
                      <a:r>
                        <a:rPr sz="2800" b="1">
                          <a:solidFill>
                            <a:srgbClr val="14264B"/>
                          </a:solidFill>
                          <a:latin typeface="Arial"/>
                        </a:rPr>
                        <a:t>3. Jahr</a:t>
                      </a:r>
                    </a:p>
                  </a:txBody>
                  <a:tcPr marL="109728" marR="109728" marT="36576" marB="36576" anchor="ctr">
                    <a:solidFill>
                      <a:srgbClr val="FFFFFF"/>
                    </a:solidFill>
                  </a:tcPr>
                </a:tc>
                <a:tc>
                  <a:txBody>
                    <a:bodyPr wrap="square"/>
                    <a:lstStyle/>
                    <a:p>
                      <a:r>
                        <a:rPr sz="2800">
                          <a:solidFill>
                            <a:srgbClr val="1A2238"/>
                          </a:solidFill>
                          <a:latin typeface="Arial"/>
                        </a:rPr>
                        <a:t>977 €</a:t>
                      </a:r>
                    </a:p>
                  </a:txBody>
                  <a:tcPr marL="109728" marR="109728" marT="36576" marB="36576" anchor="ctr">
                    <a:solidFill>
                      <a:srgbClr val="FFFFFF"/>
                    </a:solidFill>
                  </a:tcPr>
                </a:tc>
              </a:tr>
              <a:tr h="658368">
                <a:tc>
                  <a:txBody>
                    <a:bodyPr wrap="square"/>
                    <a:lstStyle/>
                    <a:p>
                      <a:r>
                        <a:rPr sz="2800" b="1">
                          <a:solidFill>
                            <a:srgbClr val="14264B"/>
                          </a:solidFill>
                          <a:latin typeface="Arial"/>
                        </a:rPr>
                        <a:t>4. Jahr</a:t>
                      </a:r>
                    </a:p>
                  </a:txBody>
                  <a:tcPr marL="109728" marR="109728" marT="36576" marB="36576" anchor="ctr">
                    <a:solidFill>
                      <a:srgbClr val="F6F8FC"/>
                    </a:solidFill>
                  </a:tcPr>
                </a:tc>
                <a:tc>
                  <a:txBody>
                    <a:bodyPr wrap="square"/>
                    <a:lstStyle/>
                    <a:p>
                      <a:r>
                        <a:rPr sz="2800">
                          <a:solidFill>
                            <a:srgbClr val="1A2238"/>
                          </a:solidFill>
                          <a:latin typeface="Arial"/>
                        </a:rPr>
                        <a:t>1.014 €</a:t>
                      </a:r>
                    </a:p>
                  </a:txBody>
                  <a:tcPr marL="109728" marR="109728" marT="36576" marB="36576" anchor="ctr">
                    <a:solidFill>
                      <a:srgbClr val="F6F8FC"/>
                    </a:solidFill>
                  </a:tcPr>
                </a:tc>
              </a:tr>
            </a:tbl>
          </a:graphicData>
        </a:graphic>
      </p:graphicFrame>
      <p:sp>
        <p:nvSpPr>
          <p:cNvPr id="8" name="TextBox 7"/>
          <p:cNvSpPr txBox="1"/>
          <p:nvPr/>
        </p:nvSpPr>
        <p:spPr>
          <a:xfrm>
            <a:off x="640080" y="5486400"/>
            <a:ext cx="10881360" cy="822960"/>
          </a:xfrm>
          <a:prstGeom prst="rect">
            <a:avLst/>
          </a:prstGeom>
          <a:noFill/>
        </p:spPr>
        <p:txBody>
          <a:bodyPr wrap="square" anchor="t">
            <a:spAutoFit/>
          </a:bodyPr>
          <a:lstStyle/>
          <a:p>
            <a:pPr algn="l"/>
            <a:r>
              <a:rPr sz="2400" b="0">
                <a:solidFill>
                  <a:srgbClr val="1A2238"/>
                </a:solidFill>
                <a:latin typeface="Arial"/>
              </a:rPr>
              <a:t>Darf nicht unterschritten werden und wird jedes Jahr neu festgelegt.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Urlaub (Teil 2)</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19 JArbSchG · § 3 BUrlG</a:t>
            </a:r>
          </a:p>
        </p:txBody>
      </p:sp>
      <p:graphicFrame>
        <p:nvGraphicFramePr>
          <p:cNvPr id="6" name="Table 5"/>
          <p:cNvGraphicFramePr>
            <a:graphicFrameLocks noGrp="1"/>
          </p:cNvGraphicFramePr>
          <p:nvPr/>
        </p:nvGraphicFramePr>
        <p:xfrm>
          <a:off x="640080" y="1463040"/>
          <a:ext cx="5760720" cy="3886200"/>
        </p:xfrm>
        <a:graphic>
          <a:graphicData uri="http://schemas.openxmlformats.org/drawingml/2006/table">
            <a:tbl>
              <a:tblPr firstRow="0" bandRow="0">
                <a:tableStyleId>{5C22544A-7EE6-4342-B048-85BDC9FD1C3A}</a:tableStyleId>
              </a:tblPr>
              <a:tblGrid>
                <a:gridCol w="3566160"/>
                <a:gridCol w="2194560"/>
              </a:tblGrid>
              <a:tr h="777240">
                <a:tc>
                  <a:txBody>
                    <a:bodyPr wrap="square"/>
                    <a:lstStyle/>
                    <a:p>
                      <a:r>
                        <a:rPr sz="2600" b="1">
                          <a:solidFill>
                            <a:srgbClr val="FFFFFF"/>
                          </a:solidFill>
                          <a:latin typeface="Arial"/>
                        </a:rPr>
                        <a:t>Alter zu Jahresbeginn</a:t>
                      </a:r>
                    </a:p>
                  </a:txBody>
                  <a:tcPr marL="109728" marR="109728" marT="36576" marB="36576" anchor="ctr">
                    <a:solidFill>
                      <a:srgbClr val="14264B"/>
                    </a:solidFill>
                  </a:tcPr>
                </a:tc>
                <a:tc>
                  <a:txBody>
                    <a:bodyPr wrap="square"/>
                    <a:lstStyle/>
                    <a:p>
                      <a:r>
                        <a:rPr sz="2600" b="1">
                          <a:solidFill>
                            <a:srgbClr val="FFFFFF"/>
                          </a:solidFill>
                          <a:latin typeface="Arial"/>
                        </a:rPr>
                        <a:t>Werktage</a:t>
                      </a:r>
                    </a:p>
                  </a:txBody>
                  <a:tcPr marL="109728" marR="109728" marT="36576" marB="36576" anchor="ctr">
                    <a:solidFill>
                      <a:srgbClr val="14264B"/>
                    </a:solidFill>
                  </a:tcPr>
                </a:tc>
              </a:tr>
              <a:tr h="777240">
                <a:tc>
                  <a:txBody>
                    <a:bodyPr wrap="square"/>
                    <a:lstStyle/>
                    <a:p>
                      <a:r>
                        <a:rPr sz="2600" b="1">
                          <a:solidFill>
                            <a:srgbClr val="14264B"/>
                          </a:solidFill>
                          <a:latin typeface="Arial"/>
                        </a:rPr>
                        <a:t>unter 16</a:t>
                      </a:r>
                    </a:p>
                  </a:txBody>
                  <a:tcPr marL="109728" marR="109728" marT="36576" marB="36576" anchor="ctr">
                    <a:solidFill>
                      <a:srgbClr val="FFFFFF"/>
                    </a:solidFill>
                  </a:tcPr>
                </a:tc>
                <a:tc>
                  <a:txBody>
                    <a:bodyPr wrap="square"/>
                    <a:lstStyle/>
                    <a:p>
                      <a:r>
                        <a:rPr sz="2600">
                          <a:solidFill>
                            <a:srgbClr val="1A2238"/>
                          </a:solidFill>
                          <a:latin typeface="Arial"/>
                        </a:rPr>
                        <a:t>30</a:t>
                      </a:r>
                    </a:p>
                  </a:txBody>
                  <a:tcPr marL="109728" marR="109728" marT="36576" marB="36576" anchor="ctr">
                    <a:solidFill>
                      <a:srgbClr val="FFFFFF"/>
                    </a:solidFill>
                  </a:tcPr>
                </a:tc>
              </a:tr>
              <a:tr h="777240">
                <a:tc>
                  <a:txBody>
                    <a:bodyPr wrap="square"/>
                    <a:lstStyle/>
                    <a:p>
                      <a:r>
                        <a:rPr sz="2600" b="1">
                          <a:solidFill>
                            <a:srgbClr val="14264B"/>
                          </a:solidFill>
                          <a:latin typeface="Arial"/>
                        </a:rPr>
                        <a:t>unter 17</a:t>
                      </a:r>
                    </a:p>
                  </a:txBody>
                  <a:tcPr marL="109728" marR="109728" marT="36576" marB="36576" anchor="ctr">
                    <a:solidFill>
                      <a:srgbClr val="F6F8FC"/>
                    </a:solidFill>
                  </a:tcPr>
                </a:tc>
                <a:tc>
                  <a:txBody>
                    <a:bodyPr wrap="square"/>
                    <a:lstStyle/>
                    <a:p>
                      <a:r>
                        <a:rPr sz="2600">
                          <a:solidFill>
                            <a:srgbClr val="1A2238"/>
                          </a:solidFill>
                          <a:latin typeface="Arial"/>
                        </a:rPr>
                        <a:t>27</a:t>
                      </a:r>
                    </a:p>
                  </a:txBody>
                  <a:tcPr marL="109728" marR="109728" marT="36576" marB="36576" anchor="ctr">
                    <a:solidFill>
                      <a:srgbClr val="F6F8FC"/>
                    </a:solidFill>
                  </a:tcPr>
                </a:tc>
              </a:tr>
              <a:tr h="777240">
                <a:tc>
                  <a:txBody>
                    <a:bodyPr wrap="square"/>
                    <a:lstStyle/>
                    <a:p>
                      <a:r>
                        <a:rPr sz="2600" b="1">
                          <a:solidFill>
                            <a:srgbClr val="14264B"/>
                          </a:solidFill>
                          <a:latin typeface="Arial"/>
                        </a:rPr>
                        <a:t>unter 18</a:t>
                      </a:r>
                    </a:p>
                  </a:txBody>
                  <a:tcPr marL="109728" marR="109728" marT="36576" marB="36576" anchor="ctr">
                    <a:solidFill>
                      <a:srgbClr val="FFFFFF"/>
                    </a:solidFill>
                  </a:tcPr>
                </a:tc>
                <a:tc>
                  <a:txBody>
                    <a:bodyPr wrap="square"/>
                    <a:lstStyle/>
                    <a:p>
                      <a:r>
                        <a:rPr sz="2600">
                          <a:solidFill>
                            <a:srgbClr val="1A2238"/>
                          </a:solidFill>
                          <a:latin typeface="Arial"/>
                        </a:rPr>
                        <a:t>25</a:t>
                      </a:r>
                    </a:p>
                  </a:txBody>
                  <a:tcPr marL="109728" marR="109728" marT="36576" marB="36576" anchor="ctr">
                    <a:solidFill>
                      <a:srgbClr val="FFFFFF"/>
                    </a:solidFill>
                  </a:tcPr>
                </a:tc>
              </a:tr>
              <a:tr h="777240">
                <a:tc>
                  <a:txBody>
                    <a:bodyPr wrap="square"/>
                    <a:lstStyle/>
                    <a:p>
                      <a:r>
                        <a:rPr sz="2600" b="1">
                          <a:solidFill>
                            <a:srgbClr val="14264B"/>
                          </a:solidFill>
                          <a:latin typeface="Arial"/>
                        </a:rPr>
                        <a:t>ab 18</a:t>
                      </a:r>
                    </a:p>
                  </a:txBody>
                  <a:tcPr marL="109728" marR="109728" marT="36576" marB="36576" anchor="ctr">
                    <a:solidFill>
                      <a:srgbClr val="F6F8FC"/>
                    </a:solidFill>
                  </a:tcPr>
                </a:tc>
                <a:tc>
                  <a:txBody>
                    <a:bodyPr wrap="square"/>
                    <a:lstStyle/>
                    <a:p>
                      <a:r>
                        <a:rPr sz="2600">
                          <a:solidFill>
                            <a:srgbClr val="1A2238"/>
                          </a:solidFill>
                          <a:latin typeface="Arial"/>
                        </a:rPr>
                        <a:t>24</a:t>
                      </a:r>
                    </a:p>
                  </a:txBody>
                  <a:tcPr marL="109728" marR="109728" marT="36576" marB="36576" anchor="ctr">
                    <a:solidFill>
                      <a:srgbClr val="F6F8FC"/>
                    </a:solidFill>
                  </a:tcPr>
                </a:tc>
              </a:tr>
            </a:tbl>
          </a:graphicData>
        </a:graphic>
      </p:graphicFrame>
      <p:sp>
        <p:nvSpPr>
          <p:cNvPr id="7" name="Rectangle 6"/>
          <p:cNvSpPr/>
          <p:nvPr/>
        </p:nvSpPr>
        <p:spPr>
          <a:xfrm>
            <a:off x="6675120" y="1463040"/>
            <a:ext cx="4846320" cy="38862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75120" y="1463040"/>
            <a:ext cx="91440" cy="38862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554480"/>
            <a:ext cx="4572000" cy="3749039"/>
          </a:xfrm>
          <a:prstGeom prst="rect">
            <a:avLst/>
          </a:prstGeom>
          <a:noFill/>
        </p:spPr>
        <p:txBody>
          <a:bodyPr wrap="square" anchor="t">
            <a:spAutoFit/>
          </a:bodyPr>
          <a:lstStyle/>
          <a:p>
            <a:pPr algn="l"/>
            <a:r>
              <a:rPr sz="2400" b="1">
                <a:solidFill>
                  <a:srgbClr val="14264B"/>
                </a:solidFill>
                <a:latin typeface="Arial"/>
              </a:rPr>
              <a:t>Werktage</a:t>
            </a:r>
          </a:p>
          <a:p>
            <a:pPr algn="l">
              <a:spcBef>
                <a:spcPts val="839"/>
              </a:spcBef>
            </a:pPr>
            <a:r>
              <a:rPr sz="2400" b="0">
                <a:solidFill>
                  <a:srgbClr val="1A2238"/>
                </a:solidFill>
                <a:latin typeface="Arial"/>
              </a:rPr>
              <a:t>sind alle Kalendertage außer Sonntagen und gesetzlichen Feiertagen.</a:t>
            </a:r>
          </a:p>
          <a:p>
            <a:pPr algn="l">
              <a:spcBef>
                <a:spcPts val="839"/>
              </a:spcBef>
            </a:pPr>
            <a:r>
              <a:rPr sz="2400" b="0">
                <a:solidFill>
                  <a:srgbClr val="1A2238"/>
                </a:solidFill>
                <a:latin typeface="Arial"/>
              </a:rPr>
              <a:t>24 Werktage entsprechen 20 Arbeitstagen bei der Fünf-Tage-Woche.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Blitzfrage 2 (Teil 2)</a:t>
            </a:r>
          </a:p>
        </p:txBody>
      </p:sp>
      <p:sp>
        <p:nvSpPr>
          <p:cNvPr id="5" name="Rectangle 4"/>
          <p:cNvSpPr/>
          <p:nvPr/>
        </p:nvSpPr>
        <p:spPr>
          <a:xfrm>
            <a:off x="640080" y="1417320"/>
            <a:ext cx="10881360" cy="10972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0972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10515600" cy="1097280"/>
          </a:xfrm>
          <a:prstGeom prst="rect">
            <a:avLst/>
          </a:prstGeom>
          <a:noFill/>
        </p:spPr>
        <p:txBody>
          <a:bodyPr wrap="square" anchor="ctr">
            <a:spAutoFit/>
          </a:bodyPr>
          <a:lstStyle/>
          <a:p>
            <a:pPr algn="l"/>
            <a:r>
              <a:rPr sz="2800" b="1">
                <a:solidFill>
                  <a:srgbClr val="FFFFFF"/>
                </a:solidFill>
                <a:latin typeface="Arial"/>
              </a:rPr>
              <a:t>24 Werktage Urlaub: Wie viele Arbeitstage sind das bei einer Fünf-Tage-Woche?</a:t>
            </a:r>
          </a:p>
        </p:txBody>
      </p:sp>
      <p:sp>
        <p:nvSpPr>
          <p:cNvPr id="8" name="Rounded Rectangle 7"/>
          <p:cNvSpPr/>
          <p:nvPr/>
        </p:nvSpPr>
        <p:spPr>
          <a:xfrm>
            <a:off x="640080" y="274320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85750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A</a:t>
            </a:r>
          </a:p>
        </p:txBody>
      </p:sp>
      <p:sp>
        <p:nvSpPr>
          <p:cNvPr id="10" name="TextBox 9"/>
          <p:cNvSpPr txBox="1"/>
          <p:nvPr/>
        </p:nvSpPr>
        <p:spPr>
          <a:xfrm>
            <a:off x="1600200" y="2743200"/>
            <a:ext cx="9601200" cy="868680"/>
          </a:xfrm>
          <a:prstGeom prst="rect">
            <a:avLst/>
          </a:prstGeom>
          <a:noFill/>
        </p:spPr>
        <p:txBody>
          <a:bodyPr wrap="square" anchor="ctr">
            <a:spAutoFit/>
          </a:bodyPr>
          <a:lstStyle/>
          <a:p>
            <a:pPr algn="l"/>
            <a:r>
              <a:rPr sz="2600" b="0">
                <a:solidFill>
                  <a:srgbClr val="1A2238"/>
                </a:solidFill>
                <a:latin typeface="Arial"/>
              </a:rPr>
              <a:t>18</a:t>
            </a:r>
          </a:p>
        </p:txBody>
      </p:sp>
      <p:sp>
        <p:nvSpPr>
          <p:cNvPr id="11" name="Rounded Rectangle 10"/>
          <p:cNvSpPr/>
          <p:nvPr/>
        </p:nvSpPr>
        <p:spPr>
          <a:xfrm>
            <a:off x="640080" y="379476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390906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B</a:t>
            </a:r>
          </a:p>
        </p:txBody>
      </p:sp>
      <p:sp>
        <p:nvSpPr>
          <p:cNvPr id="13" name="TextBox 12"/>
          <p:cNvSpPr txBox="1"/>
          <p:nvPr/>
        </p:nvSpPr>
        <p:spPr>
          <a:xfrm>
            <a:off x="1600200" y="3794760"/>
            <a:ext cx="9601200" cy="868680"/>
          </a:xfrm>
          <a:prstGeom prst="rect">
            <a:avLst/>
          </a:prstGeom>
          <a:noFill/>
        </p:spPr>
        <p:txBody>
          <a:bodyPr wrap="square" anchor="ctr">
            <a:spAutoFit/>
          </a:bodyPr>
          <a:lstStyle/>
          <a:p>
            <a:pPr algn="l"/>
            <a:r>
              <a:rPr sz="2600" b="0">
                <a:solidFill>
                  <a:srgbClr val="1A2238"/>
                </a:solidFill>
                <a:latin typeface="Arial"/>
              </a:rPr>
              <a:t>20</a:t>
            </a:r>
          </a:p>
        </p:txBody>
      </p:sp>
      <p:sp>
        <p:nvSpPr>
          <p:cNvPr id="14" name="Rounded Rectangle 13"/>
          <p:cNvSpPr/>
          <p:nvPr/>
        </p:nvSpPr>
        <p:spPr>
          <a:xfrm>
            <a:off x="640080" y="484632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496062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C</a:t>
            </a:r>
          </a:p>
        </p:txBody>
      </p:sp>
      <p:sp>
        <p:nvSpPr>
          <p:cNvPr id="16" name="TextBox 15"/>
          <p:cNvSpPr txBox="1"/>
          <p:nvPr/>
        </p:nvSpPr>
        <p:spPr>
          <a:xfrm>
            <a:off x="1600200" y="4846320"/>
            <a:ext cx="9601200" cy="868680"/>
          </a:xfrm>
          <a:prstGeom prst="rect">
            <a:avLst/>
          </a:prstGeom>
          <a:noFill/>
        </p:spPr>
        <p:txBody>
          <a:bodyPr wrap="square" anchor="ctr">
            <a:spAutoFit/>
          </a:bodyPr>
          <a:lstStyle/>
          <a:p>
            <a:pPr algn="l"/>
            <a:r>
              <a:rPr sz="2600" b="0">
                <a:solidFill>
                  <a:srgbClr val="1A2238"/>
                </a:solidFill>
                <a:latin typeface="Arial"/>
              </a:rPr>
              <a:t>24</a:t>
            </a:r>
          </a:p>
        </p:txBody>
      </p:sp>
      <p:sp>
        <p:nvSpPr>
          <p:cNvPr id="17" name="Rounded Rectangle 16"/>
          <p:cNvSpPr/>
          <p:nvPr/>
        </p:nvSpPr>
        <p:spPr>
          <a:xfrm>
            <a:off x="640080" y="5897879"/>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6012179"/>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D</a:t>
            </a:r>
          </a:p>
        </p:txBody>
      </p:sp>
      <p:sp>
        <p:nvSpPr>
          <p:cNvPr id="19" name="TextBox 18"/>
          <p:cNvSpPr txBox="1"/>
          <p:nvPr/>
        </p:nvSpPr>
        <p:spPr>
          <a:xfrm>
            <a:off x="1600200" y="5897879"/>
            <a:ext cx="9601200" cy="868680"/>
          </a:xfrm>
          <a:prstGeom prst="rect">
            <a:avLst/>
          </a:prstGeom>
          <a:noFill/>
        </p:spPr>
        <p:txBody>
          <a:bodyPr wrap="square" anchor="ctr">
            <a:spAutoFit/>
          </a:bodyPr>
          <a:lstStyle/>
          <a:p>
            <a:pPr algn="l"/>
            <a:r>
              <a:rPr sz="2600" b="0">
                <a:solidFill>
                  <a:srgbClr val="1A2238"/>
                </a:solidFill>
                <a:latin typeface="Arial"/>
              </a:rPr>
              <a:t>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Probezeit (Teil 3)</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20 BBiG</a:t>
            </a:r>
          </a:p>
        </p:txBody>
      </p:sp>
      <p:sp>
        <p:nvSpPr>
          <p:cNvPr id="6" name="TextBox 5"/>
          <p:cNvSpPr txBox="1"/>
          <p:nvPr/>
        </p:nvSpPr>
        <p:spPr>
          <a:xfrm>
            <a:off x="640080" y="1554480"/>
            <a:ext cx="10881360" cy="1371600"/>
          </a:xfrm>
          <a:prstGeom prst="rect">
            <a:avLst/>
          </a:prstGeom>
          <a:noFill/>
        </p:spPr>
        <p:txBody>
          <a:bodyPr wrap="square" anchor="t">
            <a:spAutoFit/>
          </a:bodyPr>
          <a:lstStyle/>
          <a:p>
            <a:pPr algn="l"/>
            <a:r>
              <a:rPr sz="3000" b="1">
                <a:solidFill>
                  <a:srgbClr val="14264B"/>
                </a:solidFill>
                <a:latin typeface="Arial"/>
              </a:rPr>
              <a:t>Jedes Ausbildungsverhältnis beginnt mit einer Probezeit von mindestens einem und höchstens vier Monaten.</a:t>
            </a:r>
          </a:p>
        </p:txBody>
      </p:sp>
      <p:sp>
        <p:nvSpPr>
          <p:cNvPr id="7" name="Rectangle 6"/>
          <p:cNvSpPr/>
          <p:nvPr/>
        </p:nvSpPr>
        <p:spPr>
          <a:xfrm>
            <a:off x="640080" y="3474720"/>
            <a:ext cx="265176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474720"/>
            <a:ext cx="2651760" cy="1005840"/>
          </a:xfrm>
          <a:prstGeom prst="rect">
            <a:avLst/>
          </a:prstGeom>
          <a:noFill/>
        </p:spPr>
        <p:txBody>
          <a:bodyPr wrap="square" anchor="ctr">
            <a:spAutoFit/>
          </a:bodyPr>
          <a:lstStyle/>
          <a:p>
            <a:pPr algn="ctr"/>
            <a:r>
              <a:rPr sz="2600" b="1">
                <a:solidFill>
                  <a:srgbClr val="FFFFFF"/>
                </a:solidFill>
                <a:latin typeface="Arial"/>
              </a:rPr>
              <a:t>1. Monat</a:t>
            </a:r>
          </a:p>
        </p:txBody>
      </p:sp>
      <p:sp>
        <p:nvSpPr>
          <p:cNvPr id="9" name="Rectangle 8"/>
          <p:cNvSpPr/>
          <p:nvPr/>
        </p:nvSpPr>
        <p:spPr>
          <a:xfrm>
            <a:off x="3383280" y="3474720"/>
            <a:ext cx="265176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3474720"/>
            <a:ext cx="2651760" cy="1005840"/>
          </a:xfrm>
          <a:prstGeom prst="rect">
            <a:avLst/>
          </a:prstGeom>
          <a:noFill/>
        </p:spPr>
        <p:txBody>
          <a:bodyPr wrap="square" anchor="ctr">
            <a:spAutoFit/>
          </a:bodyPr>
          <a:lstStyle/>
          <a:p>
            <a:pPr algn="ctr"/>
            <a:r>
              <a:rPr sz="2600" b="1">
                <a:solidFill>
                  <a:srgbClr val="FFFFFF"/>
                </a:solidFill>
                <a:latin typeface="Arial"/>
              </a:rPr>
              <a:t>2. Monat</a:t>
            </a:r>
          </a:p>
        </p:txBody>
      </p:sp>
      <p:sp>
        <p:nvSpPr>
          <p:cNvPr id="11" name="Rectangle 10"/>
          <p:cNvSpPr/>
          <p:nvPr/>
        </p:nvSpPr>
        <p:spPr>
          <a:xfrm>
            <a:off x="6126480" y="3474720"/>
            <a:ext cx="265176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3474720"/>
            <a:ext cx="2651760" cy="1005840"/>
          </a:xfrm>
          <a:prstGeom prst="rect">
            <a:avLst/>
          </a:prstGeom>
          <a:noFill/>
        </p:spPr>
        <p:txBody>
          <a:bodyPr wrap="square" anchor="ctr">
            <a:spAutoFit/>
          </a:bodyPr>
          <a:lstStyle/>
          <a:p>
            <a:pPr algn="ctr"/>
            <a:r>
              <a:rPr sz="2600" b="1">
                <a:solidFill>
                  <a:srgbClr val="FFFFFF"/>
                </a:solidFill>
                <a:latin typeface="Arial"/>
              </a:rPr>
              <a:t>3. Monat</a:t>
            </a:r>
          </a:p>
        </p:txBody>
      </p:sp>
      <p:sp>
        <p:nvSpPr>
          <p:cNvPr id="13" name="Rectangle 12"/>
          <p:cNvSpPr/>
          <p:nvPr/>
        </p:nvSpPr>
        <p:spPr>
          <a:xfrm>
            <a:off x="8869680" y="3474720"/>
            <a:ext cx="2651760" cy="10058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3474720"/>
            <a:ext cx="2651760" cy="1005840"/>
          </a:xfrm>
          <a:prstGeom prst="rect">
            <a:avLst/>
          </a:prstGeom>
          <a:noFill/>
        </p:spPr>
        <p:txBody>
          <a:bodyPr wrap="square" anchor="ctr">
            <a:spAutoFit/>
          </a:bodyPr>
          <a:lstStyle/>
          <a:p>
            <a:pPr algn="ctr"/>
            <a:r>
              <a:rPr sz="2600" b="1">
                <a:solidFill>
                  <a:srgbClr val="14264B"/>
                </a:solidFill>
                <a:latin typeface="Arial"/>
              </a:rPr>
              <a:t>4. Monat</a:t>
            </a:r>
          </a:p>
        </p:txBody>
      </p:sp>
      <p:sp>
        <p:nvSpPr>
          <p:cNvPr id="15" name="TextBox 14"/>
          <p:cNvSpPr txBox="1"/>
          <p:nvPr/>
        </p:nvSpPr>
        <p:spPr>
          <a:xfrm>
            <a:off x="640080" y="4617720"/>
            <a:ext cx="4572000" cy="548640"/>
          </a:xfrm>
          <a:prstGeom prst="rect">
            <a:avLst/>
          </a:prstGeom>
          <a:noFill/>
        </p:spPr>
        <p:txBody>
          <a:bodyPr wrap="square" anchor="t">
            <a:spAutoFit/>
          </a:bodyPr>
          <a:lstStyle/>
          <a:p>
            <a:pPr algn="l"/>
            <a:r>
              <a:rPr sz="2400" b="0">
                <a:solidFill>
                  <a:srgbClr val="5B6680"/>
                </a:solidFill>
                <a:latin typeface="Arial"/>
              </a:rPr>
              <a:t>mindestens 1 Monat</a:t>
            </a:r>
          </a:p>
        </p:txBody>
      </p:sp>
      <p:sp>
        <p:nvSpPr>
          <p:cNvPr id="16" name="TextBox 15"/>
          <p:cNvSpPr txBox="1"/>
          <p:nvPr/>
        </p:nvSpPr>
        <p:spPr>
          <a:xfrm>
            <a:off x="6949440" y="4617720"/>
            <a:ext cx="4572000" cy="548640"/>
          </a:xfrm>
          <a:prstGeom prst="rect">
            <a:avLst/>
          </a:prstGeom>
          <a:noFill/>
        </p:spPr>
        <p:txBody>
          <a:bodyPr wrap="square" anchor="t">
            <a:spAutoFit/>
          </a:bodyPr>
          <a:lstStyle/>
          <a:p>
            <a:pPr algn="r"/>
            <a:r>
              <a:rPr sz="2400" b="0">
                <a:solidFill>
                  <a:srgbClr val="5B6680"/>
                </a:solidFill>
                <a:latin typeface="Arial"/>
              </a:rPr>
              <a:t>höchstens 4 Monate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Kündigung (Teil 3)</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22 Abs. 1 und 2 BBiG</a:t>
            </a:r>
          </a:p>
        </p:txBody>
      </p:sp>
      <p:sp>
        <p:nvSpPr>
          <p:cNvPr id="6" name="Rectangle 5"/>
          <p:cNvSpPr/>
          <p:nvPr/>
        </p:nvSpPr>
        <p:spPr>
          <a:xfrm>
            <a:off x="640080" y="1417320"/>
            <a:ext cx="5349240"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5029200" cy="640080"/>
          </a:xfrm>
          <a:prstGeom prst="rect">
            <a:avLst/>
          </a:prstGeom>
          <a:noFill/>
        </p:spPr>
        <p:txBody>
          <a:bodyPr wrap="square" anchor="ctr">
            <a:spAutoFit/>
          </a:bodyPr>
          <a:lstStyle/>
          <a:p>
            <a:pPr algn="l"/>
            <a:r>
              <a:rPr sz="2600" b="1">
                <a:solidFill>
                  <a:srgbClr val="FFFFFF"/>
                </a:solidFill>
                <a:latin typeface="Arial"/>
              </a:rPr>
              <a:t>In der Probezeit</a:t>
            </a:r>
          </a:p>
        </p:txBody>
      </p:sp>
      <p:sp>
        <p:nvSpPr>
          <p:cNvPr id="8" name="Rectangle 7"/>
          <p:cNvSpPr/>
          <p:nvPr/>
        </p:nvSpPr>
        <p:spPr>
          <a:xfrm>
            <a:off x="6172200" y="1417320"/>
            <a:ext cx="5349240" cy="6400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17320"/>
            <a:ext cx="5029200" cy="640080"/>
          </a:xfrm>
          <a:prstGeom prst="rect">
            <a:avLst/>
          </a:prstGeom>
          <a:noFill/>
        </p:spPr>
        <p:txBody>
          <a:bodyPr wrap="square" anchor="ctr">
            <a:spAutoFit/>
          </a:bodyPr>
          <a:lstStyle/>
          <a:p>
            <a:pPr algn="l"/>
            <a:r>
              <a:rPr sz="2600" b="1">
                <a:solidFill>
                  <a:srgbClr val="14264B"/>
                </a:solidFill>
                <a:latin typeface="Arial"/>
              </a:rPr>
              <a:t>Nach der Probezeit</a:t>
            </a:r>
          </a:p>
        </p:txBody>
      </p:sp>
      <p:sp>
        <p:nvSpPr>
          <p:cNvPr id="10" name="TextBox 9"/>
          <p:cNvSpPr txBox="1"/>
          <p:nvPr/>
        </p:nvSpPr>
        <p:spPr>
          <a:xfrm>
            <a:off x="640080" y="2286000"/>
            <a:ext cx="5349240" cy="3931920"/>
          </a:xfrm>
          <a:prstGeom prst="rect">
            <a:avLst/>
          </a:prstGeom>
          <a:noFill/>
        </p:spPr>
        <p:txBody>
          <a:bodyPr wrap="square" anchor="t">
            <a:spAutoFit/>
          </a:bodyPr>
          <a:lstStyle/>
          <a:p>
            <a:pPr algn="l"/>
            <a:r>
              <a:rPr sz="2600" b="1">
                <a:solidFill>
                  <a:srgbClr val="F5A800"/>
                </a:solidFill>
                <a:latin typeface="Arial"/>
              </a:rPr>
              <a:t>•  </a:t>
            </a:r>
            <a:r>
              <a:rPr sz="2600" b="0">
                <a:solidFill>
                  <a:srgbClr val="1A2238"/>
                </a:solidFill>
                <a:latin typeface="Arial"/>
              </a:rPr>
              <a:t>jederzeit ohne Frist</a:t>
            </a:r>
          </a:p>
          <a:p>
            <a:pPr algn="l">
              <a:spcBef>
                <a:spcPts val="1170"/>
              </a:spcBef>
            </a:pPr>
            <a:r>
              <a:rPr sz="2600" b="1">
                <a:solidFill>
                  <a:srgbClr val="F5A800"/>
                </a:solidFill>
                <a:latin typeface="Arial"/>
              </a:rPr>
              <a:t>•  </a:t>
            </a:r>
            <a:r>
              <a:rPr sz="2600" b="0">
                <a:solidFill>
                  <a:srgbClr val="1A2238"/>
                </a:solidFill>
                <a:latin typeface="Arial"/>
              </a:rPr>
              <a:t>von beiden Seiten</a:t>
            </a:r>
          </a:p>
        </p:txBody>
      </p:sp>
      <p:sp>
        <p:nvSpPr>
          <p:cNvPr id="11" name="TextBox 10"/>
          <p:cNvSpPr txBox="1"/>
          <p:nvPr/>
        </p:nvSpPr>
        <p:spPr>
          <a:xfrm>
            <a:off x="6172200" y="2286000"/>
            <a:ext cx="5349240" cy="3931920"/>
          </a:xfrm>
          <a:prstGeom prst="rect">
            <a:avLst/>
          </a:prstGeom>
          <a:noFill/>
        </p:spPr>
        <p:txBody>
          <a:bodyPr wrap="square" anchor="t">
            <a:spAutoFit/>
          </a:bodyPr>
          <a:lstStyle/>
          <a:p>
            <a:pPr algn="l"/>
            <a:r>
              <a:rPr sz="2400" b="1">
                <a:solidFill>
                  <a:srgbClr val="F5A800"/>
                </a:solidFill>
                <a:latin typeface="Arial"/>
              </a:rPr>
              <a:t>•  </a:t>
            </a:r>
            <a:r>
              <a:rPr sz="2400" b="0">
                <a:solidFill>
                  <a:srgbClr val="1A2238"/>
                </a:solidFill>
                <a:latin typeface="Arial"/>
              </a:rPr>
              <a:t>fristlos aus wichtigem Grund (beide Seiten)</a:t>
            </a:r>
          </a:p>
          <a:p>
            <a:pPr algn="l">
              <a:spcBef>
                <a:spcPts val="1080"/>
              </a:spcBef>
            </a:pPr>
            <a:r>
              <a:rPr sz="2400" b="1">
                <a:solidFill>
                  <a:srgbClr val="F5A800"/>
                </a:solidFill>
                <a:latin typeface="Arial"/>
              </a:rPr>
              <a:t>•  </a:t>
            </a:r>
            <a:r>
              <a:rPr sz="2400" b="0">
                <a:solidFill>
                  <a:srgbClr val="1A2238"/>
                </a:solidFill>
                <a:latin typeface="Arial"/>
              </a:rPr>
              <a:t>oder durch den Azubi mit vier Wochen Frist, wenn er die Ausbildung aufgibt oder den Beruf wechseln will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Form und Fristen der Kündigung (Teil 3)</a:t>
            </a:r>
          </a:p>
        </p:txBody>
      </p:sp>
      <p:sp>
        <p:nvSpPr>
          <p:cNvPr id="5" name="TextBox 4"/>
          <p:cNvSpPr txBox="1"/>
          <p:nvPr/>
        </p:nvSpPr>
        <p:spPr>
          <a:xfrm>
            <a:off x="8046720" y="6400800"/>
            <a:ext cx="3840480" cy="365760"/>
          </a:xfrm>
          <a:prstGeom prst="rect">
            <a:avLst/>
          </a:prstGeom>
          <a:noFill/>
        </p:spPr>
        <p:txBody>
          <a:bodyPr wrap="square" anchor="t">
            <a:spAutoFit/>
          </a:bodyPr>
          <a:lstStyle/>
          <a:p>
            <a:pPr algn="r"/>
            <a:r>
              <a:rPr sz="1400" b="0">
                <a:solidFill>
                  <a:srgbClr val="5B6680"/>
                </a:solidFill>
                <a:latin typeface="Arial"/>
              </a:rPr>
              <a:t>§ 22 Abs. 3 und 4 BBiG</a:t>
            </a:r>
          </a:p>
        </p:txBody>
      </p:sp>
      <p:sp>
        <p:nvSpPr>
          <p:cNvPr id="6" name="Rectangle 5"/>
          <p:cNvSpPr/>
          <p:nvPr/>
        </p:nvSpPr>
        <p:spPr>
          <a:xfrm>
            <a:off x="640080" y="1371600"/>
            <a:ext cx="10881360" cy="12801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71600"/>
            <a:ext cx="91440" cy="12801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44752"/>
            <a:ext cx="10515600" cy="548640"/>
          </a:xfrm>
          <a:prstGeom prst="rect">
            <a:avLst/>
          </a:prstGeom>
          <a:noFill/>
        </p:spPr>
        <p:txBody>
          <a:bodyPr wrap="square" anchor="t">
            <a:spAutoFit/>
          </a:bodyPr>
          <a:lstStyle/>
          <a:p>
            <a:pPr algn="l"/>
            <a:r>
              <a:rPr sz="2600" b="1">
                <a:solidFill>
                  <a:srgbClr val="14264B"/>
                </a:solidFill>
                <a:latin typeface="Arial"/>
              </a:rPr>
              <a:t>Immer schriftlich</a:t>
            </a:r>
          </a:p>
        </p:txBody>
      </p:sp>
      <p:sp>
        <p:nvSpPr>
          <p:cNvPr id="9" name="TextBox 8"/>
          <p:cNvSpPr txBox="1"/>
          <p:nvPr/>
        </p:nvSpPr>
        <p:spPr>
          <a:xfrm>
            <a:off x="868680" y="2269540"/>
            <a:ext cx="10515600" cy="336499"/>
          </a:xfrm>
          <a:prstGeom prst="rect">
            <a:avLst/>
          </a:prstGeom>
          <a:noFill/>
        </p:spPr>
        <p:txBody>
          <a:bodyPr wrap="square" anchor="t">
            <a:spAutoFit/>
          </a:bodyPr>
          <a:lstStyle/>
          <a:p>
            <a:pPr algn="l"/>
            <a:r>
              <a:rPr sz="2400" b="0">
                <a:solidFill>
                  <a:srgbClr val="1A2238"/>
                </a:solidFill>
                <a:latin typeface="Arial"/>
              </a:rPr>
              <a:t>Die elektronische Form ist ausgeschlossen.</a:t>
            </a:r>
          </a:p>
        </p:txBody>
      </p:sp>
      <p:sp>
        <p:nvSpPr>
          <p:cNvPr id="10" name="Rectangle 9"/>
          <p:cNvSpPr/>
          <p:nvPr/>
        </p:nvSpPr>
        <p:spPr>
          <a:xfrm>
            <a:off x="640080" y="2788920"/>
            <a:ext cx="10881360" cy="12801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788920"/>
            <a:ext cx="91440" cy="12801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62072"/>
            <a:ext cx="10515600" cy="548640"/>
          </a:xfrm>
          <a:prstGeom prst="rect">
            <a:avLst/>
          </a:prstGeom>
          <a:noFill/>
        </p:spPr>
        <p:txBody>
          <a:bodyPr wrap="square" anchor="t">
            <a:spAutoFit/>
          </a:bodyPr>
          <a:lstStyle/>
          <a:p>
            <a:pPr algn="l"/>
            <a:r>
              <a:rPr sz="2600" b="1">
                <a:solidFill>
                  <a:srgbClr val="14264B"/>
                </a:solidFill>
                <a:latin typeface="Arial"/>
              </a:rPr>
              <a:t>Mit Gründen</a:t>
            </a:r>
          </a:p>
        </p:txBody>
      </p:sp>
      <p:sp>
        <p:nvSpPr>
          <p:cNvPr id="13" name="TextBox 12"/>
          <p:cNvSpPr txBox="1"/>
          <p:nvPr/>
        </p:nvSpPr>
        <p:spPr>
          <a:xfrm>
            <a:off x="868680" y="3686860"/>
            <a:ext cx="10515600" cy="336499"/>
          </a:xfrm>
          <a:prstGeom prst="rect">
            <a:avLst/>
          </a:prstGeom>
          <a:noFill/>
        </p:spPr>
        <p:txBody>
          <a:bodyPr wrap="square" anchor="t">
            <a:spAutoFit/>
          </a:bodyPr>
          <a:lstStyle/>
          <a:p>
            <a:pPr algn="l"/>
            <a:r>
              <a:rPr sz="2400" b="0">
                <a:solidFill>
                  <a:srgbClr val="1A2238"/>
                </a:solidFill>
                <a:latin typeface="Arial"/>
              </a:rPr>
              <a:t>Nach der Probezeit mit Angabe der Gründe.</a:t>
            </a:r>
          </a:p>
        </p:txBody>
      </p:sp>
      <p:sp>
        <p:nvSpPr>
          <p:cNvPr id="14" name="Rectangle 13"/>
          <p:cNvSpPr/>
          <p:nvPr/>
        </p:nvSpPr>
        <p:spPr>
          <a:xfrm>
            <a:off x="640080" y="4206240"/>
            <a:ext cx="10881360" cy="20116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206240"/>
            <a:ext cx="91440" cy="20116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79392"/>
            <a:ext cx="10515600" cy="548640"/>
          </a:xfrm>
          <a:prstGeom prst="rect">
            <a:avLst/>
          </a:prstGeom>
          <a:noFill/>
        </p:spPr>
        <p:txBody>
          <a:bodyPr wrap="square" anchor="t">
            <a:spAutoFit/>
          </a:bodyPr>
          <a:lstStyle/>
          <a:p>
            <a:pPr algn="l"/>
            <a:r>
              <a:rPr sz="2600" b="1">
                <a:solidFill>
                  <a:srgbClr val="14264B"/>
                </a:solidFill>
                <a:latin typeface="Arial"/>
              </a:rPr>
              <a:t>Innerhalb von zwei Wochen</a:t>
            </a:r>
          </a:p>
        </p:txBody>
      </p:sp>
      <p:sp>
        <p:nvSpPr>
          <p:cNvPr id="17" name="TextBox 16"/>
          <p:cNvSpPr txBox="1"/>
          <p:nvPr/>
        </p:nvSpPr>
        <p:spPr>
          <a:xfrm>
            <a:off x="868680" y="5104180"/>
            <a:ext cx="10515600" cy="1068019"/>
          </a:xfrm>
          <a:prstGeom prst="rect">
            <a:avLst/>
          </a:prstGeom>
          <a:noFill/>
        </p:spPr>
        <p:txBody>
          <a:bodyPr wrap="square" anchor="t">
            <a:spAutoFit/>
          </a:bodyPr>
          <a:lstStyle/>
          <a:p>
            <a:pPr algn="l"/>
            <a:r>
              <a:rPr sz="2400" b="0">
                <a:solidFill>
                  <a:srgbClr val="1A2238"/>
                </a:solidFill>
                <a:latin typeface="Arial"/>
              </a:rPr>
              <a:t>Eine Kündigung aus wichtigem Grund nur innerhalb von zwei Wochen, nachdem die Gründe bekannt wurden.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ERARBEITUNG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Blitzfrage 3 (Teil 3)</a:t>
            </a:r>
          </a:p>
        </p:txBody>
      </p:sp>
      <p:sp>
        <p:nvSpPr>
          <p:cNvPr id="5" name="Rectangle 4"/>
          <p:cNvSpPr/>
          <p:nvPr/>
        </p:nvSpPr>
        <p:spPr>
          <a:xfrm>
            <a:off x="640080" y="1417320"/>
            <a:ext cx="10881360" cy="10972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09728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17320"/>
            <a:ext cx="10515600" cy="1097280"/>
          </a:xfrm>
          <a:prstGeom prst="rect">
            <a:avLst/>
          </a:prstGeom>
          <a:noFill/>
        </p:spPr>
        <p:txBody>
          <a:bodyPr wrap="square" anchor="ctr">
            <a:spAutoFit/>
          </a:bodyPr>
          <a:lstStyle/>
          <a:p>
            <a:pPr algn="l"/>
            <a:r>
              <a:rPr sz="2800" b="1">
                <a:solidFill>
                  <a:srgbClr val="FFFFFF"/>
                </a:solidFill>
                <a:latin typeface="Arial"/>
              </a:rPr>
              <a:t>Wann muss eine Kündigung aus wichtigem Grund ausgesprochen werden?</a:t>
            </a:r>
          </a:p>
        </p:txBody>
      </p:sp>
      <p:sp>
        <p:nvSpPr>
          <p:cNvPr id="8" name="Rounded Rectangle 7"/>
          <p:cNvSpPr/>
          <p:nvPr/>
        </p:nvSpPr>
        <p:spPr>
          <a:xfrm>
            <a:off x="640080" y="274320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285750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A</a:t>
            </a:r>
          </a:p>
        </p:txBody>
      </p:sp>
      <p:sp>
        <p:nvSpPr>
          <p:cNvPr id="10" name="TextBox 9"/>
          <p:cNvSpPr txBox="1"/>
          <p:nvPr/>
        </p:nvSpPr>
        <p:spPr>
          <a:xfrm>
            <a:off x="1600200" y="2743200"/>
            <a:ext cx="9601200" cy="868680"/>
          </a:xfrm>
          <a:prstGeom prst="rect">
            <a:avLst/>
          </a:prstGeom>
          <a:noFill/>
        </p:spPr>
        <p:txBody>
          <a:bodyPr wrap="square" anchor="ctr">
            <a:spAutoFit/>
          </a:bodyPr>
          <a:lstStyle/>
          <a:p>
            <a:pPr algn="l"/>
            <a:r>
              <a:rPr sz="2600" b="0">
                <a:solidFill>
                  <a:srgbClr val="1A2238"/>
                </a:solidFill>
                <a:latin typeface="Arial"/>
              </a:rPr>
              <a:t>Innerhalb von vier Wochen nach Kenntnis</a:t>
            </a:r>
          </a:p>
        </p:txBody>
      </p:sp>
      <p:sp>
        <p:nvSpPr>
          <p:cNvPr id="11" name="Rounded Rectangle 10"/>
          <p:cNvSpPr/>
          <p:nvPr/>
        </p:nvSpPr>
        <p:spPr>
          <a:xfrm>
            <a:off x="640080" y="379476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 y="390906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B</a:t>
            </a:r>
          </a:p>
        </p:txBody>
      </p:sp>
      <p:sp>
        <p:nvSpPr>
          <p:cNvPr id="13" name="TextBox 12"/>
          <p:cNvSpPr txBox="1"/>
          <p:nvPr/>
        </p:nvSpPr>
        <p:spPr>
          <a:xfrm>
            <a:off x="1600200" y="3794760"/>
            <a:ext cx="9601200" cy="868680"/>
          </a:xfrm>
          <a:prstGeom prst="rect">
            <a:avLst/>
          </a:prstGeom>
          <a:noFill/>
        </p:spPr>
        <p:txBody>
          <a:bodyPr wrap="square" anchor="ctr">
            <a:spAutoFit/>
          </a:bodyPr>
          <a:lstStyle/>
          <a:p>
            <a:pPr algn="l"/>
            <a:r>
              <a:rPr sz="2600" b="0">
                <a:solidFill>
                  <a:srgbClr val="1A2238"/>
                </a:solidFill>
                <a:latin typeface="Arial"/>
              </a:rPr>
              <a:t>Innerhalb von zwei Wochen nach Kenntnis</a:t>
            </a:r>
          </a:p>
        </p:txBody>
      </p:sp>
      <p:sp>
        <p:nvSpPr>
          <p:cNvPr id="14" name="Rounded Rectangle 13"/>
          <p:cNvSpPr/>
          <p:nvPr/>
        </p:nvSpPr>
        <p:spPr>
          <a:xfrm>
            <a:off x="640080" y="4846320"/>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4960620"/>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C</a:t>
            </a:r>
          </a:p>
        </p:txBody>
      </p:sp>
      <p:sp>
        <p:nvSpPr>
          <p:cNvPr id="16" name="TextBox 15"/>
          <p:cNvSpPr txBox="1"/>
          <p:nvPr/>
        </p:nvSpPr>
        <p:spPr>
          <a:xfrm>
            <a:off x="1600200" y="4846320"/>
            <a:ext cx="9601200" cy="868680"/>
          </a:xfrm>
          <a:prstGeom prst="rect">
            <a:avLst/>
          </a:prstGeom>
          <a:noFill/>
        </p:spPr>
        <p:txBody>
          <a:bodyPr wrap="square" anchor="ctr">
            <a:spAutoFit/>
          </a:bodyPr>
          <a:lstStyle/>
          <a:p>
            <a:pPr algn="l"/>
            <a:r>
              <a:rPr sz="2600" b="0">
                <a:solidFill>
                  <a:srgbClr val="1A2238"/>
                </a:solidFill>
                <a:latin typeface="Arial"/>
              </a:rPr>
              <a:t>Immer zum Monatsende</a:t>
            </a:r>
          </a:p>
        </p:txBody>
      </p:sp>
      <p:sp>
        <p:nvSpPr>
          <p:cNvPr id="17" name="Rounded Rectangle 16"/>
          <p:cNvSpPr/>
          <p:nvPr/>
        </p:nvSpPr>
        <p:spPr>
          <a:xfrm>
            <a:off x="640080" y="5897879"/>
            <a:ext cx="10881360" cy="868680"/>
          </a:xfrm>
          <a:prstGeom prst="roundRect">
            <a:avLst>
              <a:gd name="adj" fmla="val 12000"/>
            </a:avLst>
          </a:prstGeom>
          <a:solidFill>
            <a:srgbClr val="FFFFFF"/>
          </a:solidFill>
          <a:ln w="254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6012179"/>
            <a:ext cx="640080" cy="64008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5A800"/>
                </a:solidFill>
                <a:latin typeface="Arial"/>
              </a:rPr>
              <a:t>D</a:t>
            </a:r>
          </a:p>
        </p:txBody>
      </p:sp>
      <p:sp>
        <p:nvSpPr>
          <p:cNvPr id="19" name="TextBox 18"/>
          <p:cNvSpPr txBox="1"/>
          <p:nvPr/>
        </p:nvSpPr>
        <p:spPr>
          <a:xfrm>
            <a:off x="1600200" y="5897879"/>
            <a:ext cx="9601200" cy="868680"/>
          </a:xfrm>
          <a:prstGeom prst="rect">
            <a:avLst/>
          </a:prstGeom>
          <a:noFill/>
        </p:spPr>
        <p:txBody>
          <a:bodyPr wrap="square" anchor="ctr">
            <a:spAutoFit/>
          </a:bodyPr>
          <a:lstStyle/>
          <a:p>
            <a:pPr algn="l"/>
            <a:r>
              <a:rPr sz="2600" b="0">
                <a:solidFill>
                  <a:srgbClr val="1A2238"/>
                </a:solidFill>
                <a:latin typeface="Arial"/>
              </a:rPr>
              <a:t>Jederzeit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AUFGABEN ERKLÄREN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Die Aufgaben im Überblick</a:t>
            </a:r>
          </a:p>
        </p:txBody>
      </p:sp>
      <p:sp>
        <p:nvSpPr>
          <p:cNvPr id="5" name="Rectangle 4"/>
          <p:cNvSpPr/>
          <p:nvPr/>
        </p:nvSpPr>
        <p:spPr>
          <a:xfrm>
            <a:off x="640080" y="1325880"/>
            <a:ext cx="4572000" cy="457200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png"/>
          <p:cNvPicPr>
            <a:picLocks noChangeAspect="1"/>
          </p:cNvPicPr>
          <p:nvPr/>
        </p:nvPicPr>
        <p:blipFill>
          <a:blip r:embed="rId3"/>
          <a:stretch>
            <a:fillRect/>
          </a:stretch>
        </p:blipFill>
        <p:spPr>
          <a:xfrm>
            <a:off x="777240" y="1463040"/>
            <a:ext cx="4297680" cy="4297680"/>
          </a:xfrm>
          <a:prstGeom prst="rect">
            <a:avLst/>
          </a:prstGeom>
        </p:spPr>
      </p:pic>
      <p:sp>
        <p:nvSpPr>
          <p:cNvPr id="7" name="Rectangle 6"/>
          <p:cNvSpPr/>
          <p:nvPr/>
        </p:nvSpPr>
        <p:spPr>
          <a:xfrm>
            <a:off x="5486400" y="1325880"/>
            <a:ext cx="6035040" cy="73152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0" y="1325880"/>
            <a:ext cx="91440" cy="73152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325880"/>
            <a:ext cx="5760720" cy="731520"/>
          </a:xfrm>
          <a:prstGeom prst="rect">
            <a:avLst/>
          </a:prstGeom>
          <a:noFill/>
        </p:spPr>
        <p:txBody>
          <a:bodyPr wrap="square" anchor="ctr">
            <a:spAutoFit/>
          </a:bodyPr>
          <a:lstStyle/>
          <a:p>
            <a:pPr algn="l"/>
            <a:r>
              <a:rPr sz="2600" b="1">
                <a:solidFill>
                  <a:srgbClr val="FFFFFF"/>
                </a:solidFill>
                <a:latin typeface="Arial"/>
              </a:rPr>
              <a:t>yasinbenx.github.io/azubi-vertrag</a:t>
            </a:r>
          </a:p>
        </p:txBody>
      </p:sp>
      <p:graphicFrame>
        <p:nvGraphicFramePr>
          <p:cNvPr id="10" name="Table 9"/>
          <p:cNvGraphicFramePr>
            <a:graphicFrameLocks noGrp="1"/>
          </p:cNvGraphicFramePr>
          <p:nvPr/>
        </p:nvGraphicFramePr>
        <p:xfrm>
          <a:off x="5486400" y="2240280"/>
          <a:ext cx="6035040" cy="2267712"/>
        </p:xfrm>
        <a:graphic>
          <a:graphicData uri="http://schemas.openxmlformats.org/drawingml/2006/table">
            <a:tbl>
              <a:tblPr firstRow="0" bandRow="0">
                <a:tableStyleId>{5C22544A-7EE6-4342-B048-85BDC9FD1C3A}</a:tableStyleId>
              </a:tblPr>
              <a:tblGrid>
                <a:gridCol w="2926080"/>
                <a:gridCol w="1828800"/>
                <a:gridCol w="1280160"/>
              </a:tblGrid>
              <a:tr h="566928">
                <a:tc>
                  <a:txBody>
                    <a:bodyPr wrap="square"/>
                    <a:lstStyle/>
                    <a:p>
                      <a:r>
                        <a:rPr sz="2200" b="1">
                          <a:solidFill>
                            <a:srgbClr val="FFFFFF"/>
                          </a:solidFill>
                          <a:latin typeface="Arial"/>
                        </a:rPr>
                        <a:t>Aufgabe</a:t>
                      </a:r>
                    </a:p>
                  </a:txBody>
                  <a:tcPr marL="109728" marR="109728" marT="36576" marB="36576" anchor="ctr">
                    <a:solidFill>
                      <a:srgbClr val="14264B"/>
                    </a:solidFill>
                  </a:tcPr>
                </a:tc>
                <a:tc>
                  <a:txBody>
                    <a:bodyPr wrap="square"/>
                    <a:lstStyle/>
                    <a:p>
                      <a:r>
                        <a:rPr sz="2200" b="1">
                          <a:solidFill>
                            <a:srgbClr val="FFFFFF"/>
                          </a:solidFill>
                          <a:latin typeface="Arial"/>
                        </a:rPr>
                        <a:t>Arbeitsform</a:t>
                      </a:r>
                    </a:p>
                  </a:txBody>
                  <a:tcPr marL="109728" marR="109728" marT="36576" marB="36576" anchor="ctr">
                    <a:solidFill>
                      <a:srgbClr val="14264B"/>
                    </a:solidFill>
                  </a:tcPr>
                </a:tc>
                <a:tc>
                  <a:txBody>
                    <a:bodyPr wrap="square"/>
                    <a:lstStyle/>
                    <a:p>
                      <a:r>
                        <a:rPr sz="2200" b="1">
                          <a:solidFill>
                            <a:srgbClr val="FFFFFF"/>
                          </a:solidFill>
                          <a:latin typeface="Arial"/>
                        </a:rPr>
                        <a:t>Zeit</a:t>
                      </a:r>
                    </a:p>
                  </a:txBody>
                  <a:tcPr marL="109728" marR="109728" marT="36576" marB="36576" anchor="ctr">
                    <a:solidFill>
                      <a:srgbClr val="14264B"/>
                    </a:solidFill>
                  </a:tcPr>
                </a:tc>
              </a:tr>
              <a:tr h="566928">
                <a:tc>
                  <a:txBody>
                    <a:bodyPr wrap="square"/>
                    <a:lstStyle/>
                    <a:p>
                      <a:r>
                        <a:rPr sz="2200" b="1">
                          <a:solidFill>
                            <a:srgbClr val="14264B"/>
                          </a:solidFill>
                          <a:latin typeface="Arial"/>
                        </a:rPr>
                        <a:t>1 Rote/Grüne Karte</a:t>
                      </a:r>
                    </a:p>
                  </a:txBody>
                  <a:tcPr marL="109728" marR="109728" marT="36576" marB="36576" anchor="ctr">
                    <a:solidFill>
                      <a:srgbClr val="FFFFFF"/>
                    </a:solidFill>
                  </a:tcPr>
                </a:tc>
                <a:tc>
                  <a:txBody>
                    <a:bodyPr wrap="square"/>
                    <a:lstStyle/>
                    <a:p>
                      <a:r>
                        <a:rPr sz="2200">
                          <a:solidFill>
                            <a:srgbClr val="1A2238"/>
                          </a:solidFill>
                          <a:latin typeface="Arial"/>
                        </a:rPr>
                        <a:t>allein</a:t>
                      </a:r>
                    </a:p>
                  </a:txBody>
                  <a:tcPr marL="109728" marR="109728" marT="36576" marB="36576" anchor="ctr">
                    <a:solidFill>
                      <a:srgbClr val="FFFFFF"/>
                    </a:solidFill>
                  </a:tcPr>
                </a:tc>
                <a:tc>
                  <a:txBody>
                    <a:bodyPr wrap="square"/>
                    <a:lstStyle/>
                    <a:p>
                      <a:r>
                        <a:rPr sz="2200">
                          <a:solidFill>
                            <a:srgbClr val="1A2238"/>
                          </a:solidFill>
                          <a:latin typeface="Arial"/>
                        </a:rPr>
                        <a:t>3 Min.</a:t>
                      </a:r>
                    </a:p>
                  </a:txBody>
                  <a:tcPr marL="109728" marR="109728" marT="36576" marB="36576" anchor="ctr">
                    <a:solidFill>
                      <a:srgbClr val="FFFFFF"/>
                    </a:solidFill>
                  </a:tcPr>
                </a:tc>
              </a:tr>
              <a:tr h="566928">
                <a:tc>
                  <a:txBody>
                    <a:bodyPr wrap="square"/>
                    <a:lstStyle/>
                    <a:p>
                      <a:r>
                        <a:rPr sz="2200" b="1">
                          <a:solidFill>
                            <a:srgbClr val="14264B"/>
                          </a:solidFill>
                          <a:latin typeface="Arial"/>
                        </a:rPr>
                        <a:t>2 Vertrags-Detektiv</a:t>
                      </a:r>
                    </a:p>
                  </a:txBody>
                  <a:tcPr marL="109728" marR="109728" marT="36576" marB="36576" anchor="ctr">
                    <a:solidFill>
                      <a:srgbClr val="F6F8FC"/>
                    </a:solidFill>
                  </a:tcPr>
                </a:tc>
                <a:tc>
                  <a:txBody>
                    <a:bodyPr wrap="square"/>
                    <a:lstStyle/>
                    <a:p>
                      <a:r>
                        <a:rPr sz="2200">
                          <a:solidFill>
                            <a:srgbClr val="1A2238"/>
                          </a:solidFill>
                          <a:latin typeface="Arial"/>
                        </a:rPr>
                        <a:t>zu zweit</a:t>
                      </a:r>
                    </a:p>
                  </a:txBody>
                  <a:tcPr marL="109728" marR="109728" marT="36576" marB="36576" anchor="ctr">
                    <a:solidFill>
                      <a:srgbClr val="F6F8FC"/>
                    </a:solidFill>
                  </a:tcPr>
                </a:tc>
                <a:tc>
                  <a:txBody>
                    <a:bodyPr wrap="square"/>
                    <a:lstStyle/>
                    <a:p>
                      <a:r>
                        <a:rPr sz="2200">
                          <a:solidFill>
                            <a:srgbClr val="1A2238"/>
                          </a:solidFill>
                          <a:latin typeface="Arial"/>
                        </a:rPr>
                        <a:t>5 Min.</a:t>
                      </a:r>
                    </a:p>
                  </a:txBody>
                  <a:tcPr marL="109728" marR="109728" marT="36576" marB="36576" anchor="ctr">
                    <a:solidFill>
                      <a:srgbClr val="F6F8FC"/>
                    </a:solidFill>
                  </a:tcPr>
                </a:tc>
              </a:tr>
              <a:tr h="566928">
                <a:tc>
                  <a:txBody>
                    <a:bodyPr wrap="square"/>
                    <a:lstStyle/>
                    <a:p>
                      <a:r>
                        <a:rPr sz="2200" b="1">
                          <a:solidFill>
                            <a:srgbClr val="14264B"/>
                          </a:solidFill>
                          <a:latin typeface="Arial"/>
                        </a:rPr>
                        <a:t>3 IHK-Fälle A bis C</a:t>
                      </a:r>
                    </a:p>
                  </a:txBody>
                  <a:tcPr marL="109728" marR="109728" marT="36576" marB="36576" anchor="ctr">
                    <a:solidFill>
                      <a:srgbClr val="FFFFFF"/>
                    </a:solidFill>
                  </a:tcPr>
                </a:tc>
                <a:tc>
                  <a:txBody>
                    <a:bodyPr wrap="square"/>
                    <a:lstStyle/>
                    <a:p>
                      <a:r>
                        <a:rPr sz="2200">
                          <a:solidFill>
                            <a:srgbClr val="1A2238"/>
                          </a:solidFill>
                          <a:latin typeface="Arial"/>
                        </a:rPr>
                        <a:t>zu zweit</a:t>
                      </a:r>
                    </a:p>
                  </a:txBody>
                  <a:tcPr marL="109728" marR="109728" marT="36576" marB="36576" anchor="ctr">
                    <a:solidFill>
                      <a:srgbClr val="FFFFFF"/>
                    </a:solidFill>
                  </a:tcPr>
                </a:tc>
                <a:tc>
                  <a:txBody>
                    <a:bodyPr wrap="square"/>
                    <a:lstStyle/>
                    <a:p>
                      <a:r>
                        <a:rPr sz="2200">
                          <a:solidFill>
                            <a:srgbClr val="1A2238"/>
                          </a:solidFill>
                          <a:latin typeface="Arial"/>
                        </a:rPr>
                        <a:t>5 Min.</a:t>
                      </a:r>
                    </a:p>
                  </a:txBody>
                  <a:tcPr marL="109728" marR="109728" marT="36576" marB="36576" anchor="ctr">
                    <a:solidFill>
                      <a:srgbClr val="FFFFFF"/>
                    </a:solidFill>
                  </a:tcPr>
                </a:tc>
              </a:tr>
            </a:tbl>
          </a:graphicData>
        </a:graphic>
      </p:graphicFrame>
      <p:sp>
        <p:nvSpPr>
          <p:cNvPr id="11" name="TextBox 10"/>
          <p:cNvSpPr txBox="1"/>
          <p:nvPr/>
        </p:nvSpPr>
        <p:spPr>
          <a:xfrm>
            <a:off x="5486400" y="4572000"/>
            <a:ext cx="6035040" cy="868680"/>
          </a:xfrm>
          <a:prstGeom prst="rect">
            <a:avLst/>
          </a:prstGeom>
          <a:noFill/>
        </p:spPr>
        <p:txBody>
          <a:bodyPr wrap="square" anchor="t">
            <a:spAutoFit/>
          </a:bodyPr>
          <a:lstStyle/>
          <a:p>
            <a:pPr algn="l"/>
            <a:r>
              <a:rPr sz="2400" b="1">
                <a:solidFill>
                  <a:srgbClr val="14264B"/>
                </a:solidFill>
                <a:latin typeface="Arial"/>
              </a:rPr>
              <a:t>Schnell fertig? </a:t>
            </a:r>
            <a:r>
              <a:rPr sz="2400" b="0">
                <a:solidFill>
                  <a:srgbClr val="1A2238"/>
                </a:solidFill>
                <a:latin typeface="Arial"/>
              </a:rPr>
              <a:t>Fälle D und E und Experten-Karten auf der Website.</a:t>
            </a:r>
          </a:p>
        </p:txBody>
      </p:sp>
      <p:sp>
        <p:nvSpPr>
          <p:cNvPr id="12" name="Rectangle 11"/>
          <p:cNvSpPr/>
          <p:nvPr/>
        </p:nvSpPr>
        <p:spPr>
          <a:xfrm>
            <a:off x="5486400" y="5532120"/>
            <a:ext cx="6035040" cy="68580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5532120"/>
            <a:ext cx="91440" cy="6858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5532120"/>
            <a:ext cx="5760720" cy="685800"/>
          </a:xfrm>
          <a:prstGeom prst="rect">
            <a:avLst/>
          </a:prstGeom>
          <a:noFill/>
        </p:spPr>
        <p:txBody>
          <a:bodyPr wrap="square" anchor="ctr">
            <a:spAutoFit/>
          </a:bodyPr>
          <a:lstStyle/>
          <a:p>
            <a:pPr algn="l"/>
            <a:r>
              <a:rPr sz="2400" b="1">
                <a:solidFill>
                  <a:srgbClr val="14264B"/>
                </a:solidFill>
                <a:latin typeface="Arial"/>
              </a:rPr>
              <a:t>Kein Handy? Schaut zu zweit mit.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AUFGABEN ERKLÄREN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Aufgabe 1 – Rote/Grüne Karte</a:t>
            </a:r>
          </a:p>
        </p:txBody>
      </p:sp>
      <p:sp>
        <p:nvSpPr>
          <p:cNvPr id="5" name="TextBox 4"/>
          <p:cNvSpPr txBox="1"/>
          <p:nvPr/>
        </p:nvSpPr>
        <p:spPr>
          <a:xfrm>
            <a:off x="640080" y="1554480"/>
            <a:ext cx="7498079" cy="4572000"/>
          </a:xfrm>
          <a:prstGeom prst="rect">
            <a:avLst/>
          </a:prstGeom>
          <a:noFill/>
        </p:spPr>
        <p:txBody>
          <a:bodyPr wrap="square" anchor="t">
            <a:spAutoFit/>
          </a:bodyPr>
          <a:lstStyle/>
          <a:p>
            <a:pPr algn="l"/>
            <a:r>
              <a:rPr sz="2600" b="1">
                <a:solidFill>
                  <a:srgbClr val="F5A800"/>
                </a:solidFill>
                <a:latin typeface="Arial"/>
              </a:rPr>
              <a:t>•  </a:t>
            </a:r>
            <a:r>
              <a:rPr sz="2600" b="0">
                <a:solidFill>
                  <a:srgbClr val="1A2238"/>
                </a:solidFill>
                <a:latin typeface="Arial"/>
              </a:rPr>
              <a:t>10 Aussagen, eine pro Bildschirm</a:t>
            </a:r>
          </a:p>
          <a:p>
            <a:pPr algn="l">
              <a:spcBef>
                <a:spcPts val="1560"/>
              </a:spcBef>
            </a:pPr>
            <a:r>
              <a:rPr sz="2600" b="1">
                <a:solidFill>
                  <a:srgbClr val="F5A800"/>
                </a:solidFill>
                <a:latin typeface="Arial"/>
              </a:rPr>
              <a:t>•  </a:t>
            </a:r>
            <a:r>
              <a:rPr sz="2600" b="0">
                <a:solidFill>
                  <a:srgbClr val="1A2238"/>
                </a:solidFill>
                <a:latin typeface="Arial"/>
              </a:rPr>
              <a:t>„Stimmt“ oder „Stimmt nicht“ tippen</a:t>
            </a:r>
          </a:p>
          <a:p>
            <a:pPr algn="l">
              <a:spcBef>
                <a:spcPts val="1560"/>
              </a:spcBef>
            </a:pPr>
            <a:r>
              <a:rPr sz="2600" b="1">
                <a:solidFill>
                  <a:srgbClr val="F5A800"/>
                </a:solidFill>
                <a:latin typeface="Arial"/>
              </a:rPr>
              <a:t>•  </a:t>
            </a:r>
            <a:r>
              <a:rPr sz="2600" b="0">
                <a:solidFill>
                  <a:srgbClr val="1A2238"/>
                </a:solidFill>
                <a:latin typeface="Arial"/>
              </a:rPr>
              <a:t>danach die Lösung lesen</a:t>
            </a:r>
          </a:p>
          <a:p>
            <a:pPr algn="l">
              <a:spcBef>
                <a:spcPts val="1560"/>
              </a:spcBef>
            </a:pPr>
            <a:r>
              <a:rPr sz="2600" b="1">
                <a:solidFill>
                  <a:srgbClr val="F5A800"/>
                </a:solidFill>
                <a:latin typeface="Arial"/>
              </a:rPr>
              <a:t>•  </a:t>
            </a:r>
            <a:r>
              <a:rPr sz="2600" b="0">
                <a:solidFill>
                  <a:srgbClr val="1A2238"/>
                </a:solidFill>
                <a:latin typeface="Arial"/>
              </a:rPr>
              <a:t>Ziel: Schnell-Check</a:t>
            </a:r>
          </a:p>
        </p:txBody>
      </p:sp>
      <p:sp>
        <p:nvSpPr>
          <p:cNvPr id="6" name="Rectangle 5"/>
          <p:cNvSpPr/>
          <p:nvPr/>
        </p:nvSpPr>
        <p:spPr>
          <a:xfrm>
            <a:off x="8595360" y="1645920"/>
            <a:ext cx="2926080" cy="118872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719072"/>
            <a:ext cx="2926080" cy="411480"/>
          </a:xfrm>
          <a:prstGeom prst="rect">
            <a:avLst/>
          </a:prstGeom>
          <a:noFill/>
        </p:spPr>
        <p:txBody>
          <a:bodyPr wrap="square" anchor="t">
            <a:spAutoFit/>
          </a:bodyPr>
          <a:lstStyle/>
          <a:p>
            <a:pPr algn="ctr"/>
            <a:r>
              <a:rPr sz="1300" b="1">
                <a:solidFill>
                  <a:srgbClr val="F5A800"/>
                </a:solidFill>
                <a:latin typeface="Arial"/>
              </a:rPr>
              <a:t>ARBEITSFORM</a:t>
            </a:r>
          </a:p>
        </p:txBody>
      </p:sp>
      <p:sp>
        <p:nvSpPr>
          <p:cNvPr id="8" name="TextBox 7"/>
          <p:cNvSpPr txBox="1"/>
          <p:nvPr/>
        </p:nvSpPr>
        <p:spPr>
          <a:xfrm>
            <a:off x="8595360" y="2103120"/>
            <a:ext cx="2926080" cy="640080"/>
          </a:xfrm>
          <a:prstGeom prst="rect">
            <a:avLst/>
          </a:prstGeom>
          <a:noFill/>
        </p:spPr>
        <p:txBody>
          <a:bodyPr wrap="square" anchor="ctr">
            <a:spAutoFit/>
          </a:bodyPr>
          <a:lstStyle/>
          <a:p>
            <a:pPr algn="ctr"/>
            <a:r>
              <a:rPr sz="2800" b="1">
                <a:solidFill>
                  <a:srgbClr val="FFFFFF"/>
                </a:solidFill>
                <a:latin typeface="Arial"/>
              </a:rPr>
              <a:t>allein</a:t>
            </a:r>
          </a:p>
        </p:txBody>
      </p:sp>
      <p:sp>
        <p:nvSpPr>
          <p:cNvPr id="9" name="Rectangle 8"/>
          <p:cNvSpPr/>
          <p:nvPr/>
        </p:nvSpPr>
        <p:spPr>
          <a:xfrm>
            <a:off x="8595360" y="3017520"/>
            <a:ext cx="2926080" cy="118872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3090672"/>
            <a:ext cx="2926080" cy="411480"/>
          </a:xfrm>
          <a:prstGeom prst="rect">
            <a:avLst/>
          </a:prstGeom>
          <a:noFill/>
        </p:spPr>
        <p:txBody>
          <a:bodyPr wrap="square" anchor="t">
            <a:spAutoFit/>
          </a:bodyPr>
          <a:lstStyle/>
          <a:p>
            <a:pPr algn="ctr"/>
            <a:r>
              <a:rPr sz="1300" b="1">
                <a:solidFill>
                  <a:srgbClr val="B07A00"/>
                </a:solidFill>
                <a:latin typeface="Arial"/>
              </a:rPr>
              <a:t>ZEIT</a:t>
            </a:r>
          </a:p>
        </p:txBody>
      </p:sp>
      <p:sp>
        <p:nvSpPr>
          <p:cNvPr id="11" name="TextBox 10"/>
          <p:cNvSpPr txBox="1"/>
          <p:nvPr/>
        </p:nvSpPr>
        <p:spPr>
          <a:xfrm>
            <a:off x="8595360" y="3474720"/>
            <a:ext cx="2926080" cy="640080"/>
          </a:xfrm>
          <a:prstGeom prst="rect">
            <a:avLst/>
          </a:prstGeom>
          <a:noFill/>
        </p:spPr>
        <p:txBody>
          <a:bodyPr wrap="square" anchor="ctr">
            <a:spAutoFit/>
          </a:bodyPr>
          <a:lstStyle/>
          <a:p>
            <a:pPr algn="ctr"/>
            <a:r>
              <a:rPr sz="2800" b="1">
                <a:solidFill>
                  <a:srgbClr val="14264B"/>
                </a:solidFill>
                <a:latin typeface="Arial"/>
              </a:rPr>
              <a:t>3 Minuten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AUFGABEN ERKLÄREN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Aufgabe 2 – Vertrags-Detektiv</a:t>
            </a:r>
          </a:p>
        </p:txBody>
      </p:sp>
      <p:sp>
        <p:nvSpPr>
          <p:cNvPr id="5" name="TextBox 4"/>
          <p:cNvSpPr txBox="1"/>
          <p:nvPr/>
        </p:nvSpPr>
        <p:spPr>
          <a:xfrm>
            <a:off x="640080" y="1554480"/>
            <a:ext cx="7498079" cy="4572000"/>
          </a:xfrm>
          <a:prstGeom prst="rect">
            <a:avLst/>
          </a:prstGeom>
          <a:noFill/>
        </p:spPr>
        <p:txBody>
          <a:bodyPr wrap="square" anchor="t">
            <a:spAutoFit/>
          </a:bodyPr>
          <a:lstStyle/>
          <a:p>
            <a:pPr algn="l"/>
            <a:r>
              <a:rPr sz="2600" b="1">
                <a:solidFill>
                  <a:srgbClr val="F5A800"/>
                </a:solidFill>
                <a:latin typeface="Arial"/>
              </a:rPr>
              <a:t>•  </a:t>
            </a:r>
            <a:r>
              <a:rPr sz="2600" b="0">
                <a:solidFill>
                  <a:srgbClr val="1A2238"/>
                </a:solidFill>
                <a:latin typeface="Arial"/>
              </a:rPr>
              <a:t>Lest den Vertragsauszug</a:t>
            </a:r>
          </a:p>
          <a:p>
            <a:pPr algn="l">
              <a:spcBef>
                <a:spcPts val="1560"/>
              </a:spcBef>
            </a:pPr>
            <a:r>
              <a:rPr sz="2600" b="1">
                <a:solidFill>
                  <a:srgbClr val="F5A800"/>
                </a:solidFill>
                <a:latin typeface="Arial"/>
              </a:rPr>
              <a:t>•  </a:t>
            </a:r>
            <a:r>
              <a:rPr sz="2600" b="0">
                <a:solidFill>
                  <a:srgbClr val="1A2238"/>
                </a:solidFill>
                <a:latin typeface="Arial"/>
              </a:rPr>
              <a:t>Tippt die Zeilen mit Fehlern an (bis zu 5)</a:t>
            </a:r>
          </a:p>
          <a:p>
            <a:pPr algn="l">
              <a:spcBef>
                <a:spcPts val="1560"/>
              </a:spcBef>
            </a:pPr>
            <a:r>
              <a:rPr sz="2600" b="1">
                <a:solidFill>
                  <a:srgbClr val="F5A800"/>
                </a:solidFill>
                <a:latin typeface="Arial"/>
              </a:rPr>
              <a:t>•  </a:t>
            </a:r>
            <a:r>
              <a:rPr sz="2600" b="0">
                <a:solidFill>
                  <a:srgbClr val="1A2238"/>
                </a:solidFill>
                <a:latin typeface="Arial"/>
              </a:rPr>
              <a:t>Prüft und begründet jeden Fehler mit der passenden Regel</a:t>
            </a:r>
          </a:p>
          <a:p>
            <a:pPr algn="l">
              <a:spcBef>
                <a:spcPts val="1560"/>
              </a:spcBef>
            </a:pPr>
            <a:r>
              <a:rPr sz="2600" b="1">
                <a:solidFill>
                  <a:srgbClr val="F5A800"/>
                </a:solidFill>
                <a:latin typeface="Arial"/>
              </a:rPr>
              <a:t>•  </a:t>
            </a:r>
            <a:r>
              <a:rPr sz="2600" b="0">
                <a:solidFill>
                  <a:srgbClr val="1A2238"/>
                </a:solidFill>
                <a:latin typeface="Arial"/>
              </a:rPr>
              <a:t>Hilfsmittel: Notizen, Merkblatt</a:t>
            </a:r>
          </a:p>
        </p:txBody>
      </p:sp>
      <p:sp>
        <p:nvSpPr>
          <p:cNvPr id="6" name="Rectangle 5"/>
          <p:cNvSpPr/>
          <p:nvPr/>
        </p:nvSpPr>
        <p:spPr>
          <a:xfrm>
            <a:off x="8595360" y="1645920"/>
            <a:ext cx="2926080" cy="118872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719072"/>
            <a:ext cx="2926080" cy="411480"/>
          </a:xfrm>
          <a:prstGeom prst="rect">
            <a:avLst/>
          </a:prstGeom>
          <a:noFill/>
        </p:spPr>
        <p:txBody>
          <a:bodyPr wrap="square" anchor="t">
            <a:spAutoFit/>
          </a:bodyPr>
          <a:lstStyle/>
          <a:p>
            <a:pPr algn="ctr"/>
            <a:r>
              <a:rPr sz="1300" b="1">
                <a:solidFill>
                  <a:srgbClr val="F5A800"/>
                </a:solidFill>
                <a:latin typeface="Arial"/>
              </a:rPr>
              <a:t>ARBEITSFORM</a:t>
            </a:r>
          </a:p>
        </p:txBody>
      </p:sp>
      <p:sp>
        <p:nvSpPr>
          <p:cNvPr id="8" name="TextBox 7"/>
          <p:cNvSpPr txBox="1"/>
          <p:nvPr/>
        </p:nvSpPr>
        <p:spPr>
          <a:xfrm>
            <a:off x="8595360" y="2103120"/>
            <a:ext cx="2926080" cy="640080"/>
          </a:xfrm>
          <a:prstGeom prst="rect">
            <a:avLst/>
          </a:prstGeom>
          <a:noFill/>
        </p:spPr>
        <p:txBody>
          <a:bodyPr wrap="square" anchor="ctr">
            <a:spAutoFit/>
          </a:bodyPr>
          <a:lstStyle/>
          <a:p>
            <a:pPr algn="ctr"/>
            <a:r>
              <a:rPr sz="2800" b="1">
                <a:solidFill>
                  <a:srgbClr val="FFFFFF"/>
                </a:solidFill>
                <a:latin typeface="Arial"/>
              </a:rPr>
              <a:t>zu zweit</a:t>
            </a:r>
          </a:p>
        </p:txBody>
      </p:sp>
      <p:sp>
        <p:nvSpPr>
          <p:cNvPr id="9" name="Rectangle 8"/>
          <p:cNvSpPr/>
          <p:nvPr/>
        </p:nvSpPr>
        <p:spPr>
          <a:xfrm>
            <a:off x="8595360" y="3017520"/>
            <a:ext cx="2926080" cy="118872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3090672"/>
            <a:ext cx="2926080" cy="411480"/>
          </a:xfrm>
          <a:prstGeom prst="rect">
            <a:avLst/>
          </a:prstGeom>
          <a:noFill/>
        </p:spPr>
        <p:txBody>
          <a:bodyPr wrap="square" anchor="t">
            <a:spAutoFit/>
          </a:bodyPr>
          <a:lstStyle/>
          <a:p>
            <a:pPr algn="ctr"/>
            <a:r>
              <a:rPr sz="1300" b="1">
                <a:solidFill>
                  <a:srgbClr val="B07A00"/>
                </a:solidFill>
                <a:latin typeface="Arial"/>
              </a:rPr>
              <a:t>ZEIT</a:t>
            </a:r>
          </a:p>
        </p:txBody>
      </p:sp>
      <p:sp>
        <p:nvSpPr>
          <p:cNvPr id="11" name="TextBox 10"/>
          <p:cNvSpPr txBox="1"/>
          <p:nvPr/>
        </p:nvSpPr>
        <p:spPr>
          <a:xfrm>
            <a:off x="8595360" y="3474720"/>
            <a:ext cx="2926080" cy="640080"/>
          </a:xfrm>
          <a:prstGeom prst="rect">
            <a:avLst/>
          </a:prstGeom>
          <a:noFill/>
        </p:spPr>
        <p:txBody>
          <a:bodyPr wrap="square" anchor="ctr">
            <a:spAutoFit/>
          </a:bodyPr>
          <a:lstStyle/>
          <a:p>
            <a:pPr algn="ctr"/>
            <a:r>
              <a:rPr sz="2800" b="1">
                <a:solidFill>
                  <a:srgbClr val="14264B"/>
                </a:solidFill>
                <a:latin typeface="Arial"/>
              </a:rPr>
              <a:t>5 Minuten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AUFGABEN ERKLÄREN</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Aufgabe 3 – IHK-Fälle A bis C</a:t>
            </a:r>
          </a:p>
        </p:txBody>
      </p:sp>
      <p:sp>
        <p:nvSpPr>
          <p:cNvPr id="5" name="TextBox 4"/>
          <p:cNvSpPr txBox="1"/>
          <p:nvPr/>
        </p:nvSpPr>
        <p:spPr>
          <a:xfrm>
            <a:off x="640080" y="1554480"/>
            <a:ext cx="7498079" cy="4572000"/>
          </a:xfrm>
          <a:prstGeom prst="rect">
            <a:avLst/>
          </a:prstGeom>
          <a:noFill/>
        </p:spPr>
        <p:txBody>
          <a:bodyPr wrap="square" anchor="t">
            <a:spAutoFit/>
          </a:bodyPr>
          <a:lstStyle/>
          <a:p>
            <a:pPr algn="l"/>
            <a:r>
              <a:rPr sz="2600" b="1">
                <a:solidFill>
                  <a:srgbClr val="F5A800"/>
                </a:solidFill>
                <a:latin typeface="Arial"/>
              </a:rPr>
              <a:t>•  </a:t>
            </a:r>
            <a:r>
              <a:rPr sz="2600" b="0">
                <a:solidFill>
                  <a:srgbClr val="1A2238"/>
                </a:solidFill>
                <a:latin typeface="Arial"/>
              </a:rPr>
              <a:t>Fall lesen</a:t>
            </a:r>
          </a:p>
          <a:p>
            <a:pPr algn="l">
              <a:spcBef>
                <a:spcPts val="1560"/>
              </a:spcBef>
            </a:pPr>
            <a:r>
              <a:rPr sz="2600" b="1">
                <a:solidFill>
                  <a:srgbClr val="F5A800"/>
                </a:solidFill>
                <a:latin typeface="Arial"/>
              </a:rPr>
              <a:t>•  </a:t>
            </a:r>
            <a:r>
              <a:rPr sz="2600" b="0">
                <a:solidFill>
                  <a:srgbClr val="1A2238"/>
                </a:solidFill>
                <a:latin typeface="Arial"/>
              </a:rPr>
              <a:t>Antwort A bis D wählen</a:t>
            </a:r>
          </a:p>
          <a:p>
            <a:pPr algn="l">
              <a:spcBef>
                <a:spcPts val="1560"/>
              </a:spcBef>
            </a:pPr>
            <a:r>
              <a:rPr sz="2600" b="1">
                <a:solidFill>
                  <a:srgbClr val="F5A800"/>
                </a:solidFill>
                <a:latin typeface="Arial"/>
              </a:rPr>
              <a:t>•  </a:t>
            </a:r>
            <a:r>
              <a:rPr sz="2600" b="0">
                <a:solidFill>
                  <a:srgbClr val="1A2238"/>
                </a:solidFill>
                <a:latin typeface="Arial"/>
              </a:rPr>
              <a:t>Antwort mit einer Regel begründen</a:t>
            </a:r>
          </a:p>
          <a:p>
            <a:pPr algn="l">
              <a:spcBef>
                <a:spcPts val="1560"/>
              </a:spcBef>
            </a:pPr>
            <a:r>
              <a:rPr sz="2600" b="1">
                <a:solidFill>
                  <a:srgbClr val="F5A800"/>
                </a:solidFill>
                <a:latin typeface="Arial"/>
              </a:rPr>
              <a:t>•  </a:t>
            </a:r>
            <a:r>
              <a:rPr sz="2600" b="0">
                <a:solidFill>
                  <a:srgbClr val="1A2238"/>
                </a:solidFill>
                <a:latin typeface="Arial"/>
              </a:rPr>
              <a:t>Merkt euch eine Frage für die Besprechung</a:t>
            </a:r>
          </a:p>
        </p:txBody>
      </p:sp>
      <p:sp>
        <p:nvSpPr>
          <p:cNvPr id="6" name="Rectangle 5"/>
          <p:cNvSpPr/>
          <p:nvPr/>
        </p:nvSpPr>
        <p:spPr>
          <a:xfrm>
            <a:off x="8595360" y="1645920"/>
            <a:ext cx="2926080" cy="118872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719072"/>
            <a:ext cx="2926080" cy="411480"/>
          </a:xfrm>
          <a:prstGeom prst="rect">
            <a:avLst/>
          </a:prstGeom>
          <a:noFill/>
        </p:spPr>
        <p:txBody>
          <a:bodyPr wrap="square" anchor="t">
            <a:spAutoFit/>
          </a:bodyPr>
          <a:lstStyle/>
          <a:p>
            <a:pPr algn="ctr"/>
            <a:r>
              <a:rPr sz="1300" b="1">
                <a:solidFill>
                  <a:srgbClr val="F5A800"/>
                </a:solidFill>
                <a:latin typeface="Arial"/>
              </a:rPr>
              <a:t>ARBEITSFORM</a:t>
            </a:r>
          </a:p>
        </p:txBody>
      </p:sp>
      <p:sp>
        <p:nvSpPr>
          <p:cNvPr id="8" name="TextBox 7"/>
          <p:cNvSpPr txBox="1"/>
          <p:nvPr/>
        </p:nvSpPr>
        <p:spPr>
          <a:xfrm>
            <a:off x="8595360" y="2103120"/>
            <a:ext cx="2926080" cy="640080"/>
          </a:xfrm>
          <a:prstGeom prst="rect">
            <a:avLst/>
          </a:prstGeom>
          <a:noFill/>
        </p:spPr>
        <p:txBody>
          <a:bodyPr wrap="square" anchor="ctr">
            <a:spAutoFit/>
          </a:bodyPr>
          <a:lstStyle/>
          <a:p>
            <a:pPr algn="ctr"/>
            <a:r>
              <a:rPr sz="2800" b="1">
                <a:solidFill>
                  <a:srgbClr val="FFFFFF"/>
                </a:solidFill>
                <a:latin typeface="Arial"/>
              </a:rPr>
              <a:t>zu zweit</a:t>
            </a:r>
          </a:p>
        </p:txBody>
      </p:sp>
      <p:sp>
        <p:nvSpPr>
          <p:cNvPr id="9" name="Rectangle 8"/>
          <p:cNvSpPr/>
          <p:nvPr/>
        </p:nvSpPr>
        <p:spPr>
          <a:xfrm>
            <a:off x="8595360" y="3017520"/>
            <a:ext cx="2926080" cy="118872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3090672"/>
            <a:ext cx="2926080" cy="411480"/>
          </a:xfrm>
          <a:prstGeom prst="rect">
            <a:avLst/>
          </a:prstGeom>
          <a:noFill/>
        </p:spPr>
        <p:txBody>
          <a:bodyPr wrap="square" anchor="t">
            <a:spAutoFit/>
          </a:bodyPr>
          <a:lstStyle/>
          <a:p>
            <a:pPr algn="ctr"/>
            <a:r>
              <a:rPr sz="1300" b="1">
                <a:solidFill>
                  <a:srgbClr val="B07A00"/>
                </a:solidFill>
                <a:latin typeface="Arial"/>
              </a:rPr>
              <a:t>ZEIT</a:t>
            </a:r>
          </a:p>
        </p:txBody>
      </p:sp>
      <p:sp>
        <p:nvSpPr>
          <p:cNvPr id="11" name="TextBox 10"/>
          <p:cNvSpPr txBox="1"/>
          <p:nvPr/>
        </p:nvSpPr>
        <p:spPr>
          <a:xfrm>
            <a:off x="8595360" y="3474720"/>
            <a:ext cx="2926080" cy="640080"/>
          </a:xfrm>
          <a:prstGeom prst="rect">
            <a:avLst/>
          </a:prstGeom>
          <a:noFill/>
        </p:spPr>
        <p:txBody>
          <a:bodyPr wrap="square" anchor="ctr">
            <a:spAutoFit/>
          </a:bodyPr>
          <a:lstStyle/>
          <a:p>
            <a:pPr algn="ctr"/>
            <a:r>
              <a:rPr sz="2800" b="1">
                <a:solidFill>
                  <a:srgbClr val="14264B"/>
                </a:solidFill>
                <a:latin typeface="Arial"/>
              </a:rPr>
              <a:t>5 Minuten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ÜBUNGSPHASE</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Arbeitsphase</a:t>
            </a:r>
          </a:p>
        </p:txBody>
      </p:sp>
      <p:sp>
        <p:nvSpPr>
          <p:cNvPr id="5" name="Rectangle 4"/>
          <p:cNvSpPr/>
          <p:nvPr/>
        </p:nvSpPr>
        <p:spPr>
          <a:xfrm>
            <a:off x="640080" y="1325880"/>
            <a:ext cx="4114800" cy="411480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png"/>
          <p:cNvPicPr>
            <a:picLocks noChangeAspect="1"/>
          </p:cNvPicPr>
          <p:nvPr/>
        </p:nvPicPr>
        <p:blipFill>
          <a:blip r:embed="rId3"/>
          <a:stretch>
            <a:fillRect/>
          </a:stretch>
        </p:blipFill>
        <p:spPr>
          <a:xfrm>
            <a:off x="777240" y="1463040"/>
            <a:ext cx="3840480" cy="3840480"/>
          </a:xfrm>
          <a:prstGeom prst="rect">
            <a:avLst/>
          </a:prstGeom>
        </p:spPr>
      </p:pic>
      <p:sp>
        <p:nvSpPr>
          <p:cNvPr id="7" name="Rectangle 6"/>
          <p:cNvSpPr/>
          <p:nvPr/>
        </p:nvSpPr>
        <p:spPr>
          <a:xfrm>
            <a:off x="5029200" y="1325880"/>
            <a:ext cx="6492240" cy="73152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0" y="1325880"/>
            <a:ext cx="91440" cy="73152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0" y="1325880"/>
            <a:ext cx="6217920" cy="731520"/>
          </a:xfrm>
          <a:prstGeom prst="rect">
            <a:avLst/>
          </a:prstGeom>
          <a:noFill/>
        </p:spPr>
        <p:txBody>
          <a:bodyPr wrap="square" anchor="ctr">
            <a:spAutoFit/>
          </a:bodyPr>
          <a:lstStyle/>
          <a:p>
            <a:pPr algn="l"/>
            <a:r>
              <a:rPr sz="2600" b="1">
                <a:solidFill>
                  <a:srgbClr val="FFFFFF"/>
                </a:solidFill>
                <a:latin typeface="Arial"/>
              </a:rPr>
              <a:t>yasinbenx.github.io/azubi-vertrag</a:t>
            </a:r>
          </a:p>
        </p:txBody>
      </p:sp>
      <p:sp>
        <p:nvSpPr>
          <p:cNvPr id="10" name="Rectangle 9"/>
          <p:cNvSpPr/>
          <p:nvPr/>
        </p:nvSpPr>
        <p:spPr>
          <a:xfrm>
            <a:off x="5029200" y="2377440"/>
            <a:ext cx="502920" cy="502920"/>
          </a:xfrm>
          <a:prstGeom prst="rect">
            <a:avLst/>
          </a:prstGeom>
          <a:solidFill>
            <a:srgbClr val="FFFFFF"/>
          </a:solidFill>
          <a:ln w="381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2286000"/>
            <a:ext cx="5852160" cy="685800"/>
          </a:xfrm>
          <a:prstGeom prst="rect">
            <a:avLst/>
          </a:prstGeom>
          <a:noFill/>
        </p:spPr>
        <p:txBody>
          <a:bodyPr wrap="square" anchor="ctr">
            <a:spAutoFit/>
          </a:bodyPr>
          <a:lstStyle/>
          <a:p>
            <a:pPr algn="l"/>
            <a:r>
              <a:rPr sz="2400" b="1">
                <a:solidFill>
                  <a:srgbClr val="14264B"/>
                </a:solidFill>
                <a:latin typeface="Arial"/>
              </a:rPr>
              <a:t>Minute 3: </a:t>
            </a:r>
            <a:r>
              <a:rPr sz="2400" b="0">
                <a:solidFill>
                  <a:srgbClr val="1A2238"/>
                </a:solidFill>
                <a:latin typeface="Arial"/>
              </a:rPr>
              <a:t>Aufgabe 1 · Rote/Grüne Karte</a:t>
            </a:r>
          </a:p>
        </p:txBody>
      </p:sp>
      <p:sp>
        <p:nvSpPr>
          <p:cNvPr id="12" name="Rectangle 11"/>
          <p:cNvSpPr/>
          <p:nvPr/>
        </p:nvSpPr>
        <p:spPr>
          <a:xfrm>
            <a:off x="5029200" y="3200400"/>
            <a:ext cx="502920" cy="502920"/>
          </a:xfrm>
          <a:prstGeom prst="rect">
            <a:avLst/>
          </a:prstGeom>
          <a:solidFill>
            <a:srgbClr val="FFFFFF"/>
          </a:solidFill>
          <a:ln w="381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0" y="3108960"/>
            <a:ext cx="5852160" cy="685800"/>
          </a:xfrm>
          <a:prstGeom prst="rect">
            <a:avLst/>
          </a:prstGeom>
          <a:noFill/>
        </p:spPr>
        <p:txBody>
          <a:bodyPr wrap="square" anchor="ctr">
            <a:spAutoFit/>
          </a:bodyPr>
          <a:lstStyle/>
          <a:p>
            <a:pPr algn="l"/>
            <a:r>
              <a:rPr sz="2400" b="1">
                <a:solidFill>
                  <a:srgbClr val="14264B"/>
                </a:solidFill>
                <a:latin typeface="Arial"/>
              </a:rPr>
              <a:t>Minute 8: </a:t>
            </a:r>
            <a:r>
              <a:rPr sz="2400" b="0">
                <a:solidFill>
                  <a:srgbClr val="1A2238"/>
                </a:solidFill>
                <a:latin typeface="Arial"/>
              </a:rPr>
              <a:t>Aufgabe 2 · Vertrags-Detektiv</a:t>
            </a:r>
          </a:p>
        </p:txBody>
      </p:sp>
      <p:sp>
        <p:nvSpPr>
          <p:cNvPr id="14" name="Rectangle 13"/>
          <p:cNvSpPr/>
          <p:nvPr/>
        </p:nvSpPr>
        <p:spPr>
          <a:xfrm>
            <a:off x="5029200" y="4023359"/>
            <a:ext cx="502920" cy="502920"/>
          </a:xfrm>
          <a:prstGeom prst="rect">
            <a:avLst/>
          </a:prstGeom>
          <a:solidFill>
            <a:srgbClr val="FFFFFF"/>
          </a:solidFill>
          <a:ln w="38100">
            <a:solidFill>
              <a:srgbClr val="142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3931920"/>
            <a:ext cx="5852160" cy="685800"/>
          </a:xfrm>
          <a:prstGeom prst="rect">
            <a:avLst/>
          </a:prstGeom>
          <a:noFill/>
        </p:spPr>
        <p:txBody>
          <a:bodyPr wrap="square" anchor="ctr">
            <a:spAutoFit/>
          </a:bodyPr>
          <a:lstStyle/>
          <a:p>
            <a:pPr algn="l"/>
            <a:r>
              <a:rPr sz="2400" b="1">
                <a:solidFill>
                  <a:srgbClr val="14264B"/>
                </a:solidFill>
                <a:latin typeface="Arial"/>
              </a:rPr>
              <a:t>Minute 13: </a:t>
            </a:r>
            <a:r>
              <a:rPr sz="2400" b="0">
                <a:solidFill>
                  <a:srgbClr val="1A2238"/>
                </a:solidFill>
                <a:latin typeface="Arial"/>
              </a:rPr>
              <a:t>Aufgabe 3 · IHK-Fälle A bis C</a:t>
            </a:r>
          </a:p>
        </p:txBody>
      </p:sp>
      <p:sp>
        <p:nvSpPr>
          <p:cNvPr id="16" name="Rectangle 15"/>
          <p:cNvSpPr/>
          <p:nvPr/>
        </p:nvSpPr>
        <p:spPr>
          <a:xfrm>
            <a:off x="5029200" y="4846320"/>
            <a:ext cx="6492240" cy="5943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0" y="4846320"/>
            <a:ext cx="91440" cy="5943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4846320"/>
            <a:ext cx="6217920" cy="594360"/>
          </a:xfrm>
          <a:prstGeom prst="rect">
            <a:avLst/>
          </a:prstGeom>
          <a:noFill/>
        </p:spPr>
        <p:txBody>
          <a:bodyPr wrap="square" anchor="ctr">
            <a:spAutoFit/>
          </a:bodyPr>
          <a:lstStyle/>
          <a:p>
            <a:pPr algn="l"/>
            <a:r>
              <a:rPr sz="2400" b="1">
                <a:solidFill>
                  <a:srgbClr val="14264B"/>
                </a:solidFill>
                <a:latin typeface="Arial"/>
              </a:rPr>
              <a:t>Fertig? Reserve auf der Website</a:t>
            </a:r>
          </a:p>
        </p:txBody>
      </p:sp>
      <p:sp>
        <p:nvSpPr>
          <p:cNvPr id="19" name="Rectangle 18"/>
          <p:cNvSpPr/>
          <p:nvPr/>
        </p:nvSpPr>
        <p:spPr>
          <a:xfrm>
            <a:off x="822960" y="5989320"/>
            <a:ext cx="10515600" cy="109728"/>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 y="5852160"/>
            <a:ext cx="54864" cy="384048"/>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263640"/>
            <a:ext cx="1097280" cy="365760"/>
          </a:xfrm>
          <a:prstGeom prst="rect">
            <a:avLst/>
          </a:prstGeom>
          <a:noFill/>
        </p:spPr>
        <p:txBody>
          <a:bodyPr wrap="square" anchor="t">
            <a:spAutoFit/>
          </a:bodyPr>
          <a:lstStyle/>
          <a:p>
            <a:pPr algn="ctr"/>
            <a:r>
              <a:rPr sz="1600" b="1">
                <a:solidFill>
                  <a:srgbClr val="14264B"/>
                </a:solidFill>
                <a:latin typeface="Arial"/>
              </a:rPr>
              <a:t>Start</a:t>
            </a:r>
          </a:p>
        </p:txBody>
      </p:sp>
      <p:sp>
        <p:nvSpPr>
          <p:cNvPr id="22" name="Rectangle 21"/>
          <p:cNvSpPr/>
          <p:nvPr/>
        </p:nvSpPr>
        <p:spPr>
          <a:xfrm>
            <a:off x="3222204" y="5852160"/>
            <a:ext cx="54864" cy="384048"/>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00996" y="6263640"/>
            <a:ext cx="1097280" cy="365760"/>
          </a:xfrm>
          <a:prstGeom prst="rect">
            <a:avLst/>
          </a:prstGeom>
          <a:noFill/>
        </p:spPr>
        <p:txBody>
          <a:bodyPr wrap="square" anchor="t">
            <a:spAutoFit/>
          </a:bodyPr>
          <a:lstStyle/>
          <a:p>
            <a:pPr algn="ctr"/>
            <a:r>
              <a:rPr sz="1600" b="1">
                <a:solidFill>
                  <a:srgbClr val="14264B"/>
                </a:solidFill>
                <a:latin typeface="Arial"/>
              </a:rPr>
              <a:t>3 Min.</a:t>
            </a:r>
          </a:p>
        </p:txBody>
      </p:sp>
      <p:sp>
        <p:nvSpPr>
          <p:cNvPr id="24" name="Rectangle 23"/>
          <p:cNvSpPr/>
          <p:nvPr/>
        </p:nvSpPr>
        <p:spPr>
          <a:xfrm>
            <a:off x="7266666" y="5852160"/>
            <a:ext cx="54864" cy="384048"/>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45458" y="6263640"/>
            <a:ext cx="1097280" cy="365760"/>
          </a:xfrm>
          <a:prstGeom prst="rect">
            <a:avLst/>
          </a:prstGeom>
          <a:noFill/>
        </p:spPr>
        <p:txBody>
          <a:bodyPr wrap="square" anchor="t">
            <a:spAutoFit/>
          </a:bodyPr>
          <a:lstStyle/>
          <a:p>
            <a:pPr algn="ctr"/>
            <a:r>
              <a:rPr sz="1600" b="1">
                <a:solidFill>
                  <a:srgbClr val="14264B"/>
                </a:solidFill>
                <a:latin typeface="Arial"/>
              </a:rPr>
              <a:t>8 Min.</a:t>
            </a:r>
          </a:p>
        </p:txBody>
      </p:sp>
      <p:sp>
        <p:nvSpPr>
          <p:cNvPr id="26" name="Rectangle 25"/>
          <p:cNvSpPr/>
          <p:nvPr/>
        </p:nvSpPr>
        <p:spPr>
          <a:xfrm>
            <a:off x="11311128" y="5852160"/>
            <a:ext cx="54864" cy="384048"/>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0" y="6263640"/>
            <a:ext cx="1097280" cy="365760"/>
          </a:xfrm>
          <a:prstGeom prst="rect">
            <a:avLst/>
          </a:prstGeom>
          <a:noFill/>
        </p:spPr>
        <p:txBody>
          <a:bodyPr wrap="square" anchor="t">
            <a:spAutoFit/>
          </a:bodyPr>
          <a:lstStyle/>
          <a:p>
            <a:pPr algn="ctr"/>
            <a:r>
              <a:rPr sz="1600" b="1">
                <a:solidFill>
                  <a:srgbClr val="14264B"/>
                </a:solidFill>
                <a:latin typeface="Arial"/>
              </a:rPr>
              <a:t>13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GEMEINSAME BESPRECHUNG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Besprechung: Vertrags-Detektiv</a:t>
            </a:r>
          </a:p>
        </p:txBody>
      </p:sp>
      <p:sp>
        <p:nvSpPr>
          <p:cNvPr id="5" name="Rectangle 4"/>
          <p:cNvSpPr/>
          <p:nvPr/>
        </p:nvSpPr>
        <p:spPr>
          <a:xfrm>
            <a:off x="640080" y="1325880"/>
            <a:ext cx="7040880" cy="4663440"/>
          </a:xfrm>
          <a:prstGeom prst="rect">
            <a:avLst/>
          </a:prstGeom>
          <a:solidFill>
            <a:srgbClr val="F6F8FC"/>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71600"/>
            <a:ext cx="6949440" cy="91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36192"/>
            <a:ext cx="6766559" cy="1103520"/>
          </a:xfrm>
          <a:prstGeom prst="rect">
            <a:avLst/>
          </a:prstGeom>
          <a:noFill/>
        </p:spPr>
        <p:txBody>
          <a:bodyPr wrap="square" anchor="t">
            <a:spAutoFit/>
          </a:bodyPr>
          <a:lstStyle/>
          <a:p>
            <a:pPr algn="l"/>
            <a:r>
              <a:rPr sz="1150" b="1">
                <a:solidFill>
                  <a:srgbClr val="14264B"/>
                </a:solidFill>
                <a:latin typeface="Times New Roman"/>
              </a:rPr>
              <a:t>Berufsausbildungsvertrag (Auszug, fiktiv)</a:t>
            </a:r>
          </a:p>
          <a:p>
            <a:pPr algn="l">
              <a:spcBef>
                <a:spcPts val="402"/>
              </a:spcBef>
            </a:pPr>
            <a:r>
              <a:rPr sz="1150" b="0">
                <a:solidFill>
                  <a:srgbClr val="1A2238"/>
                </a:solidFill>
                <a:latin typeface="Times New Roman"/>
              </a:rPr>
              <a:t>Ausbildende: Muster GmbH (nicht tarifgebunden)</a:t>
            </a:r>
          </a:p>
          <a:p>
            <a:pPr algn="l">
              <a:spcBef>
                <a:spcPts val="402"/>
              </a:spcBef>
            </a:pPr>
            <a:r>
              <a:rPr sz="1150" b="0">
                <a:solidFill>
                  <a:srgbClr val="1A2238"/>
                </a:solidFill>
                <a:latin typeface="Times New Roman"/>
              </a:rPr>
              <a:t>Auszubildender: Jonas Muster, geboren am 20.11.2009</a:t>
            </a:r>
          </a:p>
          <a:p>
            <a:pPr algn="l">
              <a:spcBef>
                <a:spcPts val="402"/>
              </a:spcBef>
            </a:pPr>
            <a:r>
              <a:rPr sz="1150" b="0">
                <a:solidFill>
                  <a:srgbClr val="1A2238"/>
                </a:solidFill>
                <a:latin typeface="Times New Roman"/>
              </a:rPr>
              <a:t>Beruf: Kaufmann für Büromanagement</a:t>
            </a:r>
          </a:p>
        </p:txBody>
      </p:sp>
      <p:sp>
        <p:nvSpPr>
          <p:cNvPr id="8" name="TextBox 7"/>
          <p:cNvSpPr txBox="1"/>
          <p:nvPr/>
        </p:nvSpPr>
        <p:spPr>
          <a:xfrm>
            <a:off x="777240" y="2694576"/>
            <a:ext cx="6675120" cy="272308"/>
          </a:xfrm>
          <a:prstGeom prst="rect">
            <a:avLst/>
          </a:prstGeom>
          <a:noFill/>
        </p:spPr>
        <p:txBody>
          <a:bodyPr wrap="square" anchor="t">
            <a:spAutoFit/>
          </a:bodyPr>
          <a:lstStyle/>
          <a:p>
            <a:pPr algn="l"/>
            <a:r>
              <a:rPr sz="1150" b="0">
                <a:solidFill>
                  <a:srgbClr val="1A2238"/>
                </a:solidFill>
                <a:latin typeface="Times New Roman"/>
              </a:rPr>
              <a:t>§ 1 Beginn und Dauer: Die Ausbildung beginnt am 01.09.2026 und dauert drei Jahre.</a:t>
            </a:r>
          </a:p>
        </p:txBody>
      </p:sp>
      <p:sp>
        <p:nvSpPr>
          <p:cNvPr id="9" name="Rectangle 8"/>
          <p:cNvSpPr/>
          <p:nvPr/>
        </p:nvSpPr>
        <p:spPr>
          <a:xfrm>
            <a:off x="731520" y="2985173"/>
            <a:ext cx="6858000" cy="272308"/>
          </a:xfrm>
          <a:prstGeom prst="rect">
            <a:avLst/>
          </a:prstGeom>
          <a:solidFill>
            <a:srgbClr val="FDE3E1"/>
          </a:solidFill>
          <a:ln w="1524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03461"/>
            <a:ext cx="5303520" cy="272308"/>
          </a:xfrm>
          <a:prstGeom prst="rect">
            <a:avLst/>
          </a:prstGeom>
          <a:noFill/>
        </p:spPr>
        <p:txBody>
          <a:bodyPr wrap="square" anchor="t">
            <a:spAutoFit/>
          </a:bodyPr>
          <a:lstStyle/>
          <a:p>
            <a:pPr algn="l"/>
            <a:r>
              <a:rPr sz="1150" b="0">
                <a:solidFill>
                  <a:srgbClr val="1A2238"/>
                </a:solidFill>
                <a:latin typeface="Times New Roman"/>
              </a:rPr>
              <a:t>§ 2 Probezeit: Die Probezeit beträgt sechs Monate.</a:t>
            </a:r>
          </a:p>
        </p:txBody>
      </p:sp>
      <p:sp>
        <p:nvSpPr>
          <p:cNvPr id="11" name="Rectangle 10"/>
          <p:cNvSpPr/>
          <p:nvPr/>
        </p:nvSpPr>
        <p:spPr>
          <a:xfrm>
            <a:off x="6355079" y="3002455"/>
            <a:ext cx="1143000" cy="274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3002455"/>
            <a:ext cx="1143000" cy="274320"/>
          </a:xfrm>
          <a:prstGeom prst="rect">
            <a:avLst/>
          </a:prstGeom>
          <a:noFill/>
        </p:spPr>
        <p:txBody>
          <a:bodyPr wrap="square" anchor="ctr">
            <a:spAutoFit/>
          </a:bodyPr>
          <a:lstStyle/>
          <a:p>
            <a:pPr algn="ctr"/>
            <a:r>
              <a:rPr sz="1200" b="1">
                <a:solidFill>
                  <a:srgbClr val="FFFFFF"/>
                </a:solidFill>
                <a:latin typeface="Arial"/>
              </a:rPr>
              <a:t>Fehler 1</a:t>
            </a:r>
          </a:p>
        </p:txBody>
      </p:sp>
      <p:sp>
        <p:nvSpPr>
          <p:cNvPr id="13" name="Rectangle 12"/>
          <p:cNvSpPr/>
          <p:nvPr/>
        </p:nvSpPr>
        <p:spPr>
          <a:xfrm>
            <a:off x="731520" y="3294057"/>
            <a:ext cx="6858000" cy="453176"/>
          </a:xfrm>
          <a:prstGeom prst="rect">
            <a:avLst/>
          </a:prstGeom>
          <a:solidFill>
            <a:srgbClr val="FDE3E1"/>
          </a:solidFill>
          <a:ln w="1524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312345"/>
            <a:ext cx="5303520" cy="453176"/>
          </a:xfrm>
          <a:prstGeom prst="rect">
            <a:avLst/>
          </a:prstGeom>
          <a:noFill/>
        </p:spPr>
        <p:txBody>
          <a:bodyPr wrap="square" anchor="t">
            <a:spAutoFit/>
          </a:bodyPr>
          <a:lstStyle/>
          <a:p>
            <a:pPr algn="l"/>
            <a:r>
              <a:rPr sz="1150" b="0">
                <a:solidFill>
                  <a:srgbClr val="1A2238"/>
                </a:solidFill>
                <a:latin typeface="Times New Roman"/>
              </a:rPr>
              <a:t>§ 3 Vergütung: Die monatliche Ausbildungsvergütung beträgt im 1. Ausbildungsjahr 650 € brutto.</a:t>
            </a:r>
          </a:p>
        </p:txBody>
      </p:sp>
      <p:sp>
        <p:nvSpPr>
          <p:cNvPr id="15" name="Rectangle 14"/>
          <p:cNvSpPr/>
          <p:nvPr/>
        </p:nvSpPr>
        <p:spPr>
          <a:xfrm>
            <a:off x="6355079" y="3401773"/>
            <a:ext cx="1143000" cy="274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3401773"/>
            <a:ext cx="1143000" cy="274320"/>
          </a:xfrm>
          <a:prstGeom prst="rect">
            <a:avLst/>
          </a:prstGeom>
          <a:noFill/>
        </p:spPr>
        <p:txBody>
          <a:bodyPr wrap="square" anchor="ctr">
            <a:spAutoFit/>
          </a:bodyPr>
          <a:lstStyle/>
          <a:p>
            <a:pPr algn="ctr"/>
            <a:r>
              <a:rPr sz="1200" b="1">
                <a:solidFill>
                  <a:srgbClr val="FFFFFF"/>
                </a:solidFill>
                <a:latin typeface="Arial"/>
              </a:rPr>
              <a:t>Fehler 2</a:t>
            </a:r>
          </a:p>
        </p:txBody>
      </p:sp>
      <p:sp>
        <p:nvSpPr>
          <p:cNvPr id="17" name="Rectangle 16"/>
          <p:cNvSpPr/>
          <p:nvPr/>
        </p:nvSpPr>
        <p:spPr>
          <a:xfrm>
            <a:off x="731520" y="3783810"/>
            <a:ext cx="6858000" cy="272308"/>
          </a:xfrm>
          <a:prstGeom prst="rect">
            <a:avLst/>
          </a:prstGeom>
          <a:solidFill>
            <a:srgbClr val="FDE3E1"/>
          </a:solidFill>
          <a:ln w="1524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802098"/>
            <a:ext cx="5303520" cy="272308"/>
          </a:xfrm>
          <a:prstGeom prst="rect">
            <a:avLst/>
          </a:prstGeom>
          <a:noFill/>
        </p:spPr>
        <p:txBody>
          <a:bodyPr wrap="square" anchor="t">
            <a:spAutoFit/>
          </a:bodyPr>
          <a:lstStyle/>
          <a:p>
            <a:pPr algn="l"/>
            <a:r>
              <a:rPr sz="1150" b="0">
                <a:solidFill>
                  <a:srgbClr val="1A2238"/>
                </a:solidFill>
                <a:latin typeface="Times New Roman"/>
              </a:rPr>
              <a:t>§ 4 Ausbildungszeit: Die tägliche Ausbildungszeit beträgt 9 Stunden.</a:t>
            </a:r>
          </a:p>
        </p:txBody>
      </p:sp>
      <p:sp>
        <p:nvSpPr>
          <p:cNvPr id="19" name="Rectangle 18"/>
          <p:cNvSpPr/>
          <p:nvPr/>
        </p:nvSpPr>
        <p:spPr>
          <a:xfrm>
            <a:off x="6355079" y="3801092"/>
            <a:ext cx="1143000" cy="274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79" y="3801092"/>
            <a:ext cx="1143000" cy="274320"/>
          </a:xfrm>
          <a:prstGeom prst="rect">
            <a:avLst/>
          </a:prstGeom>
          <a:noFill/>
        </p:spPr>
        <p:txBody>
          <a:bodyPr wrap="square" anchor="ctr">
            <a:spAutoFit/>
          </a:bodyPr>
          <a:lstStyle/>
          <a:p>
            <a:pPr algn="ctr"/>
            <a:r>
              <a:rPr sz="1200" b="1">
                <a:solidFill>
                  <a:srgbClr val="FFFFFF"/>
                </a:solidFill>
                <a:latin typeface="Arial"/>
              </a:rPr>
              <a:t>Fehler 3</a:t>
            </a:r>
          </a:p>
        </p:txBody>
      </p:sp>
      <p:sp>
        <p:nvSpPr>
          <p:cNvPr id="21" name="Rectangle 20"/>
          <p:cNvSpPr/>
          <p:nvPr/>
        </p:nvSpPr>
        <p:spPr>
          <a:xfrm>
            <a:off x="731520" y="4092694"/>
            <a:ext cx="6858000" cy="272308"/>
          </a:xfrm>
          <a:prstGeom prst="rect">
            <a:avLst/>
          </a:prstGeom>
          <a:solidFill>
            <a:srgbClr val="FDE3E1"/>
          </a:solidFill>
          <a:ln w="1524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10982"/>
            <a:ext cx="5303520" cy="272308"/>
          </a:xfrm>
          <a:prstGeom prst="rect">
            <a:avLst/>
          </a:prstGeom>
          <a:noFill/>
        </p:spPr>
        <p:txBody>
          <a:bodyPr wrap="square" anchor="t">
            <a:spAutoFit/>
          </a:bodyPr>
          <a:lstStyle/>
          <a:p>
            <a:pPr algn="l"/>
            <a:r>
              <a:rPr sz="1150" b="0">
                <a:solidFill>
                  <a:srgbClr val="1A2238"/>
                </a:solidFill>
                <a:latin typeface="Times New Roman"/>
              </a:rPr>
              <a:t>§ 5 Urlaub: Der Urlaubsanspruch beträgt 20 Werktage pro Kalenderjahr.</a:t>
            </a:r>
          </a:p>
        </p:txBody>
      </p:sp>
      <p:sp>
        <p:nvSpPr>
          <p:cNvPr id="23" name="Rectangle 22"/>
          <p:cNvSpPr/>
          <p:nvPr/>
        </p:nvSpPr>
        <p:spPr>
          <a:xfrm>
            <a:off x="6355079" y="4109976"/>
            <a:ext cx="1143000" cy="274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79" y="4109976"/>
            <a:ext cx="1143000" cy="274320"/>
          </a:xfrm>
          <a:prstGeom prst="rect">
            <a:avLst/>
          </a:prstGeom>
          <a:noFill/>
        </p:spPr>
        <p:txBody>
          <a:bodyPr wrap="square" anchor="ctr">
            <a:spAutoFit/>
          </a:bodyPr>
          <a:lstStyle/>
          <a:p>
            <a:pPr algn="ctr"/>
            <a:r>
              <a:rPr sz="1200" b="1">
                <a:solidFill>
                  <a:srgbClr val="FFFFFF"/>
                </a:solidFill>
                <a:latin typeface="Arial"/>
              </a:rPr>
              <a:t>Fehler 4</a:t>
            </a:r>
          </a:p>
        </p:txBody>
      </p:sp>
      <p:sp>
        <p:nvSpPr>
          <p:cNvPr id="25" name="Rectangle 24"/>
          <p:cNvSpPr/>
          <p:nvPr/>
        </p:nvSpPr>
        <p:spPr>
          <a:xfrm>
            <a:off x="731520" y="4401578"/>
            <a:ext cx="6858000" cy="453176"/>
          </a:xfrm>
          <a:prstGeom prst="rect">
            <a:avLst/>
          </a:prstGeom>
          <a:solidFill>
            <a:srgbClr val="FDE3E1"/>
          </a:solidFill>
          <a:ln w="1524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419866"/>
            <a:ext cx="5303520" cy="453176"/>
          </a:xfrm>
          <a:prstGeom prst="rect">
            <a:avLst/>
          </a:prstGeom>
          <a:noFill/>
        </p:spPr>
        <p:txBody>
          <a:bodyPr wrap="square" anchor="t">
            <a:spAutoFit/>
          </a:bodyPr>
          <a:lstStyle/>
          <a:p>
            <a:pPr algn="l"/>
            <a:r>
              <a:rPr sz="1150" b="0">
                <a:solidFill>
                  <a:srgbClr val="1A2238"/>
                </a:solidFill>
                <a:latin typeface="Times New Roman"/>
              </a:rPr>
              <a:t>§ 6 Kündigung: Während der Probezeit kann das Ausbildungsverhältnis nur mit einer Frist von vier Wochen gekündigt werden.</a:t>
            </a:r>
          </a:p>
        </p:txBody>
      </p:sp>
      <p:sp>
        <p:nvSpPr>
          <p:cNvPr id="27" name="Rectangle 26"/>
          <p:cNvSpPr/>
          <p:nvPr/>
        </p:nvSpPr>
        <p:spPr>
          <a:xfrm>
            <a:off x="6355079" y="4509295"/>
            <a:ext cx="1143000" cy="274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4509295"/>
            <a:ext cx="1143000" cy="274320"/>
          </a:xfrm>
          <a:prstGeom prst="rect">
            <a:avLst/>
          </a:prstGeom>
          <a:noFill/>
        </p:spPr>
        <p:txBody>
          <a:bodyPr wrap="square" anchor="ctr">
            <a:spAutoFit/>
          </a:bodyPr>
          <a:lstStyle/>
          <a:p>
            <a:pPr algn="ctr"/>
            <a:r>
              <a:rPr sz="1200" b="1">
                <a:solidFill>
                  <a:srgbClr val="FFFFFF"/>
                </a:solidFill>
                <a:latin typeface="Arial"/>
              </a:rPr>
              <a:t>Fehler 5</a:t>
            </a:r>
          </a:p>
        </p:txBody>
      </p:sp>
      <p:sp>
        <p:nvSpPr>
          <p:cNvPr id="29" name="TextBox 28"/>
          <p:cNvSpPr txBox="1"/>
          <p:nvPr/>
        </p:nvSpPr>
        <p:spPr>
          <a:xfrm>
            <a:off x="777240" y="4909619"/>
            <a:ext cx="6675120" cy="453176"/>
          </a:xfrm>
          <a:prstGeom prst="rect">
            <a:avLst/>
          </a:prstGeom>
          <a:noFill/>
        </p:spPr>
        <p:txBody>
          <a:bodyPr wrap="square" anchor="t">
            <a:spAutoFit/>
          </a:bodyPr>
          <a:lstStyle/>
          <a:p>
            <a:pPr algn="l"/>
            <a:r>
              <a:rPr sz="1150" b="0">
                <a:solidFill>
                  <a:srgbClr val="1A2238"/>
                </a:solidFill>
                <a:latin typeface="Times New Roman"/>
              </a:rPr>
              <a:t>§ 7 Pflichten: Die Ausbildungsmittel stellt der Betrieb kostenlos zur Verfügung. Der Auszubildende führt einen Ausbildungsnachweis.</a:t>
            </a:r>
          </a:p>
        </p:txBody>
      </p:sp>
      <p:sp>
        <p:nvSpPr>
          <p:cNvPr id="30" name="TextBox 29"/>
          <p:cNvSpPr txBox="1"/>
          <p:nvPr/>
        </p:nvSpPr>
        <p:spPr>
          <a:xfrm>
            <a:off x="640080" y="6035040"/>
            <a:ext cx="7040880" cy="411480"/>
          </a:xfrm>
          <a:prstGeom prst="rect">
            <a:avLst/>
          </a:prstGeom>
          <a:noFill/>
        </p:spPr>
        <p:txBody>
          <a:bodyPr wrap="square" anchor="t">
            <a:spAutoFit/>
          </a:bodyPr>
          <a:lstStyle/>
          <a:p>
            <a:pPr algn="l"/>
            <a:r>
              <a:rPr sz="1600" b="1">
                <a:solidFill>
                  <a:srgbClr val="5B6680"/>
                </a:solidFill>
                <a:latin typeface="Arial"/>
              </a:rPr>
              <a:t>Zeilen 1 und 7 sind korrekt.</a:t>
            </a:r>
          </a:p>
        </p:txBody>
      </p:sp>
      <p:sp>
        <p:nvSpPr>
          <p:cNvPr id="31" name="Rectangle 30"/>
          <p:cNvSpPr/>
          <p:nvPr/>
        </p:nvSpPr>
        <p:spPr>
          <a:xfrm>
            <a:off x="7863840" y="1325880"/>
            <a:ext cx="3657600" cy="877824"/>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63840" y="1325880"/>
            <a:ext cx="91440" cy="87782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8431" y="1325880"/>
            <a:ext cx="3474720" cy="877824"/>
          </a:xfrm>
          <a:prstGeom prst="rect">
            <a:avLst/>
          </a:prstGeom>
          <a:noFill/>
        </p:spPr>
        <p:txBody>
          <a:bodyPr wrap="square" anchor="ctr">
            <a:spAutoFit/>
          </a:bodyPr>
          <a:lstStyle/>
          <a:p>
            <a:pPr algn="l"/>
            <a:r>
              <a:rPr sz="1200" b="1">
                <a:solidFill>
                  <a:srgbClr val="14264B"/>
                </a:solidFill>
                <a:latin typeface="Arial"/>
              </a:rPr>
              <a:t>Fehler 1 · § 2 Probezeit</a:t>
            </a:r>
          </a:p>
          <a:p>
            <a:pPr algn="l">
              <a:spcBef>
                <a:spcPts val="120"/>
              </a:spcBef>
            </a:pPr>
            <a:r>
              <a:rPr sz="1200" b="0">
                <a:solidFill>
                  <a:srgbClr val="1A2238"/>
                </a:solidFill>
                <a:latin typeface="Arial"/>
              </a:rPr>
              <a:t>höchstens vier Monate (§ 20 BBiG)</a:t>
            </a:r>
          </a:p>
        </p:txBody>
      </p:sp>
      <p:sp>
        <p:nvSpPr>
          <p:cNvPr id="34" name="Rectangle 33"/>
          <p:cNvSpPr/>
          <p:nvPr/>
        </p:nvSpPr>
        <p:spPr>
          <a:xfrm>
            <a:off x="7863840" y="2276856"/>
            <a:ext cx="3657600" cy="877824"/>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63840" y="2276856"/>
            <a:ext cx="91440" cy="87782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2276856"/>
            <a:ext cx="3474720" cy="877824"/>
          </a:xfrm>
          <a:prstGeom prst="rect">
            <a:avLst/>
          </a:prstGeom>
          <a:noFill/>
        </p:spPr>
        <p:txBody>
          <a:bodyPr wrap="square" anchor="ctr">
            <a:spAutoFit/>
          </a:bodyPr>
          <a:lstStyle/>
          <a:p>
            <a:pPr algn="l"/>
            <a:r>
              <a:rPr sz="1200" b="1">
                <a:solidFill>
                  <a:srgbClr val="14264B"/>
                </a:solidFill>
                <a:latin typeface="Arial"/>
              </a:rPr>
              <a:t>Fehler 2 · § 3 Vergütung</a:t>
            </a:r>
          </a:p>
          <a:p>
            <a:pPr algn="l">
              <a:spcBef>
                <a:spcPts val="120"/>
              </a:spcBef>
            </a:pPr>
            <a:r>
              <a:rPr sz="1200" b="0">
                <a:solidFill>
                  <a:srgbClr val="1A2238"/>
                </a:solidFill>
                <a:latin typeface="Arial"/>
              </a:rPr>
              <a:t>mindestens 724 € im 1. Jahr (§ 17 BBiG)</a:t>
            </a:r>
          </a:p>
        </p:txBody>
      </p:sp>
      <p:sp>
        <p:nvSpPr>
          <p:cNvPr id="37" name="Rectangle 36"/>
          <p:cNvSpPr/>
          <p:nvPr/>
        </p:nvSpPr>
        <p:spPr>
          <a:xfrm>
            <a:off x="7863840" y="3227832"/>
            <a:ext cx="3657600" cy="877824"/>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863840" y="3227832"/>
            <a:ext cx="91440" cy="87782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8431" y="3227832"/>
            <a:ext cx="3474720" cy="877824"/>
          </a:xfrm>
          <a:prstGeom prst="rect">
            <a:avLst/>
          </a:prstGeom>
          <a:noFill/>
        </p:spPr>
        <p:txBody>
          <a:bodyPr wrap="square" anchor="ctr">
            <a:spAutoFit/>
          </a:bodyPr>
          <a:lstStyle/>
          <a:p>
            <a:pPr algn="l"/>
            <a:r>
              <a:rPr sz="1200" b="1">
                <a:solidFill>
                  <a:srgbClr val="14264B"/>
                </a:solidFill>
                <a:latin typeface="Arial"/>
              </a:rPr>
              <a:t>Fehler 3 · § 4 Ausbildungszeit</a:t>
            </a:r>
          </a:p>
          <a:p>
            <a:pPr algn="l">
              <a:spcBef>
                <a:spcPts val="120"/>
              </a:spcBef>
            </a:pPr>
            <a:r>
              <a:rPr sz="1200" b="0">
                <a:solidFill>
                  <a:srgbClr val="1A2238"/>
                </a:solidFill>
                <a:latin typeface="Arial"/>
              </a:rPr>
              <a:t>Jugendliche höchstens 8 Stunden täglich und 40 pro Woche (§ 8 JArbSchG)</a:t>
            </a:r>
          </a:p>
          <a:p>
            <a:pPr algn="l">
              <a:spcBef>
                <a:spcPts val="120"/>
              </a:spcBef>
            </a:pPr>
            <a:r>
              <a:rPr sz="1200" b="0">
                <a:solidFill>
                  <a:srgbClr val="1A2238"/>
                </a:solidFill>
                <a:latin typeface="Arial"/>
              </a:rPr>
              <a:t>(Der Azubi ist bei Beginn 16 Jahre alt.)</a:t>
            </a:r>
          </a:p>
        </p:txBody>
      </p:sp>
      <p:sp>
        <p:nvSpPr>
          <p:cNvPr id="40" name="Rectangle 39"/>
          <p:cNvSpPr/>
          <p:nvPr/>
        </p:nvSpPr>
        <p:spPr>
          <a:xfrm>
            <a:off x="7863840" y="4178808"/>
            <a:ext cx="3657600" cy="877824"/>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63840" y="4178808"/>
            <a:ext cx="91440" cy="87782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28431" y="4178808"/>
            <a:ext cx="3474720" cy="877824"/>
          </a:xfrm>
          <a:prstGeom prst="rect">
            <a:avLst/>
          </a:prstGeom>
          <a:noFill/>
        </p:spPr>
        <p:txBody>
          <a:bodyPr wrap="square" anchor="ctr">
            <a:spAutoFit/>
          </a:bodyPr>
          <a:lstStyle/>
          <a:p>
            <a:pPr algn="l"/>
            <a:r>
              <a:rPr sz="1200" b="1">
                <a:solidFill>
                  <a:srgbClr val="14264B"/>
                </a:solidFill>
                <a:latin typeface="Arial"/>
              </a:rPr>
              <a:t>Fehler 4 · § 5 Urlaub</a:t>
            </a:r>
          </a:p>
          <a:p>
            <a:pPr algn="l">
              <a:spcBef>
                <a:spcPts val="120"/>
              </a:spcBef>
            </a:pPr>
            <a:r>
              <a:rPr sz="1200" b="0">
                <a:solidFill>
                  <a:srgbClr val="1A2238"/>
                </a:solidFill>
                <a:latin typeface="Arial"/>
              </a:rPr>
              <a:t>mindestens 24 Werktage, Jugendliche je nach Alter 25 bis 30 (§ 3 BUrlG, § 19 JArbSchG)</a:t>
            </a:r>
          </a:p>
        </p:txBody>
      </p:sp>
      <p:sp>
        <p:nvSpPr>
          <p:cNvPr id="43" name="Rectangle 42"/>
          <p:cNvSpPr/>
          <p:nvPr/>
        </p:nvSpPr>
        <p:spPr>
          <a:xfrm>
            <a:off x="7863840" y="5129784"/>
            <a:ext cx="3657600" cy="877824"/>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863840" y="5129784"/>
            <a:ext cx="91440" cy="87782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28431" y="5129784"/>
            <a:ext cx="3474720" cy="877824"/>
          </a:xfrm>
          <a:prstGeom prst="rect">
            <a:avLst/>
          </a:prstGeom>
          <a:noFill/>
        </p:spPr>
        <p:txBody>
          <a:bodyPr wrap="square" anchor="ctr">
            <a:spAutoFit/>
          </a:bodyPr>
          <a:lstStyle/>
          <a:p>
            <a:pPr algn="l"/>
            <a:r>
              <a:rPr sz="1200" b="1">
                <a:solidFill>
                  <a:srgbClr val="14264B"/>
                </a:solidFill>
                <a:latin typeface="Arial"/>
              </a:rPr>
              <a:t>Fehler 5 · § 6 Kündigung</a:t>
            </a:r>
          </a:p>
          <a:p>
            <a:pPr algn="l">
              <a:spcBef>
                <a:spcPts val="120"/>
              </a:spcBef>
            </a:pPr>
            <a:r>
              <a:rPr sz="1200" b="0">
                <a:solidFill>
                  <a:srgbClr val="1A2238"/>
                </a:solidFill>
                <a:latin typeface="Arial"/>
              </a:rPr>
              <a:t>in der Probezeit jederzeit ohne Frist, schriftlich (§ 22 Abs. 1 und 3 BBiG)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GEMEINSAME BESPRECHUNG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Besprechung: IHK-Fälle A bis C</a:t>
            </a:r>
          </a:p>
        </p:txBody>
      </p:sp>
      <p:graphicFrame>
        <p:nvGraphicFramePr>
          <p:cNvPr id="5" name="Table 4"/>
          <p:cNvGraphicFramePr>
            <a:graphicFrameLocks noGrp="1"/>
          </p:cNvGraphicFramePr>
          <p:nvPr/>
        </p:nvGraphicFramePr>
        <p:xfrm>
          <a:off x="640080" y="1463040"/>
          <a:ext cx="10881360" cy="4572000"/>
        </p:xfrm>
        <a:graphic>
          <a:graphicData uri="http://schemas.openxmlformats.org/drawingml/2006/table">
            <a:tbl>
              <a:tblPr firstRow="0" bandRow="0">
                <a:tableStyleId>{5C22544A-7EE6-4342-B048-85BDC9FD1C3A}</a:tableStyleId>
              </a:tblPr>
              <a:tblGrid>
                <a:gridCol w="1828800"/>
                <a:gridCol w="1371600"/>
                <a:gridCol w="7680960"/>
              </a:tblGrid>
              <a:tr h="1143000">
                <a:tc>
                  <a:txBody>
                    <a:bodyPr wrap="square"/>
                    <a:lstStyle/>
                    <a:p>
                      <a:r>
                        <a:rPr sz="2000" b="1">
                          <a:solidFill>
                            <a:srgbClr val="FFFFFF"/>
                          </a:solidFill>
                          <a:latin typeface="Arial"/>
                        </a:rPr>
                        <a:t>Fall</a:t>
                      </a:r>
                    </a:p>
                  </a:txBody>
                  <a:tcPr marL="109728" marR="109728" marT="36576" marB="36576" anchor="ctr">
                    <a:solidFill>
                      <a:srgbClr val="14264B"/>
                    </a:solidFill>
                  </a:tcPr>
                </a:tc>
                <a:tc>
                  <a:txBody>
                    <a:bodyPr wrap="square"/>
                    <a:lstStyle/>
                    <a:p>
                      <a:r>
                        <a:rPr sz="2000" b="1">
                          <a:solidFill>
                            <a:srgbClr val="FFFFFF"/>
                          </a:solidFill>
                          <a:latin typeface="Arial"/>
                        </a:rPr>
                        <a:t>Lösung</a:t>
                      </a:r>
                    </a:p>
                  </a:txBody>
                  <a:tcPr marL="109728" marR="109728" marT="36576" marB="36576" anchor="ctr">
                    <a:solidFill>
                      <a:srgbClr val="14264B"/>
                    </a:solidFill>
                  </a:tcPr>
                </a:tc>
                <a:tc>
                  <a:txBody>
                    <a:bodyPr wrap="square"/>
                    <a:lstStyle/>
                    <a:p>
                      <a:r>
                        <a:rPr sz="2000" b="1">
                          <a:solidFill>
                            <a:srgbClr val="FFFFFF"/>
                          </a:solidFill>
                          <a:latin typeface="Arial"/>
                        </a:rPr>
                        <a:t>Begründung</a:t>
                      </a:r>
                    </a:p>
                  </a:txBody>
                  <a:tcPr marL="109728" marR="109728" marT="36576" marB="36576" anchor="ctr">
                    <a:solidFill>
                      <a:srgbClr val="14264B"/>
                    </a:solidFill>
                  </a:tcPr>
                </a:tc>
              </a:tr>
              <a:tr h="1143000">
                <a:tc>
                  <a:txBody>
                    <a:bodyPr wrap="square"/>
                    <a:lstStyle/>
                    <a:p>
                      <a:r>
                        <a:rPr sz="2000" b="1">
                          <a:solidFill>
                            <a:srgbClr val="14264B"/>
                          </a:solidFill>
                          <a:latin typeface="Arial"/>
                        </a:rPr>
                        <a:t>Fall A</a:t>
                      </a:r>
                    </a:p>
                  </a:txBody>
                  <a:tcPr marL="109728" marR="109728" marT="36576" marB="36576" anchor="ctr">
                    <a:solidFill>
                      <a:srgbClr val="FFFFFF"/>
                    </a:solidFill>
                  </a:tcPr>
                </a:tc>
                <a:tc>
                  <a:txBody>
                    <a:bodyPr wrap="square"/>
                    <a:lstStyle/>
                    <a:p>
                      <a:r>
                        <a:rPr sz="2000">
                          <a:solidFill>
                            <a:srgbClr val="1A2238"/>
                          </a:solidFill>
                          <a:latin typeface="Arial"/>
                        </a:rPr>
                        <a:t>B</a:t>
                      </a:r>
                    </a:p>
                  </a:txBody>
                  <a:tcPr marL="109728" marR="109728" marT="36576" marB="36576" anchor="ctr">
                    <a:solidFill>
                      <a:srgbClr val="FFFFFF"/>
                    </a:solidFill>
                  </a:tcPr>
                </a:tc>
                <a:tc>
                  <a:txBody>
                    <a:bodyPr wrap="square"/>
                    <a:lstStyle/>
                    <a:p>
                      <a:r>
                        <a:rPr sz="2000">
                          <a:solidFill>
                            <a:srgbClr val="1A2238"/>
                          </a:solidFill>
                          <a:latin typeface="Arial"/>
                        </a:rPr>
                        <a:t>In der Probezeit ist die Kündigung jederzeit ohne Frist möglich, aber schriftlich (§ 22 Abs. 1 und 3 BBiG).</a:t>
                      </a:r>
                    </a:p>
                  </a:txBody>
                  <a:tcPr marL="109728" marR="109728" marT="36576" marB="36576" anchor="ctr">
                    <a:solidFill>
                      <a:srgbClr val="FFFFFF"/>
                    </a:solidFill>
                  </a:tcPr>
                </a:tc>
              </a:tr>
              <a:tr h="1143000">
                <a:tc>
                  <a:txBody>
                    <a:bodyPr wrap="square"/>
                    <a:lstStyle/>
                    <a:p>
                      <a:r>
                        <a:rPr sz="2000" b="1">
                          <a:solidFill>
                            <a:srgbClr val="14264B"/>
                          </a:solidFill>
                          <a:latin typeface="Arial"/>
                        </a:rPr>
                        <a:t>Fall B</a:t>
                      </a:r>
                    </a:p>
                  </a:txBody>
                  <a:tcPr marL="109728" marR="109728" marT="36576" marB="36576" anchor="ctr">
                    <a:solidFill>
                      <a:srgbClr val="F6F8FC"/>
                    </a:solidFill>
                  </a:tcPr>
                </a:tc>
                <a:tc>
                  <a:txBody>
                    <a:bodyPr wrap="square"/>
                    <a:lstStyle/>
                    <a:p>
                      <a:r>
                        <a:rPr sz="2000">
                          <a:solidFill>
                            <a:srgbClr val="1A2238"/>
                          </a:solidFill>
                          <a:latin typeface="Arial"/>
                        </a:rPr>
                        <a:t>C</a:t>
                      </a:r>
                    </a:p>
                  </a:txBody>
                  <a:tcPr marL="109728" marR="109728" marT="36576" marB="36576" anchor="ctr">
                    <a:solidFill>
                      <a:srgbClr val="F6F8FC"/>
                    </a:solidFill>
                  </a:tcPr>
                </a:tc>
                <a:tc>
                  <a:txBody>
                    <a:bodyPr wrap="square"/>
                    <a:lstStyle/>
                    <a:p>
                      <a:r>
                        <a:rPr sz="2000">
                          <a:solidFill>
                            <a:srgbClr val="1A2238"/>
                          </a:solidFill>
                          <a:latin typeface="Arial"/>
                        </a:rPr>
                        <a:t>Jugendliche unter 18 Jahren haben mindestens 25 Werktage (§ 19 JArbSchG), das entspricht 21 Arbeitstagen bei der Fünf-Tage-Woche.</a:t>
                      </a:r>
                    </a:p>
                  </a:txBody>
                  <a:tcPr marL="109728" marR="109728" marT="36576" marB="36576" anchor="ctr">
                    <a:solidFill>
                      <a:srgbClr val="F6F8FC"/>
                    </a:solidFill>
                  </a:tcPr>
                </a:tc>
              </a:tr>
              <a:tr h="1143000">
                <a:tc>
                  <a:txBody>
                    <a:bodyPr wrap="square"/>
                    <a:lstStyle/>
                    <a:p>
                      <a:r>
                        <a:rPr sz="2000" b="1">
                          <a:solidFill>
                            <a:srgbClr val="14264B"/>
                          </a:solidFill>
                          <a:latin typeface="Arial"/>
                        </a:rPr>
                        <a:t>Fall C</a:t>
                      </a:r>
                    </a:p>
                  </a:txBody>
                  <a:tcPr marL="109728" marR="109728" marT="36576" marB="36576" anchor="ctr">
                    <a:solidFill>
                      <a:srgbClr val="FFFFFF"/>
                    </a:solidFill>
                  </a:tcPr>
                </a:tc>
                <a:tc>
                  <a:txBody>
                    <a:bodyPr wrap="square"/>
                    <a:lstStyle/>
                    <a:p>
                      <a:r>
                        <a:rPr sz="2000">
                          <a:solidFill>
                            <a:srgbClr val="1A2238"/>
                          </a:solidFill>
                          <a:latin typeface="Arial"/>
                        </a:rPr>
                        <a:t>C</a:t>
                      </a:r>
                    </a:p>
                  </a:txBody>
                  <a:tcPr marL="109728" marR="109728" marT="36576" marB="36576" anchor="ctr">
                    <a:solidFill>
                      <a:srgbClr val="FFFFFF"/>
                    </a:solidFill>
                  </a:tcPr>
                </a:tc>
                <a:tc>
                  <a:txBody>
                    <a:bodyPr wrap="square"/>
                    <a:lstStyle/>
                    <a:p>
                      <a:r>
                        <a:rPr sz="2000">
                          <a:solidFill>
                            <a:srgbClr val="1A2238"/>
                          </a:solidFill>
                          <a:latin typeface="Arial"/>
                        </a:rPr>
                        <a:t>Die Mindestausbildungsvergütung nach § 17 BBiG darf nicht unterschritten werden.</a:t>
                      </a:r>
                    </a:p>
                  </a:txBody>
                  <a:tcPr marL="109728" marR="109728" marT="36576" marB="36576"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GEMEINSAME BESPRECHUNG</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Besprechung: IHK-Fälle D und E</a:t>
            </a:r>
          </a:p>
        </p:txBody>
      </p:sp>
      <p:graphicFrame>
        <p:nvGraphicFramePr>
          <p:cNvPr id="5" name="Table 4"/>
          <p:cNvGraphicFramePr>
            <a:graphicFrameLocks noGrp="1"/>
          </p:cNvGraphicFramePr>
          <p:nvPr/>
        </p:nvGraphicFramePr>
        <p:xfrm>
          <a:off x="640080" y="1463040"/>
          <a:ext cx="10881360" cy="3840480"/>
        </p:xfrm>
        <a:graphic>
          <a:graphicData uri="http://schemas.openxmlformats.org/drawingml/2006/table">
            <a:tbl>
              <a:tblPr firstRow="0" bandRow="0">
                <a:tableStyleId>{5C22544A-7EE6-4342-B048-85BDC9FD1C3A}</a:tableStyleId>
              </a:tblPr>
              <a:tblGrid>
                <a:gridCol w="1828800"/>
                <a:gridCol w="1371600"/>
                <a:gridCol w="7680960"/>
              </a:tblGrid>
              <a:tr h="1280160">
                <a:tc>
                  <a:txBody>
                    <a:bodyPr wrap="square"/>
                    <a:lstStyle/>
                    <a:p>
                      <a:r>
                        <a:rPr sz="2000" b="1">
                          <a:solidFill>
                            <a:srgbClr val="FFFFFF"/>
                          </a:solidFill>
                          <a:latin typeface="Arial"/>
                        </a:rPr>
                        <a:t>Fall</a:t>
                      </a:r>
                    </a:p>
                  </a:txBody>
                  <a:tcPr marL="109728" marR="109728" marT="36576" marB="36576" anchor="ctr">
                    <a:solidFill>
                      <a:srgbClr val="14264B"/>
                    </a:solidFill>
                  </a:tcPr>
                </a:tc>
                <a:tc>
                  <a:txBody>
                    <a:bodyPr wrap="square"/>
                    <a:lstStyle/>
                    <a:p>
                      <a:r>
                        <a:rPr sz="2000" b="1">
                          <a:solidFill>
                            <a:srgbClr val="FFFFFF"/>
                          </a:solidFill>
                          <a:latin typeface="Arial"/>
                        </a:rPr>
                        <a:t>Lösung</a:t>
                      </a:r>
                    </a:p>
                  </a:txBody>
                  <a:tcPr marL="109728" marR="109728" marT="36576" marB="36576" anchor="ctr">
                    <a:solidFill>
                      <a:srgbClr val="14264B"/>
                    </a:solidFill>
                  </a:tcPr>
                </a:tc>
                <a:tc>
                  <a:txBody>
                    <a:bodyPr wrap="square"/>
                    <a:lstStyle/>
                    <a:p>
                      <a:r>
                        <a:rPr sz="2000" b="1">
                          <a:solidFill>
                            <a:srgbClr val="FFFFFF"/>
                          </a:solidFill>
                          <a:latin typeface="Arial"/>
                        </a:rPr>
                        <a:t>Begründung</a:t>
                      </a:r>
                    </a:p>
                  </a:txBody>
                  <a:tcPr marL="109728" marR="109728" marT="36576" marB="36576" anchor="ctr">
                    <a:solidFill>
                      <a:srgbClr val="14264B"/>
                    </a:solidFill>
                  </a:tcPr>
                </a:tc>
              </a:tr>
              <a:tr h="1280160">
                <a:tc>
                  <a:txBody>
                    <a:bodyPr wrap="square"/>
                    <a:lstStyle/>
                    <a:p>
                      <a:r>
                        <a:rPr sz="2000" b="1">
                          <a:solidFill>
                            <a:srgbClr val="14264B"/>
                          </a:solidFill>
                          <a:latin typeface="Arial"/>
                        </a:rPr>
                        <a:t>Fall D</a:t>
                      </a:r>
                    </a:p>
                  </a:txBody>
                  <a:tcPr marL="109728" marR="109728" marT="36576" marB="36576" anchor="ctr">
                    <a:solidFill>
                      <a:srgbClr val="FFFFFF"/>
                    </a:solidFill>
                  </a:tcPr>
                </a:tc>
                <a:tc>
                  <a:txBody>
                    <a:bodyPr wrap="square"/>
                    <a:lstStyle/>
                    <a:p>
                      <a:r>
                        <a:rPr sz="2000">
                          <a:solidFill>
                            <a:srgbClr val="1A2238"/>
                          </a:solidFill>
                          <a:latin typeface="Arial"/>
                        </a:rPr>
                        <a:t>B</a:t>
                      </a:r>
                    </a:p>
                  </a:txBody>
                  <a:tcPr marL="109728" marR="109728" marT="36576" marB="36576" anchor="ctr">
                    <a:solidFill>
                      <a:srgbClr val="FFFFFF"/>
                    </a:solidFill>
                  </a:tcPr>
                </a:tc>
                <a:tc>
                  <a:txBody>
                    <a:bodyPr wrap="square"/>
                    <a:lstStyle/>
                    <a:p>
                      <a:r>
                        <a:rPr sz="2000">
                          <a:solidFill>
                            <a:srgbClr val="1A2238"/>
                          </a:solidFill>
                          <a:latin typeface="Arial"/>
                        </a:rPr>
                        <a:t>§ 8 JArbSchG; ausnahmsweise sind 8,5 Stunden täglich erlaubt, wenn an anderen Tagen derselben Woche entsprechend weniger gearbeitet wird.</a:t>
                      </a:r>
                    </a:p>
                  </a:txBody>
                  <a:tcPr marL="109728" marR="109728" marT="36576" marB="36576" anchor="ctr">
                    <a:solidFill>
                      <a:srgbClr val="FFFFFF"/>
                    </a:solidFill>
                  </a:tcPr>
                </a:tc>
              </a:tr>
              <a:tr h="1280160">
                <a:tc>
                  <a:txBody>
                    <a:bodyPr wrap="square"/>
                    <a:lstStyle/>
                    <a:p>
                      <a:r>
                        <a:rPr sz="2000" b="1">
                          <a:solidFill>
                            <a:srgbClr val="14264B"/>
                          </a:solidFill>
                          <a:latin typeface="Arial"/>
                        </a:rPr>
                        <a:t>Fall E</a:t>
                      </a:r>
                    </a:p>
                  </a:txBody>
                  <a:tcPr marL="109728" marR="109728" marT="36576" marB="36576" anchor="ctr">
                    <a:solidFill>
                      <a:srgbClr val="F6F8FC"/>
                    </a:solidFill>
                  </a:tcPr>
                </a:tc>
                <a:tc>
                  <a:txBody>
                    <a:bodyPr wrap="square"/>
                    <a:lstStyle/>
                    <a:p>
                      <a:r>
                        <a:rPr sz="2000">
                          <a:solidFill>
                            <a:srgbClr val="1A2238"/>
                          </a:solidFill>
                          <a:latin typeface="Arial"/>
                        </a:rPr>
                        <a:t>B</a:t>
                      </a:r>
                    </a:p>
                  </a:txBody>
                  <a:tcPr marL="109728" marR="109728" marT="36576" marB="36576" anchor="ctr">
                    <a:solidFill>
                      <a:srgbClr val="F6F8FC"/>
                    </a:solidFill>
                  </a:tcPr>
                </a:tc>
                <a:tc>
                  <a:txBody>
                    <a:bodyPr wrap="square"/>
                    <a:lstStyle/>
                    <a:p>
                      <a:r>
                        <a:rPr sz="2000">
                          <a:solidFill>
                            <a:srgbClr val="1A2238"/>
                          </a:solidFill>
                          <a:latin typeface="Arial"/>
                        </a:rPr>
                        <a:t>§ 8 Abs. 1 BBiG; mit Abitur sind laut IHK bis zu zwölf Monate Verkürzung möglich.</a:t>
                      </a:r>
                    </a:p>
                  </a:txBody>
                  <a:tcPr marL="109728" marR="109728" marT="36576" marB="36576" anchor="ctr">
                    <a:solidFill>
                      <a:srgbClr val="F6F8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SICHERUNG UND ABSCHLUSS</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Mini-Quiz: Zeig, was du kannst</a:t>
            </a:r>
          </a:p>
        </p:txBody>
      </p:sp>
      <p:sp>
        <p:nvSpPr>
          <p:cNvPr id="5" name="TextBox 4"/>
          <p:cNvSpPr txBox="1"/>
          <p:nvPr/>
        </p:nvSpPr>
        <p:spPr>
          <a:xfrm>
            <a:off x="640080" y="1645920"/>
            <a:ext cx="7223760" cy="4206240"/>
          </a:xfrm>
          <a:prstGeom prst="rect">
            <a:avLst/>
          </a:prstGeom>
          <a:noFill/>
        </p:spPr>
        <p:txBody>
          <a:bodyPr wrap="square" anchor="t">
            <a:spAutoFit/>
          </a:bodyPr>
          <a:lstStyle/>
          <a:p>
            <a:pPr algn="l"/>
            <a:r>
              <a:rPr sz="3000" b="1">
                <a:solidFill>
                  <a:srgbClr val="F5A800"/>
                </a:solidFill>
                <a:latin typeface="Arial"/>
              </a:rPr>
              <a:t>•  </a:t>
            </a:r>
            <a:r>
              <a:rPr sz="3000" b="0">
                <a:solidFill>
                  <a:srgbClr val="1A2238"/>
                </a:solidFill>
                <a:latin typeface="Arial"/>
              </a:rPr>
              <a:t>5 Fragen auf der Website</a:t>
            </a:r>
          </a:p>
          <a:p>
            <a:pPr algn="l">
              <a:spcBef>
                <a:spcPts val="2400"/>
              </a:spcBef>
            </a:pPr>
            <a:r>
              <a:rPr sz="3000" b="1">
                <a:solidFill>
                  <a:srgbClr val="F5A800"/>
                </a:solidFill>
                <a:latin typeface="Arial"/>
              </a:rPr>
              <a:t>•  </a:t>
            </a:r>
            <a:r>
              <a:rPr sz="3000" b="0">
                <a:solidFill>
                  <a:srgbClr val="1A2238"/>
                </a:solidFill>
                <a:latin typeface="Arial"/>
              </a:rPr>
              <a:t>allein</a:t>
            </a:r>
          </a:p>
          <a:p>
            <a:pPr algn="l">
              <a:spcBef>
                <a:spcPts val="2400"/>
              </a:spcBef>
            </a:pPr>
            <a:r>
              <a:rPr sz="3000" b="1">
                <a:solidFill>
                  <a:srgbClr val="F5A800"/>
                </a:solidFill>
                <a:latin typeface="Arial"/>
              </a:rPr>
              <a:t>•  </a:t>
            </a:r>
            <a:r>
              <a:rPr sz="3000" b="0">
                <a:solidFill>
                  <a:srgbClr val="1A2238"/>
                </a:solidFill>
                <a:latin typeface="Arial"/>
              </a:rPr>
              <a:t>3 Minuten</a:t>
            </a:r>
          </a:p>
        </p:txBody>
      </p:sp>
      <p:sp>
        <p:nvSpPr>
          <p:cNvPr id="6" name="Rectangle 5"/>
          <p:cNvSpPr/>
          <p:nvPr/>
        </p:nvSpPr>
        <p:spPr>
          <a:xfrm>
            <a:off x="8138160" y="1463040"/>
            <a:ext cx="3566160" cy="356616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3"/>
          <a:stretch>
            <a:fillRect/>
          </a:stretch>
        </p:blipFill>
        <p:spPr>
          <a:xfrm>
            <a:off x="8275320" y="1600200"/>
            <a:ext cx="3291840" cy="3291840"/>
          </a:xfrm>
          <a:prstGeom prst="rect">
            <a:avLst/>
          </a:prstGeom>
        </p:spPr>
      </p:pic>
      <p:sp>
        <p:nvSpPr>
          <p:cNvPr id="8" name="TextBox 7"/>
          <p:cNvSpPr txBox="1"/>
          <p:nvPr/>
        </p:nvSpPr>
        <p:spPr>
          <a:xfrm>
            <a:off x="7955279" y="5166360"/>
            <a:ext cx="3931920" cy="548640"/>
          </a:xfrm>
          <a:prstGeom prst="rect">
            <a:avLst/>
          </a:prstGeom>
          <a:noFill/>
        </p:spPr>
        <p:txBody>
          <a:bodyPr wrap="square" anchor="t">
            <a:spAutoFit/>
          </a:bodyPr>
          <a:lstStyle/>
          <a:p>
            <a:pPr algn="ctr"/>
            <a:r>
              <a:rPr sz="1800" b="1">
                <a:solidFill>
                  <a:srgbClr val="14264B"/>
                </a:solidFill>
                <a:latin typeface="Arial"/>
              </a:rPr>
              <a:t>yasinbenx.github.io/azubi-vertrag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SICHERUNG UND ABSCHLUSS</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Zurück zum Vorwissen</a:t>
            </a:r>
          </a:p>
        </p:txBody>
      </p:sp>
      <p:graphicFrame>
        <p:nvGraphicFramePr>
          <p:cNvPr id="5" name="Table 4"/>
          <p:cNvGraphicFramePr>
            <a:graphicFrameLocks noGrp="1"/>
          </p:cNvGraphicFramePr>
          <p:nvPr/>
        </p:nvGraphicFramePr>
        <p:xfrm>
          <a:off x="640080" y="1417320"/>
          <a:ext cx="10881360" cy="3886200"/>
        </p:xfrm>
        <a:graphic>
          <a:graphicData uri="http://schemas.openxmlformats.org/drawingml/2006/table">
            <a:tbl>
              <a:tblPr firstRow="0" bandRow="0">
                <a:tableStyleId>{5C22544A-7EE6-4342-B048-85BDC9FD1C3A}</a:tableStyleId>
              </a:tblPr>
              <a:tblGrid>
                <a:gridCol w="4480560"/>
                <a:gridCol w="6400800"/>
              </a:tblGrid>
              <a:tr h="777240">
                <a:tc>
                  <a:txBody>
                    <a:bodyPr wrap="square"/>
                    <a:lstStyle/>
                    <a:p>
                      <a:r>
                        <a:rPr sz="2400" b="1">
                          <a:solidFill>
                            <a:srgbClr val="FFFFFF"/>
                          </a:solidFill>
                          <a:latin typeface="Arial"/>
                        </a:rPr>
                        <a:t>Frage</a:t>
                      </a:r>
                    </a:p>
                  </a:txBody>
                  <a:tcPr marL="109728" marR="109728" marT="36576" marB="36576" anchor="ctr">
                    <a:solidFill>
                      <a:srgbClr val="14264B"/>
                    </a:solidFill>
                  </a:tcPr>
                </a:tc>
                <a:tc>
                  <a:txBody>
                    <a:bodyPr wrap="square"/>
                    <a:lstStyle/>
                    <a:p>
                      <a:r>
                        <a:rPr sz="2400" b="1">
                          <a:solidFill>
                            <a:srgbClr val="FFFFFF"/>
                          </a:solidFill>
                          <a:latin typeface="Arial"/>
                        </a:rPr>
                        <a:t>Antwort</a:t>
                      </a:r>
                    </a:p>
                  </a:txBody>
                  <a:tcPr marL="109728" marR="109728" marT="36576" marB="36576" anchor="ctr">
                    <a:solidFill>
                      <a:srgbClr val="14264B"/>
                    </a:solidFill>
                  </a:tcPr>
                </a:tc>
              </a:tr>
              <a:tr h="777240">
                <a:tc>
                  <a:txBody>
                    <a:bodyPr wrap="square"/>
                    <a:lstStyle/>
                    <a:p>
                      <a:r>
                        <a:rPr sz="2400" b="1">
                          <a:solidFill>
                            <a:srgbClr val="14264B"/>
                          </a:solidFill>
                          <a:latin typeface="Arial"/>
                        </a:rPr>
                        <a:t>a) Probezeit höchstens?</a:t>
                      </a:r>
                    </a:p>
                  </a:txBody>
                  <a:tcPr marL="109728" marR="109728" marT="36576" marB="36576" anchor="ctr">
                    <a:solidFill>
                      <a:srgbClr val="FFFFFF"/>
                    </a:solidFill>
                  </a:tcPr>
                </a:tc>
                <a:tc>
                  <a:txBody>
                    <a:bodyPr wrap="square"/>
                    <a:lstStyle/>
                    <a:p>
                      <a:r>
                        <a:rPr sz="2400">
                          <a:solidFill>
                            <a:srgbClr val="1A2238"/>
                          </a:solidFill>
                          <a:latin typeface="Arial"/>
                        </a:rPr>
                        <a:t>Vier Monate</a:t>
                      </a:r>
                    </a:p>
                  </a:txBody>
                  <a:tcPr marL="109728" marR="109728" marT="36576" marB="36576" anchor="ctr">
                    <a:solidFill>
                      <a:srgbClr val="FFFFFF"/>
                    </a:solidFill>
                  </a:tcPr>
                </a:tc>
              </a:tr>
              <a:tr h="777240">
                <a:tc>
                  <a:txBody>
                    <a:bodyPr wrap="square"/>
                    <a:lstStyle/>
                    <a:p>
                      <a:r>
                        <a:rPr sz="2400" b="1">
                          <a:solidFill>
                            <a:srgbClr val="14264B"/>
                          </a:solidFill>
                          <a:latin typeface="Arial"/>
                        </a:rPr>
                        <a:t>b) Urlaub mindestens?</a:t>
                      </a:r>
                    </a:p>
                  </a:txBody>
                  <a:tcPr marL="109728" marR="109728" marT="36576" marB="36576" anchor="ctr">
                    <a:solidFill>
                      <a:srgbClr val="F6F8FC"/>
                    </a:solidFill>
                  </a:tcPr>
                </a:tc>
                <a:tc>
                  <a:txBody>
                    <a:bodyPr wrap="square"/>
                    <a:lstStyle/>
                    <a:p>
                      <a:r>
                        <a:rPr sz="2400">
                          <a:solidFill>
                            <a:srgbClr val="1A2238"/>
                          </a:solidFill>
                          <a:latin typeface="Arial"/>
                        </a:rPr>
                        <a:t>24 Werktage ab 18 Jahren, Jugendliche 25 bis 30</a:t>
                      </a:r>
                    </a:p>
                  </a:txBody>
                  <a:tcPr marL="109728" marR="109728" marT="36576" marB="36576" anchor="ctr">
                    <a:solidFill>
                      <a:srgbClr val="F6F8FC"/>
                    </a:solidFill>
                  </a:tcPr>
                </a:tc>
              </a:tr>
              <a:tr h="777240">
                <a:tc>
                  <a:txBody>
                    <a:bodyPr wrap="square"/>
                    <a:lstStyle/>
                    <a:p>
                      <a:r>
                        <a:rPr sz="2400" b="1">
                          <a:solidFill>
                            <a:srgbClr val="14264B"/>
                          </a:solidFill>
                          <a:latin typeface="Arial"/>
                        </a:rPr>
                        <a:t>c) Kündigungsfrist in der Probezeit?</a:t>
                      </a:r>
                    </a:p>
                  </a:txBody>
                  <a:tcPr marL="109728" marR="109728" marT="36576" marB="36576" anchor="ctr">
                    <a:solidFill>
                      <a:srgbClr val="FFFFFF"/>
                    </a:solidFill>
                  </a:tcPr>
                </a:tc>
                <a:tc>
                  <a:txBody>
                    <a:bodyPr wrap="square"/>
                    <a:lstStyle/>
                    <a:p>
                      <a:r>
                        <a:rPr sz="2400">
                          <a:solidFill>
                            <a:srgbClr val="1A2238"/>
                          </a:solidFill>
                          <a:latin typeface="Arial"/>
                        </a:rPr>
                        <a:t>Keine Frist, aber schriftlich</a:t>
                      </a:r>
                    </a:p>
                  </a:txBody>
                  <a:tcPr marL="109728" marR="109728" marT="36576" marB="36576" anchor="ctr">
                    <a:solidFill>
                      <a:srgbClr val="FFFFFF"/>
                    </a:solidFill>
                  </a:tcPr>
                </a:tc>
              </a:tr>
              <a:tr h="777240">
                <a:tc>
                  <a:txBody>
                    <a:bodyPr wrap="square"/>
                    <a:lstStyle/>
                    <a:p>
                      <a:r>
                        <a:rPr sz="2400" b="1">
                          <a:solidFill>
                            <a:srgbClr val="14264B"/>
                          </a:solidFill>
                          <a:latin typeface="Arial"/>
                        </a:rPr>
                        <a:t>d) Kündigung schriftlich?</a:t>
                      </a:r>
                    </a:p>
                  </a:txBody>
                  <a:tcPr marL="109728" marR="109728" marT="36576" marB="36576" anchor="ctr">
                    <a:solidFill>
                      <a:srgbClr val="F6F8FC"/>
                    </a:solidFill>
                  </a:tcPr>
                </a:tc>
                <a:tc>
                  <a:txBody>
                    <a:bodyPr wrap="square"/>
                    <a:lstStyle/>
                    <a:p>
                      <a:r>
                        <a:rPr sz="2400">
                          <a:solidFill>
                            <a:srgbClr val="1A2238"/>
                          </a:solidFill>
                          <a:latin typeface="Arial"/>
                        </a:rPr>
                        <a:t>Ja, die Kündigung muss schriftlich erfolgen</a:t>
                      </a:r>
                    </a:p>
                  </a:txBody>
                  <a:tcPr marL="109728" marR="109728" marT="36576" marB="36576" anchor="ctr">
                    <a:solidFill>
                      <a:srgbClr val="F6F8FC"/>
                    </a:solidFill>
                  </a:tcPr>
                </a:tc>
              </a:tr>
            </a:tbl>
          </a:graphicData>
        </a:graphic>
      </p:graphicFrame>
      <p:sp>
        <p:nvSpPr>
          <p:cNvPr id="6" name="Rectangle 5"/>
          <p:cNvSpPr/>
          <p:nvPr/>
        </p:nvSpPr>
        <p:spPr>
          <a:xfrm>
            <a:off x="640080" y="5577840"/>
            <a:ext cx="10881360" cy="73152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5577840"/>
            <a:ext cx="91440" cy="73152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577840"/>
            <a:ext cx="10515600" cy="731520"/>
          </a:xfrm>
          <a:prstGeom prst="rect">
            <a:avLst/>
          </a:prstGeom>
          <a:noFill/>
        </p:spPr>
        <p:txBody>
          <a:bodyPr wrap="square" anchor="ctr">
            <a:spAutoFit/>
          </a:bodyPr>
          <a:lstStyle/>
          <a:p>
            <a:pPr algn="l"/>
            <a:r>
              <a:rPr sz="2800" b="1">
                <a:solidFill>
                  <a:srgbClr val="14264B"/>
                </a:solidFill>
                <a:latin typeface="Arial"/>
              </a:rPr>
              <a:t>Was war neu für euch?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SICHERUNG UND ABSCHLUSS</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Merkblatt und Feedback</a:t>
            </a:r>
          </a:p>
        </p:txBody>
      </p:sp>
      <p:sp>
        <p:nvSpPr>
          <p:cNvPr id="5" name="Rectangle 4"/>
          <p:cNvSpPr/>
          <p:nvPr/>
        </p:nvSpPr>
        <p:spPr>
          <a:xfrm>
            <a:off x="640080" y="1417320"/>
            <a:ext cx="6949440" cy="12801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91440" cy="12801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90472"/>
            <a:ext cx="6583679" cy="548640"/>
          </a:xfrm>
          <a:prstGeom prst="rect">
            <a:avLst/>
          </a:prstGeom>
          <a:noFill/>
        </p:spPr>
        <p:txBody>
          <a:bodyPr wrap="square" anchor="t">
            <a:spAutoFit/>
          </a:bodyPr>
          <a:lstStyle/>
          <a:p>
            <a:pPr algn="l"/>
            <a:r>
              <a:rPr sz="2600" b="1">
                <a:solidFill>
                  <a:srgbClr val="14264B"/>
                </a:solidFill>
                <a:latin typeface="Arial"/>
              </a:rPr>
              <a:t>Merkblatt</a:t>
            </a:r>
          </a:p>
        </p:txBody>
      </p:sp>
      <p:sp>
        <p:nvSpPr>
          <p:cNvPr id="8" name="TextBox 7"/>
          <p:cNvSpPr txBox="1"/>
          <p:nvPr/>
        </p:nvSpPr>
        <p:spPr>
          <a:xfrm>
            <a:off x="868680" y="2315260"/>
            <a:ext cx="6583679" cy="336499"/>
          </a:xfrm>
          <a:prstGeom prst="rect">
            <a:avLst/>
          </a:prstGeom>
          <a:noFill/>
        </p:spPr>
        <p:txBody>
          <a:bodyPr wrap="square" anchor="t">
            <a:spAutoFit/>
          </a:bodyPr>
          <a:lstStyle/>
          <a:p>
            <a:pPr algn="l"/>
            <a:r>
              <a:rPr sz="2400" b="0">
                <a:solidFill>
                  <a:srgbClr val="1A2238"/>
                </a:solidFill>
                <a:latin typeface="Arial"/>
              </a:rPr>
              <a:t>Das Wichtigste auf einer Seite – ausgeteilt.</a:t>
            </a:r>
          </a:p>
        </p:txBody>
      </p:sp>
      <p:sp>
        <p:nvSpPr>
          <p:cNvPr id="9" name="Rectangle 8"/>
          <p:cNvSpPr/>
          <p:nvPr/>
        </p:nvSpPr>
        <p:spPr>
          <a:xfrm>
            <a:off x="640080" y="2926080"/>
            <a:ext cx="6949440" cy="11887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926080"/>
            <a:ext cx="91440" cy="11887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63240"/>
            <a:ext cx="6583679" cy="1005840"/>
          </a:xfrm>
          <a:prstGeom prst="rect">
            <a:avLst/>
          </a:prstGeom>
          <a:noFill/>
        </p:spPr>
        <p:txBody>
          <a:bodyPr wrap="square" anchor="t">
            <a:spAutoFit/>
          </a:bodyPr>
          <a:lstStyle/>
          <a:p>
            <a:pPr algn="l"/>
            <a:r>
              <a:rPr sz="3000" b="1">
                <a:solidFill>
                  <a:srgbClr val="14264B"/>
                </a:solidFill>
                <a:latin typeface="Arial"/>
              </a:rPr>
              <a:t>Was war hilfreich?</a:t>
            </a:r>
          </a:p>
        </p:txBody>
      </p:sp>
      <p:sp>
        <p:nvSpPr>
          <p:cNvPr id="12" name="Rectangle 11"/>
          <p:cNvSpPr/>
          <p:nvPr/>
        </p:nvSpPr>
        <p:spPr>
          <a:xfrm>
            <a:off x="640080" y="4297680"/>
            <a:ext cx="6949440" cy="11887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297680"/>
            <a:ext cx="91440" cy="11887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34840"/>
            <a:ext cx="6583679" cy="1005840"/>
          </a:xfrm>
          <a:prstGeom prst="rect">
            <a:avLst/>
          </a:prstGeom>
          <a:noFill/>
        </p:spPr>
        <p:txBody>
          <a:bodyPr wrap="square" anchor="t">
            <a:spAutoFit/>
          </a:bodyPr>
          <a:lstStyle/>
          <a:p>
            <a:pPr algn="l"/>
            <a:r>
              <a:rPr sz="3000" b="1">
                <a:solidFill>
                  <a:srgbClr val="14264B"/>
                </a:solidFill>
                <a:latin typeface="Arial"/>
              </a:rPr>
              <a:t>Was fehlt euch noch?</a:t>
            </a:r>
          </a:p>
        </p:txBody>
      </p:sp>
      <p:sp>
        <p:nvSpPr>
          <p:cNvPr id="15" name="TextBox 14"/>
          <p:cNvSpPr txBox="1"/>
          <p:nvPr/>
        </p:nvSpPr>
        <p:spPr>
          <a:xfrm>
            <a:off x="640080" y="5669280"/>
            <a:ext cx="6949440" cy="822960"/>
          </a:xfrm>
          <a:prstGeom prst="rect">
            <a:avLst/>
          </a:prstGeom>
          <a:noFill/>
        </p:spPr>
        <p:txBody>
          <a:bodyPr wrap="square" anchor="t">
            <a:spAutoFit/>
          </a:bodyPr>
          <a:lstStyle/>
          <a:p>
            <a:pPr algn="l"/>
            <a:r>
              <a:rPr sz="4000" b="1">
                <a:solidFill>
                  <a:srgbClr val="F5A800"/>
                </a:solidFill>
                <a:latin typeface="Arial"/>
              </a:rPr>
              <a:t>Vielen Dank!</a:t>
            </a:r>
          </a:p>
        </p:txBody>
      </p:sp>
      <p:sp>
        <p:nvSpPr>
          <p:cNvPr id="16" name="Rectangle 15"/>
          <p:cNvSpPr/>
          <p:nvPr/>
        </p:nvSpPr>
        <p:spPr>
          <a:xfrm>
            <a:off x="8229600" y="1554480"/>
            <a:ext cx="3291840" cy="3291840"/>
          </a:xfrm>
          <a:prstGeom prst="rect">
            <a:avLst/>
          </a:prstGeom>
          <a:solidFill>
            <a:srgbClr val="FFFFFF"/>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r.png"/>
          <p:cNvPicPr>
            <a:picLocks noChangeAspect="1"/>
          </p:cNvPicPr>
          <p:nvPr/>
        </p:nvPicPr>
        <p:blipFill>
          <a:blip r:embed="rId3"/>
          <a:stretch>
            <a:fillRect/>
          </a:stretch>
        </p:blipFill>
        <p:spPr>
          <a:xfrm>
            <a:off x="8339327" y="1664208"/>
            <a:ext cx="3072384" cy="3072384"/>
          </a:xfrm>
          <a:prstGeom prst="rect">
            <a:avLst/>
          </a:prstGeom>
        </p:spPr>
      </p:pic>
      <p:sp>
        <p:nvSpPr>
          <p:cNvPr id="18" name="TextBox 17"/>
          <p:cNvSpPr txBox="1"/>
          <p:nvPr/>
        </p:nvSpPr>
        <p:spPr>
          <a:xfrm>
            <a:off x="8046720" y="4983480"/>
            <a:ext cx="3657600" cy="822960"/>
          </a:xfrm>
          <a:prstGeom prst="rect">
            <a:avLst/>
          </a:prstGeom>
          <a:noFill/>
        </p:spPr>
        <p:txBody>
          <a:bodyPr wrap="square" anchor="t">
            <a:spAutoFit/>
          </a:bodyPr>
          <a:lstStyle/>
          <a:p>
            <a:pPr algn="ctr"/>
            <a:r>
              <a:rPr sz="1800" b="1">
                <a:solidFill>
                  <a:srgbClr val="14264B"/>
                </a:solidFill>
                <a:latin typeface="Arial"/>
              </a:rPr>
              <a:t>Weiter üben</a:t>
            </a:r>
          </a:p>
          <a:p>
            <a:pPr algn="ctr">
              <a:spcBef>
                <a:spcPts val="630"/>
              </a:spcBef>
            </a:pPr>
            <a:r>
              <a:rPr sz="1800" b="0">
                <a:solidFill>
                  <a:srgbClr val="1A2238"/>
                </a:solidFill>
                <a:latin typeface="Arial"/>
              </a:rPr>
              <a:t>yasinbenx.github.io/azubi-vertrag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RESERVE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Reserve: Schnell fertig?</a:t>
            </a:r>
          </a:p>
        </p:txBody>
      </p:sp>
      <p:sp>
        <p:nvSpPr>
          <p:cNvPr id="5" name="Oval 4"/>
          <p:cNvSpPr/>
          <p:nvPr/>
        </p:nvSpPr>
        <p:spPr>
          <a:xfrm>
            <a:off x="822960" y="1645920"/>
            <a:ext cx="731520" cy="73152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1</a:t>
            </a:r>
          </a:p>
        </p:txBody>
      </p:sp>
      <p:sp>
        <p:nvSpPr>
          <p:cNvPr id="6" name="TextBox 5"/>
          <p:cNvSpPr txBox="1"/>
          <p:nvPr/>
        </p:nvSpPr>
        <p:spPr>
          <a:xfrm>
            <a:off x="1828800" y="1554480"/>
            <a:ext cx="9601200" cy="914400"/>
          </a:xfrm>
          <a:prstGeom prst="rect">
            <a:avLst/>
          </a:prstGeom>
          <a:noFill/>
        </p:spPr>
        <p:txBody>
          <a:bodyPr wrap="square" anchor="ctr">
            <a:spAutoFit/>
          </a:bodyPr>
          <a:lstStyle/>
          <a:p>
            <a:pPr algn="l"/>
            <a:r>
              <a:rPr sz="2800" b="0">
                <a:solidFill>
                  <a:srgbClr val="1A2238"/>
                </a:solidFill>
                <a:latin typeface="Arial"/>
              </a:rPr>
              <a:t>Experten-Karten auf der Website öffnen</a:t>
            </a:r>
          </a:p>
        </p:txBody>
      </p:sp>
      <p:sp>
        <p:nvSpPr>
          <p:cNvPr id="7" name="Oval 6"/>
          <p:cNvSpPr/>
          <p:nvPr/>
        </p:nvSpPr>
        <p:spPr>
          <a:xfrm>
            <a:off x="822960" y="2834640"/>
            <a:ext cx="731520" cy="73152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2</a:t>
            </a:r>
          </a:p>
        </p:txBody>
      </p:sp>
      <p:sp>
        <p:nvSpPr>
          <p:cNvPr id="8" name="TextBox 7"/>
          <p:cNvSpPr txBox="1"/>
          <p:nvPr/>
        </p:nvSpPr>
        <p:spPr>
          <a:xfrm>
            <a:off x="1828800" y="2743200"/>
            <a:ext cx="9601200" cy="914400"/>
          </a:xfrm>
          <a:prstGeom prst="rect">
            <a:avLst/>
          </a:prstGeom>
          <a:noFill/>
        </p:spPr>
        <p:txBody>
          <a:bodyPr wrap="square" anchor="ctr">
            <a:spAutoFit/>
          </a:bodyPr>
          <a:lstStyle/>
          <a:p>
            <a:pPr algn="l"/>
            <a:r>
              <a:rPr sz="2800" b="0">
                <a:solidFill>
                  <a:srgbClr val="1A2238"/>
                </a:solidFill>
                <a:latin typeface="Arial"/>
              </a:rPr>
              <a:t>Thema wählen und dem Partner in einer Minute erklären</a:t>
            </a:r>
          </a:p>
        </p:txBody>
      </p:sp>
      <p:sp>
        <p:nvSpPr>
          <p:cNvPr id="9" name="Oval 8"/>
          <p:cNvSpPr/>
          <p:nvPr/>
        </p:nvSpPr>
        <p:spPr>
          <a:xfrm>
            <a:off x="822960" y="4023359"/>
            <a:ext cx="731520" cy="73152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3</a:t>
            </a:r>
          </a:p>
        </p:txBody>
      </p:sp>
      <p:sp>
        <p:nvSpPr>
          <p:cNvPr id="10" name="TextBox 9"/>
          <p:cNvSpPr txBox="1"/>
          <p:nvPr/>
        </p:nvSpPr>
        <p:spPr>
          <a:xfrm>
            <a:off x="1828800" y="3931920"/>
            <a:ext cx="9601200" cy="914400"/>
          </a:xfrm>
          <a:prstGeom prst="rect">
            <a:avLst/>
          </a:prstGeom>
          <a:noFill/>
        </p:spPr>
        <p:txBody>
          <a:bodyPr wrap="square" anchor="ctr">
            <a:spAutoFit/>
          </a:bodyPr>
          <a:lstStyle/>
          <a:p>
            <a:pPr algn="l"/>
            <a:r>
              <a:rPr sz="2800" b="0">
                <a:solidFill>
                  <a:srgbClr val="1A2238"/>
                </a:solidFill>
                <a:latin typeface="Arial"/>
              </a:rPr>
              <a:t>Frage lösen</a:t>
            </a:r>
          </a:p>
        </p:txBody>
      </p:sp>
      <p:sp>
        <p:nvSpPr>
          <p:cNvPr id="11" name="Oval 10"/>
          <p:cNvSpPr/>
          <p:nvPr/>
        </p:nvSpPr>
        <p:spPr>
          <a:xfrm>
            <a:off x="822960" y="5212080"/>
            <a:ext cx="731520" cy="73152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5A800"/>
                </a:solidFill>
                <a:latin typeface="Arial"/>
              </a:rPr>
              <a:t>4</a:t>
            </a:r>
          </a:p>
        </p:txBody>
      </p:sp>
      <p:sp>
        <p:nvSpPr>
          <p:cNvPr id="12" name="TextBox 11"/>
          <p:cNvSpPr txBox="1"/>
          <p:nvPr/>
        </p:nvSpPr>
        <p:spPr>
          <a:xfrm>
            <a:off x="1828800" y="5120640"/>
            <a:ext cx="9601200" cy="914400"/>
          </a:xfrm>
          <a:prstGeom prst="rect">
            <a:avLst/>
          </a:prstGeom>
          <a:noFill/>
        </p:spPr>
        <p:txBody>
          <a:bodyPr wrap="square" anchor="ctr">
            <a:spAutoFit/>
          </a:bodyPr>
          <a:lstStyle/>
          <a:p>
            <a:pPr algn="l"/>
            <a:r>
              <a:rPr sz="2800" b="0">
                <a:solidFill>
                  <a:srgbClr val="1A2238"/>
                </a:solidFill>
                <a:latin typeface="Arial"/>
              </a:rPr>
              <a:t>Oder: Fälle D und E bearbeiten</a:t>
            </a:r>
          </a:p>
        </p:txBody>
      </p:sp>
      <p:sp>
        <p:nvSpPr>
          <p:cNvPr id="13" name="TextBox 12"/>
          <p:cNvSpPr txBox="1"/>
          <p:nvPr/>
        </p:nvSpPr>
        <p:spPr>
          <a:xfrm>
            <a:off x="640080" y="6309360"/>
            <a:ext cx="10972800" cy="411480"/>
          </a:xfrm>
          <a:prstGeom prst="rect">
            <a:avLst/>
          </a:prstGeom>
          <a:noFill/>
        </p:spPr>
        <p:txBody>
          <a:bodyPr wrap="square" anchor="t">
            <a:spAutoFit/>
          </a:bodyPr>
          <a:lstStyle/>
          <a:p>
            <a:pPr algn="l"/>
            <a:r>
              <a:rPr sz="1800" b="1">
                <a:solidFill>
                  <a:srgbClr val="14264B"/>
                </a:solidFill>
                <a:latin typeface="Arial"/>
              </a:rPr>
              <a:t>yasinbenx.github.io/azubi-vertrag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Rote/Grüne Karte – Aussagen</a:t>
            </a:r>
          </a:p>
        </p:txBody>
      </p:sp>
      <p:graphicFrame>
        <p:nvGraphicFramePr>
          <p:cNvPr id="5" name="Table 4"/>
          <p:cNvGraphicFramePr>
            <a:graphicFrameLocks noGrp="1"/>
          </p:cNvGraphicFramePr>
          <p:nvPr/>
        </p:nvGraphicFramePr>
        <p:xfrm>
          <a:off x="640080" y="1325880"/>
          <a:ext cx="10881360" cy="4727448"/>
        </p:xfrm>
        <a:graphic>
          <a:graphicData uri="http://schemas.openxmlformats.org/drawingml/2006/table">
            <a:tbl>
              <a:tblPr firstRow="0" bandRow="0">
                <a:tableStyleId>{5C22544A-7EE6-4342-B048-85BDC9FD1C3A}</a:tableStyleId>
              </a:tblPr>
              <a:tblGrid>
                <a:gridCol w="822960"/>
                <a:gridCol w="10058400"/>
              </a:tblGrid>
              <a:tr h="429768">
                <a:tc>
                  <a:txBody>
                    <a:bodyPr wrap="square"/>
                    <a:lstStyle/>
                    <a:p>
                      <a:r>
                        <a:rPr sz="1600" b="1">
                          <a:solidFill>
                            <a:srgbClr val="FFFFFF"/>
                          </a:solidFill>
                          <a:latin typeface="Arial"/>
                        </a:rPr>
                        <a:t>Nr.</a:t>
                      </a:r>
                    </a:p>
                  </a:txBody>
                  <a:tcPr marL="109728" marR="109728" marT="36576" marB="36576" anchor="ctr">
                    <a:solidFill>
                      <a:srgbClr val="14264B"/>
                    </a:solidFill>
                  </a:tcPr>
                </a:tc>
                <a:tc>
                  <a:txBody>
                    <a:bodyPr wrap="square"/>
                    <a:lstStyle/>
                    <a:p>
                      <a:r>
                        <a:rPr sz="1600" b="1">
                          <a:solidFill>
                            <a:srgbClr val="FFFFFF"/>
                          </a:solidFill>
                          <a:latin typeface="Arial"/>
                        </a:rPr>
                        <a:t>Aussage</a:t>
                      </a:r>
                    </a:p>
                  </a:txBody>
                  <a:tcPr marL="109728" marR="109728" marT="36576" marB="36576" anchor="ctr">
                    <a:solidFill>
                      <a:srgbClr val="14264B"/>
                    </a:solidFill>
                  </a:tcPr>
                </a:tc>
              </a:tr>
              <a:tr h="429768">
                <a:tc>
                  <a:txBody>
                    <a:bodyPr wrap="square"/>
                    <a:lstStyle/>
                    <a:p>
                      <a:r>
                        <a:rPr sz="1600" b="1">
                          <a:solidFill>
                            <a:srgbClr val="14264B"/>
                          </a:solidFill>
                          <a:latin typeface="Arial"/>
                        </a:rPr>
                        <a:t>1</a:t>
                      </a:r>
                    </a:p>
                  </a:txBody>
                  <a:tcPr marL="109728" marR="109728" marT="36576" marB="36576" anchor="ctr">
                    <a:solidFill>
                      <a:srgbClr val="FFFFFF"/>
                    </a:solidFill>
                  </a:tcPr>
                </a:tc>
                <a:tc>
                  <a:txBody>
                    <a:bodyPr wrap="square"/>
                    <a:lstStyle/>
                    <a:p>
                      <a:r>
                        <a:rPr sz="1600">
                          <a:solidFill>
                            <a:srgbClr val="1A2238"/>
                          </a:solidFill>
                          <a:latin typeface="Arial"/>
                        </a:rPr>
                        <a:t>Die Probezeit darf höchstens vier Monate dauern.</a:t>
                      </a:r>
                    </a:p>
                  </a:txBody>
                  <a:tcPr marL="109728" marR="109728" marT="36576" marB="36576" anchor="ctr">
                    <a:solidFill>
                      <a:srgbClr val="FFFFFF"/>
                    </a:solidFill>
                  </a:tcPr>
                </a:tc>
              </a:tr>
              <a:tr h="429768">
                <a:tc>
                  <a:txBody>
                    <a:bodyPr wrap="square"/>
                    <a:lstStyle/>
                    <a:p>
                      <a:r>
                        <a:rPr sz="1600" b="1">
                          <a:solidFill>
                            <a:srgbClr val="14264B"/>
                          </a:solidFill>
                          <a:latin typeface="Arial"/>
                        </a:rPr>
                        <a:t>2</a:t>
                      </a:r>
                    </a:p>
                  </a:txBody>
                  <a:tcPr marL="109728" marR="109728" marT="36576" marB="36576" anchor="ctr">
                    <a:solidFill>
                      <a:srgbClr val="F6F8FC"/>
                    </a:solidFill>
                  </a:tcPr>
                </a:tc>
                <a:tc>
                  <a:txBody>
                    <a:bodyPr wrap="square"/>
                    <a:lstStyle/>
                    <a:p>
                      <a:r>
                        <a:rPr sz="1600">
                          <a:solidFill>
                            <a:srgbClr val="1A2238"/>
                          </a:solidFill>
                          <a:latin typeface="Arial"/>
                        </a:rPr>
                        <a:t>Die Probezeit darf sechs Monate dauern, wenn der Azubi zustimmt.</a:t>
                      </a:r>
                    </a:p>
                  </a:txBody>
                  <a:tcPr marL="109728" marR="109728" marT="36576" marB="36576" anchor="ctr">
                    <a:solidFill>
                      <a:srgbClr val="F6F8FC"/>
                    </a:solidFill>
                  </a:tcPr>
                </a:tc>
              </a:tr>
              <a:tr h="429768">
                <a:tc>
                  <a:txBody>
                    <a:bodyPr wrap="square"/>
                    <a:lstStyle/>
                    <a:p>
                      <a:r>
                        <a:rPr sz="1600" b="1">
                          <a:solidFill>
                            <a:srgbClr val="14264B"/>
                          </a:solidFill>
                          <a:latin typeface="Arial"/>
                        </a:rPr>
                        <a:t>3</a:t>
                      </a:r>
                    </a:p>
                  </a:txBody>
                  <a:tcPr marL="109728" marR="109728" marT="36576" marB="36576" anchor="ctr">
                    <a:solidFill>
                      <a:srgbClr val="FFFFFF"/>
                    </a:solidFill>
                  </a:tcPr>
                </a:tc>
                <a:tc>
                  <a:txBody>
                    <a:bodyPr wrap="square"/>
                    <a:lstStyle/>
                    <a:p>
                      <a:r>
                        <a:rPr sz="1600">
                          <a:solidFill>
                            <a:srgbClr val="1A2238"/>
                          </a:solidFill>
                          <a:latin typeface="Arial"/>
                        </a:rPr>
                        <a:t>In der Probezeit kann der Azubi jederzeit ohne Frist kündigen.</a:t>
                      </a:r>
                    </a:p>
                  </a:txBody>
                  <a:tcPr marL="109728" marR="109728" marT="36576" marB="36576" anchor="ctr">
                    <a:solidFill>
                      <a:srgbClr val="FFFFFF"/>
                    </a:solidFill>
                  </a:tcPr>
                </a:tc>
              </a:tr>
              <a:tr h="429768">
                <a:tc>
                  <a:txBody>
                    <a:bodyPr wrap="square"/>
                    <a:lstStyle/>
                    <a:p>
                      <a:r>
                        <a:rPr sz="1600" b="1">
                          <a:solidFill>
                            <a:srgbClr val="14264B"/>
                          </a:solidFill>
                          <a:latin typeface="Arial"/>
                        </a:rPr>
                        <a:t>4</a:t>
                      </a:r>
                    </a:p>
                  </a:txBody>
                  <a:tcPr marL="109728" marR="109728" marT="36576" marB="36576" anchor="ctr">
                    <a:solidFill>
                      <a:srgbClr val="F6F8FC"/>
                    </a:solidFill>
                  </a:tcPr>
                </a:tc>
                <a:tc>
                  <a:txBody>
                    <a:bodyPr wrap="square"/>
                    <a:lstStyle/>
                    <a:p>
                      <a:r>
                        <a:rPr sz="1600">
                          <a:solidFill>
                            <a:srgbClr val="1A2238"/>
                          </a:solidFill>
                          <a:latin typeface="Arial"/>
                        </a:rPr>
                        <a:t>Nach der Probezeit darf der Azubi mit vier Wochen Frist kündigen, wenn er den Beruf wechseln will.</a:t>
                      </a:r>
                    </a:p>
                  </a:txBody>
                  <a:tcPr marL="109728" marR="109728" marT="36576" marB="36576" anchor="ctr">
                    <a:solidFill>
                      <a:srgbClr val="F6F8FC"/>
                    </a:solidFill>
                  </a:tcPr>
                </a:tc>
              </a:tr>
              <a:tr h="429768">
                <a:tc>
                  <a:txBody>
                    <a:bodyPr wrap="square"/>
                    <a:lstStyle/>
                    <a:p>
                      <a:r>
                        <a:rPr sz="1600" b="1">
                          <a:solidFill>
                            <a:srgbClr val="14264B"/>
                          </a:solidFill>
                          <a:latin typeface="Arial"/>
                        </a:rPr>
                        <a:t>5</a:t>
                      </a:r>
                    </a:p>
                  </a:txBody>
                  <a:tcPr marL="109728" marR="109728" marT="36576" marB="36576" anchor="ctr">
                    <a:solidFill>
                      <a:srgbClr val="FFFFFF"/>
                    </a:solidFill>
                  </a:tcPr>
                </a:tc>
                <a:tc>
                  <a:txBody>
                    <a:bodyPr wrap="square"/>
                    <a:lstStyle/>
                    <a:p>
                      <a:r>
                        <a:rPr sz="1600">
                          <a:solidFill>
                            <a:srgbClr val="1A2238"/>
                          </a:solidFill>
                          <a:latin typeface="Arial"/>
                        </a:rPr>
                        <a:t>Eine Kündigung per E-Mail ist wirksam, wenn sie rechtzeitig ankommt.</a:t>
                      </a:r>
                    </a:p>
                  </a:txBody>
                  <a:tcPr marL="109728" marR="109728" marT="36576" marB="36576" anchor="ctr">
                    <a:solidFill>
                      <a:srgbClr val="FFFFFF"/>
                    </a:solidFill>
                  </a:tcPr>
                </a:tc>
              </a:tr>
              <a:tr h="429768">
                <a:tc>
                  <a:txBody>
                    <a:bodyPr wrap="square"/>
                    <a:lstStyle/>
                    <a:p>
                      <a:r>
                        <a:rPr sz="1600" b="1">
                          <a:solidFill>
                            <a:srgbClr val="14264B"/>
                          </a:solidFill>
                          <a:latin typeface="Arial"/>
                        </a:rPr>
                        <a:t>6</a:t>
                      </a:r>
                    </a:p>
                  </a:txBody>
                  <a:tcPr marL="109728" marR="109728" marT="36576" marB="36576" anchor="ctr">
                    <a:solidFill>
                      <a:srgbClr val="F6F8FC"/>
                    </a:solidFill>
                  </a:tcPr>
                </a:tc>
                <a:tc>
                  <a:txBody>
                    <a:bodyPr wrap="square"/>
                    <a:lstStyle/>
                    <a:p>
                      <a:r>
                        <a:rPr sz="1600">
                          <a:solidFill>
                            <a:srgbClr val="1A2238"/>
                          </a:solidFill>
                          <a:latin typeface="Arial"/>
                        </a:rPr>
                        <a:t>Die Mindestausbildungsvergütung im 1. Jahr beträgt bei Beginn 2026 724 €.</a:t>
                      </a:r>
                    </a:p>
                  </a:txBody>
                  <a:tcPr marL="109728" marR="109728" marT="36576" marB="36576" anchor="ctr">
                    <a:solidFill>
                      <a:srgbClr val="F6F8FC"/>
                    </a:solidFill>
                  </a:tcPr>
                </a:tc>
              </a:tr>
              <a:tr h="429768">
                <a:tc>
                  <a:txBody>
                    <a:bodyPr wrap="square"/>
                    <a:lstStyle/>
                    <a:p>
                      <a:r>
                        <a:rPr sz="1600" b="1">
                          <a:solidFill>
                            <a:srgbClr val="14264B"/>
                          </a:solidFill>
                          <a:latin typeface="Arial"/>
                        </a:rPr>
                        <a:t>7</a:t>
                      </a:r>
                    </a:p>
                  </a:txBody>
                  <a:tcPr marL="109728" marR="109728" marT="36576" marB="36576" anchor="ctr">
                    <a:solidFill>
                      <a:srgbClr val="FFFFFF"/>
                    </a:solidFill>
                  </a:tcPr>
                </a:tc>
                <a:tc>
                  <a:txBody>
                    <a:bodyPr wrap="square"/>
                    <a:lstStyle/>
                    <a:p>
                      <a:r>
                        <a:rPr sz="1600">
                          <a:solidFill>
                            <a:srgbClr val="1A2238"/>
                          </a:solidFill>
                          <a:latin typeface="Arial"/>
                        </a:rPr>
                        <a:t>Ein volljähriger Azubi hat mindestens 24 Werktage Urlaub.</a:t>
                      </a:r>
                    </a:p>
                  </a:txBody>
                  <a:tcPr marL="109728" marR="109728" marT="36576" marB="36576" anchor="ctr">
                    <a:solidFill>
                      <a:srgbClr val="FFFFFF"/>
                    </a:solidFill>
                  </a:tcPr>
                </a:tc>
              </a:tr>
              <a:tr h="429768">
                <a:tc>
                  <a:txBody>
                    <a:bodyPr wrap="square"/>
                    <a:lstStyle/>
                    <a:p>
                      <a:r>
                        <a:rPr sz="1600" b="1">
                          <a:solidFill>
                            <a:srgbClr val="14264B"/>
                          </a:solidFill>
                          <a:latin typeface="Arial"/>
                        </a:rPr>
                        <a:t>8</a:t>
                      </a:r>
                    </a:p>
                  </a:txBody>
                  <a:tcPr marL="109728" marR="109728" marT="36576" marB="36576" anchor="ctr">
                    <a:solidFill>
                      <a:srgbClr val="F6F8FC"/>
                    </a:solidFill>
                  </a:tcPr>
                </a:tc>
                <a:tc>
                  <a:txBody>
                    <a:bodyPr wrap="square"/>
                    <a:lstStyle/>
                    <a:p>
                      <a:r>
                        <a:rPr sz="1600">
                          <a:solidFill>
                            <a:srgbClr val="1A2238"/>
                          </a:solidFill>
                          <a:latin typeface="Arial"/>
                        </a:rPr>
                        <a:t>Werktage sind nur Montag bis Freitag.</a:t>
                      </a:r>
                    </a:p>
                  </a:txBody>
                  <a:tcPr marL="109728" marR="109728" marT="36576" marB="36576" anchor="ctr">
                    <a:solidFill>
                      <a:srgbClr val="F6F8FC"/>
                    </a:solidFill>
                  </a:tcPr>
                </a:tc>
              </a:tr>
              <a:tr h="429768">
                <a:tc>
                  <a:txBody>
                    <a:bodyPr wrap="square"/>
                    <a:lstStyle/>
                    <a:p>
                      <a:r>
                        <a:rPr sz="1600" b="1">
                          <a:solidFill>
                            <a:srgbClr val="14264B"/>
                          </a:solidFill>
                          <a:latin typeface="Arial"/>
                        </a:rPr>
                        <a:t>9</a:t>
                      </a:r>
                    </a:p>
                  </a:txBody>
                  <a:tcPr marL="109728" marR="109728" marT="36576" marB="36576" anchor="ctr">
                    <a:solidFill>
                      <a:srgbClr val="FFFFFF"/>
                    </a:solidFill>
                  </a:tcPr>
                </a:tc>
                <a:tc>
                  <a:txBody>
                    <a:bodyPr wrap="square"/>
                    <a:lstStyle/>
                    <a:p>
                      <a:r>
                        <a:rPr sz="1600">
                          <a:solidFill>
                            <a:srgbClr val="1A2238"/>
                          </a:solidFill>
                          <a:latin typeface="Arial"/>
                        </a:rPr>
                        <a:t>Jugendliche dürfen täglich bis zu 10 Stunden arbeiten.</a:t>
                      </a:r>
                    </a:p>
                  </a:txBody>
                  <a:tcPr marL="109728" marR="109728" marT="36576" marB="36576" anchor="ctr">
                    <a:solidFill>
                      <a:srgbClr val="FFFFFF"/>
                    </a:solidFill>
                  </a:tcPr>
                </a:tc>
              </a:tr>
              <a:tr h="429768">
                <a:tc>
                  <a:txBody>
                    <a:bodyPr wrap="square"/>
                    <a:lstStyle/>
                    <a:p>
                      <a:r>
                        <a:rPr sz="1600" b="1">
                          <a:solidFill>
                            <a:srgbClr val="14264B"/>
                          </a:solidFill>
                          <a:latin typeface="Arial"/>
                        </a:rPr>
                        <a:t>10</a:t>
                      </a:r>
                    </a:p>
                  </a:txBody>
                  <a:tcPr marL="109728" marR="109728" marT="36576" marB="36576" anchor="ctr">
                    <a:solidFill>
                      <a:srgbClr val="F6F8FC"/>
                    </a:solidFill>
                  </a:tcPr>
                </a:tc>
                <a:tc>
                  <a:txBody>
                    <a:bodyPr wrap="square"/>
                    <a:lstStyle/>
                    <a:p>
                      <a:r>
                        <a:rPr sz="1600">
                          <a:solidFill>
                            <a:srgbClr val="1A2238"/>
                          </a:solidFill>
                          <a:latin typeface="Arial"/>
                        </a:rPr>
                        <a:t>Der Betrieb muss den Azubi am Arbeitstag vor der schriftlichen Abschlussprüfung freistellen.</a:t>
                      </a:r>
                    </a:p>
                  </a:txBody>
                  <a:tcPr marL="109728" marR="109728" marT="36576" marB="36576" anchor="ctr">
                    <a:solidFill>
                      <a:srgbClr val="F6F8FC"/>
                    </a:solidFill>
                  </a:tcPr>
                </a:tc>
              </a:tr>
            </a:tbl>
          </a:graphicData>
        </a:graphic>
      </p:graphicFrame>
      <p:sp>
        <p:nvSpPr>
          <p:cNvPr id="6" name="TextBox 5"/>
          <p:cNvSpPr txBox="1"/>
          <p:nvPr/>
        </p:nvSpPr>
        <p:spPr>
          <a:xfrm>
            <a:off x="640080" y="5989320"/>
            <a:ext cx="10881360" cy="457200"/>
          </a:xfrm>
          <a:prstGeom prst="rect">
            <a:avLst/>
          </a:prstGeom>
          <a:noFill/>
        </p:spPr>
        <p:txBody>
          <a:bodyPr wrap="square" anchor="t">
            <a:spAutoFit/>
          </a:bodyPr>
          <a:lstStyle/>
          <a:p>
            <a:pPr algn="l"/>
            <a:r>
              <a:rPr sz="2000" b="1">
                <a:solidFill>
                  <a:srgbClr val="14264B"/>
                </a:solidFill>
                <a:latin typeface="Arial"/>
              </a:rPr>
              <a:t>Daumen hoch = Stimmt · Daumen runter = Stimmt nicht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Rote/Grüne Karte – Lösungen</a:t>
            </a:r>
          </a:p>
        </p:txBody>
      </p:sp>
      <p:graphicFrame>
        <p:nvGraphicFramePr>
          <p:cNvPr id="5" name="Table 4"/>
          <p:cNvGraphicFramePr>
            <a:graphicFrameLocks noGrp="1"/>
          </p:cNvGraphicFramePr>
          <p:nvPr/>
        </p:nvGraphicFramePr>
        <p:xfrm>
          <a:off x="640080" y="1325880"/>
          <a:ext cx="10881360" cy="5029200"/>
        </p:xfrm>
        <a:graphic>
          <a:graphicData uri="http://schemas.openxmlformats.org/drawingml/2006/table">
            <a:tbl>
              <a:tblPr firstRow="0" bandRow="0">
                <a:tableStyleId>{5C22544A-7EE6-4342-B048-85BDC9FD1C3A}</a:tableStyleId>
              </a:tblPr>
              <a:tblGrid>
                <a:gridCol w="822960"/>
                <a:gridCol w="2194560"/>
                <a:gridCol w="7863840"/>
              </a:tblGrid>
              <a:tr h="457200">
                <a:tc>
                  <a:txBody>
                    <a:bodyPr wrap="square"/>
                    <a:lstStyle/>
                    <a:p>
                      <a:r>
                        <a:rPr sz="1500" b="1">
                          <a:solidFill>
                            <a:srgbClr val="FFFFFF"/>
                          </a:solidFill>
                          <a:latin typeface="Arial"/>
                        </a:rPr>
                        <a:t>Nr.</a:t>
                      </a:r>
                    </a:p>
                  </a:txBody>
                  <a:tcPr marL="109728" marR="109728" marT="36576" marB="36576" anchor="ctr">
                    <a:solidFill>
                      <a:srgbClr val="14264B"/>
                    </a:solidFill>
                  </a:tcPr>
                </a:tc>
                <a:tc>
                  <a:txBody>
                    <a:bodyPr wrap="square"/>
                    <a:lstStyle/>
                    <a:p>
                      <a:r>
                        <a:rPr sz="1500" b="1">
                          <a:solidFill>
                            <a:srgbClr val="FFFFFF"/>
                          </a:solidFill>
                          <a:latin typeface="Arial"/>
                        </a:rPr>
                        <a:t>Lösung</a:t>
                      </a:r>
                    </a:p>
                  </a:txBody>
                  <a:tcPr marL="109728" marR="109728" marT="36576" marB="36576" anchor="ctr">
                    <a:solidFill>
                      <a:srgbClr val="14264B"/>
                    </a:solidFill>
                  </a:tcPr>
                </a:tc>
                <a:tc>
                  <a:txBody>
                    <a:bodyPr wrap="square"/>
                    <a:lstStyle/>
                    <a:p>
                      <a:r>
                        <a:rPr sz="1500" b="1">
                          <a:solidFill>
                            <a:srgbClr val="FFFFFF"/>
                          </a:solidFill>
                          <a:latin typeface="Arial"/>
                        </a:rPr>
                        <a:t>Begründung</a:t>
                      </a:r>
                    </a:p>
                  </a:txBody>
                  <a:tcPr marL="109728" marR="109728" marT="36576" marB="36576" anchor="ctr">
                    <a:solidFill>
                      <a:srgbClr val="14264B"/>
                    </a:solidFill>
                  </a:tcPr>
                </a:tc>
              </a:tr>
              <a:tr h="457200">
                <a:tc>
                  <a:txBody>
                    <a:bodyPr wrap="square"/>
                    <a:lstStyle/>
                    <a:p>
                      <a:r>
                        <a:rPr sz="1500" b="1">
                          <a:solidFill>
                            <a:srgbClr val="14264B"/>
                          </a:solidFill>
                          <a:latin typeface="Arial"/>
                        </a:rPr>
                        <a:t>1</a:t>
                      </a:r>
                    </a:p>
                  </a:txBody>
                  <a:tcPr marL="109728" marR="109728" marT="36576" marB="36576" anchor="ctr">
                    <a:solidFill>
                      <a:srgbClr val="FFFFFF"/>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20 BBiG</a:t>
                      </a:r>
                    </a:p>
                  </a:txBody>
                  <a:tcPr marL="109728" marR="109728" marT="36576" marB="36576" anchor="ctr">
                    <a:solidFill>
                      <a:srgbClr val="FFFFFF"/>
                    </a:solidFill>
                  </a:tcPr>
                </a:tc>
              </a:tr>
              <a:tr h="457200">
                <a:tc>
                  <a:txBody>
                    <a:bodyPr wrap="square"/>
                    <a:lstStyle/>
                    <a:p>
                      <a:r>
                        <a:rPr sz="1500" b="1">
                          <a:solidFill>
                            <a:srgbClr val="14264B"/>
                          </a:solidFill>
                          <a:latin typeface="Arial"/>
                        </a:rPr>
                        <a:t>2</a:t>
                      </a:r>
                    </a:p>
                  </a:txBody>
                  <a:tcPr marL="109728" marR="109728" marT="36576" marB="36576" anchor="ctr">
                    <a:solidFill>
                      <a:srgbClr val="F6F8FC"/>
                    </a:solidFill>
                  </a:tcPr>
                </a:tc>
                <a:tc>
                  <a:txBody>
                    <a:bodyPr wrap="square"/>
                    <a:lstStyle/>
                    <a:p>
                      <a:r>
                        <a:rPr sz="1500" b="1">
                          <a:solidFill>
                            <a:srgbClr val="FFFFFF"/>
                          </a:solidFill>
                          <a:latin typeface="Arial"/>
                        </a:rPr>
                        <a:t>✗ Stimmt nicht</a:t>
                      </a:r>
                    </a:p>
                  </a:txBody>
                  <a:tcPr marL="109728" marR="109728" marT="36576" marB="36576" anchor="ctr">
                    <a:solidFill>
                      <a:srgbClr val="B3261E"/>
                    </a:solidFill>
                  </a:tcPr>
                </a:tc>
                <a:tc>
                  <a:txBody>
                    <a:bodyPr wrap="square"/>
                    <a:lstStyle/>
                    <a:p>
                      <a:r>
                        <a:rPr sz="1500">
                          <a:solidFill>
                            <a:srgbClr val="1A2238"/>
                          </a:solidFill>
                          <a:latin typeface="Arial"/>
                        </a:rPr>
                        <a:t>höchstens vier Monate (§ 20 BBiG)</a:t>
                      </a:r>
                    </a:p>
                  </a:txBody>
                  <a:tcPr marL="109728" marR="109728" marT="36576" marB="36576" anchor="ctr">
                    <a:solidFill>
                      <a:srgbClr val="F6F8FC"/>
                    </a:solidFill>
                  </a:tcPr>
                </a:tc>
              </a:tr>
              <a:tr h="457200">
                <a:tc>
                  <a:txBody>
                    <a:bodyPr wrap="square"/>
                    <a:lstStyle/>
                    <a:p>
                      <a:r>
                        <a:rPr sz="1500" b="1">
                          <a:solidFill>
                            <a:srgbClr val="14264B"/>
                          </a:solidFill>
                          <a:latin typeface="Arial"/>
                        </a:rPr>
                        <a:t>3</a:t>
                      </a:r>
                    </a:p>
                  </a:txBody>
                  <a:tcPr marL="109728" marR="109728" marT="36576" marB="36576" anchor="ctr">
                    <a:solidFill>
                      <a:srgbClr val="FFFFFF"/>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22 Abs. 1 BBiG</a:t>
                      </a:r>
                    </a:p>
                  </a:txBody>
                  <a:tcPr marL="109728" marR="109728" marT="36576" marB="36576" anchor="ctr">
                    <a:solidFill>
                      <a:srgbClr val="FFFFFF"/>
                    </a:solidFill>
                  </a:tcPr>
                </a:tc>
              </a:tr>
              <a:tr h="457200">
                <a:tc>
                  <a:txBody>
                    <a:bodyPr wrap="square"/>
                    <a:lstStyle/>
                    <a:p>
                      <a:r>
                        <a:rPr sz="1500" b="1">
                          <a:solidFill>
                            <a:srgbClr val="14264B"/>
                          </a:solidFill>
                          <a:latin typeface="Arial"/>
                        </a:rPr>
                        <a:t>4</a:t>
                      </a:r>
                    </a:p>
                  </a:txBody>
                  <a:tcPr marL="109728" marR="109728" marT="36576" marB="36576" anchor="ctr">
                    <a:solidFill>
                      <a:srgbClr val="F6F8FC"/>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22 Abs. 2 BBiG</a:t>
                      </a:r>
                    </a:p>
                  </a:txBody>
                  <a:tcPr marL="109728" marR="109728" marT="36576" marB="36576" anchor="ctr">
                    <a:solidFill>
                      <a:srgbClr val="F6F8FC"/>
                    </a:solidFill>
                  </a:tcPr>
                </a:tc>
              </a:tr>
              <a:tr h="457200">
                <a:tc>
                  <a:txBody>
                    <a:bodyPr wrap="square"/>
                    <a:lstStyle/>
                    <a:p>
                      <a:r>
                        <a:rPr sz="1500" b="1">
                          <a:solidFill>
                            <a:srgbClr val="14264B"/>
                          </a:solidFill>
                          <a:latin typeface="Arial"/>
                        </a:rPr>
                        <a:t>5</a:t>
                      </a:r>
                    </a:p>
                  </a:txBody>
                  <a:tcPr marL="109728" marR="109728" marT="36576" marB="36576" anchor="ctr">
                    <a:solidFill>
                      <a:srgbClr val="FFFFFF"/>
                    </a:solidFill>
                  </a:tcPr>
                </a:tc>
                <a:tc>
                  <a:txBody>
                    <a:bodyPr wrap="square"/>
                    <a:lstStyle/>
                    <a:p>
                      <a:r>
                        <a:rPr sz="1500" b="1">
                          <a:solidFill>
                            <a:srgbClr val="FFFFFF"/>
                          </a:solidFill>
                          <a:latin typeface="Arial"/>
                        </a:rPr>
                        <a:t>✗ Stimmt nicht</a:t>
                      </a:r>
                    </a:p>
                  </a:txBody>
                  <a:tcPr marL="109728" marR="109728" marT="36576" marB="36576" anchor="ctr">
                    <a:solidFill>
                      <a:srgbClr val="B3261E"/>
                    </a:solidFill>
                  </a:tcPr>
                </a:tc>
                <a:tc>
                  <a:txBody>
                    <a:bodyPr wrap="square"/>
                    <a:lstStyle/>
                    <a:p>
                      <a:r>
                        <a:rPr sz="1500">
                          <a:solidFill>
                            <a:srgbClr val="1A2238"/>
                          </a:solidFill>
                          <a:latin typeface="Arial"/>
                        </a:rPr>
                        <a:t>Sie muss schriftlich erfolgen, die elektronische Form ist ausgeschlossen (§ 22 Abs. 3 BBiG)</a:t>
                      </a:r>
                    </a:p>
                  </a:txBody>
                  <a:tcPr marL="109728" marR="109728" marT="36576" marB="36576" anchor="ctr">
                    <a:solidFill>
                      <a:srgbClr val="FFFFFF"/>
                    </a:solidFill>
                  </a:tcPr>
                </a:tc>
              </a:tr>
              <a:tr h="457200">
                <a:tc>
                  <a:txBody>
                    <a:bodyPr wrap="square"/>
                    <a:lstStyle/>
                    <a:p>
                      <a:r>
                        <a:rPr sz="1500" b="1">
                          <a:solidFill>
                            <a:srgbClr val="14264B"/>
                          </a:solidFill>
                          <a:latin typeface="Arial"/>
                        </a:rPr>
                        <a:t>6</a:t>
                      </a:r>
                    </a:p>
                  </a:txBody>
                  <a:tcPr marL="109728" marR="109728" marT="36576" marB="36576" anchor="ctr">
                    <a:solidFill>
                      <a:srgbClr val="F6F8FC"/>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17 BBiG</a:t>
                      </a:r>
                    </a:p>
                  </a:txBody>
                  <a:tcPr marL="109728" marR="109728" marT="36576" marB="36576" anchor="ctr">
                    <a:solidFill>
                      <a:srgbClr val="F6F8FC"/>
                    </a:solidFill>
                  </a:tcPr>
                </a:tc>
              </a:tr>
              <a:tr h="457200">
                <a:tc>
                  <a:txBody>
                    <a:bodyPr wrap="square"/>
                    <a:lstStyle/>
                    <a:p>
                      <a:r>
                        <a:rPr sz="1500" b="1">
                          <a:solidFill>
                            <a:srgbClr val="14264B"/>
                          </a:solidFill>
                          <a:latin typeface="Arial"/>
                        </a:rPr>
                        <a:t>7</a:t>
                      </a:r>
                    </a:p>
                  </a:txBody>
                  <a:tcPr marL="109728" marR="109728" marT="36576" marB="36576" anchor="ctr">
                    <a:solidFill>
                      <a:srgbClr val="FFFFFF"/>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3 BUrlG</a:t>
                      </a:r>
                    </a:p>
                  </a:txBody>
                  <a:tcPr marL="109728" marR="109728" marT="36576" marB="36576" anchor="ctr">
                    <a:solidFill>
                      <a:srgbClr val="FFFFFF"/>
                    </a:solidFill>
                  </a:tcPr>
                </a:tc>
              </a:tr>
              <a:tr h="457200">
                <a:tc>
                  <a:txBody>
                    <a:bodyPr wrap="square"/>
                    <a:lstStyle/>
                    <a:p>
                      <a:r>
                        <a:rPr sz="1500" b="1">
                          <a:solidFill>
                            <a:srgbClr val="14264B"/>
                          </a:solidFill>
                          <a:latin typeface="Arial"/>
                        </a:rPr>
                        <a:t>8</a:t>
                      </a:r>
                    </a:p>
                  </a:txBody>
                  <a:tcPr marL="109728" marR="109728" marT="36576" marB="36576" anchor="ctr">
                    <a:solidFill>
                      <a:srgbClr val="F6F8FC"/>
                    </a:solidFill>
                  </a:tcPr>
                </a:tc>
                <a:tc>
                  <a:txBody>
                    <a:bodyPr wrap="square"/>
                    <a:lstStyle/>
                    <a:p>
                      <a:r>
                        <a:rPr sz="1500" b="1">
                          <a:solidFill>
                            <a:srgbClr val="FFFFFF"/>
                          </a:solidFill>
                          <a:latin typeface="Arial"/>
                        </a:rPr>
                        <a:t>✗ Stimmt nicht</a:t>
                      </a:r>
                    </a:p>
                  </a:txBody>
                  <a:tcPr marL="109728" marR="109728" marT="36576" marB="36576" anchor="ctr">
                    <a:solidFill>
                      <a:srgbClr val="B3261E"/>
                    </a:solidFill>
                  </a:tcPr>
                </a:tc>
                <a:tc>
                  <a:txBody>
                    <a:bodyPr wrap="square"/>
                    <a:lstStyle/>
                    <a:p>
                      <a:r>
                        <a:rPr sz="1500">
                          <a:solidFill>
                            <a:srgbClr val="1A2238"/>
                          </a:solidFill>
                          <a:latin typeface="Arial"/>
                        </a:rPr>
                        <a:t>Werktage sind alle Kalendertage außer Sonntagen und gesetzlichen Feiertagen</a:t>
                      </a:r>
                    </a:p>
                  </a:txBody>
                  <a:tcPr marL="109728" marR="109728" marT="36576" marB="36576" anchor="ctr">
                    <a:solidFill>
                      <a:srgbClr val="F6F8FC"/>
                    </a:solidFill>
                  </a:tcPr>
                </a:tc>
              </a:tr>
              <a:tr h="457200">
                <a:tc>
                  <a:txBody>
                    <a:bodyPr wrap="square"/>
                    <a:lstStyle/>
                    <a:p>
                      <a:r>
                        <a:rPr sz="1500" b="1">
                          <a:solidFill>
                            <a:srgbClr val="14264B"/>
                          </a:solidFill>
                          <a:latin typeface="Arial"/>
                        </a:rPr>
                        <a:t>9</a:t>
                      </a:r>
                    </a:p>
                  </a:txBody>
                  <a:tcPr marL="109728" marR="109728" marT="36576" marB="36576" anchor="ctr">
                    <a:solidFill>
                      <a:srgbClr val="FFFFFF"/>
                    </a:solidFill>
                  </a:tcPr>
                </a:tc>
                <a:tc>
                  <a:txBody>
                    <a:bodyPr wrap="square"/>
                    <a:lstStyle/>
                    <a:p>
                      <a:r>
                        <a:rPr sz="1500" b="1">
                          <a:solidFill>
                            <a:srgbClr val="FFFFFF"/>
                          </a:solidFill>
                          <a:latin typeface="Arial"/>
                        </a:rPr>
                        <a:t>✗ Stimmt nicht</a:t>
                      </a:r>
                    </a:p>
                  </a:txBody>
                  <a:tcPr marL="109728" marR="109728" marT="36576" marB="36576" anchor="ctr">
                    <a:solidFill>
                      <a:srgbClr val="B3261E"/>
                    </a:solidFill>
                  </a:tcPr>
                </a:tc>
                <a:tc>
                  <a:txBody>
                    <a:bodyPr wrap="square"/>
                    <a:lstStyle/>
                    <a:p>
                      <a:r>
                        <a:rPr sz="1500">
                          <a:solidFill>
                            <a:srgbClr val="1A2238"/>
                          </a:solidFill>
                          <a:latin typeface="Arial"/>
                        </a:rPr>
                        <a:t>höchstens 8 Stunden täglich und 40 pro Woche (§ 8 JArbSchG)</a:t>
                      </a:r>
                    </a:p>
                  </a:txBody>
                  <a:tcPr marL="109728" marR="109728" marT="36576" marB="36576" anchor="ctr">
                    <a:solidFill>
                      <a:srgbClr val="FFFFFF"/>
                    </a:solidFill>
                  </a:tcPr>
                </a:tc>
              </a:tr>
              <a:tr h="457200">
                <a:tc>
                  <a:txBody>
                    <a:bodyPr wrap="square"/>
                    <a:lstStyle/>
                    <a:p>
                      <a:r>
                        <a:rPr sz="1500" b="1">
                          <a:solidFill>
                            <a:srgbClr val="14264B"/>
                          </a:solidFill>
                          <a:latin typeface="Arial"/>
                        </a:rPr>
                        <a:t>10</a:t>
                      </a:r>
                    </a:p>
                  </a:txBody>
                  <a:tcPr marL="109728" marR="109728" marT="36576" marB="36576" anchor="ctr">
                    <a:solidFill>
                      <a:srgbClr val="F6F8FC"/>
                    </a:solidFill>
                  </a:tcPr>
                </a:tc>
                <a:tc>
                  <a:txBody>
                    <a:bodyPr wrap="square"/>
                    <a:lstStyle/>
                    <a:p>
                      <a:r>
                        <a:rPr sz="1500" b="1">
                          <a:solidFill>
                            <a:srgbClr val="FFFFFF"/>
                          </a:solidFill>
                          <a:latin typeface="Arial"/>
                        </a:rPr>
                        <a:t>✓ Stimmt</a:t>
                      </a:r>
                    </a:p>
                  </a:txBody>
                  <a:tcPr marL="109728" marR="109728" marT="36576" marB="36576" anchor="ctr">
                    <a:solidFill>
                      <a:srgbClr val="2E8B57"/>
                    </a:solidFill>
                  </a:tcPr>
                </a:tc>
                <a:tc>
                  <a:txBody>
                    <a:bodyPr wrap="square"/>
                    <a:lstStyle/>
                    <a:p>
                      <a:r>
                        <a:rPr sz="1500">
                          <a:solidFill>
                            <a:srgbClr val="1A2238"/>
                          </a:solidFill>
                          <a:latin typeface="Arial"/>
                        </a:rPr>
                        <a:t>§ 15 BBiG</a:t>
                      </a:r>
                    </a:p>
                  </a:txBody>
                  <a:tcPr marL="109728" marR="109728" marT="36576" marB="36576" anchor="ctr">
                    <a:solidFill>
                      <a:srgbClr val="F6F8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Vertrags-Detektiv</a:t>
            </a:r>
          </a:p>
        </p:txBody>
      </p:sp>
      <p:sp>
        <p:nvSpPr>
          <p:cNvPr id="5" name="Rectangle 4"/>
          <p:cNvSpPr/>
          <p:nvPr/>
        </p:nvSpPr>
        <p:spPr>
          <a:xfrm>
            <a:off x="640080" y="1325880"/>
            <a:ext cx="10881360" cy="4937760"/>
          </a:xfrm>
          <a:prstGeom prst="rect">
            <a:avLst/>
          </a:prstGeom>
          <a:solidFill>
            <a:srgbClr val="F6F8FC"/>
          </a:solidFill>
          <a:ln w="15240">
            <a:solidFill>
              <a:srgbClr val="BFC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10698480" cy="91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10515600" cy="1383715"/>
          </a:xfrm>
          <a:prstGeom prst="rect">
            <a:avLst/>
          </a:prstGeom>
          <a:noFill/>
        </p:spPr>
        <p:txBody>
          <a:bodyPr wrap="square" anchor="t">
            <a:spAutoFit/>
          </a:bodyPr>
          <a:lstStyle/>
          <a:p>
            <a:pPr algn="l"/>
            <a:r>
              <a:rPr sz="1500" b="1">
                <a:solidFill>
                  <a:srgbClr val="14264B"/>
                </a:solidFill>
                <a:latin typeface="Times New Roman"/>
              </a:rPr>
              <a:t>Berufsausbildungsvertrag (Auszug, fiktiv)</a:t>
            </a:r>
          </a:p>
          <a:p>
            <a:pPr algn="l">
              <a:spcBef>
                <a:spcPts val="525"/>
              </a:spcBef>
            </a:pPr>
            <a:r>
              <a:rPr sz="1500" b="0">
                <a:solidFill>
                  <a:srgbClr val="1A2238"/>
                </a:solidFill>
                <a:latin typeface="Times New Roman"/>
              </a:rPr>
              <a:t>Ausbildende: Muster GmbH (nicht tarifgebunden)</a:t>
            </a:r>
          </a:p>
          <a:p>
            <a:pPr algn="l">
              <a:spcBef>
                <a:spcPts val="525"/>
              </a:spcBef>
            </a:pPr>
            <a:r>
              <a:rPr sz="1500" b="0">
                <a:solidFill>
                  <a:srgbClr val="1A2238"/>
                </a:solidFill>
                <a:latin typeface="Times New Roman"/>
              </a:rPr>
              <a:t>Auszubildender: Jonas Muster, geboren am 20.11.2009</a:t>
            </a:r>
          </a:p>
          <a:p>
            <a:pPr algn="l">
              <a:spcBef>
                <a:spcPts val="525"/>
              </a:spcBef>
            </a:pPr>
            <a:r>
              <a:rPr sz="1500" b="0">
                <a:solidFill>
                  <a:srgbClr val="1A2238"/>
                </a:solidFill>
                <a:latin typeface="Times New Roman"/>
              </a:rPr>
              <a:t>Beruf: Kaufmann für Büromanagement</a:t>
            </a:r>
          </a:p>
        </p:txBody>
      </p:sp>
      <p:sp>
        <p:nvSpPr>
          <p:cNvPr id="8" name="Oval 7"/>
          <p:cNvSpPr/>
          <p:nvPr/>
        </p:nvSpPr>
        <p:spPr>
          <a:xfrm>
            <a:off x="841248" y="2974771"/>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1</a:t>
            </a:r>
          </a:p>
        </p:txBody>
      </p:sp>
      <p:sp>
        <p:nvSpPr>
          <p:cNvPr id="9" name="TextBox 8"/>
          <p:cNvSpPr txBox="1"/>
          <p:nvPr/>
        </p:nvSpPr>
        <p:spPr>
          <a:xfrm>
            <a:off x="1325880" y="2974771"/>
            <a:ext cx="9921239" cy="365760"/>
          </a:xfrm>
          <a:prstGeom prst="rect">
            <a:avLst/>
          </a:prstGeom>
          <a:noFill/>
        </p:spPr>
        <p:txBody>
          <a:bodyPr wrap="square" anchor="t">
            <a:spAutoFit/>
          </a:bodyPr>
          <a:lstStyle/>
          <a:p>
            <a:pPr algn="l"/>
            <a:r>
              <a:rPr sz="1500" b="0">
                <a:solidFill>
                  <a:srgbClr val="1A2238"/>
                </a:solidFill>
                <a:latin typeface="Times New Roman"/>
              </a:rPr>
              <a:t>§ 1 Beginn und Dauer: Die Ausbildung beginnt am 01.09.2026 und dauert drei Jahre.</a:t>
            </a:r>
          </a:p>
        </p:txBody>
      </p:sp>
      <p:sp>
        <p:nvSpPr>
          <p:cNvPr id="10" name="Oval 9"/>
          <p:cNvSpPr/>
          <p:nvPr/>
        </p:nvSpPr>
        <p:spPr>
          <a:xfrm>
            <a:off x="841248" y="3377107"/>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2</a:t>
            </a:r>
          </a:p>
        </p:txBody>
      </p:sp>
      <p:sp>
        <p:nvSpPr>
          <p:cNvPr id="11" name="TextBox 10"/>
          <p:cNvSpPr txBox="1"/>
          <p:nvPr/>
        </p:nvSpPr>
        <p:spPr>
          <a:xfrm>
            <a:off x="1325880" y="3377107"/>
            <a:ext cx="9921239" cy="365760"/>
          </a:xfrm>
          <a:prstGeom prst="rect">
            <a:avLst/>
          </a:prstGeom>
          <a:noFill/>
        </p:spPr>
        <p:txBody>
          <a:bodyPr wrap="square" anchor="t">
            <a:spAutoFit/>
          </a:bodyPr>
          <a:lstStyle/>
          <a:p>
            <a:pPr algn="l"/>
            <a:r>
              <a:rPr sz="1500" b="0">
                <a:solidFill>
                  <a:srgbClr val="1A2238"/>
                </a:solidFill>
                <a:latin typeface="Times New Roman"/>
              </a:rPr>
              <a:t>§ 2 Probezeit: Die Probezeit beträgt sechs Monate.</a:t>
            </a:r>
          </a:p>
        </p:txBody>
      </p:sp>
      <p:sp>
        <p:nvSpPr>
          <p:cNvPr id="12" name="Oval 11"/>
          <p:cNvSpPr/>
          <p:nvPr/>
        </p:nvSpPr>
        <p:spPr>
          <a:xfrm>
            <a:off x="841248" y="3779443"/>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3</a:t>
            </a:r>
          </a:p>
        </p:txBody>
      </p:sp>
      <p:sp>
        <p:nvSpPr>
          <p:cNvPr id="13" name="TextBox 12"/>
          <p:cNvSpPr txBox="1"/>
          <p:nvPr/>
        </p:nvSpPr>
        <p:spPr>
          <a:xfrm>
            <a:off x="1325880" y="3779443"/>
            <a:ext cx="9921239" cy="365760"/>
          </a:xfrm>
          <a:prstGeom prst="rect">
            <a:avLst/>
          </a:prstGeom>
          <a:noFill/>
        </p:spPr>
        <p:txBody>
          <a:bodyPr wrap="square" anchor="t">
            <a:spAutoFit/>
          </a:bodyPr>
          <a:lstStyle/>
          <a:p>
            <a:pPr algn="l"/>
            <a:r>
              <a:rPr sz="1500" b="0">
                <a:solidFill>
                  <a:srgbClr val="1A2238"/>
                </a:solidFill>
                <a:latin typeface="Times New Roman"/>
              </a:rPr>
              <a:t>§ 3 Vergütung: Die monatliche Ausbildungsvergütung beträgt im 1. Ausbildungsjahr 650 € brutto.</a:t>
            </a:r>
          </a:p>
        </p:txBody>
      </p:sp>
      <p:sp>
        <p:nvSpPr>
          <p:cNvPr id="14" name="Oval 13"/>
          <p:cNvSpPr/>
          <p:nvPr/>
        </p:nvSpPr>
        <p:spPr>
          <a:xfrm>
            <a:off x="841248" y="4181779"/>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4</a:t>
            </a:r>
          </a:p>
        </p:txBody>
      </p:sp>
      <p:sp>
        <p:nvSpPr>
          <p:cNvPr id="15" name="TextBox 14"/>
          <p:cNvSpPr txBox="1"/>
          <p:nvPr/>
        </p:nvSpPr>
        <p:spPr>
          <a:xfrm>
            <a:off x="1325880" y="4181779"/>
            <a:ext cx="9921239" cy="365760"/>
          </a:xfrm>
          <a:prstGeom prst="rect">
            <a:avLst/>
          </a:prstGeom>
          <a:noFill/>
        </p:spPr>
        <p:txBody>
          <a:bodyPr wrap="square" anchor="t">
            <a:spAutoFit/>
          </a:bodyPr>
          <a:lstStyle/>
          <a:p>
            <a:pPr algn="l"/>
            <a:r>
              <a:rPr sz="1500" b="0">
                <a:solidFill>
                  <a:srgbClr val="1A2238"/>
                </a:solidFill>
                <a:latin typeface="Times New Roman"/>
              </a:rPr>
              <a:t>§ 4 Ausbildungszeit: Die tägliche Ausbildungszeit beträgt 9 Stunden.</a:t>
            </a:r>
          </a:p>
        </p:txBody>
      </p:sp>
      <p:sp>
        <p:nvSpPr>
          <p:cNvPr id="16" name="Oval 15"/>
          <p:cNvSpPr/>
          <p:nvPr/>
        </p:nvSpPr>
        <p:spPr>
          <a:xfrm>
            <a:off x="841248" y="4584115"/>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5</a:t>
            </a:r>
          </a:p>
        </p:txBody>
      </p:sp>
      <p:sp>
        <p:nvSpPr>
          <p:cNvPr id="17" name="TextBox 16"/>
          <p:cNvSpPr txBox="1"/>
          <p:nvPr/>
        </p:nvSpPr>
        <p:spPr>
          <a:xfrm>
            <a:off x="1325880" y="4584115"/>
            <a:ext cx="9921239" cy="365760"/>
          </a:xfrm>
          <a:prstGeom prst="rect">
            <a:avLst/>
          </a:prstGeom>
          <a:noFill/>
        </p:spPr>
        <p:txBody>
          <a:bodyPr wrap="square" anchor="t">
            <a:spAutoFit/>
          </a:bodyPr>
          <a:lstStyle/>
          <a:p>
            <a:pPr algn="l"/>
            <a:r>
              <a:rPr sz="1500" b="0">
                <a:solidFill>
                  <a:srgbClr val="1A2238"/>
                </a:solidFill>
                <a:latin typeface="Times New Roman"/>
              </a:rPr>
              <a:t>§ 5 Urlaub: Der Urlaubsanspruch beträgt 20 Werktage pro Kalenderjahr.</a:t>
            </a:r>
          </a:p>
        </p:txBody>
      </p:sp>
      <p:sp>
        <p:nvSpPr>
          <p:cNvPr id="18" name="Oval 17"/>
          <p:cNvSpPr/>
          <p:nvPr/>
        </p:nvSpPr>
        <p:spPr>
          <a:xfrm>
            <a:off x="841248" y="5085207"/>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6</a:t>
            </a:r>
          </a:p>
        </p:txBody>
      </p:sp>
      <p:sp>
        <p:nvSpPr>
          <p:cNvPr id="19" name="TextBox 18"/>
          <p:cNvSpPr txBox="1"/>
          <p:nvPr/>
        </p:nvSpPr>
        <p:spPr>
          <a:xfrm>
            <a:off x="1325880" y="4986451"/>
            <a:ext cx="9921239" cy="563270"/>
          </a:xfrm>
          <a:prstGeom prst="rect">
            <a:avLst/>
          </a:prstGeom>
          <a:noFill/>
        </p:spPr>
        <p:txBody>
          <a:bodyPr wrap="square" anchor="t">
            <a:spAutoFit/>
          </a:bodyPr>
          <a:lstStyle/>
          <a:p>
            <a:pPr algn="l"/>
            <a:r>
              <a:rPr sz="1500" b="0">
                <a:solidFill>
                  <a:srgbClr val="1A2238"/>
                </a:solidFill>
                <a:latin typeface="Times New Roman"/>
              </a:rPr>
              <a:t>§ 6 Kündigung: Während der Probezeit kann das Ausbildungsverhältnis nur mit einer Frist von vier Wochen gekündigt werden.</a:t>
            </a:r>
          </a:p>
        </p:txBody>
      </p:sp>
      <p:sp>
        <p:nvSpPr>
          <p:cNvPr id="20" name="Oval 19"/>
          <p:cNvSpPr/>
          <p:nvPr/>
        </p:nvSpPr>
        <p:spPr>
          <a:xfrm>
            <a:off x="841248" y="5685053"/>
            <a:ext cx="365760" cy="36576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5A800"/>
                </a:solidFill>
                <a:latin typeface="Arial"/>
              </a:rPr>
              <a:t>7</a:t>
            </a:r>
          </a:p>
        </p:txBody>
      </p:sp>
      <p:sp>
        <p:nvSpPr>
          <p:cNvPr id="21" name="TextBox 20"/>
          <p:cNvSpPr txBox="1"/>
          <p:nvPr/>
        </p:nvSpPr>
        <p:spPr>
          <a:xfrm>
            <a:off x="1325880" y="5586298"/>
            <a:ext cx="9921239" cy="563270"/>
          </a:xfrm>
          <a:prstGeom prst="rect">
            <a:avLst/>
          </a:prstGeom>
          <a:noFill/>
        </p:spPr>
        <p:txBody>
          <a:bodyPr wrap="square" anchor="t">
            <a:spAutoFit/>
          </a:bodyPr>
          <a:lstStyle/>
          <a:p>
            <a:pPr algn="l"/>
            <a:r>
              <a:rPr sz="1500" b="0">
                <a:solidFill>
                  <a:srgbClr val="1A2238"/>
                </a:solidFill>
                <a:latin typeface="Times New Roman"/>
              </a:rPr>
              <a:t>§ 7 Pflichten: Die Ausbildungsmittel stellt der Betrieb kostenlos zur Verfügung. Der Auszubildende führt einen Ausbildungsnachweis.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IHK-Fälle A bis C</a:t>
            </a:r>
          </a:p>
        </p:txBody>
      </p:sp>
      <p:sp>
        <p:nvSpPr>
          <p:cNvPr id="5" name="Rectangle 4"/>
          <p:cNvSpPr/>
          <p:nvPr/>
        </p:nvSpPr>
        <p:spPr>
          <a:xfrm>
            <a:off x="640080" y="1371600"/>
            <a:ext cx="3489960" cy="4937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4937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417320"/>
            <a:ext cx="3215640" cy="4846320"/>
          </a:xfrm>
          <a:prstGeom prst="rect">
            <a:avLst/>
          </a:prstGeom>
          <a:noFill/>
        </p:spPr>
        <p:txBody>
          <a:bodyPr wrap="square" anchor="t">
            <a:spAutoFit/>
          </a:bodyPr>
          <a:lstStyle/>
          <a:p>
            <a:pPr algn="l"/>
            <a:r>
              <a:rPr sz="1300" b="1">
                <a:solidFill>
                  <a:srgbClr val="14264B"/>
                </a:solidFill>
                <a:latin typeface="Arial"/>
              </a:rPr>
              <a:t>Fall A (Probezeit und Kündigung)</a:t>
            </a:r>
          </a:p>
          <a:p>
            <a:pPr algn="l">
              <a:spcBef>
                <a:spcPts val="455"/>
              </a:spcBef>
            </a:pPr>
            <a:r>
              <a:rPr sz="1300" b="0">
                <a:solidFill>
                  <a:srgbClr val="1A2238"/>
                </a:solidFill>
                <a:latin typeface="Arial"/>
              </a:rPr>
              <a:t>Lena Berg beginnt am 01.09. bei der Muster GmbH eine Ausbildung zur Kauffrau für Büromanagement, vereinbart sind drei Monate Probezeit. Am 10.10. merkt sie, dass der Beruf nicht zu ihr passt. Welche Aussage ist richtig?</a:t>
            </a:r>
          </a:p>
          <a:p>
            <a:pPr algn="l">
              <a:spcBef>
                <a:spcPts val="455"/>
              </a:spcBef>
            </a:pPr>
            <a:r>
              <a:rPr sz="1300" b="1">
                <a:solidFill>
                  <a:srgbClr val="22386B"/>
                </a:solidFill>
                <a:latin typeface="Arial"/>
              </a:rPr>
              <a:t>A  </a:t>
            </a:r>
            <a:r>
              <a:rPr sz="1300" b="0">
                <a:solidFill>
                  <a:srgbClr val="1A2238"/>
                </a:solidFill>
                <a:latin typeface="Arial"/>
              </a:rPr>
              <a:t>Lena muss eine Kündigungsfrist von vier Wochen einhalten.</a:t>
            </a:r>
          </a:p>
          <a:p>
            <a:pPr algn="l">
              <a:spcBef>
                <a:spcPts val="455"/>
              </a:spcBef>
            </a:pPr>
            <a:r>
              <a:rPr sz="1300" b="1">
                <a:solidFill>
                  <a:srgbClr val="22386B"/>
                </a:solidFill>
                <a:latin typeface="Arial"/>
              </a:rPr>
              <a:t>B  </a:t>
            </a:r>
            <a:r>
              <a:rPr sz="1300" b="0">
                <a:solidFill>
                  <a:srgbClr val="1A2238"/>
                </a:solidFill>
                <a:latin typeface="Arial"/>
              </a:rPr>
              <a:t>Lena kann schriftlich und ohne Einhaltung einer Frist kündigen.</a:t>
            </a:r>
          </a:p>
          <a:p>
            <a:pPr algn="l">
              <a:spcBef>
                <a:spcPts val="455"/>
              </a:spcBef>
            </a:pPr>
            <a:r>
              <a:rPr sz="1300" b="1">
                <a:solidFill>
                  <a:srgbClr val="22386B"/>
                </a:solidFill>
                <a:latin typeface="Arial"/>
              </a:rPr>
              <a:t>C  </a:t>
            </a:r>
            <a:r>
              <a:rPr sz="1300" b="0">
                <a:solidFill>
                  <a:srgbClr val="1A2238"/>
                </a:solidFill>
                <a:latin typeface="Arial"/>
              </a:rPr>
              <a:t>Lena kann nur zum Monatsende kündigen.</a:t>
            </a:r>
          </a:p>
          <a:p>
            <a:pPr algn="l">
              <a:spcBef>
                <a:spcPts val="455"/>
              </a:spcBef>
            </a:pPr>
            <a:r>
              <a:rPr sz="1300" b="1">
                <a:solidFill>
                  <a:srgbClr val="22386B"/>
                </a:solidFill>
                <a:latin typeface="Arial"/>
              </a:rPr>
              <a:t>D  </a:t>
            </a:r>
            <a:r>
              <a:rPr sz="1300" b="0">
                <a:solidFill>
                  <a:srgbClr val="1A2238"/>
                </a:solidFill>
                <a:latin typeface="Arial"/>
              </a:rPr>
              <a:t>Lena braucht für die Kündigung die Zustimmung der IHK.</a:t>
            </a:r>
          </a:p>
        </p:txBody>
      </p:sp>
      <p:sp>
        <p:nvSpPr>
          <p:cNvPr id="8" name="Rectangle 7"/>
          <p:cNvSpPr/>
          <p:nvPr/>
        </p:nvSpPr>
        <p:spPr>
          <a:xfrm>
            <a:off x="4267200" y="1371600"/>
            <a:ext cx="3489960" cy="4937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200" y="1371600"/>
            <a:ext cx="73152" cy="4937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1792" y="1417320"/>
            <a:ext cx="3215640" cy="4846320"/>
          </a:xfrm>
          <a:prstGeom prst="rect">
            <a:avLst/>
          </a:prstGeom>
          <a:noFill/>
        </p:spPr>
        <p:txBody>
          <a:bodyPr wrap="square" anchor="t">
            <a:spAutoFit/>
          </a:bodyPr>
          <a:lstStyle/>
          <a:p>
            <a:pPr algn="l"/>
            <a:r>
              <a:rPr sz="1300" b="1">
                <a:solidFill>
                  <a:srgbClr val="14264B"/>
                </a:solidFill>
                <a:latin typeface="Arial"/>
              </a:rPr>
              <a:t>Fall B (Urlaub)</a:t>
            </a:r>
          </a:p>
          <a:p>
            <a:pPr algn="l">
              <a:spcBef>
                <a:spcPts val="455"/>
              </a:spcBef>
            </a:pPr>
            <a:r>
              <a:rPr sz="1300" b="0">
                <a:solidFill>
                  <a:srgbClr val="1A2238"/>
                </a:solidFill>
                <a:latin typeface="Arial"/>
              </a:rPr>
              <a:t>Tim Roth ist zu Beginn des Kalenderjahres 17 Jahre alt und arbeitet an fünf Tagen pro Woche. Wie viele Werktage Mindesturlaub stehen ihm nach dem Gesetz zu?</a:t>
            </a:r>
          </a:p>
          <a:p>
            <a:pPr algn="l">
              <a:spcBef>
                <a:spcPts val="455"/>
              </a:spcBef>
            </a:pPr>
            <a:r>
              <a:rPr sz="1300" b="1">
                <a:solidFill>
                  <a:srgbClr val="22386B"/>
                </a:solidFill>
                <a:latin typeface="Arial"/>
              </a:rPr>
              <a:t>A  </a:t>
            </a:r>
            <a:r>
              <a:rPr sz="1300" b="0">
                <a:solidFill>
                  <a:srgbClr val="1A2238"/>
                </a:solidFill>
                <a:latin typeface="Arial"/>
              </a:rPr>
              <a:t>20 Werktage</a:t>
            </a:r>
          </a:p>
          <a:p>
            <a:pPr algn="l">
              <a:spcBef>
                <a:spcPts val="455"/>
              </a:spcBef>
            </a:pPr>
            <a:r>
              <a:rPr sz="1300" b="1">
                <a:solidFill>
                  <a:srgbClr val="22386B"/>
                </a:solidFill>
                <a:latin typeface="Arial"/>
              </a:rPr>
              <a:t>B  </a:t>
            </a:r>
            <a:r>
              <a:rPr sz="1300" b="0">
                <a:solidFill>
                  <a:srgbClr val="1A2238"/>
                </a:solidFill>
                <a:latin typeface="Arial"/>
              </a:rPr>
              <a:t>24 Werktage</a:t>
            </a:r>
          </a:p>
          <a:p>
            <a:pPr algn="l">
              <a:spcBef>
                <a:spcPts val="455"/>
              </a:spcBef>
            </a:pPr>
            <a:r>
              <a:rPr sz="1300" b="1">
                <a:solidFill>
                  <a:srgbClr val="22386B"/>
                </a:solidFill>
                <a:latin typeface="Arial"/>
              </a:rPr>
              <a:t>C  </a:t>
            </a:r>
            <a:r>
              <a:rPr sz="1300" b="0">
                <a:solidFill>
                  <a:srgbClr val="1A2238"/>
                </a:solidFill>
                <a:latin typeface="Arial"/>
              </a:rPr>
              <a:t>25 Werktage</a:t>
            </a:r>
          </a:p>
          <a:p>
            <a:pPr algn="l">
              <a:spcBef>
                <a:spcPts val="455"/>
              </a:spcBef>
            </a:pPr>
            <a:r>
              <a:rPr sz="1300" b="1">
                <a:solidFill>
                  <a:srgbClr val="22386B"/>
                </a:solidFill>
                <a:latin typeface="Arial"/>
              </a:rPr>
              <a:t>D  </a:t>
            </a:r>
            <a:r>
              <a:rPr sz="1300" b="0">
                <a:solidFill>
                  <a:srgbClr val="1A2238"/>
                </a:solidFill>
                <a:latin typeface="Arial"/>
              </a:rPr>
              <a:t>30 Werktage</a:t>
            </a:r>
          </a:p>
        </p:txBody>
      </p:sp>
      <p:sp>
        <p:nvSpPr>
          <p:cNvPr id="11" name="Rectangle 10"/>
          <p:cNvSpPr/>
          <p:nvPr/>
        </p:nvSpPr>
        <p:spPr>
          <a:xfrm>
            <a:off x="7894320" y="1371600"/>
            <a:ext cx="3489960" cy="4937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94320" y="1371600"/>
            <a:ext cx="73152" cy="4937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58911" y="1417320"/>
            <a:ext cx="3215640" cy="4846320"/>
          </a:xfrm>
          <a:prstGeom prst="rect">
            <a:avLst/>
          </a:prstGeom>
          <a:noFill/>
        </p:spPr>
        <p:txBody>
          <a:bodyPr wrap="square" anchor="t">
            <a:spAutoFit/>
          </a:bodyPr>
          <a:lstStyle/>
          <a:p>
            <a:pPr algn="l"/>
            <a:r>
              <a:rPr sz="1300" b="1">
                <a:solidFill>
                  <a:srgbClr val="14264B"/>
                </a:solidFill>
                <a:latin typeface="Arial"/>
              </a:rPr>
              <a:t>Fall C (Vergütung)</a:t>
            </a:r>
          </a:p>
          <a:p>
            <a:pPr algn="l">
              <a:spcBef>
                <a:spcPts val="455"/>
              </a:spcBef>
            </a:pPr>
            <a:r>
              <a:rPr sz="1300" b="0">
                <a:solidFill>
                  <a:srgbClr val="1A2238"/>
                </a:solidFill>
                <a:latin typeface="Arial"/>
              </a:rPr>
              <a:t>Die Muster GmbH ist nicht tarifgebunden und bietet Jonas für den Ausbildungsbeginn 2026 im ersten Jahr 690 € brutto an. Welche Aussage ist richtig?</a:t>
            </a:r>
          </a:p>
          <a:p>
            <a:pPr algn="l">
              <a:spcBef>
                <a:spcPts val="455"/>
              </a:spcBef>
            </a:pPr>
            <a:r>
              <a:rPr sz="1300" b="1">
                <a:solidFill>
                  <a:srgbClr val="22386B"/>
                </a:solidFill>
                <a:latin typeface="Arial"/>
              </a:rPr>
              <a:t>A  </a:t>
            </a:r>
            <a:r>
              <a:rPr sz="1300" b="0">
                <a:solidFill>
                  <a:srgbClr val="1A2238"/>
                </a:solidFill>
                <a:latin typeface="Arial"/>
              </a:rPr>
              <a:t>Zulässig, wenn Jonas zustimmt.</a:t>
            </a:r>
          </a:p>
          <a:p>
            <a:pPr algn="l">
              <a:spcBef>
                <a:spcPts val="455"/>
              </a:spcBef>
            </a:pPr>
            <a:r>
              <a:rPr sz="1300" b="1">
                <a:solidFill>
                  <a:srgbClr val="22386B"/>
                </a:solidFill>
                <a:latin typeface="Arial"/>
              </a:rPr>
              <a:t>B  </a:t>
            </a:r>
            <a:r>
              <a:rPr sz="1300" b="0">
                <a:solidFill>
                  <a:srgbClr val="1A2238"/>
                </a:solidFill>
                <a:latin typeface="Arial"/>
              </a:rPr>
              <a:t>Zulässig, weil die Vergütung frei vereinbart werden darf.</a:t>
            </a:r>
          </a:p>
          <a:p>
            <a:pPr algn="l">
              <a:spcBef>
                <a:spcPts val="455"/>
              </a:spcBef>
            </a:pPr>
            <a:r>
              <a:rPr sz="1300" b="1">
                <a:solidFill>
                  <a:srgbClr val="22386B"/>
                </a:solidFill>
                <a:latin typeface="Arial"/>
              </a:rPr>
              <a:t>C  </a:t>
            </a:r>
            <a:r>
              <a:rPr sz="1300" b="0">
                <a:solidFill>
                  <a:srgbClr val="1A2238"/>
                </a:solidFill>
                <a:latin typeface="Arial"/>
              </a:rPr>
              <a:t>Unzulässig, im ersten Ausbildungsjahr gelten 2026 mindestens 724 €.</a:t>
            </a:r>
          </a:p>
          <a:p>
            <a:pPr algn="l">
              <a:spcBef>
                <a:spcPts val="455"/>
              </a:spcBef>
            </a:pPr>
            <a:r>
              <a:rPr sz="1300" b="1">
                <a:solidFill>
                  <a:srgbClr val="22386B"/>
                </a:solidFill>
                <a:latin typeface="Arial"/>
              </a:rPr>
              <a:t>D  </a:t>
            </a:r>
            <a:r>
              <a:rPr sz="1300" b="0">
                <a:solidFill>
                  <a:srgbClr val="1A2238"/>
                </a:solidFill>
                <a:latin typeface="Arial"/>
              </a:rPr>
              <a:t>Unzulässig, erst ab dem zweiten Jahr gilt eine Mindestvergütung.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IHK-Fälle D und E</a:t>
            </a:r>
          </a:p>
        </p:txBody>
      </p:sp>
      <p:sp>
        <p:nvSpPr>
          <p:cNvPr id="5" name="Rectangle 4"/>
          <p:cNvSpPr/>
          <p:nvPr/>
        </p:nvSpPr>
        <p:spPr>
          <a:xfrm>
            <a:off x="640080" y="1371600"/>
            <a:ext cx="5303520" cy="4937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73152" cy="4937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417320"/>
            <a:ext cx="5029200" cy="4846320"/>
          </a:xfrm>
          <a:prstGeom prst="rect">
            <a:avLst/>
          </a:prstGeom>
          <a:noFill/>
        </p:spPr>
        <p:txBody>
          <a:bodyPr wrap="square" anchor="t">
            <a:spAutoFit/>
          </a:bodyPr>
          <a:lstStyle/>
          <a:p>
            <a:pPr algn="l"/>
            <a:r>
              <a:rPr sz="1700" b="1">
                <a:solidFill>
                  <a:srgbClr val="14264B"/>
                </a:solidFill>
                <a:latin typeface="Arial"/>
              </a:rPr>
              <a:t>Reservefall D (tägliche Ausbildungszeit)</a:t>
            </a:r>
          </a:p>
          <a:p>
            <a:pPr algn="l">
              <a:spcBef>
                <a:spcPts val="594"/>
              </a:spcBef>
            </a:pPr>
            <a:r>
              <a:rPr sz="1700" b="0">
                <a:solidFill>
                  <a:srgbClr val="1A2238"/>
                </a:solidFill>
                <a:latin typeface="Arial"/>
              </a:rPr>
              <a:t>Nina Koch ist 17 Jahre alt und Auszubildende. Wegen Personalmangel soll sie täglich 9 Stunden arbeiten. Welche Aussage ist richtig?</a:t>
            </a:r>
          </a:p>
          <a:p>
            <a:pPr algn="l">
              <a:spcBef>
                <a:spcPts val="594"/>
              </a:spcBef>
            </a:pPr>
            <a:r>
              <a:rPr sz="1700" b="1">
                <a:solidFill>
                  <a:srgbClr val="22386B"/>
                </a:solidFill>
                <a:latin typeface="Arial"/>
              </a:rPr>
              <a:t>A  </a:t>
            </a:r>
            <a:r>
              <a:rPr sz="1700" b="0">
                <a:solidFill>
                  <a:srgbClr val="1A2238"/>
                </a:solidFill>
                <a:latin typeface="Arial"/>
              </a:rPr>
              <a:t>Zulässig, wenn die Mehrarbeit vergütet wird.</a:t>
            </a:r>
          </a:p>
          <a:p>
            <a:pPr algn="l">
              <a:spcBef>
                <a:spcPts val="594"/>
              </a:spcBef>
            </a:pPr>
            <a:r>
              <a:rPr sz="1700" b="1">
                <a:solidFill>
                  <a:srgbClr val="22386B"/>
                </a:solidFill>
                <a:latin typeface="Arial"/>
              </a:rPr>
              <a:t>B  </a:t>
            </a:r>
            <a:r>
              <a:rPr sz="1700" b="0">
                <a:solidFill>
                  <a:srgbClr val="1A2238"/>
                </a:solidFill>
                <a:latin typeface="Arial"/>
              </a:rPr>
              <a:t>Unzulässig, für Jugendliche gelten höchstens 8 Stunden täglich und 40 Stunden wöchentlich.</a:t>
            </a:r>
          </a:p>
          <a:p>
            <a:pPr algn="l">
              <a:spcBef>
                <a:spcPts val="594"/>
              </a:spcBef>
            </a:pPr>
            <a:r>
              <a:rPr sz="1700" b="1">
                <a:solidFill>
                  <a:srgbClr val="22386B"/>
                </a:solidFill>
                <a:latin typeface="Arial"/>
              </a:rPr>
              <a:t>C  </a:t>
            </a:r>
            <a:r>
              <a:rPr sz="1700" b="0">
                <a:solidFill>
                  <a:srgbClr val="1A2238"/>
                </a:solidFill>
                <a:latin typeface="Arial"/>
              </a:rPr>
              <a:t>Zulässig, bis zu 10 Stunden wie bei Erwachsenen.</a:t>
            </a:r>
          </a:p>
          <a:p>
            <a:pPr algn="l">
              <a:spcBef>
                <a:spcPts val="594"/>
              </a:spcBef>
            </a:pPr>
            <a:r>
              <a:rPr sz="1700" b="1">
                <a:solidFill>
                  <a:srgbClr val="22386B"/>
                </a:solidFill>
                <a:latin typeface="Arial"/>
              </a:rPr>
              <a:t>D  </a:t>
            </a:r>
            <a:r>
              <a:rPr sz="1700" b="0">
                <a:solidFill>
                  <a:srgbClr val="1A2238"/>
                </a:solidFill>
                <a:latin typeface="Arial"/>
              </a:rPr>
              <a:t>Zulässig, wenn die Eltern zustimmen.</a:t>
            </a:r>
          </a:p>
        </p:txBody>
      </p:sp>
      <p:sp>
        <p:nvSpPr>
          <p:cNvPr id="8" name="Rectangle 7"/>
          <p:cNvSpPr/>
          <p:nvPr/>
        </p:nvSpPr>
        <p:spPr>
          <a:xfrm>
            <a:off x="6080760" y="1371600"/>
            <a:ext cx="5303520" cy="493776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1371600"/>
            <a:ext cx="73152" cy="493776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417320"/>
            <a:ext cx="5029200" cy="4846320"/>
          </a:xfrm>
          <a:prstGeom prst="rect">
            <a:avLst/>
          </a:prstGeom>
          <a:noFill/>
        </p:spPr>
        <p:txBody>
          <a:bodyPr wrap="square" anchor="t">
            <a:spAutoFit/>
          </a:bodyPr>
          <a:lstStyle/>
          <a:p>
            <a:pPr algn="l"/>
            <a:r>
              <a:rPr sz="1700" b="1">
                <a:solidFill>
                  <a:srgbClr val="14264B"/>
                </a:solidFill>
                <a:latin typeface="Arial"/>
              </a:rPr>
              <a:t>Reservefall E (Beginn und Dauer)</a:t>
            </a:r>
          </a:p>
          <a:p>
            <a:pPr algn="l">
              <a:spcBef>
                <a:spcPts val="594"/>
              </a:spcBef>
            </a:pPr>
            <a:r>
              <a:rPr sz="1700" b="0">
                <a:solidFill>
                  <a:srgbClr val="1A2238"/>
                </a:solidFill>
                <a:latin typeface="Arial"/>
              </a:rPr>
              <a:t>Ben beginnt nach dem Abitur eine dreijährige Ausbildung und möchte sie verkürzen. Welche Aussage ist richtig?</a:t>
            </a:r>
          </a:p>
          <a:p>
            <a:pPr algn="l">
              <a:spcBef>
                <a:spcPts val="594"/>
              </a:spcBef>
            </a:pPr>
            <a:r>
              <a:rPr sz="1700" b="1">
                <a:solidFill>
                  <a:srgbClr val="22386B"/>
                </a:solidFill>
                <a:latin typeface="Arial"/>
              </a:rPr>
              <a:t>A  </a:t>
            </a:r>
            <a:r>
              <a:rPr sz="1700" b="0">
                <a:solidFill>
                  <a:srgbClr val="1A2238"/>
                </a:solidFill>
                <a:latin typeface="Arial"/>
              </a:rPr>
              <a:t>Ben beantragt die Verkürzung allein bei der Berufsschule.</a:t>
            </a:r>
          </a:p>
          <a:p>
            <a:pPr algn="l">
              <a:spcBef>
                <a:spcPts val="594"/>
              </a:spcBef>
            </a:pPr>
            <a:r>
              <a:rPr sz="1700" b="1">
                <a:solidFill>
                  <a:srgbClr val="22386B"/>
                </a:solidFill>
                <a:latin typeface="Arial"/>
              </a:rPr>
              <a:t>B  </a:t>
            </a:r>
            <a:r>
              <a:rPr sz="1700" b="0">
                <a:solidFill>
                  <a:srgbClr val="1A2238"/>
                </a:solidFill>
                <a:latin typeface="Arial"/>
              </a:rPr>
              <a:t>Ben und der Betrieb beantragen die Verkürzung gemeinsam bei der zuständigen Stelle.</a:t>
            </a:r>
          </a:p>
          <a:p>
            <a:pPr algn="l">
              <a:spcBef>
                <a:spcPts val="594"/>
              </a:spcBef>
            </a:pPr>
            <a:r>
              <a:rPr sz="1700" b="1">
                <a:solidFill>
                  <a:srgbClr val="22386B"/>
                </a:solidFill>
                <a:latin typeface="Arial"/>
              </a:rPr>
              <a:t>C  </a:t>
            </a:r>
            <a:r>
              <a:rPr sz="1700" b="0">
                <a:solidFill>
                  <a:srgbClr val="1A2238"/>
                </a:solidFill>
                <a:latin typeface="Arial"/>
              </a:rPr>
              <a:t>Die Ausbildung verkürzt sich wegen des Abiturs automatisch.</a:t>
            </a:r>
          </a:p>
          <a:p>
            <a:pPr algn="l">
              <a:spcBef>
                <a:spcPts val="594"/>
              </a:spcBef>
            </a:pPr>
            <a:r>
              <a:rPr sz="1700" b="1">
                <a:solidFill>
                  <a:srgbClr val="22386B"/>
                </a:solidFill>
                <a:latin typeface="Arial"/>
              </a:rPr>
              <a:t>D  </a:t>
            </a:r>
            <a:r>
              <a:rPr sz="1700" b="0">
                <a:solidFill>
                  <a:srgbClr val="1A2238"/>
                </a:solidFill>
                <a:latin typeface="Arial"/>
              </a:rPr>
              <a:t>Nur der Betrieb darf die Verkürzung bei der IHK beantragen.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Mini-Quiz – Fragen</a:t>
            </a:r>
          </a:p>
        </p:txBody>
      </p:sp>
      <p:sp>
        <p:nvSpPr>
          <p:cNvPr id="5" name="Rectangle 4"/>
          <p:cNvSpPr/>
          <p:nvPr/>
        </p:nvSpPr>
        <p:spPr>
          <a:xfrm>
            <a:off x="640080" y="132588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53312"/>
            <a:ext cx="5120640" cy="1508760"/>
          </a:xfrm>
          <a:prstGeom prst="rect">
            <a:avLst/>
          </a:prstGeom>
          <a:noFill/>
        </p:spPr>
        <p:txBody>
          <a:bodyPr wrap="square" anchor="t">
            <a:spAutoFit/>
          </a:bodyPr>
          <a:lstStyle/>
          <a:p>
            <a:pPr algn="l"/>
            <a:r>
              <a:rPr sz="1250" b="1">
                <a:solidFill>
                  <a:srgbClr val="22386B"/>
                </a:solidFill>
                <a:latin typeface="Arial"/>
              </a:rPr>
              <a:t>1  </a:t>
            </a:r>
            <a:r>
              <a:rPr sz="1250" b="1">
                <a:solidFill>
                  <a:srgbClr val="14264B"/>
                </a:solidFill>
                <a:latin typeface="Arial"/>
              </a:rPr>
              <a:t>Eine Auszubildende ist zu Jahresbeginn 15 Jahre alt. Wie viele Werktage Mindesturlaub hat sie?</a:t>
            </a:r>
          </a:p>
          <a:p>
            <a:pPr algn="l">
              <a:spcBef>
                <a:spcPts val="250"/>
              </a:spcBef>
            </a:pPr>
            <a:r>
              <a:rPr sz="1250" b="0">
                <a:solidFill>
                  <a:srgbClr val="1A2238"/>
                </a:solidFill>
                <a:latin typeface="Arial"/>
              </a:rPr>
              <a:t>A 24  ·  B 25  ·  C 27  ·  D 30</a:t>
            </a:r>
          </a:p>
        </p:txBody>
      </p:sp>
      <p:sp>
        <p:nvSpPr>
          <p:cNvPr id="8" name="Rectangle 7"/>
          <p:cNvSpPr/>
          <p:nvPr/>
        </p:nvSpPr>
        <p:spPr>
          <a:xfrm>
            <a:off x="640080" y="301752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017520"/>
            <a:ext cx="73152"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044951"/>
            <a:ext cx="5120640" cy="1508760"/>
          </a:xfrm>
          <a:prstGeom prst="rect">
            <a:avLst/>
          </a:prstGeom>
          <a:noFill/>
        </p:spPr>
        <p:txBody>
          <a:bodyPr wrap="square" anchor="t">
            <a:spAutoFit/>
          </a:bodyPr>
          <a:lstStyle/>
          <a:p>
            <a:pPr algn="l"/>
            <a:r>
              <a:rPr sz="1250" b="1">
                <a:solidFill>
                  <a:srgbClr val="22386B"/>
                </a:solidFill>
                <a:latin typeface="Arial"/>
              </a:rPr>
              <a:t>2  </a:t>
            </a:r>
            <a:r>
              <a:rPr sz="1250" b="1">
                <a:solidFill>
                  <a:srgbClr val="14264B"/>
                </a:solidFill>
                <a:latin typeface="Arial"/>
              </a:rPr>
              <a:t>Ein Betrieb will eine Probezeit von sechs Monaten festlegen. Ist das zulässig?</a:t>
            </a:r>
          </a:p>
          <a:p>
            <a:pPr algn="l">
              <a:spcBef>
                <a:spcPts val="250"/>
              </a:spcBef>
            </a:pPr>
            <a:r>
              <a:rPr sz="1250" b="0">
                <a:solidFill>
                  <a:srgbClr val="1A2238"/>
                </a:solidFill>
                <a:latin typeface="Arial"/>
              </a:rPr>
              <a:t>A Ja, wenn der Azubi zustimmt  ·  B Ja, in großen Betrieben  ·  C Nein, höchstens vier Monate  ·  D Nein, höchstens drei Monate</a:t>
            </a:r>
          </a:p>
        </p:txBody>
      </p:sp>
      <p:sp>
        <p:nvSpPr>
          <p:cNvPr id="11" name="Rectangle 10"/>
          <p:cNvSpPr/>
          <p:nvPr/>
        </p:nvSpPr>
        <p:spPr>
          <a:xfrm>
            <a:off x="640080" y="4709160"/>
            <a:ext cx="5349240" cy="155448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4709160"/>
            <a:ext cx="73152" cy="155448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36592"/>
            <a:ext cx="5120640" cy="1508760"/>
          </a:xfrm>
          <a:prstGeom prst="rect">
            <a:avLst/>
          </a:prstGeom>
          <a:noFill/>
        </p:spPr>
        <p:txBody>
          <a:bodyPr wrap="square" anchor="t">
            <a:spAutoFit/>
          </a:bodyPr>
          <a:lstStyle/>
          <a:p>
            <a:pPr algn="l"/>
            <a:r>
              <a:rPr sz="1250" b="1">
                <a:solidFill>
                  <a:srgbClr val="22386B"/>
                </a:solidFill>
                <a:latin typeface="Arial"/>
              </a:rPr>
              <a:t>3  </a:t>
            </a:r>
            <a:r>
              <a:rPr sz="1250" b="1">
                <a:solidFill>
                  <a:srgbClr val="14264B"/>
                </a:solidFill>
                <a:latin typeface="Arial"/>
              </a:rPr>
              <a:t>Ein Azubi kündigt nach der Probezeit mündlich, weil er den Beruf wechseln will. Ist das wirksam?</a:t>
            </a:r>
          </a:p>
          <a:p>
            <a:pPr algn="l">
              <a:spcBef>
                <a:spcPts val="250"/>
              </a:spcBef>
            </a:pPr>
            <a:r>
              <a:rPr sz="1250" b="0">
                <a:solidFill>
                  <a:srgbClr val="1A2238"/>
                </a:solidFill>
                <a:latin typeface="Arial"/>
              </a:rPr>
              <a:t>A Ja, mit vier Wochen Frist  ·  B Ja, ohne Frist  ·  C Nein, die Kündigung muss schriftlich mit Angabe der Gründe erfolgen  ·  D Nein, nur die IHK darf kündigen</a:t>
            </a:r>
          </a:p>
        </p:txBody>
      </p:sp>
      <p:sp>
        <p:nvSpPr>
          <p:cNvPr id="14" name="Rectangle 13"/>
          <p:cNvSpPr/>
          <p:nvPr/>
        </p:nvSpPr>
        <p:spPr>
          <a:xfrm>
            <a:off x="6172200" y="1325880"/>
            <a:ext cx="5349240" cy="22860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25880"/>
            <a:ext cx="73152" cy="22860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353312"/>
            <a:ext cx="5120640" cy="2240280"/>
          </a:xfrm>
          <a:prstGeom prst="rect">
            <a:avLst/>
          </a:prstGeom>
          <a:noFill/>
        </p:spPr>
        <p:txBody>
          <a:bodyPr wrap="square" anchor="t">
            <a:spAutoFit/>
          </a:bodyPr>
          <a:lstStyle/>
          <a:p>
            <a:pPr algn="l"/>
            <a:r>
              <a:rPr sz="1250" b="1">
                <a:solidFill>
                  <a:srgbClr val="22386B"/>
                </a:solidFill>
                <a:latin typeface="Arial"/>
              </a:rPr>
              <a:t>4  </a:t>
            </a:r>
            <a:r>
              <a:rPr sz="1250" b="1">
                <a:solidFill>
                  <a:srgbClr val="14264B"/>
                </a:solidFill>
                <a:latin typeface="Arial"/>
              </a:rPr>
              <a:t>Ein nicht tarifgebundener Betrieb zahlt im 2. Ausbildungsjahr (Beginn 2026) 800 €. Ist das zulässig?</a:t>
            </a:r>
          </a:p>
          <a:p>
            <a:pPr algn="l">
              <a:spcBef>
                <a:spcPts val="250"/>
              </a:spcBef>
            </a:pPr>
            <a:r>
              <a:rPr sz="1250" b="0">
                <a:solidFill>
                  <a:srgbClr val="1A2238"/>
                </a:solidFill>
                <a:latin typeface="Arial"/>
              </a:rPr>
              <a:t>A Ja, weil es mehr als im 1. Jahr ist  ·  B Ja, wenn der Betrieb nicht tarifgebunden ist  ·  C Nein, im 2. Jahr gelten mindestens 854 €  ·  D Nein, im 2. Jahr gelten mindestens 977 €</a:t>
            </a:r>
          </a:p>
        </p:txBody>
      </p:sp>
      <p:sp>
        <p:nvSpPr>
          <p:cNvPr id="17" name="Rectangle 16"/>
          <p:cNvSpPr/>
          <p:nvPr/>
        </p:nvSpPr>
        <p:spPr>
          <a:xfrm>
            <a:off x="6172200" y="3749039"/>
            <a:ext cx="5349240" cy="228600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749039"/>
            <a:ext cx="73152" cy="228600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776472"/>
            <a:ext cx="5120640" cy="2240280"/>
          </a:xfrm>
          <a:prstGeom prst="rect">
            <a:avLst/>
          </a:prstGeom>
          <a:noFill/>
        </p:spPr>
        <p:txBody>
          <a:bodyPr wrap="square" anchor="t">
            <a:spAutoFit/>
          </a:bodyPr>
          <a:lstStyle/>
          <a:p>
            <a:pPr algn="l"/>
            <a:r>
              <a:rPr sz="1250" b="1">
                <a:solidFill>
                  <a:srgbClr val="22386B"/>
                </a:solidFill>
                <a:latin typeface="Arial"/>
              </a:rPr>
              <a:t>5  </a:t>
            </a:r>
            <a:r>
              <a:rPr sz="1250" b="1">
                <a:solidFill>
                  <a:srgbClr val="14264B"/>
                </a:solidFill>
                <a:latin typeface="Arial"/>
              </a:rPr>
              <a:t>Ein volljähriger Azubi soll an einem Tag 10 Stunden arbeiten; im Durchschnitt von sechs Monaten bleibt es bei 8 Stunden. Ist das zulässig?</a:t>
            </a:r>
          </a:p>
          <a:p>
            <a:pPr algn="l">
              <a:spcBef>
                <a:spcPts val="250"/>
              </a:spcBef>
            </a:pPr>
            <a:r>
              <a:rPr sz="1250" b="0">
                <a:solidFill>
                  <a:srgbClr val="1A2238"/>
                </a:solidFill>
                <a:latin typeface="Arial"/>
              </a:rPr>
              <a:t>A Nein, höchstens 8 Stunden  ·  B Ja, nach dem Arbeitszeitgesetz, wenn der Durchschnitt von 8 Stunden nicht überschritten wird  ·  C Nein, nur mit Zustimmung der IHK  ·  D Ja, dann sind sogar 12 Stunden erlaubt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PLAN B · AUSGEBLENDET</a:t>
            </a:r>
          </a:p>
        </p:txBody>
      </p:sp>
      <p:sp>
        <p:nvSpPr>
          <p:cNvPr id="4" name="TextBox 3"/>
          <p:cNvSpPr txBox="1"/>
          <p:nvPr/>
        </p:nvSpPr>
        <p:spPr>
          <a:xfrm>
            <a:off x="640080" y="548640"/>
            <a:ext cx="11155680" cy="822960"/>
          </a:xfrm>
          <a:prstGeom prst="rect">
            <a:avLst/>
          </a:prstGeom>
          <a:noFill/>
        </p:spPr>
        <p:txBody>
          <a:bodyPr wrap="square" anchor="t">
            <a:spAutoFit/>
          </a:bodyPr>
          <a:lstStyle/>
          <a:p>
            <a:pPr algn="l"/>
            <a:r>
              <a:rPr sz="3200" b="1">
                <a:solidFill>
                  <a:srgbClr val="14264B"/>
                </a:solidFill>
                <a:latin typeface="Arial"/>
              </a:rPr>
              <a:t>Plan B: Mini-Quiz – Lösungen</a:t>
            </a:r>
          </a:p>
        </p:txBody>
      </p:sp>
      <p:graphicFrame>
        <p:nvGraphicFramePr>
          <p:cNvPr id="5" name="Table 4"/>
          <p:cNvGraphicFramePr>
            <a:graphicFrameLocks noGrp="1"/>
          </p:cNvGraphicFramePr>
          <p:nvPr/>
        </p:nvGraphicFramePr>
        <p:xfrm>
          <a:off x="640080" y="1417320"/>
          <a:ext cx="10881360" cy="4937760"/>
        </p:xfrm>
        <a:graphic>
          <a:graphicData uri="http://schemas.openxmlformats.org/drawingml/2006/table">
            <a:tbl>
              <a:tblPr firstRow="0" bandRow="0">
                <a:tableStyleId>{5C22544A-7EE6-4342-B048-85BDC9FD1C3A}</a:tableStyleId>
              </a:tblPr>
              <a:tblGrid>
                <a:gridCol w="822960"/>
                <a:gridCol w="6949440"/>
                <a:gridCol w="3108960"/>
              </a:tblGrid>
              <a:tr h="822960">
                <a:tc>
                  <a:txBody>
                    <a:bodyPr wrap="square"/>
                    <a:lstStyle/>
                    <a:p>
                      <a:r>
                        <a:rPr sz="1800" b="1">
                          <a:solidFill>
                            <a:srgbClr val="FFFFFF"/>
                          </a:solidFill>
                          <a:latin typeface="Arial"/>
                        </a:rPr>
                        <a:t>Nr.</a:t>
                      </a:r>
                    </a:p>
                  </a:txBody>
                  <a:tcPr marL="109728" marR="109728" marT="36576" marB="36576" anchor="ctr">
                    <a:solidFill>
                      <a:srgbClr val="14264B"/>
                    </a:solidFill>
                  </a:tcPr>
                </a:tc>
                <a:tc>
                  <a:txBody>
                    <a:bodyPr wrap="square"/>
                    <a:lstStyle/>
                    <a:p>
                      <a:r>
                        <a:rPr sz="1800" b="1">
                          <a:solidFill>
                            <a:srgbClr val="FFFFFF"/>
                          </a:solidFill>
                          <a:latin typeface="Arial"/>
                        </a:rPr>
                        <a:t>Lösung</a:t>
                      </a:r>
                    </a:p>
                  </a:txBody>
                  <a:tcPr marL="109728" marR="109728" marT="36576" marB="36576" anchor="ctr">
                    <a:solidFill>
                      <a:srgbClr val="14264B"/>
                    </a:solidFill>
                  </a:tcPr>
                </a:tc>
                <a:tc>
                  <a:txBody>
                    <a:bodyPr wrap="square"/>
                    <a:lstStyle/>
                    <a:p>
                      <a:r>
                        <a:rPr sz="1800" b="1">
                          <a:solidFill>
                            <a:srgbClr val="FFFFFF"/>
                          </a:solidFill>
                          <a:latin typeface="Arial"/>
                        </a:rPr>
                        <a:t>Regel</a:t>
                      </a:r>
                    </a:p>
                  </a:txBody>
                  <a:tcPr marL="109728" marR="109728" marT="36576" marB="36576" anchor="ctr">
                    <a:solidFill>
                      <a:srgbClr val="14264B"/>
                    </a:solidFill>
                  </a:tcPr>
                </a:tc>
              </a:tr>
              <a:tr h="822960">
                <a:tc>
                  <a:txBody>
                    <a:bodyPr wrap="square"/>
                    <a:lstStyle/>
                    <a:p>
                      <a:r>
                        <a:rPr sz="1800" b="1">
                          <a:solidFill>
                            <a:srgbClr val="14264B"/>
                          </a:solidFill>
                          <a:latin typeface="Arial"/>
                        </a:rPr>
                        <a:t>1</a:t>
                      </a:r>
                    </a:p>
                  </a:txBody>
                  <a:tcPr marL="109728" marR="109728" marT="36576" marB="36576" anchor="ctr">
                    <a:solidFill>
                      <a:srgbClr val="FFFFFF"/>
                    </a:solidFill>
                  </a:tcPr>
                </a:tc>
                <a:tc>
                  <a:txBody>
                    <a:bodyPr wrap="square"/>
                    <a:lstStyle/>
                    <a:p>
                      <a:r>
                        <a:rPr sz="1800">
                          <a:solidFill>
                            <a:srgbClr val="1A2238"/>
                          </a:solidFill>
                          <a:latin typeface="Arial"/>
                        </a:rPr>
                        <a:t>D – 30</a:t>
                      </a:r>
                    </a:p>
                  </a:txBody>
                  <a:tcPr marL="109728" marR="109728" marT="36576" marB="36576" anchor="ctr">
                    <a:solidFill>
                      <a:srgbClr val="FFFFFF"/>
                    </a:solidFill>
                  </a:tcPr>
                </a:tc>
                <a:tc>
                  <a:txBody>
                    <a:bodyPr wrap="square"/>
                    <a:lstStyle/>
                    <a:p>
                      <a:r>
                        <a:rPr sz="1800">
                          <a:solidFill>
                            <a:srgbClr val="1A2238"/>
                          </a:solidFill>
                          <a:latin typeface="Arial"/>
                        </a:rPr>
                        <a:t>§ 19 JArbSchG (unter 16 Jahren)</a:t>
                      </a:r>
                    </a:p>
                  </a:txBody>
                  <a:tcPr marL="109728" marR="109728" marT="36576" marB="36576" anchor="ctr">
                    <a:solidFill>
                      <a:srgbClr val="FFFFFF"/>
                    </a:solidFill>
                  </a:tcPr>
                </a:tc>
              </a:tr>
              <a:tr h="822960">
                <a:tc>
                  <a:txBody>
                    <a:bodyPr wrap="square"/>
                    <a:lstStyle/>
                    <a:p>
                      <a:r>
                        <a:rPr sz="1800" b="1">
                          <a:solidFill>
                            <a:srgbClr val="14264B"/>
                          </a:solidFill>
                          <a:latin typeface="Arial"/>
                        </a:rPr>
                        <a:t>2</a:t>
                      </a:r>
                    </a:p>
                  </a:txBody>
                  <a:tcPr marL="109728" marR="109728" marT="36576" marB="36576" anchor="ctr">
                    <a:solidFill>
                      <a:srgbClr val="F6F8FC"/>
                    </a:solidFill>
                  </a:tcPr>
                </a:tc>
                <a:tc>
                  <a:txBody>
                    <a:bodyPr wrap="square"/>
                    <a:lstStyle/>
                    <a:p>
                      <a:r>
                        <a:rPr sz="1800">
                          <a:solidFill>
                            <a:srgbClr val="1A2238"/>
                          </a:solidFill>
                          <a:latin typeface="Arial"/>
                        </a:rPr>
                        <a:t>C – Nein, höchstens vier Monate</a:t>
                      </a:r>
                    </a:p>
                  </a:txBody>
                  <a:tcPr marL="109728" marR="109728" marT="36576" marB="36576" anchor="ctr">
                    <a:solidFill>
                      <a:srgbClr val="F6F8FC"/>
                    </a:solidFill>
                  </a:tcPr>
                </a:tc>
                <a:tc>
                  <a:txBody>
                    <a:bodyPr wrap="square"/>
                    <a:lstStyle/>
                    <a:p>
                      <a:r>
                        <a:rPr sz="1800">
                          <a:solidFill>
                            <a:srgbClr val="1A2238"/>
                          </a:solidFill>
                          <a:latin typeface="Arial"/>
                        </a:rPr>
                        <a:t>§ 20 BBiG</a:t>
                      </a:r>
                    </a:p>
                  </a:txBody>
                  <a:tcPr marL="109728" marR="109728" marT="36576" marB="36576" anchor="ctr">
                    <a:solidFill>
                      <a:srgbClr val="F6F8FC"/>
                    </a:solidFill>
                  </a:tcPr>
                </a:tc>
              </a:tr>
              <a:tr h="822960">
                <a:tc>
                  <a:txBody>
                    <a:bodyPr wrap="square"/>
                    <a:lstStyle/>
                    <a:p>
                      <a:r>
                        <a:rPr sz="1800" b="1">
                          <a:solidFill>
                            <a:srgbClr val="14264B"/>
                          </a:solidFill>
                          <a:latin typeface="Arial"/>
                        </a:rPr>
                        <a:t>3</a:t>
                      </a:r>
                    </a:p>
                  </a:txBody>
                  <a:tcPr marL="109728" marR="109728" marT="36576" marB="36576" anchor="ctr">
                    <a:solidFill>
                      <a:srgbClr val="FFFFFF"/>
                    </a:solidFill>
                  </a:tcPr>
                </a:tc>
                <a:tc>
                  <a:txBody>
                    <a:bodyPr wrap="square"/>
                    <a:lstStyle/>
                    <a:p>
                      <a:r>
                        <a:rPr sz="1800">
                          <a:solidFill>
                            <a:srgbClr val="1A2238"/>
                          </a:solidFill>
                          <a:latin typeface="Arial"/>
                        </a:rPr>
                        <a:t>C – Nein, die Kündigung muss schriftlich mit Angabe der Gründe erfolgen</a:t>
                      </a:r>
                    </a:p>
                  </a:txBody>
                  <a:tcPr marL="109728" marR="109728" marT="36576" marB="36576" anchor="ctr">
                    <a:solidFill>
                      <a:srgbClr val="FFFFFF"/>
                    </a:solidFill>
                  </a:tcPr>
                </a:tc>
                <a:tc>
                  <a:txBody>
                    <a:bodyPr wrap="square"/>
                    <a:lstStyle/>
                    <a:p>
                      <a:r>
                        <a:rPr sz="1800">
                          <a:solidFill>
                            <a:srgbClr val="1A2238"/>
                          </a:solidFill>
                          <a:latin typeface="Arial"/>
                        </a:rPr>
                        <a:t>§ 22 Abs. 2 und 3 BBiG</a:t>
                      </a:r>
                    </a:p>
                  </a:txBody>
                  <a:tcPr marL="109728" marR="109728" marT="36576" marB="36576" anchor="ctr">
                    <a:solidFill>
                      <a:srgbClr val="FFFFFF"/>
                    </a:solidFill>
                  </a:tcPr>
                </a:tc>
              </a:tr>
              <a:tr h="822960">
                <a:tc>
                  <a:txBody>
                    <a:bodyPr wrap="square"/>
                    <a:lstStyle/>
                    <a:p>
                      <a:r>
                        <a:rPr sz="1800" b="1">
                          <a:solidFill>
                            <a:srgbClr val="14264B"/>
                          </a:solidFill>
                          <a:latin typeface="Arial"/>
                        </a:rPr>
                        <a:t>4</a:t>
                      </a:r>
                    </a:p>
                  </a:txBody>
                  <a:tcPr marL="109728" marR="109728" marT="36576" marB="36576" anchor="ctr">
                    <a:solidFill>
                      <a:srgbClr val="F6F8FC"/>
                    </a:solidFill>
                  </a:tcPr>
                </a:tc>
                <a:tc>
                  <a:txBody>
                    <a:bodyPr wrap="square"/>
                    <a:lstStyle/>
                    <a:p>
                      <a:r>
                        <a:rPr sz="1800">
                          <a:solidFill>
                            <a:srgbClr val="1A2238"/>
                          </a:solidFill>
                          <a:latin typeface="Arial"/>
                        </a:rPr>
                        <a:t>C – Nein, im 2. Jahr gelten mindestens 854 €</a:t>
                      </a:r>
                    </a:p>
                  </a:txBody>
                  <a:tcPr marL="109728" marR="109728" marT="36576" marB="36576" anchor="ctr">
                    <a:solidFill>
                      <a:srgbClr val="F6F8FC"/>
                    </a:solidFill>
                  </a:tcPr>
                </a:tc>
                <a:tc>
                  <a:txBody>
                    <a:bodyPr wrap="square"/>
                    <a:lstStyle/>
                    <a:p>
                      <a:r>
                        <a:rPr sz="1800">
                          <a:solidFill>
                            <a:srgbClr val="1A2238"/>
                          </a:solidFill>
                          <a:latin typeface="Arial"/>
                        </a:rPr>
                        <a:t>§ 17 BBiG</a:t>
                      </a:r>
                    </a:p>
                  </a:txBody>
                  <a:tcPr marL="109728" marR="109728" marT="36576" marB="36576" anchor="ctr">
                    <a:solidFill>
                      <a:srgbClr val="F6F8FC"/>
                    </a:solidFill>
                  </a:tcPr>
                </a:tc>
              </a:tr>
              <a:tr h="822960">
                <a:tc>
                  <a:txBody>
                    <a:bodyPr wrap="square"/>
                    <a:lstStyle/>
                    <a:p>
                      <a:r>
                        <a:rPr sz="1800" b="1">
                          <a:solidFill>
                            <a:srgbClr val="14264B"/>
                          </a:solidFill>
                          <a:latin typeface="Arial"/>
                        </a:rPr>
                        <a:t>5</a:t>
                      </a:r>
                    </a:p>
                  </a:txBody>
                  <a:tcPr marL="109728" marR="109728" marT="36576" marB="36576" anchor="ctr">
                    <a:solidFill>
                      <a:srgbClr val="FFFFFF"/>
                    </a:solidFill>
                  </a:tcPr>
                </a:tc>
                <a:tc>
                  <a:txBody>
                    <a:bodyPr wrap="square"/>
                    <a:lstStyle/>
                    <a:p>
                      <a:r>
                        <a:rPr sz="1800">
                          <a:solidFill>
                            <a:srgbClr val="1A2238"/>
                          </a:solidFill>
                          <a:latin typeface="Arial"/>
                        </a:rPr>
                        <a:t>B – Ja, nach dem Arbeitszeitgesetz, wenn der Durchschnitt von 8 Stunden nicht überschritten wird</a:t>
                      </a:r>
                    </a:p>
                  </a:txBody>
                  <a:tcPr marL="109728" marR="109728" marT="36576" marB="36576" anchor="ctr">
                    <a:solidFill>
                      <a:srgbClr val="FFFFFF"/>
                    </a:solidFill>
                  </a:tcPr>
                </a:tc>
                <a:tc>
                  <a:txBody>
                    <a:bodyPr wrap="square"/>
                    <a:lstStyle/>
                    <a:p>
                      <a:r>
                        <a:rPr sz="1800">
                          <a:solidFill>
                            <a:srgbClr val="1A2238"/>
                          </a:solidFill>
                          <a:latin typeface="Arial"/>
                        </a:rPr>
                        <a:t>§ 3 ArbZG</a:t>
                      </a:r>
                    </a:p>
                  </a:txBody>
                  <a:tcPr marL="109728" marR="109728" marT="36576" marB="36576"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