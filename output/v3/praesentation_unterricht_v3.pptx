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Einstieg · FOLIENTYP: Titel</a:t>
            </a:r>
          </a:p>
          <a:p>
            <a:r>
              <a:t>SPRECHER: Yasin</a:t>
            </a:r>
          </a:p>
          <a:p>
            <a:r>
              <a:t>DAUER: 0:20</a:t>
            </a:r>
          </a:p>
          <a:p>
            <a:r>
              <a:t>SOZIALFORM: Plenum</a:t>
            </a:r>
          </a:p>
          <a:p>
            <a:r>
              <a:t>IMPULS / MODERATION: Begrüßen, Rollen klären: Wir übernehmen heute die Stunde. Fach GP, Thema Ausbildungsvertrag.</a:t>
            </a:r>
          </a:p>
          <a:p>
            <a:r>
              <a:t>MEDIEN / TAFEL: Beamer; Tafel/Flipchart vorbereiten (Spalten a–d für Vorwissen)</a:t>
            </a:r>
          </a:p>
          <a:p>
            <a:r>
              <a:t>ZEITPUFFER / STREICHEN: nicht streichbar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Einstieg · FOLIENTYP: Frage</a:t>
            </a:r>
          </a:p>
          <a:p>
            <a:r>
              <a:t>SPRECHER: Yasin</a:t>
            </a:r>
          </a:p>
          <a:p>
            <a:r>
              <a:t>DAUER: 1:10</a:t>
            </a:r>
          </a:p>
          <a:p>
            <a:r>
              <a:t>SOZIALFORM: Plenum · Zuruf, Handzeichen</a:t>
            </a:r>
          </a:p>
          <a:p>
            <a:r>
              <a:t>IMPULS / MODERATION: Alltagsfall erzählen („Ihr bekommt euren Vertrag und sollt unterschreiben …“). 1. Handzeichen: Wer hat seinen Vertrag schon richtig gelesen? 2. Zuruf: Was glaubt ihr, was drinstehen muss? Stichworte an die Tafel, nicht bewerten.</a:t>
            </a:r>
          </a:p>
          <a:p>
            <a:r>
              <a:t>ERWARTETE ANTWORTEN: Gehalt/Vergütung, Urlaub, Probezeit, Arbeitszeit, Beginn/Dauer, Kündigung.</a:t>
            </a:r>
          </a:p>
          <a:p>
            <a:r>
              <a:t>FEHLVORSTELLUNGEN UND REAKTION: „Steht alles im Gesetz, Vertrag egal“ → Nachfrage: Was darf der Vertrag dann überhaupt regeln? · Schweigen → Partnergespräch 20 s, dann erneut fragen.</a:t>
            </a:r>
          </a:p>
          <a:p>
            <a:r>
              <a:t>MEDIEN / TAFEL: Tafel: Stichwortsammlung „Vertrag“</a:t>
            </a:r>
          </a:p>
          <a:p>
            <a:r>
              <a:t>ZEITPUFFER / STREICHEN: kürzbar auf 40 s (nur Handzeichen)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Einstieg · FOLIENTYP: Lernziele</a:t>
            </a:r>
          </a:p>
          <a:p>
            <a:r>
              <a:t>SPRECHER: Mido</a:t>
            </a:r>
          </a:p>
          <a:p>
            <a:r>
              <a:t>DAUER: 0:30</a:t>
            </a:r>
          </a:p>
          <a:p>
            <a:r>
              <a:t>SOZIALFORM: Plenum</a:t>
            </a:r>
          </a:p>
          <a:p>
            <a:r>
              <a:t>IMPULS / MODERATION: Kurz vorlesen lassen? Nein: Wir nennen das Ziel mit eigenen Worten und sagen, dass wir am Ende zu diesen vier Punkten zurückkommen (Lernziele-Check).</a:t>
            </a:r>
          </a:p>
          <a:p>
            <a:r>
              <a:t>MEDIEN / TAFEL: Beamer</a:t>
            </a:r>
          </a:p>
          <a:p>
            <a:r>
              <a:t>ZEITPUFFER / STREICHEN: kürzbar auf 15 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Einstieg · FOLIENTYP: Ablauf</a:t>
            </a:r>
          </a:p>
          <a:p>
            <a:r>
              <a:t>SPRECHER: Mido</a:t>
            </a:r>
          </a:p>
          <a:p>
            <a:r>
              <a:t>DAUER: 0:25</a:t>
            </a:r>
          </a:p>
          <a:p>
            <a:r>
              <a:t>SOZIALFORM: Plenum</a:t>
            </a:r>
          </a:p>
          <a:p>
            <a:r>
              <a:t>IMPULS / MODERATION: Zeitleiste in einem Satz: erst zuhören und mitdenken, dann selbst üben am Handy, dann gemeinsam besprechen. Wer hat ein Handy mit? (Handzeichen); sonst zu zweit.</a:t>
            </a:r>
          </a:p>
          <a:p>
            <a:r>
              <a:t>MEDIEN / TAFEL: Beamer</a:t>
            </a:r>
          </a:p>
          <a:p>
            <a:r>
              <a:t>ZEITPUFFER / STREICHEN: kürzbar auf 10 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Einstieg · FOLIENTYP: Auftrag Vorwissen</a:t>
            </a:r>
          </a:p>
          <a:p>
            <a:r>
              <a:t>SPRECHER: Yasin</a:t>
            </a:r>
          </a:p>
          <a:p>
            <a:r>
              <a:t>DAUER: 0:15</a:t>
            </a:r>
          </a:p>
          <a:p>
            <a:r>
              <a:t>SOZIALFORM: Plenum</a:t>
            </a:r>
          </a:p>
          <a:p>
            <a:r>
              <a:t>IMPULS / MODERATION: Auftrag erklären: Vier Fragen, jede einzeln. Ihr antwortet frei, wir schreiben mit und lösen erst am Ende der Stunde auf.</a:t>
            </a:r>
          </a:p>
          <a:p>
            <a:r>
              <a:t>MEDIEN / TAFEL: Tafel/Flipchart: vier Spalten a bis d</a:t>
            </a:r>
          </a:p>
          <a:p>
            <a:r>
              <a:t>ZEITPUFFER / STREICHEN: nicht streichbar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Einstieg · FOLIENTYP: Frage</a:t>
            </a:r>
          </a:p>
          <a:p>
            <a:r>
              <a:t>SPRECHER: Yasin</a:t>
            </a:r>
          </a:p>
          <a:p>
            <a:r>
              <a:t>DAUER: 0:35</a:t>
            </a:r>
          </a:p>
          <a:p>
            <a:r>
              <a:t>SOZIALFORM: Plenum · Zuruf</a:t>
            </a:r>
          </a:p>
          <a:p>
            <a:r>
              <a:t>IMPULS / MODERATION: Frage a stellen, zwei bis drei Zurufe sammeln, an der Tafel unter „a“ notieren. Nicht auflösen – die Auflösung kommt auf der Folie „Zurück zum Anfang“.</a:t>
            </a:r>
          </a:p>
          <a:p>
            <a:r>
              <a:t>ERWARTETE ANTWORTEN: Vier Monate (§ 20 BBiG).</a:t>
            </a:r>
          </a:p>
          <a:p>
            <a:r>
              <a:t>FEHLVORSTELLUNGEN UND REAKTION: „Sechs Monate“, „ein Jahr“ → notieren, nicht korrigieren.</a:t>
            </a:r>
          </a:p>
          <a:p>
            <a:r>
              <a:t>MEDIEN / TAFEL: Tafel: Spalte a</a:t>
            </a:r>
          </a:p>
          <a:p>
            <a:r>
              <a:t>ZEITPUFFER / STREICHEN: Vorwissen b–d bei Zeitnot nur als Handzeichen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Einstieg · FOLIENTYP: Frage</a:t>
            </a:r>
          </a:p>
          <a:p>
            <a:r>
              <a:t>SPRECHER: Mido</a:t>
            </a:r>
          </a:p>
          <a:p>
            <a:r>
              <a:t>DAUER: 0:35</a:t>
            </a:r>
          </a:p>
          <a:p>
            <a:r>
              <a:t>SOZIALFORM: Plenum · Zuruf</a:t>
            </a:r>
          </a:p>
          <a:p>
            <a:r>
              <a:t>IMPULS / MODERATION: Frage b stellen, zwei bis drei Zurufe sammeln, an der Tafel unter „b“ notieren. Nicht auflösen – die Auflösung kommt auf der Folie „Zurück zum Anfang“.</a:t>
            </a:r>
          </a:p>
          <a:p>
            <a:r>
              <a:t>ERWARTETE ANTWORTEN: 24 Werktage ab 18 Jahren, Jugendliche 25 bis 30 (§ 3 BUrlG, § 19 JArbSchG).</a:t>
            </a:r>
          </a:p>
          <a:p>
            <a:r>
              <a:t>FEHLVORSTELLUNGEN UND REAKTION: „20 Tage“ (Arbeitstage) oder „30“ → notieren; Nachfrage: Hängt es vom Alter ab?</a:t>
            </a:r>
          </a:p>
          <a:p>
            <a:r>
              <a:t>MEDIEN / TAFEL: Tafel: Spalte b</a:t>
            </a:r>
          </a:p>
          <a:p>
            <a:r>
              <a:t>ZEITPUFFER / STREICHEN: Vorwissen b–d bei Zeitnot nur als Handzeichen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Einstieg · FOLIENTYP: Frage</a:t>
            </a:r>
          </a:p>
          <a:p>
            <a:r>
              <a:t>SPRECHER: Yasin</a:t>
            </a:r>
          </a:p>
          <a:p>
            <a:r>
              <a:t>DAUER: 0:35</a:t>
            </a:r>
          </a:p>
          <a:p>
            <a:r>
              <a:t>SOZIALFORM: Plenum · Zuruf</a:t>
            </a:r>
          </a:p>
          <a:p>
            <a:r>
              <a:t>IMPULS / MODERATION: Frage c stellen, zwei bis drei Zurufe sammeln, an der Tafel unter „c“ notieren. Nicht auflösen – die Auflösung kommt auf der Folie „Zurück zum Anfang“.</a:t>
            </a:r>
          </a:p>
          <a:p>
            <a:r>
              <a:t>ERWARTETE ANTWORTEN: Keine Frist, aber schriftlich (§ 22 Abs. 1 und 3 BBiG).</a:t>
            </a:r>
          </a:p>
          <a:p>
            <a:r>
              <a:t>FEHLVORSTELLUNGEN UND REAKTION: „Vier Wochen“, „zwei Wochen“ → notieren, nicht korrigieren.</a:t>
            </a:r>
          </a:p>
          <a:p>
            <a:r>
              <a:t>MEDIEN / TAFEL: Tafel: Spalte c</a:t>
            </a:r>
          </a:p>
          <a:p>
            <a:r>
              <a:t>ZEITPUFFER / STREICHEN: Vorwissen b–d bei Zeitnot nur als Handzeichen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Einstieg · FOLIENTYP: Frage</a:t>
            </a:r>
          </a:p>
          <a:p>
            <a:r>
              <a:t>SPRECHER: Mido</a:t>
            </a:r>
          </a:p>
          <a:p>
            <a:r>
              <a:t>DAUER: 0:35</a:t>
            </a:r>
          </a:p>
          <a:p>
            <a:r>
              <a:t>SOZIALFORM: Plenum · Zuruf</a:t>
            </a:r>
          </a:p>
          <a:p>
            <a:r>
              <a:t>IMPULS / MODERATION: Frage d stellen, zwei bis drei Zurufe sammeln, an der Tafel unter „d“ notieren. Nicht auflösen – die Auflösung kommt auf der Folie „Zurück zum Anfang“.</a:t>
            </a:r>
          </a:p>
          <a:p>
            <a:r>
              <a:t>ERWARTETE ANTWORTEN: Ja, die Kündigung muss schriftlich erfolgen; die elektronische Form ist ausgeschlossen (§ 22 Abs. 3 BBiG).</a:t>
            </a:r>
          </a:p>
          <a:p>
            <a:r>
              <a:t>FEHLVORSTELLUNGEN UND REAKTION: „E-Mail reicht“ → notieren; auf die Auflösung am Ende verweisen.</a:t>
            </a:r>
          </a:p>
          <a:p>
            <a:r>
              <a:t>MEDIEN / TAFEL: Tafel: Spalte d</a:t>
            </a:r>
          </a:p>
          <a:p>
            <a:r>
              <a:t>ZEITPUFFER / STREICHEN: Vorwissen b–d bei Zeitnot nur als Handzeichen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Block 1 · FOLIENTYP: Erklärfolie</a:t>
            </a:r>
          </a:p>
          <a:p>
            <a:r>
              <a:t>SPRECHER: Yasin</a:t>
            </a:r>
          </a:p>
          <a:p>
            <a:r>
              <a:t>DAUER: 0:40</a:t>
            </a:r>
          </a:p>
          <a:p>
            <a:r>
              <a:t>SOZIALFORM: Plenum · Zuhören, Mitschreiben</a:t>
            </a:r>
          </a:p>
          <a:p>
            <a:r>
              <a:t>IMPULS / MODERATION: An die Tafelsammlung anknüpfen: Was habt ihr genannt – was davon steht hier? Die sechs Felder mündlich einordnen, Textform in eigenen Worten.</a:t>
            </a:r>
          </a:p>
          <a:p>
            <a:r>
              <a:t>ERWARTETE ANTWORTEN: Schüler:innen erkennen ihre Zurufe wieder.</a:t>
            </a:r>
          </a:p>
          <a:p>
            <a:r>
              <a:t>FEHLVORSTELLUNGEN UND REAKTION: „Vertrag muss auf Papier unterschrieben sein“ → Textform seit 01.08.2024 (z. B. E-Mail); Papierform war vorher vorgeschrieben.</a:t>
            </a:r>
          </a:p>
          <a:p>
            <a:r>
              <a:t>MEDIEN / TAFEL: Tafelsammlung abgleichen</a:t>
            </a:r>
          </a:p>
          <a:p>
            <a:r>
              <a:t>ZEITPUFFER / STREICHEN: nicht streichbar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Block 1 · FOLIENTYP: Frage</a:t>
            </a:r>
          </a:p>
          <a:p>
            <a:r>
              <a:t>SPRECHER: Yasin</a:t>
            </a:r>
          </a:p>
          <a:p>
            <a:r>
              <a:t>DAUER: 0:30</a:t>
            </a:r>
          </a:p>
          <a:p>
            <a:r>
              <a:t>SOZIALFORM: Einzelarbeit · Mitschreiben</a:t>
            </a:r>
          </a:p>
          <a:p>
            <a:r>
              <a:t>IMPULS / MODERATION: Lückensatz: 20 Sekunden still ausfüllen (Arbeitsblatt oder Heft), dann eine Person nennen lassen, ohne zu bewerten.</a:t>
            </a:r>
          </a:p>
          <a:p>
            <a:r>
              <a:t>ERWARTETE ANTWORTEN: ① 01.08.2024 · ② Textform · ③ Papierform</a:t>
            </a:r>
          </a:p>
          <a:p>
            <a:r>
              <a:t>FEHLVORSTELLUNGEN UND REAKTION: „1. Januar“, „E-Mail“ statt Textform → beide Begriffe zeigen, Textform = lesbare Erklärung, z. B. E-Mail.</a:t>
            </a:r>
          </a:p>
          <a:p>
            <a:r>
              <a:t>MEDIEN / TAFEL: Arbeitsblatt Tafelbild (optional)</a:t>
            </a:r>
          </a:p>
          <a:p>
            <a:r>
              <a:t>ZEITPUFFER / STREICHEN: streichbar (Lückensatz Block 1)</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Block 1 · FOLIENTYP: Antwort</a:t>
            </a:r>
          </a:p>
          <a:p>
            <a:r>
              <a:t>SPRECHER: Yasin</a:t>
            </a:r>
          </a:p>
          <a:p>
            <a:r>
              <a:t>DAUER: 0:20</a:t>
            </a:r>
          </a:p>
          <a:p>
            <a:r>
              <a:t>SOZIALFORM: Plenum · Abgleichen</a:t>
            </a:r>
          </a:p>
          <a:p>
            <a:r>
              <a:t>IMPULS / MODERATION: Antworten per Klick aufdecken, Klasse korrigiert ihr Blatt selbst.</a:t>
            </a:r>
          </a:p>
          <a:p>
            <a:r>
              <a:t>ANIMATION (Klickfolge): Klick 1: ① 01.08.2024 · Klick 2: ② Textform · Klick 3: ③ Papierform</a:t>
            </a:r>
          </a:p>
          <a:p>
            <a:r>
              <a:t>ZEITPUFFER / STREICHEN: streichbar zusammen mit der Frage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Block 1 · FOLIENTYP: Erklärfolie</a:t>
            </a:r>
          </a:p>
          <a:p>
            <a:r>
              <a:t>SPRECHER: Yasin</a:t>
            </a:r>
          </a:p>
          <a:p>
            <a:r>
              <a:t>DAUER: 0:40</a:t>
            </a:r>
          </a:p>
          <a:p>
            <a:r>
              <a:t>SOZIALFORM: Plenum · Zuhören, Mitschreiben</a:t>
            </a:r>
          </a:p>
          <a:p>
            <a:r>
              <a:t>IMPULS / MODERATION: Zeitstrahl am Beamer mündlich durchgehen: Beginn → Prüfung → Ende. Frage in die Runde: Wer kann den Zeitstrahl verkürzen? (Antwort steht auf den Karten).</a:t>
            </a:r>
          </a:p>
          <a:p>
            <a:r>
              <a:t>ERWARTETE ANTWORTEN: Azubi und Betrieb gemeinsam, zuständige Stelle.</a:t>
            </a:r>
          </a:p>
          <a:p>
            <a:r>
              <a:t>FEHLVORSTELLUNGEN UND REAKTION: „Betrieb kann allein kürzen“ → gemeinsamer Antrag nötig.</a:t>
            </a:r>
          </a:p>
          <a:p>
            <a:r>
              <a:t>ZEITPUFFER / STREICHEN: kürzbar auf 25 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Block 1 · FOLIENTYP: Erklärfolie</a:t>
            </a:r>
          </a:p>
          <a:p>
            <a:r>
              <a:t>SPRECHER: Yasin</a:t>
            </a:r>
          </a:p>
          <a:p>
            <a:r>
              <a:t>DAUER: 0:45</a:t>
            </a:r>
          </a:p>
          <a:p>
            <a:r>
              <a:t>SOZIALFORM: Plenum · Zuhören, Mitschreiben</a:t>
            </a:r>
          </a:p>
          <a:p>
            <a:r>
              <a:t>IMPULS / MODERATION: Vergleich an der Tafel nachzeichnen: links Jugendliche (JArbSchG), rechts Volljährige (ArbZG). Ausgleich in sechs Monaten erklären.</a:t>
            </a:r>
          </a:p>
          <a:p>
            <a:r>
              <a:t>ERWARTETE ANTWORTEN: –</a:t>
            </a:r>
          </a:p>
          <a:p>
            <a:r>
              <a:t>FEHLVORSTELLUNGEN UND REAKTION: „Jugendliche dürfen auch 10 Stunden“ → nur Volljährige, und nur mit Ausgleich.</a:t>
            </a:r>
          </a:p>
          <a:p>
            <a:r>
              <a:t>MEDIEN / TAFEL: Tafel: zwei Spalten</a:t>
            </a:r>
          </a:p>
          <a:p>
            <a:r>
              <a:t>ZEITPUFFER / STREICHEN: nicht streichbar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Block 1 · FOLIENTYP: Frage</a:t>
            </a:r>
          </a:p>
          <a:p>
            <a:r>
              <a:t>SPRECHER: Yasin</a:t>
            </a:r>
          </a:p>
          <a:p>
            <a:r>
              <a:t>DAUER: 0:25</a:t>
            </a:r>
          </a:p>
          <a:p>
            <a:r>
              <a:t>SOZIALFORM: Partnergespräch · Zuruf</a:t>
            </a:r>
          </a:p>
          <a:p>
            <a:r>
              <a:t>IMPULS / MODERATION: Eine Minute Murmelphase, dann zwei Antworten einsammeln.</a:t>
            </a:r>
          </a:p>
          <a:p>
            <a:r>
              <a:t>ERWARTETE ANTWORTEN: 8 Stunden täglich, 40 pro Woche; ausnahmsweise 8,5 bei Ausgleich (§ 8 JArbSchG).</a:t>
            </a:r>
          </a:p>
          <a:p>
            <a:r>
              <a:t>FEHLVORSTELLUNGEN UND REAKTION: „10 Stunden“ (Volljährigen-Regel) → Unterschied Jugendliche/Volljährige noch einmal zeigen.</a:t>
            </a:r>
          </a:p>
          <a:p>
            <a:r>
              <a:t>ZEITPUFFER / STREICHEN: streichbar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Block 1 · FOLIENTYP: Antwort</a:t>
            </a:r>
          </a:p>
          <a:p>
            <a:r>
              <a:t>SPRECHER: Yasin</a:t>
            </a:r>
          </a:p>
          <a:p>
            <a:r>
              <a:t>DAUER: 0:25</a:t>
            </a:r>
          </a:p>
          <a:p>
            <a:r>
              <a:t>SOZIALFORM: Plenum</a:t>
            </a:r>
          </a:p>
          <a:p>
            <a:r>
              <a:t>IMPULS / MODERATION: Aufdecken, dann Rückbezug auf den Vergleich.</a:t>
            </a:r>
          </a:p>
          <a:p>
            <a:r>
              <a:t>ANIMATION (Klickfolge): Klick 1: Antwortkasten</a:t>
            </a:r>
          </a:p>
          <a:p>
            <a:r>
              <a:t>ZEITPUFFER / STREICHEN: streichbar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Block 1 · FOLIENTYP: Frage</a:t>
            </a:r>
          </a:p>
          <a:p>
            <a:r>
              <a:t>SPRECHER: Yasin</a:t>
            </a:r>
          </a:p>
          <a:p>
            <a:r>
              <a:t>DAUER: 0:45</a:t>
            </a:r>
          </a:p>
          <a:p>
            <a:r>
              <a:t>SOZIALFORM: Murmelphase · Schätzen</a:t>
            </a:r>
          </a:p>
          <a:p>
            <a:r>
              <a:t>IMPULS / MODERATION: Aufdeck-Rätsel: Schätzen lassen (Zuruf-Spanne an die Tafel). 30 Sekunden Murmelphase. Danach Denkpause und Auflösung.</a:t>
            </a:r>
          </a:p>
          <a:p>
            <a:r>
              <a:t>ERWARTETE ANTWORTEN: 724 € (§ 17 BBiG).</a:t>
            </a:r>
          </a:p>
          <a:p>
            <a:r>
              <a:t>FEHLVORSTELLUNGEN UND REAKTION: Tarifvertrag/„Je nach Betrieb“ → es gibt eine gesetzliche Untergrenze. · Zu hohe Schätzungen (1.000 €) ausdrücklich würdigen.</a:t>
            </a:r>
          </a:p>
          <a:p>
            <a:r>
              <a:t>MEDIEN / TAFEL: Tafel: Schätzspanne</a:t>
            </a:r>
          </a:p>
          <a:p>
            <a:r>
              <a:t>ZEITPUFFER / STREICHEN: Murmelphase auf 15 s kürzen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Block 1 · FOLIENTYP: Denkpause</a:t>
            </a:r>
          </a:p>
          <a:p>
            <a:r>
              <a:t>SPRECHER: Yasin</a:t>
            </a:r>
          </a:p>
          <a:p>
            <a:r>
              <a:t>DAUER: 0:15</a:t>
            </a:r>
          </a:p>
          <a:p>
            <a:r>
              <a:t>SOZIALFORM: Think-Pair-Share · Partnergespräch</a:t>
            </a:r>
          </a:p>
          <a:p>
            <a:r>
              <a:t>IMPULS / MODERATION: Schätzungen stehen an der Tafel; erst jetzt auflösen.</a:t>
            </a:r>
          </a:p>
          <a:p>
            <a:r>
              <a:t>ANIMATION (Klickfolge): Countdown-Balken läuft automatisch beim Folienwechsel (Segmente erscheinen nacheinander).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Block 1 · FOLIENTYP: Antwort</a:t>
            </a:r>
          </a:p>
          <a:p>
            <a:r>
              <a:t>SPRECHER: Yasin</a:t>
            </a:r>
          </a:p>
          <a:p>
            <a:r>
              <a:t>DAUER: 0:45</a:t>
            </a:r>
          </a:p>
          <a:p>
            <a:r>
              <a:t>SOZIALFORM: Plenum</a:t>
            </a:r>
          </a:p>
          <a:p>
            <a:r>
              <a:t>IMPULS / MODERATION: Balken per Klick aufdecken: Jahr für Jahr. Frage: Wer lag richtig? Hinweis: wird jedes Jahr neu festgelegt, darf nicht unterschritten werden.</a:t>
            </a:r>
          </a:p>
          <a:p>
            <a:r>
              <a:t>ERWARTETE ANTWORTEN: –</a:t>
            </a:r>
          </a:p>
          <a:p>
            <a:r>
              <a:t>FEHLVORSTELLUNGEN UND REAKTION: „Das ist mein Nettogehalt“ → es ist brutto, Untergrenze.</a:t>
            </a:r>
          </a:p>
          <a:p>
            <a:r>
              <a:t>ANIMATION (Klickfolge): Klick 1–4: 1.–4. Jahr (Balken und Betrag)</a:t>
            </a:r>
          </a:p>
          <a:p>
            <a:r>
              <a:t>ZEITPUFFER / STREICHEN: nicht streichbar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Block 2 · FOLIENTYP: Frage</a:t>
            </a:r>
          </a:p>
          <a:p>
            <a:r>
              <a:t>SPRECHER: Mido</a:t>
            </a:r>
          </a:p>
          <a:p>
            <a:r>
              <a:t>DAUER: 0:30</a:t>
            </a:r>
          </a:p>
          <a:p>
            <a:r>
              <a:t>SOZIALFORM: Aufstellen im Raum · stimmt / stimmt nicht</a:t>
            </a:r>
          </a:p>
          <a:p>
            <a:r>
              <a:t>IMPULS / MODERATION: Aufstellen: Wer meint „stimmt“, steht rechts; „stimmt nicht“ links. Eine Person pro Seite begründen lassen, dann weiter.</a:t>
            </a:r>
          </a:p>
          <a:p>
            <a:r>
              <a:t>ERWARTETE ANTWORTEN: Stimmt: Werktage sind alle Kalendertage außer Sonntagen und gesetzlichen Feiertagen.</a:t>
            </a:r>
          </a:p>
          <a:p>
            <a:r>
              <a:t>FEHLVORSTELLUNGEN UND REAKTION: „Werktage = Montag bis Freitag“ → das sind Arbeitstage; Samstag zählt als Werktag.</a:t>
            </a:r>
          </a:p>
          <a:p>
            <a:r>
              <a:t>MEDIEN / TAFEL: Raum: rechts/links markieren (Zettel „Stimmt“ / „Stimmt nicht“)</a:t>
            </a:r>
          </a:p>
          <a:p>
            <a:r>
              <a:t>ZEITPUFFER / STREICHEN: als Handzeichen kürzen (−15 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Block 2 · FOLIENTYP: Antwort</a:t>
            </a:r>
          </a:p>
          <a:p>
            <a:r>
              <a:t>SPRECHER: Mido</a:t>
            </a:r>
          </a:p>
          <a:p>
            <a:r>
              <a:t>DAUER: 0:35</a:t>
            </a:r>
          </a:p>
          <a:p>
            <a:r>
              <a:t>SOZIALFORM: Plenum</a:t>
            </a:r>
          </a:p>
          <a:p>
            <a:r>
              <a:t>IMPULS / MODERATION: Aufdecken, danach: 24 Werktage entsprechen 20 Arbeitstagen bei der Fünf-Tage-Woche – an der Tafel zeigen.</a:t>
            </a:r>
          </a:p>
          <a:p>
            <a:r>
              <a:t>ERWARTETE ANTWORTEN: –</a:t>
            </a:r>
          </a:p>
          <a:p>
            <a:r>
              <a:t>FEHLVORSTELLUNGEN UND REAKTION: Verwechslung Werktag/Arbeitstag → Wochenkalender anzeichnen (Mo–Sa = 6 Werktage).</a:t>
            </a:r>
          </a:p>
          <a:p>
            <a:r>
              <a:t>ANIMATION (Klickfolge): Klick 1: Definition · Klick 2: Arbeitstage-Hinweis</a:t>
            </a:r>
          </a:p>
          <a:p>
            <a:r>
              <a:t>ZEITPUFFER / STREICHEN: nicht streichbar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Block 2 · FOLIENTYP: Erklärfolie</a:t>
            </a:r>
          </a:p>
          <a:p>
            <a:r>
              <a:t>SPRECHER: Mido</a:t>
            </a:r>
          </a:p>
          <a:p>
            <a:r>
              <a:t>DAUER: 0:55</a:t>
            </a:r>
          </a:p>
          <a:p>
            <a:r>
              <a:t>SOZIALFORM: Plenum · Zuhören, Mitschreiben</a:t>
            </a:r>
          </a:p>
          <a:p>
            <a:r>
              <a:t>IMPULS / MODERATION: Balken Stufe für Stufe aufdecken: Alter zu Jahresbeginn entscheidet. Wir fragen beim Aufdecken: Wer gehört zu welcher Zeile?</a:t>
            </a:r>
          </a:p>
          <a:p>
            <a:r>
              <a:t>ERWARTETE ANTWORTEN: –</a:t>
            </a:r>
          </a:p>
          <a:p>
            <a:r>
              <a:t>FEHLVORSTELLUNGEN UND REAKTION: „Urlaub zählt in Arbeitstagen“ → hier Werktage.</a:t>
            </a:r>
          </a:p>
          <a:p>
            <a:r>
              <a:t>MEDIEN / TAFEL: Tafel: Alterstreppe</a:t>
            </a:r>
          </a:p>
          <a:p>
            <a:r>
              <a:t>ANIMATION (Klickfolge): Klick 1–4: unter 16 / unter 17 / unter 18 / ab 18</a:t>
            </a:r>
          </a:p>
          <a:p>
            <a:r>
              <a:t>ZEITPUFFER / STREICHEN: nicht streichbar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Block 2 · FOLIENTYP: Frage</a:t>
            </a:r>
          </a:p>
          <a:p>
            <a:r>
              <a:t>SPRECHER: Mido</a:t>
            </a:r>
          </a:p>
          <a:p>
            <a:r>
              <a:t>DAUER: 0:35</a:t>
            </a:r>
          </a:p>
          <a:p>
            <a:r>
              <a:t>SOZIALFORM: Think-Pair-Share</a:t>
            </a:r>
          </a:p>
          <a:p>
            <a:r>
              <a:t>IMPULS / MODERATION: Think: still überlegen. Pair: Partner:in. Share: zwei Antworten. Auf die Alterstreppe verweisen, nicht auf die Zahl.</a:t>
            </a:r>
          </a:p>
          <a:p>
            <a:r>
              <a:t>ERWARTETE ANTWORTEN: 27 Werktage (§ 19 JArbSchG).</a:t>
            </a:r>
          </a:p>
          <a:p>
            <a:r>
              <a:t>FEHLVORSTELLUNGEN UND REAKTION: „30“ (unter 16) oder „24“ → Frage nach der Altersgrenze: 16 ist nicht unter 16, aber unter 17.</a:t>
            </a:r>
          </a:p>
          <a:p>
            <a:r>
              <a:t>ZEITPUFFER / STREICHEN: als Zuruf kürzen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Block 2 · FOLIENTYP: Denkpause</a:t>
            </a:r>
          </a:p>
          <a:p>
            <a:r>
              <a:t>SPRECHER: Mido</a:t>
            </a:r>
          </a:p>
          <a:p>
            <a:r>
              <a:t>DAUER: 0:15</a:t>
            </a:r>
          </a:p>
          <a:p>
            <a:r>
              <a:t>SOZIALFORM: Think-Pair-Share · Partnergespräch</a:t>
            </a:r>
          </a:p>
          <a:p>
            <a:r>
              <a:t>IMPULS / MODERATION: Stille aushalten; danach Partner:in sprechen lassen. Bei Schweigen: Zeit verlängern, nicht auflösen.</a:t>
            </a:r>
          </a:p>
          <a:p>
            <a:r>
              <a:t>ANIMATION (Klickfolge): Countdown-Balken läuft automatisch beim Folienwechsel (Segmente erscheinen nacheinander).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Block 2 · FOLIENTYP: Antwort</a:t>
            </a:r>
          </a:p>
          <a:p>
            <a:r>
              <a:t>SPRECHER: Mido</a:t>
            </a:r>
          </a:p>
          <a:p>
            <a:r>
              <a:t>DAUER: 0:20</a:t>
            </a:r>
          </a:p>
          <a:p>
            <a:r>
              <a:t>SOZIALFORM: Plenum</a:t>
            </a:r>
          </a:p>
          <a:p>
            <a:r>
              <a:t>IMPULS / MODERATION: Aufdecken; wer hatte 27? Wer hat sich bei 30 vertan – warum?</a:t>
            </a:r>
          </a:p>
          <a:p>
            <a:r>
              <a:t>ANIMATION (Klickfolge): Klick 1: Antwort</a:t>
            </a:r>
          </a:p>
          <a:p>
            <a:r>
              <a:t>ZEITPUFFER / STREICHEN: nicht streichbar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Block 2 · FOLIENTYP: Erklärfolie</a:t>
            </a:r>
          </a:p>
          <a:p>
            <a:r>
              <a:t>SPRECHER: Mido</a:t>
            </a:r>
          </a:p>
          <a:p>
            <a:r>
              <a:t>DAUER: 0:55</a:t>
            </a:r>
          </a:p>
          <a:p>
            <a:r>
              <a:t>SOZIALFORM: Plenum · Zuhören, Mitschreiben</a:t>
            </a:r>
          </a:p>
          <a:p>
            <a:r>
              <a:t>IMPULS / MODERATION: Rückgriff auf die Tafel (Vorwissen a): Welche Schätzungen waren dabei? Monate per Klick aufdecken, bei Monat 4 stoppen.</a:t>
            </a:r>
          </a:p>
          <a:p>
            <a:r>
              <a:t>ERWARTETE ANTWORTEN: –</a:t>
            </a:r>
          </a:p>
          <a:p>
            <a:r>
              <a:t>FEHLVORSTELLUNGEN UND REAKTION: „Probezeit = immer 3 oder 6 Monate“ → mindestens 1, höchstens 4 Monate.</a:t>
            </a:r>
          </a:p>
          <a:p>
            <a:r>
              <a:t>MEDIEN / TAFEL: Tafel: Vorwissen a abgleichen</a:t>
            </a:r>
          </a:p>
          <a:p>
            <a:r>
              <a:t>ANIMATION (Klickfolge): Klick 1–4: 1. bis 4. Monat</a:t>
            </a:r>
          </a:p>
          <a:p>
            <a:r>
              <a:t>ZEITPUFFER / STREICHEN: nicht streichbar</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Block 2 · FOLIENTYP: Frage</a:t>
            </a:r>
          </a:p>
          <a:p>
            <a:r>
              <a:t>SPRECHER: Mido</a:t>
            </a:r>
          </a:p>
          <a:p>
            <a:r>
              <a:t>DAUER: 0:25</a:t>
            </a:r>
          </a:p>
          <a:p>
            <a:r>
              <a:t>SOZIALFORM: Aufstellen · stimmt / stimmt nicht</a:t>
            </a:r>
          </a:p>
          <a:p>
            <a:r>
              <a:t>IMPULS / MODERATION: Schnell aufstellen lassen; zwei Begründungen.</a:t>
            </a:r>
          </a:p>
          <a:p>
            <a:r>
              <a:t>ERWARTETE ANTWORTEN: Stimmt nicht: höchstens vier Monate (§ 20 BBiG).</a:t>
            </a:r>
          </a:p>
          <a:p>
            <a:r>
              <a:t>FEHLVORSTELLUNGEN UND REAKTION: „Mit Zustimmung geht mehr“ → Gesetz lässt auch mit Zustimmung nicht mehr zu.</a:t>
            </a:r>
          </a:p>
          <a:p>
            <a:r>
              <a:t>ZEITPUFFER / STREICHEN: streichbar</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Block 2 · FOLIENTYP: Antwort</a:t>
            </a:r>
          </a:p>
          <a:p>
            <a:r>
              <a:t>SPRECHER: Mido</a:t>
            </a:r>
          </a:p>
          <a:p>
            <a:r>
              <a:t>DAUER: 0:20</a:t>
            </a:r>
          </a:p>
          <a:p>
            <a:r>
              <a:t>SOZIALFORM: Plenum</a:t>
            </a:r>
          </a:p>
          <a:p>
            <a:r>
              <a:t>IMPULS / MODERATION: Aufdecken, auf die Monatsreihe zeigen.</a:t>
            </a:r>
          </a:p>
          <a:p>
            <a:r>
              <a:t>ANIMATION (Klickfolge): Klick 1: Antwort</a:t>
            </a:r>
          </a:p>
          <a:p>
            <a:r>
              <a:t>ZEITPUFFER / STREICHEN: streichbar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Block 2 · FOLIENTYP: Ampelkarte</a:t>
            </a:r>
          </a:p>
          <a:p>
            <a:r>
              <a:t>SPRECHER: Mido</a:t>
            </a:r>
          </a:p>
          <a:p>
            <a:r>
              <a:t>DAUER: 0:40</a:t>
            </a:r>
          </a:p>
          <a:p>
            <a:r>
              <a:t>SOZIALFORM: Einzelarbeit · Ampelkarte hochhalten</a:t>
            </a:r>
          </a:p>
          <a:p>
            <a:r>
              <a:t>IMPULS / MODERATION: Ampelkarte: Grün = kann ich erklären, Gelb = unsicher, Rot = verstehe ich nicht. Bei vielen Gelb/Rot: Alterstreppe oder Monatsreihe nochmal zeigen.</a:t>
            </a:r>
          </a:p>
          <a:p>
            <a:r>
              <a:t>ERWARTETE ANTWORTEN: Mehrheit Grün oder Gelb.</a:t>
            </a:r>
          </a:p>
          <a:p>
            <a:r>
              <a:t>FEHLVORSTELLUNGEN UND REAKTION: Wenig Rückmeldung → eine Person nach der Zahl fragen (27, 24).</a:t>
            </a:r>
          </a:p>
          <a:p>
            <a:r>
              <a:t>MEDIEN / TAFEL: Ampelkarten (grün/gelb/rot) oder Zettel</a:t>
            </a:r>
          </a:p>
          <a:p>
            <a:r>
              <a:t>ZEITPUFFER / STREICHEN: streichbar (−40 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Block 3 · FOLIENTYP: Frage</a:t>
            </a:r>
          </a:p>
          <a:p>
            <a:r>
              <a:t>SPRECHER: Yasin</a:t>
            </a:r>
          </a:p>
          <a:p>
            <a:r>
              <a:t>DAUER: 0:30</a:t>
            </a:r>
          </a:p>
          <a:p>
            <a:r>
              <a:t>SOZIALFORM: Murmelphase · Vermutungen sammeln</a:t>
            </a:r>
          </a:p>
          <a:p>
            <a:r>
              <a:t>IMPULS / MODERATION: Murmelphase 30 s; Vermutungen an die Tafel (Spalte Kündigung). Keine Wertung.</a:t>
            </a:r>
          </a:p>
          <a:p>
            <a:r>
              <a:t>ERWARTETE ANTWORTEN: Kündigen, jederzeit, vermutlich schriftlich.</a:t>
            </a:r>
          </a:p>
          <a:p>
            <a:r>
              <a:t>FEHLVORSTELLUNGEN UND REAKTION: „Man muss durchhalten“ / „vier Wochen Frist“ → notieren, später prüfen.</a:t>
            </a:r>
          </a:p>
          <a:p>
            <a:r>
              <a:t>MEDIEN / TAFEL: Tafel: Vermutungen Kündigung</a:t>
            </a:r>
          </a:p>
          <a:p>
            <a:r>
              <a:t>ZEITPUFFER / STREICHEN: nicht streichbar</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Block 3 · FOLIENTYP: Denkpause</a:t>
            </a:r>
          </a:p>
          <a:p>
            <a:r>
              <a:t>SPRECHER: Yasin</a:t>
            </a:r>
          </a:p>
          <a:p>
            <a:r>
              <a:t>DAUER: 0:20</a:t>
            </a:r>
          </a:p>
          <a:p>
            <a:r>
              <a:t>SOZIALFORM: Think-Pair-Share · Partnergespräch</a:t>
            </a:r>
          </a:p>
          <a:p>
            <a:r>
              <a:t>IMPULS / MODERATION: Vermutungen stehen an der Tafel; Auflösung folgt im Entscheidungsbaum.</a:t>
            </a:r>
          </a:p>
          <a:p>
            <a:r>
              <a:t>ANIMATION (Klickfolge): Countdown-Balken läuft automatisch beim Folienwechsel (Segmente erscheinen nacheinander).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Block 3 · FOLIENTYP: Erklärfolie</a:t>
            </a:r>
          </a:p>
          <a:p>
            <a:r>
              <a:t>SPRECHER: Yasin</a:t>
            </a:r>
          </a:p>
          <a:p>
            <a:r>
              <a:t>DAUER: 1:00</a:t>
            </a:r>
          </a:p>
          <a:p>
            <a:r>
              <a:t>SOZIALFORM: Plenum · Zuhören, Mitschreiben</a:t>
            </a:r>
          </a:p>
          <a:p>
            <a:r>
              <a:t>IMPULS / MODERATION: Baum Schritt für Schritt aufdecken (3 Klicks): erst Probezeit, dann nach der Probezeit zwei Wege. Immer wieder an die Vermutungen der Tafel anknüpfen.</a:t>
            </a:r>
          </a:p>
          <a:p>
            <a:r>
              <a:t>ERWARTETE ANTWORTEN: –</a:t>
            </a:r>
          </a:p>
          <a:p>
            <a:r>
              <a:t>FEHLVORSTELLUNGEN UND REAKTION: „Auch nach der Probezeit jederzeit ohne Grund“ → nur fristlos aus wichtigem Grund oder 4 Wochen bei Aufgabe/Berufswechsel.</a:t>
            </a:r>
          </a:p>
          <a:p>
            <a:r>
              <a:t>MEDIEN / TAFEL: Tafel: Baum abzeichnen</a:t>
            </a:r>
          </a:p>
          <a:p>
            <a:r>
              <a:t>ANIMATION (Klickfolge): Klick 1: Probezeit → ohne Frist · Klick 2: nach Probezeit → wichtiger Grund · Klick 3: Azubi → vier Wochen</a:t>
            </a:r>
          </a:p>
          <a:p>
            <a:r>
              <a:t>ZEITPUFFER / STREICHEN: nicht streichbar</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Block 3 · FOLIENTYP: Erklärfolie</a:t>
            </a:r>
          </a:p>
          <a:p>
            <a:r>
              <a:t>SPRECHER: Yasin</a:t>
            </a:r>
          </a:p>
          <a:p>
            <a:r>
              <a:t>DAUER: 0:35</a:t>
            </a:r>
          </a:p>
          <a:p>
            <a:r>
              <a:t>SOZIALFORM: Plenum · Zuhören, Mitschreiben</a:t>
            </a:r>
          </a:p>
          <a:p>
            <a:r>
              <a:t>IMPULS / MODERATION: Drei Karten, jede in einem Satz: schriftlich (E-Mail reicht nicht), nach der Probezeit mit Gründen, wichtiger Grund nur innerhalb von zwei Wochen nach Kenntnis.</a:t>
            </a:r>
          </a:p>
          <a:p>
            <a:r>
              <a:t>ERWARTETE ANTWORTEN: –</a:t>
            </a:r>
          </a:p>
          <a:p>
            <a:r>
              <a:t>FEHLVORSTELLUNGEN UND REAKTION: „E-Mail genügt“ → die elektronische Form ist ausgeschlossen.</a:t>
            </a:r>
          </a:p>
          <a:p>
            <a:r>
              <a:t>MEDIEN / TAFEL: Tafel: Schlagwörter schriftlich / Gründe / 2 Wochen</a:t>
            </a:r>
          </a:p>
          <a:p>
            <a:r>
              <a:t>ZEITPUFFER / STREICHEN: kürzbar auf 20 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Block 3 · FOLIENTYP: Frage</a:t>
            </a:r>
          </a:p>
          <a:p>
            <a:r>
              <a:t>SPRECHER: Yasin</a:t>
            </a:r>
          </a:p>
          <a:p>
            <a:r>
              <a:t>DAUER: 0:25</a:t>
            </a:r>
          </a:p>
          <a:p>
            <a:r>
              <a:t>SOZIALFORM: Aufstellen · stimmt / stimmt nicht</a:t>
            </a:r>
          </a:p>
          <a:p>
            <a:r>
              <a:t>IMPULS / MODERATION: Aufstellen; eine Begründung je Seite.</a:t>
            </a:r>
          </a:p>
          <a:p>
            <a:r>
              <a:t>ERWARTETE ANTWORTEN: Stimmt nicht: Die Kündigung muss schriftlich erfolgen; die elektronische Form ist ausgeschlossen (§ 22 Abs. 3 BBiG).</a:t>
            </a:r>
          </a:p>
          <a:p>
            <a:r>
              <a:t>FEHLVORSTELLUNGEN UND REAKTION: „Rechtzeitig reicht“ → Form ist Wirksamkeitsvoraussetzung.</a:t>
            </a:r>
          </a:p>
          <a:p>
            <a:r>
              <a:t>ZEITPUFFER / STREICHEN: streichbar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Block 3 · FOLIENTYP: Antwort</a:t>
            </a:r>
          </a:p>
          <a:p>
            <a:r>
              <a:t>SPRECHER: Yasin</a:t>
            </a:r>
          </a:p>
          <a:p>
            <a:r>
              <a:t>DAUER: 0:20</a:t>
            </a:r>
          </a:p>
          <a:p>
            <a:r>
              <a:t>SOZIALFORM: Plenum</a:t>
            </a:r>
          </a:p>
          <a:p>
            <a:r>
              <a:t>IMPULS / MODERATION: Aufdecken und auf die „Immer schriftlich“-Karte zurückverweisen.</a:t>
            </a:r>
          </a:p>
          <a:p>
            <a:r>
              <a:t>ANIMATION (Klickfolge): Klick 1: Antwort</a:t>
            </a:r>
          </a:p>
          <a:p>
            <a:r>
              <a:t>ZEITPUFFER / STREICHEN: streichbar</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Block 3 · FOLIENTYP: Frage</a:t>
            </a:r>
          </a:p>
          <a:p>
            <a:r>
              <a:t>SPRECHER: Yasin</a:t>
            </a:r>
          </a:p>
          <a:p>
            <a:r>
              <a:t>DAUER: 0:25</a:t>
            </a:r>
          </a:p>
          <a:p>
            <a:r>
              <a:t>SOZIALFORM: Plenum · Abstimmung A–D</a:t>
            </a:r>
          </a:p>
          <a:p>
            <a:r>
              <a:t>IMPULS / MODERATION: Abstimmung per Handzeichen, Verteilung an die Tafel (A–D).</a:t>
            </a:r>
          </a:p>
          <a:p>
            <a:r>
              <a:t>ERWARTETE ANTWORTEN: B: innerhalb von zwei Wochen nach Kenntnis (§ 22 Abs. 4 BBiG).</a:t>
            </a:r>
          </a:p>
          <a:p>
            <a:r>
              <a:t>FEHLVORSTELLUNGEN UND REAKTION: A (vier Wochen) → Verwechslung mit der Frist des Azubis; D → Frist gilt ab Kenntnis.</a:t>
            </a:r>
          </a:p>
          <a:p>
            <a:r>
              <a:t>ZEITPUFFER / STREICHEN: streichbar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Block 3 · FOLIENTYP: Antwort</a:t>
            </a:r>
          </a:p>
          <a:p>
            <a:r>
              <a:t>SPRECHER: Yasin</a:t>
            </a:r>
          </a:p>
          <a:p>
            <a:r>
              <a:t>DAUER: 0:20</a:t>
            </a:r>
          </a:p>
          <a:p>
            <a:r>
              <a:t>SOZIALFORM: Plenum</a:t>
            </a:r>
          </a:p>
          <a:p>
            <a:r>
              <a:t>IMPULS / MODERATION: Aufdecken; Abgrenzung: Vier Wochen gelten nur für die Kündigung durch den Azubi bei Aufgabe oder Berufswechsel.</a:t>
            </a:r>
          </a:p>
          <a:p>
            <a:r>
              <a:t>ANIMATION (Klickfolge): Klick 1: Antwort B</a:t>
            </a:r>
          </a:p>
          <a:p>
            <a:r>
              <a:t>ZEITPUFFER / STREICHEN: streichbar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Block 3 · FOLIENTYP: Frage</a:t>
            </a:r>
          </a:p>
          <a:p>
            <a:r>
              <a:t>SPRECHER: Yasin</a:t>
            </a:r>
          </a:p>
          <a:p>
            <a:r>
              <a:t>DAUER: 0:25</a:t>
            </a:r>
          </a:p>
          <a:p>
            <a:r>
              <a:t>SOZIALFORM: Zuruf</a:t>
            </a:r>
          </a:p>
          <a:p>
            <a:r>
              <a:t>IMPULS / MODERATION: Zuruf; kurz sammeln, dann auflösen.</a:t>
            </a:r>
          </a:p>
          <a:p>
            <a:r>
              <a:t>ERWARTETE ANTWORTEN: Der Betrieb (Ausbildende), kostenlos (§ 14 BBiG).</a:t>
            </a:r>
          </a:p>
          <a:p>
            <a:r>
              <a:t>FEHLVORSTELLUNGEN UND REAKTION: „Azubi kauft Werkzeug selbst“ → Betrieb stellt kostenlos.</a:t>
            </a:r>
          </a:p>
          <a:p>
            <a:r>
              <a:t>ZEITPUFFER / STREICHEN: streichbar</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Block 3 · FOLIENTYP: Antwort</a:t>
            </a:r>
          </a:p>
          <a:p>
            <a:r>
              <a:t>SPRECHER: Yasin</a:t>
            </a:r>
          </a:p>
          <a:p>
            <a:r>
              <a:t>DAUER: 0:40</a:t>
            </a:r>
          </a:p>
          <a:p>
            <a:r>
              <a:t>SOZIALFORM: Plenum</a:t>
            </a:r>
          </a:p>
          <a:p>
            <a:r>
              <a:t>IMPULS / MODERATION: Spalten per Klick aufdecken; bei Ausbildende „Ausbildungsmittel kostenlos“ als Antwort auf die Frage markieren.</a:t>
            </a:r>
          </a:p>
          <a:p>
            <a:r>
              <a:t>FEHLVORSTELLUNGEN UND REAKTION: –</a:t>
            </a:r>
          </a:p>
          <a:p>
            <a:r>
              <a:t>ANIMATION (Klickfolge): Klick 1: Spalte Azubi · Klick 2: Spalte Ausbildende</a:t>
            </a:r>
          </a:p>
          <a:p>
            <a:r>
              <a:t>ZEITPUFFER / STREICHEN: nicht streichbar</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Üben · FOLIENTYP: Arbeitsauftrag Überblick</a:t>
            </a:r>
          </a:p>
          <a:p>
            <a:r>
              <a:t>SPRECHER: Mido</a:t>
            </a:r>
          </a:p>
          <a:p>
            <a:r>
              <a:t>DAUER: 0:45</a:t>
            </a:r>
          </a:p>
          <a:p>
            <a:r>
              <a:t>SOZIALFORM: Plenum · Auftrag erklären</a:t>
            </a:r>
          </a:p>
          <a:p>
            <a:r>
              <a:t>IMPULS / MODERATION: Auftrag in eigenen Worten: Seite öffnen (QR), drei Aufgaben, Reihenfolge frei. Wer kein Handy hat, schaut zu zweit mit; Plan B: Beamer-Folien (ausgeblendet). Nach dem Erklären QR-Code 20 Sekunden stehen lassen.</a:t>
            </a:r>
          </a:p>
          <a:p>
            <a:r>
              <a:t>ERWARTETE ANTWORTEN: Handzeichen: Wer hat die Seite offen?</a:t>
            </a:r>
          </a:p>
          <a:p>
            <a:r>
              <a:t>FEHLVORSTELLUNGEN UND REAKTION: Seite lädt nicht → Plan B Folien zeigen, WLAN klären.</a:t>
            </a:r>
          </a:p>
          <a:p>
            <a:r>
              <a:t>MEDIEN / TAFEL: QR-Code, Beamer, Handys; Merkblatt auf dem Tisch</a:t>
            </a:r>
          </a:p>
          <a:p>
            <a:r>
              <a:t>ZEITPUFFER / STREICHEN: nicht streichbar</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Üben · FOLIENTYP: Arbeitsauftrag</a:t>
            </a:r>
          </a:p>
          <a:p>
            <a:r>
              <a:t>SPRECHER: Yasin</a:t>
            </a:r>
          </a:p>
          <a:p>
            <a:r>
              <a:t>DAUER: 0:20</a:t>
            </a:r>
          </a:p>
          <a:p>
            <a:r>
              <a:t>SOZIALFORM: Einzelarbeit</a:t>
            </a:r>
          </a:p>
          <a:p>
            <a:r>
              <a:t>IMPULS / MODERATION: Kurz: Schnell-Check, Ergebnis wird nicht abgefragt.</a:t>
            </a:r>
          </a:p>
          <a:p>
            <a:r>
              <a:t>MEDIEN / TAFEL: Merkblatt, Handy/Website</a:t>
            </a:r>
          </a:p>
          <a:p>
            <a:r>
              <a:t>ZEITPUFFER / STREICHEN: nicht streichbar</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Üben · FOLIENTYP: Arbeitsauftrag</a:t>
            </a:r>
          </a:p>
          <a:p>
            <a:r>
              <a:t>SPRECHER: Mido</a:t>
            </a:r>
          </a:p>
          <a:p>
            <a:r>
              <a:t>DAUER: 0:25</a:t>
            </a:r>
          </a:p>
          <a:p>
            <a:r>
              <a:t>SOZIALFORM: Partnerarbeit</a:t>
            </a:r>
          </a:p>
          <a:p>
            <a:r>
              <a:t>IMPULS / MODERATION: Ergebnissicherung: Zeilennummer + Regel + Paragraf notieren; wird gleich besprochen.</a:t>
            </a:r>
          </a:p>
          <a:p>
            <a:r>
              <a:t>ERWARTETE ANTWORTEN: Fehler in § 2 bis § 6.</a:t>
            </a:r>
          </a:p>
          <a:p>
            <a:r>
              <a:t>FEHLVORSTELLUNGEN UND REAKTION: Zeile 1 oder 7 als Fehler markiert → in der Besprechung erklären.</a:t>
            </a:r>
          </a:p>
          <a:p>
            <a:r>
              <a:t>MEDIEN / TAFEL: Merkblatt, Handy/Website</a:t>
            </a:r>
          </a:p>
          <a:p>
            <a:r>
              <a:t>ZEITPUFFER / STREICHEN: nicht streichbar</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Üben · FOLIENTYP: Arbeitsauftrag</a:t>
            </a:r>
          </a:p>
          <a:p>
            <a:r>
              <a:t>SPRECHER: Yasin</a:t>
            </a:r>
          </a:p>
          <a:p>
            <a:r>
              <a:t>DAUER: 0:25</a:t>
            </a:r>
          </a:p>
          <a:p>
            <a:r>
              <a:t>SOZIALFORM: Gruppenarbeit</a:t>
            </a:r>
          </a:p>
          <a:p>
            <a:r>
              <a:t>IMPULS / MODERATION: Ergebnissicherung: Buchstabe + Regel pro Fall im Heft notieren.</a:t>
            </a:r>
          </a:p>
          <a:p>
            <a:r>
              <a:t>ERWARTETE ANTWORTEN: Fall A–C siehe Besprechung.</a:t>
            </a:r>
          </a:p>
          <a:p>
            <a:r>
              <a:t>MEDIEN / TAFEL: Merkblatt, Handy/Website</a:t>
            </a:r>
          </a:p>
          <a:p>
            <a:r>
              <a:t>ZEITPUFFER / STREICHEN: nicht streichbar</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Üben · FOLIENTYP: Arbeitsphase</a:t>
            </a:r>
          </a:p>
          <a:p>
            <a:r>
              <a:t>SPRECHER: Mido</a:t>
            </a:r>
          </a:p>
          <a:p>
            <a:r>
              <a:t>DAUER: 10:05</a:t>
            </a:r>
          </a:p>
          <a:p>
            <a:r>
              <a:t>SOZIALFORM: Einzel-, Partner-, Gruppenarbeit</a:t>
            </a:r>
          </a:p>
          <a:p>
            <a:r>
              <a:t>IMPULS / MODERATION: Wir gehen durch die Reihen, helfen und merken uns typische Fehler. Zeit ansagen nach 3, 8 und 10 Minuten. Fertig? Reserve D/E, Experten-Karten.</a:t>
            </a:r>
          </a:p>
          <a:p>
            <a:r>
              <a:t>ERWARTETE ANTWORTEN: Typische Fehler notieren: Probezeit 6 Monate, 650 €, 9 Stunden, 20 Werktage, vier Wochen in der Probezeit.</a:t>
            </a:r>
          </a:p>
          <a:p>
            <a:r>
              <a:t>FEHLVORSTELLUNGEN UND REAKTION: Frust bei Technik → zu zweit mitschauen, Plan B.</a:t>
            </a:r>
          </a:p>
          <a:p>
            <a:r>
              <a:t>MEDIEN / TAFEL: QR-Code; Countdown-Folie laufen lassen</a:t>
            </a:r>
          </a:p>
          <a:p>
            <a:r>
              <a:t>ANIMATION (Klickfolge): Countdown-Balken läuft automatisch beim Folienwechsel (10 Segmente à 1 Minute)</a:t>
            </a:r>
          </a:p>
          <a:p>
            <a:r>
              <a:t>ZEITPUFFER / STREICHEN: Arbeitsphase auf 8 Minuten verkürzbar</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Besprechen · FOLIENTYP: Auftrag Besprechung</a:t>
            </a:r>
          </a:p>
          <a:p>
            <a:r>
              <a:t>SPRECHER: Yasin</a:t>
            </a:r>
          </a:p>
          <a:p>
            <a:r>
              <a:t>DAUER: 0:30</a:t>
            </a:r>
          </a:p>
          <a:p>
            <a:r>
              <a:t>SOZIALFORM: Plenum</a:t>
            </a:r>
          </a:p>
          <a:p>
            <a:r>
              <a:t>IMPULS / MODERATION: Überleitung: Handys weg oder zur Seite. Erst Vertrags-Detektiv (Fehler nennen lassen), dann drei Fälle (abstimmen, begründen). Typische Fehler aus der Arbeitsphase aufgreifen.</a:t>
            </a:r>
          </a:p>
          <a:p>
            <a:r>
              <a:t>ERWARTETE ANTWORTEN: –</a:t>
            </a:r>
          </a:p>
          <a:p>
            <a:r>
              <a:t>FEHLVORSTELLUNGEN UND REAKTION: Schüler:innen reden weiter am Handy → kurze Ansage, Blickkontakt.</a:t>
            </a:r>
          </a:p>
          <a:p>
            <a:r>
              <a:t>MEDIEN / TAFEL: Beamer</a:t>
            </a:r>
          </a:p>
          <a:p>
            <a:r>
              <a:t>ZEITPUFFER / STREICHEN: kürzbar auf 15 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Besprechen · FOLIENTYP: Detektiv Mitlesen</a:t>
            </a:r>
          </a:p>
          <a:p>
            <a:r>
              <a:t>SPRECHER: Yasin</a:t>
            </a:r>
          </a:p>
          <a:p>
            <a:r>
              <a:t>DAUER: 0:30</a:t>
            </a:r>
          </a:p>
          <a:p>
            <a:r>
              <a:t>SOZIALFORM: Plenum · Fehler nennen lassen</a:t>
            </a:r>
          </a:p>
          <a:p>
            <a:r>
              <a:t>IMPULS / MODERATION: Auszug ohne jede Markierung zeigen. Klasse nennt Zeilennummern, die sie für fehlerhaft hält; noch nicht bestätigen. Sammeln: Welche Zeilen wurden am häufigsten genannt?</a:t>
            </a:r>
          </a:p>
          <a:p>
            <a:r>
              <a:t>ERWARTETE ANTWORTEN: Zeilen 2, 3, 4, 5, 6.</a:t>
            </a:r>
          </a:p>
          <a:p>
            <a:r>
              <a:t>FEHLVORSTELLUNGEN UND REAKTION: Zeile 1 oder 7 genannt → noch nicht korrigieren; in der Auflösung begründen.</a:t>
            </a:r>
          </a:p>
          <a:p>
            <a:r>
              <a:t>MEDIEN / TAFEL: Tafel: Zeilennummern mit Strichliste</a:t>
            </a:r>
          </a:p>
          <a:p>
            <a:r>
              <a:t>ZEITPUFFER / STREICHEN: nicht streichbar</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Besprechen · FOLIENTYP: Antwort</a:t>
            </a:r>
          </a:p>
          <a:p>
            <a:r>
              <a:t>SPRECHER: Yasin</a:t>
            </a:r>
          </a:p>
          <a:p>
            <a:r>
              <a:t>DAUER: 1:00</a:t>
            </a:r>
          </a:p>
          <a:p>
            <a:r>
              <a:t>SOZIALFORM: Plenum · Gruppen berichten</a:t>
            </a:r>
          </a:p>
          <a:p>
            <a:r>
              <a:t>IMPULS / MODERATION: Pro Klick ein Fehler: Wer hat ihn gefunden? Welche Regel? Dann Regel auf der Folie zeigen. </a:t>
            </a:r>
          </a:p>
          <a:p>
            <a:r>
              <a:t>ERWARTETE ANTWORTEN: Fehler 1: höchstens vier Monate (§ 20 BBiG) · Fehler 2: mindestens 724 € im 1. Jahr (§ 17 BBiG)</a:t>
            </a:r>
          </a:p>
          <a:p>
            <a:r>
              <a:t>FEHLVORSTELLUNGEN UND REAKTION: Zeile 7 als Fehler markiert → Ausbildungsmittel kostenlos ist korrekt (§ 14 BBiG). Zeile 1 korrekt (drei Jahre, Beginn 01.09.2026).</a:t>
            </a:r>
          </a:p>
          <a:p>
            <a:r>
              <a:t>ANIMATION (Klickfolge): Klick 1: Fehler 1 (Fehlerzeile + Regel mit Paragraf); Klick 2: Fehler 2 (Fehlerzeile + Regel mit Paragraf)</a:t>
            </a:r>
          </a:p>
          <a:p>
            <a:r>
              <a:t>ZEITPUFFER / STREICHEN: kürzbar</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Besprechen · FOLIENTYP: Antwort</a:t>
            </a:r>
          </a:p>
          <a:p>
            <a:r>
              <a:t>SPRECHER: Mido</a:t>
            </a:r>
          </a:p>
          <a:p>
            <a:r>
              <a:t>DAUER: 1:00</a:t>
            </a:r>
          </a:p>
          <a:p>
            <a:r>
              <a:t>SOZIALFORM: Plenum · Gruppen berichten</a:t>
            </a:r>
          </a:p>
          <a:p>
            <a:r>
              <a:t>IMPULS / MODERATION: Pro Klick ein Fehler: Wer hat ihn gefunden? Welche Regel? Dann Regel auf der Folie zeigen. Bei Fehler 3: Der Azubi ist bei Beginn 16 Jahre alt (geboren 20.11.2009). </a:t>
            </a:r>
          </a:p>
          <a:p>
            <a:r>
              <a:t>ERWARTETE ANTWORTEN: Fehler 3: Jugendliche höchstens 8 Stunden täglich und 40 pro Woche (§ 8 JArbSchG) · Fehler 4: mindestens 24 Werktage, Jugendliche je nach Alter 25 bis 30 (§ 3 BUrlG, § 19 JArbSchG)</a:t>
            </a:r>
          </a:p>
          <a:p>
            <a:r>
              <a:t>FEHLVORSTELLUNGEN UND REAKTION: Zeile 7 als Fehler markiert → Ausbildungsmittel kostenlos ist korrekt (§ 14 BBiG). Zeile 1 korrekt (drei Jahre, Beginn 01.09.2026).</a:t>
            </a:r>
          </a:p>
          <a:p>
            <a:r>
              <a:t>ANIMATION (Klickfolge): Klick 1: Fehler 3 (Fehlerzeile + Regel mit Paragraf); Klick 2: Fehler 4 (Fehlerzeile + Regel mit Paragraf)</a:t>
            </a:r>
          </a:p>
          <a:p>
            <a:r>
              <a:t>ZEITPUFFER / STREICHEN: kürzbar</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Besprechen · FOLIENTYP: Antwort</a:t>
            </a:r>
          </a:p>
          <a:p>
            <a:r>
              <a:t>SPRECHER: Yasin</a:t>
            </a:r>
          </a:p>
          <a:p>
            <a:r>
              <a:t>DAUER: 0:30</a:t>
            </a:r>
          </a:p>
          <a:p>
            <a:r>
              <a:t>SOZIALFORM: Plenum · Gruppen berichten</a:t>
            </a:r>
          </a:p>
          <a:p>
            <a:r>
              <a:t>IMPULS / MODERATION: Pro Klick ein Fehler: Wer hat ihn gefunden? Welche Regel? Dann Regel auf der Folie zeigen. Zeilen 1 und 7 sind korrekt.</a:t>
            </a:r>
          </a:p>
          <a:p>
            <a:r>
              <a:t>ERWARTETE ANTWORTEN: Fehler 5: in der Probezeit jederzeit ohne Frist, schriftlich (§ 22 Abs. 1 und 3 BBiG)</a:t>
            </a:r>
          </a:p>
          <a:p>
            <a:r>
              <a:t>FEHLVORSTELLUNGEN UND REAKTION: Zeile 7 als Fehler markiert → Ausbildungsmittel kostenlos ist korrekt (§ 14 BBiG). Zeile 1 korrekt (drei Jahre, Beginn 01.09.2026).</a:t>
            </a:r>
          </a:p>
          <a:p>
            <a:r>
              <a:t>ANIMATION (Klickfolge): Klick 1: Fehler 5 (Fehlerzeile + Regel mit Paragraf)</a:t>
            </a:r>
          </a:p>
          <a:p>
            <a:r>
              <a:t>ZEITPUFFER / STREICHEN: Folie 3 von 3 streichbar (−30 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Besprechen · FOLIENTYP: Frage</a:t>
            </a:r>
          </a:p>
          <a:p>
            <a:r>
              <a:t>SPRECHER: Yasin</a:t>
            </a:r>
          </a:p>
          <a:p>
            <a:r>
              <a:t>DAUER: 0:30</a:t>
            </a:r>
          </a:p>
          <a:p>
            <a:r>
              <a:t>SOZIALFORM: Plenum · Abstimmung A–D per Handzeichen</a:t>
            </a:r>
          </a:p>
          <a:p>
            <a:r>
              <a:t>IMPULS / MODERATION: Fall in 20 Sekunden still lesen lassen, dann Abstimmung A–D per Handzeichen; Verteilung an der Tafel notieren. Eine Begründung mit Regel erfragen, noch nicht bewerten.</a:t>
            </a:r>
          </a:p>
          <a:p>
            <a:r>
              <a:t>ERWARTETE ANTWORTEN: B: In der Probezeit ist die Kündigung jederzeit ohne Frist möglich, aber schriftlich (§ 22 Abs. 1 und 3 BBiG).</a:t>
            </a:r>
          </a:p>
          <a:p>
            <a:r>
              <a:t>FEHLVORSTELLUNGEN UND REAKTION: Streuung der Stimmen ist normal → erst Lösung aufdecken, dann die Regel erklären.</a:t>
            </a:r>
          </a:p>
          <a:p>
            <a:r>
              <a:t>MEDIEN / TAFEL: Tafel: Strichliste A–D</a:t>
            </a:r>
          </a:p>
          <a:p>
            <a:r>
              <a:t>ZEITPUFFER / STREICHEN: Fall C bei Zeitnot nur Lösung (−30 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Besprechen · FOLIENTYP: Antwort</a:t>
            </a:r>
          </a:p>
          <a:p>
            <a:r>
              <a:t>SPRECHER: Yasin</a:t>
            </a:r>
          </a:p>
          <a:p>
            <a:r>
              <a:t>DAUER: 0:40</a:t>
            </a:r>
          </a:p>
          <a:p>
            <a:r>
              <a:t>SOZIALFORM: Plenum · Begründung nennen lassen</a:t>
            </a:r>
          </a:p>
          <a:p>
            <a:r>
              <a:t>IMPULS / MODERATION: Abstimmung vergleichen: Wer hatte B? Eine Begründung mit Regel erfragen, dann Lösung aufdecken. Abweichende Antworten kurz erklären.</a:t>
            </a:r>
          </a:p>
          <a:p>
            <a:r>
              <a:t>ERWARTETE ANTWORTEN: B: In der Probezeit ist die Kündigung jederzeit ohne Frist möglich, aber schriftlich (§ 22 Abs. 1 und 3 BBiG).</a:t>
            </a:r>
          </a:p>
          <a:p>
            <a:r>
              <a:t>FEHLVORSTELLUNGEN UND REAKTION: Wahl einer anderen Antwort → Nachfrage: Welche Regel hat euch geleitet? Dann die Paragrafen-Karte zeigen.</a:t>
            </a:r>
          </a:p>
          <a:p>
            <a:r>
              <a:t>ANIMATION (Klickfolge): Klick 1: Lösung (Buchstabe + Antworttext) · Klick 2: Begründung mit Paragraf</a:t>
            </a:r>
          </a:p>
          <a:p>
            <a:r>
              <a:t>ZEITPUFFER / STREICHEN: auf 25 s kürzbar</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Besprechen · FOLIENTYP: Frage</a:t>
            </a:r>
          </a:p>
          <a:p>
            <a:r>
              <a:t>SPRECHER: Mido</a:t>
            </a:r>
          </a:p>
          <a:p>
            <a:r>
              <a:t>DAUER: 0:30</a:t>
            </a:r>
          </a:p>
          <a:p>
            <a:r>
              <a:t>SOZIALFORM: Plenum · Abstimmung A–D per Handzeichen</a:t>
            </a:r>
          </a:p>
          <a:p>
            <a:r>
              <a:t>IMPULS / MODERATION: Fall in 20 Sekunden still lesen lassen, dann Abstimmung A–D per Handzeichen; Verteilung an der Tafel notieren. Eine Begründung mit Regel erfragen, noch nicht bewerten.</a:t>
            </a:r>
          </a:p>
          <a:p>
            <a:r>
              <a:t>ERWARTETE ANTWORTEN: C: Jugendliche unter 18 Jahren haben mindestens 25 Werktage (§ 19 JArbSchG), das entspricht 21 Arbeitstagen bei der Fünf-Tage-Woche.</a:t>
            </a:r>
          </a:p>
          <a:p>
            <a:r>
              <a:t>FEHLVORSTELLUNGEN UND REAKTION: Streuung der Stimmen ist normal → erst Lösung aufdecken, dann die Regel erklären.</a:t>
            </a:r>
          </a:p>
          <a:p>
            <a:r>
              <a:t>MEDIEN / TAFEL: Tafel: Strichliste A–D</a:t>
            </a:r>
          </a:p>
          <a:p>
            <a:r>
              <a:t>ZEITPUFFER / STREICHEN: Fall C bei Zeitnot nur Lösung (−30 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Besprechen · FOLIENTYP: Antwort</a:t>
            </a:r>
          </a:p>
          <a:p>
            <a:r>
              <a:t>SPRECHER: Mido</a:t>
            </a:r>
          </a:p>
          <a:p>
            <a:r>
              <a:t>DAUER: 0:40</a:t>
            </a:r>
          </a:p>
          <a:p>
            <a:r>
              <a:t>SOZIALFORM: Plenum · Begründung nennen lassen</a:t>
            </a:r>
          </a:p>
          <a:p>
            <a:r>
              <a:t>IMPULS / MODERATION: Abstimmung vergleichen: Wer hatte C? Eine Begründung mit Regel erfragen, dann Lösung aufdecken. Abweichende Antworten kurz erklären.</a:t>
            </a:r>
          </a:p>
          <a:p>
            <a:r>
              <a:t>ERWARTETE ANTWORTEN: C: Jugendliche unter 18 Jahren haben mindestens 25 Werktage (§ 19 JArbSchG), das entspricht 21 Arbeitstagen bei der Fünf-Tage-Woche.</a:t>
            </a:r>
          </a:p>
          <a:p>
            <a:r>
              <a:t>FEHLVORSTELLUNGEN UND REAKTION: Wahl einer anderen Antwort → Nachfrage: Welche Regel hat euch geleitet? Dann die Paragrafen-Karte zeigen.</a:t>
            </a:r>
          </a:p>
          <a:p>
            <a:r>
              <a:t>ANIMATION (Klickfolge): Klick 1: Lösung (Buchstabe + Antworttext) · Klick 2: Begründung mit Paragraf</a:t>
            </a:r>
          </a:p>
          <a:p>
            <a:r>
              <a:t>ZEITPUFFER / STREICHEN: auf 25 s kürzbar</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Besprechen · FOLIENTYP: Frage</a:t>
            </a:r>
          </a:p>
          <a:p>
            <a:r>
              <a:t>SPRECHER: Yasin</a:t>
            </a:r>
          </a:p>
          <a:p>
            <a:r>
              <a:t>DAUER: 0:30</a:t>
            </a:r>
          </a:p>
          <a:p>
            <a:r>
              <a:t>SOZIALFORM: Plenum · Abstimmung A–D per Handzeichen</a:t>
            </a:r>
          </a:p>
          <a:p>
            <a:r>
              <a:t>IMPULS / MODERATION: Fall in 20 Sekunden still lesen lassen, dann Abstimmung A–D per Handzeichen; Verteilung an der Tafel notieren. Eine Begründung mit Regel erfragen, noch nicht bewerten.</a:t>
            </a:r>
          </a:p>
          <a:p>
            <a:r>
              <a:t>ERWARTETE ANTWORTEN: C: Die Mindestausbildungsvergütung nach § 17 BBiG darf nicht unterschritten werden.</a:t>
            </a:r>
          </a:p>
          <a:p>
            <a:r>
              <a:t>FEHLVORSTELLUNGEN UND REAKTION: Streuung der Stimmen ist normal → erst Lösung aufdecken, dann die Regel erklären.</a:t>
            </a:r>
          </a:p>
          <a:p>
            <a:r>
              <a:t>MEDIEN / TAFEL: Tafel: Strichliste A–D</a:t>
            </a:r>
          </a:p>
          <a:p>
            <a:r>
              <a:t>ZEITPUFFER / STREICHEN: Fall C bei Zeitnot nur Lösung (−30 s)</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Besprechen · FOLIENTYP: Antwort</a:t>
            </a:r>
          </a:p>
          <a:p>
            <a:r>
              <a:t>SPRECHER: Yasin</a:t>
            </a:r>
          </a:p>
          <a:p>
            <a:r>
              <a:t>DAUER: 0:40</a:t>
            </a:r>
          </a:p>
          <a:p>
            <a:r>
              <a:t>SOZIALFORM: Plenum · Begründung nennen lassen</a:t>
            </a:r>
          </a:p>
          <a:p>
            <a:r>
              <a:t>IMPULS / MODERATION: Abstimmung vergleichen: Wer hatte C? Eine Begründung mit Regel erfragen, dann Lösung aufdecken. Abweichende Antworten kurz erklären.</a:t>
            </a:r>
          </a:p>
          <a:p>
            <a:r>
              <a:t>ERWARTETE ANTWORTEN: C: Die Mindestausbildungsvergütung nach § 17 BBiG darf nicht unterschritten werden.</a:t>
            </a:r>
          </a:p>
          <a:p>
            <a:r>
              <a:t>FEHLVORSTELLUNGEN UND REAKTION: Wahl einer anderen Antwort → Nachfrage: Welche Regel hat euch geleitet? Dann die Paragrafen-Karte zeigen.</a:t>
            </a:r>
          </a:p>
          <a:p>
            <a:r>
              <a:t>ANIMATION (Klickfolge): Klick 1: Lösung (Buchstabe + Antworttext) · Klick 2: Begründung mit Paragraf</a:t>
            </a:r>
          </a:p>
          <a:p>
            <a:r>
              <a:t>ZEITPUFFER / STREICHEN: auf 25 s kürzbar</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Abschluss · FOLIENTYP: Merksatz</a:t>
            </a:r>
          </a:p>
          <a:p>
            <a:r>
              <a:t>SPRECHER: Mido</a:t>
            </a:r>
          </a:p>
          <a:p>
            <a:r>
              <a:t>DAUER: 0:40</a:t>
            </a:r>
          </a:p>
          <a:p>
            <a:r>
              <a:t>SOZIALFORM: Plenum · Tafelbild</a:t>
            </a:r>
          </a:p>
          <a:p>
            <a:r>
              <a:t>IMPULS / MODERATION: Fünf Kacheln im Schnelldurchgang; nicht vorlesen, sondern abfragen: „Welche Zahl gehört zu welcher Regel?“ (Kacheln zeigen nur die Zahl, Regel mündlich).</a:t>
            </a:r>
          </a:p>
          <a:p>
            <a:r>
              <a:t>ERWARTETE ANTWORTEN: Probezeit 4 Monate, 724 €, 24 Werktage, schriftlich, 8 Stunden.</a:t>
            </a:r>
          </a:p>
          <a:p>
            <a:r>
              <a:t>FEHLVORSTELLUNGEN UND REAKTION: Zahl wird einer falschen Regel zugeordnet → Merkblatt zeigen.</a:t>
            </a:r>
          </a:p>
          <a:p>
            <a:r>
              <a:t>MEDIEN / TAFEL: Merkblatt (ausgeteilt)</a:t>
            </a:r>
          </a:p>
          <a:p>
            <a:r>
              <a:t>ZEITPUFFER / STREICHEN: kürzbar auf 25 s</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Abschluss · FOLIENTYP: Mini-Quiz</a:t>
            </a:r>
          </a:p>
          <a:p>
            <a:r>
              <a:t>SPRECHER: Mido</a:t>
            </a:r>
          </a:p>
          <a:p>
            <a:r>
              <a:t>DAUER: 2:00</a:t>
            </a:r>
          </a:p>
          <a:p>
            <a:r>
              <a:t>SOZIALFORM: Einzelarbeit · Handy (Plan B: Handzeichen/Zettel)</a:t>
            </a:r>
          </a:p>
          <a:p>
            <a:r>
              <a:t>IMPULS / MODERATION: Auftrag: fünf Fragen auf der Seite „Mini-Quiz“, allein, zwei Minuten. Danach Handzeichen: Wer hat 5, 4, 3 oder weniger? Zahlen notieren (für unsere Auswertung). Bei Zeitnot nur Fragen 1 bis 3.</a:t>
            </a:r>
          </a:p>
          <a:p>
            <a:r>
              <a:t>ERWARTETE ANTWORTEN: Mehrheit 4 oder 5.</a:t>
            </a:r>
          </a:p>
          <a:p>
            <a:r>
              <a:t>FEHLVORSTELLUNGEN UND REAKTION: Kein Handy → Plan B (ausgeblendete Folien) oder zu zweit.</a:t>
            </a:r>
          </a:p>
          <a:p>
            <a:r>
              <a:t>MEDIEN / TAFEL: QR-Code; Zettel/Stift für Plan B</a:t>
            </a:r>
          </a:p>
          <a:p>
            <a:r>
              <a:t>ZEITPUFFER / STREICHEN: auf 90 s kürzbar (Fragen 1–3)</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Abschluss · FOLIENTYP: Antwort</a:t>
            </a:r>
          </a:p>
          <a:p>
            <a:r>
              <a:t>SPRECHER: Yasin</a:t>
            </a:r>
          </a:p>
          <a:p>
            <a:r>
              <a:t>DAUER: 0:45</a:t>
            </a:r>
          </a:p>
          <a:p>
            <a:r>
              <a:t>SOZIALFORM: Plenum · Vergleich mit der Tafel</a:t>
            </a:r>
          </a:p>
          <a:p>
            <a:r>
              <a:t>IMPULS / MODERATION: Jede Frage per Klick auflösen und mit den Tafelnotizen vergleichen: Was war richtig? Was war neu? Frage an alle: Was war neu für euch?</a:t>
            </a:r>
          </a:p>
          <a:p>
            <a:r>
              <a:t>ERWARTETE ANTWORTEN: a Vier Monate · b 24 Werktage ab 18 Jahren, Jugendliche 25 bis 30 · c Keine Frist, aber schriftlich · d Ja, schriftlich.</a:t>
            </a:r>
          </a:p>
          <a:p>
            <a:r>
              <a:t>FEHLVORSTELLUNGEN UND REAKTION: Tafelantworten falsch → nicht bloßstellen, Lernzuwachs betonen.</a:t>
            </a:r>
          </a:p>
          <a:p>
            <a:r>
              <a:t>MEDIEN / TAFEL: Tafel: Vorwissen a–d</a:t>
            </a:r>
          </a:p>
          <a:p>
            <a:r>
              <a:t>ANIMATION (Klickfolge): Klick 1–4: Antwort a bis d</a:t>
            </a:r>
          </a:p>
          <a:p>
            <a:r>
              <a:t>ZEITPUFFER / STREICHEN: auf 30 s kürzbar (nur a und c)</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Abschluss · FOLIENTYP: Lernziele-Check</a:t>
            </a:r>
          </a:p>
          <a:p>
            <a:r>
              <a:t>SPRECHER: Yasin</a:t>
            </a:r>
          </a:p>
          <a:p>
            <a:r>
              <a:t>DAUER: 0:25</a:t>
            </a:r>
          </a:p>
          <a:p>
            <a:r>
              <a:t>SOZIALFORM: Einzelarbeit · Ampelkarte</a:t>
            </a:r>
          </a:p>
          <a:p>
            <a:r>
              <a:t>IMPULS / MODERATION: Ampelkarte zu jedem der vier Lernziele: Grün/Gelb/Rot. Ziele einzeln aufrufen, Kärtchen hochhalten lassen; Rot/Gelb notieren für die Website-Übung.</a:t>
            </a:r>
          </a:p>
          <a:p>
            <a:r>
              <a:t>ERWARTETE ANTWORTEN: Überwiegend Grün/Gelb.</a:t>
            </a:r>
          </a:p>
          <a:p>
            <a:r>
              <a:t>FEHLVORSTELLUNGEN UND REAKTION: Viele Rot → Hinweis auf Merkblatt und Website zum Weiterüben.</a:t>
            </a:r>
          </a:p>
          <a:p>
            <a:r>
              <a:t>MEDIEN / TAFEL: Ampelkarten</a:t>
            </a:r>
          </a:p>
          <a:p>
            <a:r>
              <a:t>ZEITPUFFER / STREICHEN: auf 15 s kürzbar</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Abschluss · FOLIENTYP: Frage</a:t>
            </a:r>
          </a:p>
          <a:p>
            <a:r>
              <a:t>SPRECHER: Mido</a:t>
            </a:r>
          </a:p>
          <a:p>
            <a:r>
              <a:t>DAUER: 0:40</a:t>
            </a:r>
          </a:p>
          <a:p>
            <a:r>
              <a:t>SOZIALFORM: Plenum · Blitzlicht (ein Satz)</a:t>
            </a:r>
          </a:p>
          <a:p>
            <a:r>
              <a:t>IMPULS / MODERATION: Offene Frage; jede:r sagt einen Satz oder eine Person pro Reihe. Rückmeldungen mitschreiben (für unsere Auswertung).</a:t>
            </a:r>
          </a:p>
          <a:p>
            <a:r>
              <a:t>ERWARTETE ANTWORTEN: Offene Antworten, z. B. Zahlen, Fristen, Website.</a:t>
            </a:r>
          </a:p>
          <a:p>
            <a:r>
              <a:t>FEHLVORSTELLUNGEN UND REAKTION: Schweigen → Partnergespräch 15 s, dann Reihe für Reihe.</a:t>
            </a:r>
          </a:p>
          <a:p>
            <a:r>
              <a:t>MEDIEN / TAFEL: Notizzettel</a:t>
            </a:r>
          </a:p>
          <a:p>
            <a:r>
              <a:t>ZEITPUFFER / STREICHEN: auf 20 s kürzbar (drei Stimmen)</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Abschluss · FOLIENTYP: Dank</a:t>
            </a:r>
          </a:p>
          <a:p>
            <a:r>
              <a:t>SPRECHER: Yasin</a:t>
            </a:r>
          </a:p>
          <a:p>
            <a:r>
              <a:t>DAUER: 0:30</a:t>
            </a:r>
          </a:p>
          <a:p>
            <a:r>
              <a:t>SOZIALFORM: Plenum</a:t>
            </a:r>
          </a:p>
          <a:p>
            <a:r>
              <a:t>IMPULS / MODERATION: Danken, Merkblatt und Website nennen: Üben geht jederzeit weiter. Fragen? Danach Aufräumen.</a:t>
            </a:r>
          </a:p>
          <a:p>
            <a:r>
              <a:t>MEDIEN / TAFEL: QR-Code, Merkblatt</a:t>
            </a:r>
          </a:p>
          <a:p>
            <a:r>
              <a:t>ZEITPUFFER / STREICHEN: nicht streichbar</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Üben · FOLIENTYP: Reserve</a:t>
            </a:r>
          </a:p>
          <a:p>
            <a:r>
              <a:t>SPRECHER: Mido</a:t>
            </a:r>
          </a:p>
          <a:p>
            <a:r>
              <a:t>DAUER: Reserve (nicht in den 45 Minuten)</a:t>
            </a:r>
          </a:p>
          <a:p>
            <a:r>
              <a:t>SOZIALFORM: Partnerarbeit</a:t>
            </a:r>
          </a:p>
          <a:p>
            <a:r>
              <a:t>IMPULS / MODERATION: Nur zeigen, wenn jemand schneller fertig ist. Experten-Karten: Thema wählen, Partner:in in einer Minute erklären, dann Frage lösen. Oder Fälle D und E.</a:t>
            </a:r>
          </a:p>
          <a:p>
            <a:r>
              <a:t>ERWARTETE ANTWORTEN: –</a:t>
            </a:r>
          </a:p>
          <a:p>
            <a:r>
              <a:t>MEDIEN / TAFEL: Website</a:t>
            </a:r>
          </a:p>
          <a:p>
            <a:r>
              <a:t>ZEITPUFFER / STREICHEN: Reserve – nicht Teil der 45 Minuten</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Besprechen · FOLIENTYP: Frage</a:t>
            </a:r>
          </a:p>
          <a:p>
            <a:r>
              <a:t>SPRECHER: Yasin</a:t>
            </a:r>
          </a:p>
          <a:p>
            <a:r>
              <a:t>DAUER: Reserve (nicht in den 45 Minuten)</a:t>
            </a:r>
          </a:p>
          <a:p>
            <a:r>
              <a:t>SOZIALFORM: Plenum · Abstimmung A–D per Handzeichen</a:t>
            </a:r>
          </a:p>
          <a:p>
            <a:r>
              <a:t>IMPULS / MODERATION: Nur wenn bearbeitet oder Zeit übrig. Abstimmung A–D, dann Lösung.</a:t>
            </a:r>
          </a:p>
          <a:p>
            <a:r>
              <a:t>ERWARTETE ANTWORTEN: B: § 8 JArbSchG; ausnahmsweise sind 8,5 Stunden täglich erlaubt, wenn an anderen Tagen derselben Woche entsprechend weniger gearbeitet wird.</a:t>
            </a:r>
          </a:p>
          <a:p>
            <a:r>
              <a:t>ZEITPUFFER / STREICHEN: Reserve</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Besprechen · FOLIENTYP: Antwort</a:t>
            </a:r>
          </a:p>
          <a:p>
            <a:r>
              <a:t>SPRECHER: Yasin</a:t>
            </a:r>
          </a:p>
          <a:p>
            <a:r>
              <a:t>DAUER: Reserve (nicht in den 45 Minuten)</a:t>
            </a:r>
          </a:p>
          <a:p>
            <a:r>
              <a:t>SOZIALFORM: Plenum · Begründung nennen lassen</a:t>
            </a:r>
          </a:p>
          <a:p>
            <a:r>
              <a:t>IMPULS / MODERATION: Abstimmung vergleichen: Wer hatte B? Eine Begründung mit Regel erfragen, dann Lösung aufdecken. Abweichende Antworten kurz erklären.</a:t>
            </a:r>
          </a:p>
          <a:p>
            <a:r>
              <a:t>ERWARTETE ANTWORTEN: B: § 8 JArbSchG; ausnahmsweise sind 8,5 Stunden täglich erlaubt, wenn an anderen Tagen derselben Woche entsprechend weniger gearbeitet wird.</a:t>
            </a:r>
          </a:p>
          <a:p>
            <a:r>
              <a:t>FEHLVORSTELLUNGEN UND REAKTION: Wahl einer anderen Antwort → Nachfrage: Welche Regel hat euch geleitet? Dann die Paragrafen-Karte zeigen.</a:t>
            </a:r>
          </a:p>
          <a:p>
            <a:r>
              <a:t>ANIMATION (Klickfolge): Klick 1: Lösung (Buchstabe + Antworttext) · Klick 2: Begründung mit Paragraf</a:t>
            </a:r>
          </a:p>
          <a:p>
            <a:r>
              <a:t>ZEITPUFFER / STREICHEN: auf 25 s kürzbar</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Besprechen · FOLIENTYP: Frage</a:t>
            </a:r>
          </a:p>
          <a:p>
            <a:r>
              <a:t>SPRECHER: Yasin</a:t>
            </a:r>
          </a:p>
          <a:p>
            <a:r>
              <a:t>DAUER: Reserve (nicht in den 45 Minuten)</a:t>
            </a:r>
          </a:p>
          <a:p>
            <a:r>
              <a:t>SOZIALFORM: Plenum · Abstimmung A–D per Handzeichen</a:t>
            </a:r>
          </a:p>
          <a:p>
            <a:r>
              <a:t>IMPULS / MODERATION: Nur wenn bearbeitet oder Zeit übrig. Abstimmung A–D, dann Lösung.</a:t>
            </a:r>
          </a:p>
          <a:p>
            <a:r>
              <a:t>ERWARTETE ANTWORTEN: B: § 8 Abs. 1 BBiG; mit Abitur sind laut IHK bis zu zwölf Monate Verkürzung möglich.</a:t>
            </a:r>
          </a:p>
          <a:p>
            <a:r>
              <a:t>ZEITPUFFER / STREICHEN: Reserve</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Besprechen · FOLIENTYP: Antwort</a:t>
            </a:r>
          </a:p>
          <a:p>
            <a:r>
              <a:t>SPRECHER: Yasin</a:t>
            </a:r>
          </a:p>
          <a:p>
            <a:r>
              <a:t>DAUER: Reserve (nicht in den 45 Minuten)</a:t>
            </a:r>
          </a:p>
          <a:p>
            <a:r>
              <a:t>SOZIALFORM: Plenum · Begründung nennen lassen</a:t>
            </a:r>
          </a:p>
          <a:p>
            <a:r>
              <a:t>IMPULS / MODERATION: Abstimmung vergleichen: Wer hatte B? Eine Begründung mit Regel erfragen, dann Lösung aufdecken. Abweichende Antworten kurz erklären.</a:t>
            </a:r>
          </a:p>
          <a:p>
            <a:r>
              <a:t>ERWARTETE ANTWORTEN: B: § 8 Abs. 1 BBiG; mit Abitur sind laut IHK bis zu zwölf Monate Verkürzung möglich.</a:t>
            </a:r>
          </a:p>
          <a:p>
            <a:r>
              <a:t>FEHLVORSTELLUNGEN UND REAKTION: Wahl einer anderen Antwort → Nachfrage: Welche Regel hat euch geleitet? Dann die Paragrafen-Karte zeigen.</a:t>
            </a:r>
          </a:p>
          <a:p>
            <a:r>
              <a:t>ANIMATION (Klickfolge): Klick 1: Lösung (Buchstabe + Antworttext) · Klick 2: Begründung mit Paragraf</a:t>
            </a:r>
          </a:p>
          <a:p>
            <a:r>
              <a:t>ZEITPUFFER / STREICHEN: auf 25 s kürzbar</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Üben · FOLIENTYP: Frage</a:t>
            </a:r>
          </a:p>
          <a:p>
            <a:r>
              <a:t>SPRECHER: Yasin</a:t>
            </a:r>
          </a:p>
          <a:p>
            <a:r>
              <a:t>DAUER: Reserve (nicht in den 45 Minuten)</a:t>
            </a:r>
          </a:p>
          <a:p>
            <a:r>
              <a:t>SOZIALFORM: Plenum · Daumen hoch / Daumen runter</a:t>
            </a:r>
          </a:p>
          <a:p>
            <a:r>
              <a:t>IMPULS / MODERATION: Aussage vorlesen, Daumen hoch = stimmt, Daumen runter = stimmt nicht; auf „drei“ gleichzeitig.</a:t>
            </a:r>
          </a:p>
          <a:p>
            <a:r>
              <a:t>ERWARTETE ANTWORTEN: Lösung siehe Folie nach der Abstimmung.</a:t>
            </a:r>
          </a:p>
          <a:p>
            <a:r>
              <a:t>MEDIEN / TAFEL: Plan B ohne Handy/Internet</a:t>
            </a:r>
          </a:p>
          <a:p>
            <a:r>
              <a:t>ZEITPUFFER / STREICHEN: nur bei Ausfall</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Üben · FOLIENTYP: Antwort</a:t>
            </a:r>
          </a:p>
          <a:p>
            <a:r>
              <a:t>SPRECHER: Yasin</a:t>
            </a:r>
          </a:p>
          <a:p>
            <a:r>
              <a:t>DAUER: Reserve (nicht in den 45 Minuten)</a:t>
            </a:r>
          </a:p>
          <a:p>
            <a:r>
              <a:t>SOZIALFORM: Plenum · Daumen hoch / Daumen runter</a:t>
            </a:r>
          </a:p>
          <a:p>
            <a:r>
              <a:t>IMPULS / MODERATION: Lösungen vorlesen lassen, Begründung mit Paragraf nennen.</a:t>
            </a:r>
          </a:p>
          <a:p>
            <a:r>
              <a:t>ERWARTETE ANTWORTEN: –</a:t>
            </a:r>
          </a:p>
          <a:p>
            <a:r>
              <a:t>MEDIEN / TAFEL: Plan B ohne Handy/Internet</a:t>
            </a:r>
          </a:p>
          <a:p>
            <a:r>
              <a:t>ZEITPUFFER / STREICHEN: nur bei Ausfall</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Üben · FOLIENTYP: Frage</a:t>
            </a:r>
          </a:p>
          <a:p>
            <a:r>
              <a:t>SPRECHER: Mido</a:t>
            </a:r>
          </a:p>
          <a:p>
            <a:r>
              <a:t>DAUER: Reserve (nicht in den 45 Minuten)</a:t>
            </a:r>
          </a:p>
          <a:p>
            <a:r>
              <a:t>SOZIALFORM: Plenum · Daumen hoch / Daumen runter</a:t>
            </a:r>
          </a:p>
          <a:p>
            <a:r>
              <a:t>IMPULS / MODERATION: Aussage vorlesen, Daumen hoch = stimmt, Daumen runter = stimmt nicht; auf „drei“ gleichzeitig.</a:t>
            </a:r>
          </a:p>
          <a:p>
            <a:r>
              <a:t>ERWARTETE ANTWORTEN: Lösung siehe Folie nach der Abstimmung.</a:t>
            </a:r>
          </a:p>
          <a:p>
            <a:r>
              <a:t>MEDIEN / TAFEL: Plan B ohne Handy/Internet</a:t>
            </a:r>
          </a:p>
          <a:p>
            <a:r>
              <a:t>ZEITPUFFER / STREICHEN: nur bei Ausfall</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Üben · FOLIENTYP: Antwort</a:t>
            </a:r>
          </a:p>
          <a:p>
            <a:r>
              <a:t>SPRECHER: Mido</a:t>
            </a:r>
          </a:p>
          <a:p>
            <a:r>
              <a:t>DAUER: Reserve (nicht in den 45 Minuten)</a:t>
            </a:r>
          </a:p>
          <a:p>
            <a:r>
              <a:t>SOZIALFORM: Plenum · Daumen hoch / Daumen runter</a:t>
            </a:r>
          </a:p>
          <a:p>
            <a:r>
              <a:t>IMPULS / MODERATION: Lösungen vorlesen lassen, Begründung mit Paragraf nennen.</a:t>
            </a:r>
          </a:p>
          <a:p>
            <a:r>
              <a:t>ERWARTETE ANTWORTEN: –</a:t>
            </a:r>
          </a:p>
          <a:p>
            <a:r>
              <a:t>MEDIEN / TAFEL: Plan B ohne Handy/Internet</a:t>
            </a:r>
          </a:p>
          <a:p>
            <a:r>
              <a:t>ZEITPUFFER / STREICHEN: nur bei Ausfall</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Abschluss · FOLIENTYP: Frage</a:t>
            </a:r>
          </a:p>
          <a:p>
            <a:r>
              <a:t>SPRECHER: Mido</a:t>
            </a:r>
          </a:p>
          <a:p>
            <a:r>
              <a:t>DAUER: Reserve (nicht in den 45 Minuten)</a:t>
            </a:r>
          </a:p>
          <a:p>
            <a:r>
              <a:t>SOZIALFORM: Einzelarbeit · A–D auf Zettel</a:t>
            </a:r>
          </a:p>
          <a:p>
            <a:r>
              <a:t>IMPULS / MODERATION: Plan B ohne Handy: Frage zeigen, A–D auf Zettel notieren; Lösung folgt auf der Lösungsfolie.</a:t>
            </a:r>
          </a:p>
          <a:p>
            <a:r>
              <a:t>ERWARTETE ANTWORTEN: D: 30 (§ 19 JArbSchG (unter 16 Jahren))</a:t>
            </a:r>
          </a:p>
          <a:p>
            <a:r>
              <a:t>ZEITPUFFER / STREICHEN: nur bei Ausfall</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Abschluss · FOLIENTYP: Frage</a:t>
            </a:r>
          </a:p>
          <a:p>
            <a:r>
              <a:t>SPRECHER: Yasin</a:t>
            </a:r>
          </a:p>
          <a:p>
            <a:r>
              <a:t>DAUER: Reserve (nicht in den 45 Minuten)</a:t>
            </a:r>
          </a:p>
          <a:p>
            <a:r>
              <a:t>SOZIALFORM: Einzelarbeit · A–D auf Zettel</a:t>
            </a:r>
          </a:p>
          <a:p>
            <a:r>
              <a:t>IMPULS / MODERATION: Plan B ohne Handy: Frage zeigen, A–D auf Zettel notieren; Lösung folgt auf der Lösungsfolie.</a:t>
            </a:r>
          </a:p>
          <a:p>
            <a:r>
              <a:t>ERWARTETE ANTWORTEN: C: Nein, höchstens vier Monate (§ 20 BBiG)</a:t>
            </a:r>
          </a:p>
          <a:p>
            <a:r>
              <a:t>ZEITPUFFER / STREICHEN: nur bei Ausfall</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Abschluss · FOLIENTYP: Frage</a:t>
            </a:r>
          </a:p>
          <a:p>
            <a:r>
              <a:t>SPRECHER: Mido</a:t>
            </a:r>
          </a:p>
          <a:p>
            <a:r>
              <a:t>DAUER: Reserve (nicht in den 45 Minuten)</a:t>
            </a:r>
          </a:p>
          <a:p>
            <a:r>
              <a:t>SOZIALFORM: Einzelarbeit · A–D auf Zettel</a:t>
            </a:r>
          </a:p>
          <a:p>
            <a:r>
              <a:t>IMPULS / MODERATION: Plan B ohne Handy: Frage zeigen, A–D auf Zettel notieren; Lösung folgt auf der Lösungsfolie.</a:t>
            </a:r>
          </a:p>
          <a:p>
            <a:r>
              <a:t>ERWARTETE ANTWORTEN: C: Nein, die Kündigung muss schriftlich mit Angabe der Gründe erfolgen (§ 22 Abs. 2 und 3 BBiG)</a:t>
            </a:r>
          </a:p>
          <a:p>
            <a:r>
              <a:t>ZEITPUFFER / STREICHEN: nur bei Ausfall</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Abschluss · FOLIENTYP: Frage</a:t>
            </a:r>
          </a:p>
          <a:p>
            <a:r>
              <a:t>SPRECHER: Yasin</a:t>
            </a:r>
          </a:p>
          <a:p>
            <a:r>
              <a:t>DAUER: Reserve (nicht in den 45 Minuten)</a:t>
            </a:r>
          </a:p>
          <a:p>
            <a:r>
              <a:t>SOZIALFORM: Einzelarbeit · A–D auf Zettel</a:t>
            </a:r>
          </a:p>
          <a:p>
            <a:r>
              <a:t>IMPULS / MODERATION: Plan B ohne Handy: Frage zeigen, A–D auf Zettel notieren; Lösung folgt auf der Lösungsfolie.</a:t>
            </a:r>
          </a:p>
          <a:p>
            <a:r>
              <a:t>ERWARTETE ANTWORTEN: C: Nein, im 2. Jahr gelten mindestens 854 € (§ 17 BBiG)</a:t>
            </a:r>
          </a:p>
          <a:p>
            <a:r>
              <a:t>ZEITPUFFER / STREICHEN: nur bei Ausfall</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Abschluss · FOLIENTYP: Frage</a:t>
            </a:r>
          </a:p>
          <a:p>
            <a:r>
              <a:t>SPRECHER: Mido</a:t>
            </a:r>
          </a:p>
          <a:p>
            <a:r>
              <a:t>DAUER: Reserve (nicht in den 45 Minuten)</a:t>
            </a:r>
          </a:p>
          <a:p>
            <a:r>
              <a:t>SOZIALFORM: Einzelarbeit · A–D auf Zettel</a:t>
            </a:r>
          </a:p>
          <a:p>
            <a:r>
              <a:t>IMPULS / MODERATION: Plan B ohne Handy: Frage zeigen, A–D auf Zettel notieren; Lösung folgt auf der Lösungsfolie.</a:t>
            </a:r>
          </a:p>
          <a:p>
            <a:r>
              <a:t>ERWARTETE ANTWORTEN: B: Ja, nach dem Arbeitszeitgesetz, wenn der Durchschnitt von 8 Stunden nicht überschritten wird (§ 3 ArbZG)</a:t>
            </a:r>
          </a:p>
          <a:p>
            <a:r>
              <a:t>ZEITPUFFER / STREICHEN: nur bei Ausfall</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Abschluss · FOLIENTYP: Antwort</a:t>
            </a:r>
          </a:p>
          <a:p>
            <a:r>
              <a:t>SPRECHER: Yasin</a:t>
            </a:r>
          </a:p>
          <a:p>
            <a:r>
              <a:t>DAUER: Reserve (nicht in den 45 Minuten)</a:t>
            </a:r>
          </a:p>
          <a:p>
            <a:r>
              <a:t>SOZIALFORM: Plenum · Zählen mit Handzeichen</a:t>
            </a:r>
          </a:p>
          <a:p>
            <a:r>
              <a:t>IMPULS / MODERATION: Lösungen mit Regel; Handzeichen: Wer hat 5, 4, 3 oder weniger richtig?</a:t>
            </a:r>
          </a:p>
          <a:p>
            <a:r>
              <a:t>ZEITPUFFER / STREICHEN: nur bei Ausfall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7.png"/><Relationship Id="rId4" Type="http://schemas.openxmlformats.org/officeDocument/2006/relationships/image" Target="../media/image10.png"/><Relationship Id="rId5" Type="http://schemas.openxmlformats.org/officeDocument/2006/relationships/image" Target="../media/image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1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1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8.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image" Target="../media/image8.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 Id="rId3" Type="http://schemas.openxmlformats.org/officeDocument/2006/relationships/image" Target="../media/image8.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 Id="rId3" Type="http://schemas.openxmlformats.org/officeDocument/2006/relationships/image" Target="../media/image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 Id="rId3" Type="http://schemas.openxmlformats.org/officeDocument/2006/relationships/image" Target="../media/image1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 Id="rId3" Type="http://schemas.openxmlformats.org/officeDocument/2006/relationships/image" Target="../media/image8.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 Id="rId3" Type="http://schemas.openxmlformats.org/officeDocument/2006/relationships/image" Target="../media/image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 Id="rId3" Type="http://schemas.openxmlformats.org/officeDocument/2006/relationships/image" Target="../media/image1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 Id="rId3" Type="http://schemas.openxmlformats.org/officeDocument/2006/relationships/image" Target="../media/image8.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 Id="rId3" Type="http://schemas.openxmlformats.org/officeDocument/2006/relationships/image" Target="../media/image8.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 Id="rId3" Type="http://schemas.openxmlformats.org/officeDocument/2006/relationships/image" Target="../media/image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 Id="rId3" Type="http://schemas.openxmlformats.org/officeDocument/2006/relationships/image" Target="../media/image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 Id="rId3" Type="http://schemas.openxmlformats.org/officeDocument/2006/relationships/image" Target="../media/image1.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 Id="rId3" Type="http://schemas.openxmlformats.org/officeDocument/2006/relationships/image" Target="../media/image1.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 Id="rId3" Type="http://schemas.openxmlformats.org/officeDocument/2006/relationships/image" Target="../media/image1.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 Id="rId3" Type="http://schemas.openxmlformats.org/officeDocument/2006/relationships/image" Target="../media/image8.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280160"/>
            <a:ext cx="10515600" cy="548640"/>
          </a:xfrm>
          <a:prstGeom prst="rect">
            <a:avLst/>
          </a:prstGeom>
          <a:noFill/>
        </p:spPr>
        <p:txBody>
          <a:bodyPr wrap="square" anchor="t" tIns="36576" bIns="36576">
            <a:spAutoFit/>
          </a:bodyPr>
          <a:lstStyle/>
          <a:p>
            <a:pPr algn="l"/>
            <a:r>
              <a:rPr sz="2400" b="1">
                <a:solidFill>
                  <a:srgbClr val="F5A623"/>
                </a:solidFill>
                <a:latin typeface="Calibri"/>
              </a:rPr>
              <a:t>UNTERRICHTSSTUNDE IM FACH GP</a:t>
            </a:r>
          </a:p>
        </p:txBody>
      </p:sp>
      <p:sp>
        <p:nvSpPr>
          <p:cNvPr id="5" name="Titel"/>
          <p:cNvSpPr txBox="1"/>
          <p:nvPr/>
        </p:nvSpPr>
        <p:spPr>
          <a:xfrm>
            <a:off x="914400" y="1828800"/>
            <a:ext cx="10515600" cy="2377440"/>
          </a:xfrm>
          <a:prstGeom prst="rect">
            <a:avLst/>
          </a:prstGeom>
          <a:noFill/>
        </p:spPr>
        <p:txBody>
          <a:bodyPr wrap="square" anchor="t" tIns="36576" bIns="36576">
            <a:spAutoFit/>
          </a:bodyPr>
          <a:lstStyle/>
          <a:p>
            <a:pPr algn="l"/>
            <a:r>
              <a:rPr sz="5400" b="1">
                <a:solidFill>
                  <a:srgbClr val="FFFFFF"/>
                </a:solidFill>
                <a:latin typeface="Calibri"/>
              </a:rPr>
              <a:t>Rechte und Pflichten aus dem Ausbildungsvertrag</a:t>
            </a:r>
          </a:p>
        </p:txBody>
      </p:sp>
      <p:sp>
        <p:nvSpPr>
          <p:cNvPr id="6" name="Rectangle 5"/>
          <p:cNvSpPr/>
          <p:nvPr/>
        </p:nvSpPr>
        <p:spPr>
          <a:xfrm>
            <a:off x="914400" y="4389120"/>
            <a:ext cx="1828800" cy="7315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617720"/>
            <a:ext cx="10058400" cy="731520"/>
          </a:xfrm>
          <a:prstGeom prst="rect">
            <a:avLst/>
          </a:prstGeom>
          <a:noFill/>
        </p:spPr>
        <p:txBody>
          <a:bodyPr wrap="square" anchor="t" tIns="36576" bIns="36576">
            <a:spAutoFit/>
          </a:bodyPr>
          <a:lstStyle/>
          <a:p>
            <a:pPr algn="l"/>
            <a:r>
              <a:rPr sz="3600" b="0">
                <a:solidFill>
                  <a:srgbClr val="DCE3F2"/>
                </a:solidFill>
                <a:latin typeface="Calibri"/>
              </a:rPr>
              <a:t>Yasin &amp; Mido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square" anchor="ctr" tIns="36576" bIns="36576">
            <a:spAutoFit/>
          </a:bodyPr>
          <a:lstStyle/>
          <a:p>
            <a:pPr algn="ctr"/>
            <a:r>
              <a:rPr sz="2400" b="1">
                <a:solidFill>
                  <a:srgbClr val="1F2A44"/>
                </a:solidFill>
                <a:latin typeface="Calibri"/>
              </a:rPr>
              <a:t>Einstieg</a:t>
            </a:r>
          </a:p>
        </p:txBody>
      </p:sp>
      <p:sp>
        <p:nvSpPr>
          <p:cNvPr id="5" name="Rectangle 4"/>
          <p:cNvSpPr/>
          <p:nvPr/>
        </p:nvSpPr>
        <p:spPr>
          <a:xfrm>
            <a:off x="1741670"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1</a:t>
            </a:r>
          </a:p>
        </p:txBody>
      </p:sp>
      <p:sp>
        <p:nvSpPr>
          <p:cNvPr id="7" name="Rectangle 6"/>
          <p:cNvSpPr/>
          <p:nvPr/>
        </p:nvSpPr>
        <p:spPr>
          <a:xfrm>
            <a:off x="3483341"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3341"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2</a:t>
            </a:r>
          </a:p>
        </p:txBody>
      </p:sp>
      <p:sp>
        <p:nvSpPr>
          <p:cNvPr id="9" name="Rectangle 8"/>
          <p:cNvSpPr/>
          <p:nvPr/>
        </p:nvSpPr>
        <p:spPr>
          <a:xfrm>
            <a:off x="5225012"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25012"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3</a:t>
            </a:r>
          </a:p>
        </p:txBody>
      </p:sp>
      <p:sp>
        <p:nvSpPr>
          <p:cNvPr id="11" name="Rectangle 10"/>
          <p:cNvSpPr/>
          <p:nvPr/>
        </p:nvSpPr>
        <p:spPr>
          <a:xfrm>
            <a:off x="6966682"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66682" y="0"/>
            <a:ext cx="1741670" cy="457200"/>
          </a:xfrm>
          <a:prstGeom prst="rect">
            <a:avLst/>
          </a:prstGeom>
          <a:noFill/>
        </p:spPr>
        <p:txBody>
          <a:bodyPr wrap="square" anchor="ctr" tIns="36576" bIns="36576">
            <a:spAutoFit/>
          </a:bodyPr>
          <a:lstStyle/>
          <a:p>
            <a:pPr algn="ctr"/>
            <a:r>
              <a:rPr sz="2400" b="0">
                <a:solidFill>
                  <a:srgbClr val="FFFFFF"/>
                </a:solidFill>
                <a:latin typeface="Calibri"/>
              </a:rPr>
              <a:t>Üben</a:t>
            </a:r>
          </a:p>
        </p:txBody>
      </p:sp>
      <p:sp>
        <p:nvSpPr>
          <p:cNvPr id="13" name="Rectangle 12"/>
          <p:cNvSpPr/>
          <p:nvPr/>
        </p:nvSpPr>
        <p:spPr>
          <a:xfrm>
            <a:off x="8708353"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8353" y="0"/>
            <a:ext cx="1741670" cy="457200"/>
          </a:xfrm>
          <a:prstGeom prst="rect">
            <a:avLst/>
          </a:prstGeom>
          <a:noFill/>
        </p:spPr>
        <p:txBody>
          <a:bodyPr wrap="square" anchor="ctr" tIns="36576" bIns="36576">
            <a:spAutoFit/>
          </a:bodyPr>
          <a:lstStyle/>
          <a:p>
            <a:pPr algn="ctr"/>
            <a:r>
              <a:rPr sz="2400" b="0">
                <a:solidFill>
                  <a:srgbClr val="FFFFFF"/>
                </a:solidFill>
                <a:latin typeface="Calibri"/>
              </a:rPr>
              <a:t>Besprechen</a:t>
            </a:r>
          </a:p>
        </p:txBody>
      </p:sp>
      <p:sp>
        <p:nvSpPr>
          <p:cNvPr id="15" name="Rectangle 14"/>
          <p:cNvSpPr/>
          <p:nvPr/>
        </p:nvSpPr>
        <p:spPr>
          <a:xfrm>
            <a:off x="10450024"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50024" y="0"/>
            <a:ext cx="1741670" cy="457200"/>
          </a:xfrm>
          <a:prstGeom prst="rect">
            <a:avLst/>
          </a:prstGeom>
          <a:noFill/>
        </p:spPr>
        <p:txBody>
          <a:bodyPr wrap="square" anchor="ctr" tIns="36576" bIns="36576">
            <a:spAutoFit/>
          </a:bodyPr>
          <a:lstStyle/>
          <a:p>
            <a:pPr algn="ctr"/>
            <a:r>
              <a:rPr sz="2400" b="0">
                <a:solidFill>
                  <a:srgbClr val="FFFFFF"/>
                </a:solidFill>
                <a:latin typeface="Calibri"/>
              </a:rPr>
              <a:t>Abschluss</a:t>
            </a:r>
          </a:p>
        </p:txBody>
      </p:sp>
      <p:pic>
        <p:nvPicPr>
          <p:cNvPr id="17" name="Picture 16" descr="Fragezeichen-Symbol"/>
          <p:cNvPicPr>
            <a:picLocks noChangeAspect="1"/>
          </p:cNvPicPr>
          <p:nvPr/>
        </p:nvPicPr>
        <p:blipFill>
          <a:blip r:embed="rId3"/>
          <a:stretch>
            <a:fillRect/>
          </a:stretch>
        </p:blipFill>
        <p:spPr>
          <a:xfrm>
            <a:off x="640080" y="914400"/>
            <a:ext cx="1234440" cy="1234440"/>
          </a:xfrm>
          <a:prstGeom prst="rect">
            <a:avLst/>
          </a:prstGeom>
        </p:spPr>
      </p:pic>
      <p:sp>
        <p:nvSpPr>
          <p:cNvPr id="18" name="Frage"/>
          <p:cNvSpPr txBox="1"/>
          <p:nvPr/>
        </p:nvSpPr>
        <p:spPr>
          <a:xfrm>
            <a:off x="2103120" y="914400"/>
            <a:ext cx="9601200" cy="3566160"/>
          </a:xfrm>
          <a:prstGeom prst="rect">
            <a:avLst/>
          </a:prstGeom>
          <a:noFill/>
        </p:spPr>
        <p:txBody>
          <a:bodyPr wrap="square" anchor="ctr" tIns="36576" bIns="36576">
            <a:spAutoFit/>
          </a:bodyPr>
          <a:lstStyle/>
          <a:p>
            <a:pPr algn="l"/>
            <a:r>
              <a:rPr sz="4000" b="1">
                <a:solidFill>
                  <a:srgbClr val="1F2A44"/>
                </a:solidFill>
                <a:latin typeface="Calibri"/>
              </a:rPr>
              <a:t>Dein erster Arbeitstag: Was steht eigentlich in deinem Ausbildungsvertrag?</a:t>
            </a:r>
          </a:p>
        </p:txBody>
      </p:sp>
      <p:sp>
        <p:nvSpPr>
          <p:cNvPr id="19" name="Rounded Rectangle 18"/>
          <p:cNvSpPr/>
          <p:nvPr/>
        </p:nvSpPr>
        <p:spPr>
          <a:xfrm>
            <a:off x="502920" y="6327648"/>
            <a:ext cx="1344168" cy="420624"/>
          </a:xfrm>
          <a:prstGeom prst="roundRect">
            <a:avLst>
              <a:gd name="adj" fmla="val 4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6327648"/>
            <a:ext cx="1344168" cy="420624"/>
          </a:xfrm>
          <a:prstGeom prst="rect">
            <a:avLst/>
          </a:prstGeom>
          <a:noFill/>
        </p:spPr>
        <p:txBody>
          <a:bodyPr wrap="square" anchor="ctr" tIns="36576" bIns="36576">
            <a:spAutoFit/>
          </a:bodyPr>
          <a:lstStyle/>
          <a:p>
            <a:pPr algn="ctr"/>
            <a:r>
              <a:rPr sz="2400" b="1">
                <a:solidFill>
                  <a:srgbClr val="FFFFFF"/>
                </a:solidFill>
                <a:latin typeface="Calibri"/>
              </a:rPr>
              <a:t>Plenum</a:t>
            </a:r>
          </a:p>
        </p:txBody>
      </p:sp>
      <p:sp>
        <p:nvSpPr>
          <p:cNvPr id="21" name="TextBox 20"/>
          <p:cNvSpPr txBox="1"/>
          <p:nvPr/>
        </p:nvSpPr>
        <p:spPr>
          <a:xfrm>
            <a:off x="2103120" y="4297680"/>
            <a:ext cx="9326880" cy="822960"/>
          </a:xfrm>
          <a:prstGeom prst="rect">
            <a:avLst/>
          </a:prstGeom>
          <a:noFill/>
        </p:spPr>
        <p:txBody>
          <a:bodyPr wrap="square" anchor="t" tIns="36576" bIns="36576">
            <a:spAutoFit/>
          </a:bodyPr>
          <a:lstStyle/>
          <a:p>
            <a:pPr algn="l"/>
            <a:r>
              <a:rPr sz="2800" b="0">
                <a:solidFill>
                  <a:srgbClr val="4A5568"/>
                </a:solidFill>
                <a:latin typeface="Calibri"/>
              </a:rPr>
              <a:t>Handzeichen: Wer hat ihn schon richtig gelesen?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square" anchor="ctr" tIns="36576" bIns="36576">
            <a:spAutoFit/>
          </a:bodyPr>
          <a:lstStyle/>
          <a:p>
            <a:pPr algn="ctr"/>
            <a:r>
              <a:rPr sz="2400" b="1">
                <a:solidFill>
                  <a:srgbClr val="1F2A44"/>
                </a:solidFill>
                <a:latin typeface="Calibri"/>
              </a:rPr>
              <a:t>Einstieg</a:t>
            </a:r>
          </a:p>
        </p:txBody>
      </p:sp>
      <p:sp>
        <p:nvSpPr>
          <p:cNvPr id="5" name="Rectangle 4"/>
          <p:cNvSpPr/>
          <p:nvPr/>
        </p:nvSpPr>
        <p:spPr>
          <a:xfrm>
            <a:off x="1741670"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1</a:t>
            </a:r>
          </a:p>
        </p:txBody>
      </p:sp>
      <p:sp>
        <p:nvSpPr>
          <p:cNvPr id="7" name="Rectangle 6"/>
          <p:cNvSpPr/>
          <p:nvPr/>
        </p:nvSpPr>
        <p:spPr>
          <a:xfrm>
            <a:off x="3483341"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3341"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2</a:t>
            </a:r>
          </a:p>
        </p:txBody>
      </p:sp>
      <p:sp>
        <p:nvSpPr>
          <p:cNvPr id="9" name="Rectangle 8"/>
          <p:cNvSpPr/>
          <p:nvPr/>
        </p:nvSpPr>
        <p:spPr>
          <a:xfrm>
            <a:off x="5225012"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25012"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3</a:t>
            </a:r>
          </a:p>
        </p:txBody>
      </p:sp>
      <p:sp>
        <p:nvSpPr>
          <p:cNvPr id="11" name="Rectangle 10"/>
          <p:cNvSpPr/>
          <p:nvPr/>
        </p:nvSpPr>
        <p:spPr>
          <a:xfrm>
            <a:off x="6966682"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66682" y="0"/>
            <a:ext cx="1741670" cy="457200"/>
          </a:xfrm>
          <a:prstGeom prst="rect">
            <a:avLst/>
          </a:prstGeom>
          <a:noFill/>
        </p:spPr>
        <p:txBody>
          <a:bodyPr wrap="square" anchor="ctr" tIns="36576" bIns="36576">
            <a:spAutoFit/>
          </a:bodyPr>
          <a:lstStyle/>
          <a:p>
            <a:pPr algn="ctr"/>
            <a:r>
              <a:rPr sz="2400" b="0">
                <a:solidFill>
                  <a:srgbClr val="FFFFFF"/>
                </a:solidFill>
                <a:latin typeface="Calibri"/>
              </a:rPr>
              <a:t>Üben</a:t>
            </a:r>
          </a:p>
        </p:txBody>
      </p:sp>
      <p:sp>
        <p:nvSpPr>
          <p:cNvPr id="13" name="Rectangle 12"/>
          <p:cNvSpPr/>
          <p:nvPr/>
        </p:nvSpPr>
        <p:spPr>
          <a:xfrm>
            <a:off x="8708353"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8353" y="0"/>
            <a:ext cx="1741670" cy="457200"/>
          </a:xfrm>
          <a:prstGeom prst="rect">
            <a:avLst/>
          </a:prstGeom>
          <a:noFill/>
        </p:spPr>
        <p:txBody>
          <a:bodyPr wrap="square" anchor="ctr" tIns="36576" bIns="36576">
            <a:spAutoFit/>
          </a:bodyPr>
          <a:lstStyle/>
          <a:p>
            <a:pPr algn="ctr"/>
            <a:r>
              <a:rPr sz="2400" b="0">
                <a:solidFill>
                  <a:srgbClr val="FFFFFF"/>
                </a:solidFill>
                <a:latin typeface="Calibri"/>
              </a:rPr>
              <a:t>Besprechen</a:t>
            </a:r>
          </a:p>
        </p:txBody>
      </p:sp>
      <p:sp>
        <p:nvSpPr>
          <p:cNvPr id="15" name="Rectangle 14"/>
          <p:cNvSpPr/>
          <p:nvPr/>
        </p:nvSpPr>
        <p:spPr>
          <a:xfrm>
            <a:off x="10450024"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50024" y="0"/>
            <a:ext cx="1741670" cy="457200"/>
          </a:xfrm>
          <a:prstGeom prst="rect">
            <a:avLst/>
          </a:prstGeom>
          <a:noFill/>
        </p:spPr>
        <p:txBody>
          <a:bodyPr wrap="square" anchor="ctr" tIns="36576" bIns="36576">
            <a:spAutoFit/>
          </a:bodyPr>
          <a:lstStyle/>
          <a:p>
            <a:pPr algn="ctr"/>
            <a:r>
              <a:rPr sz="2400" b="0">
                <a:solidFill>
                  <a:srgbClr val="FFFFFF"/>
                </a:solidFill>
                <a:latin typeface="Calibri"/>
              </a:rPr>
              <a:t>Abschluss</a:t>
            </a:r>
          </a:p>
        </p:txBody>
      </p:sp>
      <p:sp>
        <p:nvSpPr>
          <p:cNvPr id="17" name="Titel"/>
          <p:cNvSpPr txBox="1"/>
          <p:nvPr/>
        </p:nvSpPr>
        <p:spPr>
          <a:xfrm>
            <a:off x="548640" y="530352"/>
            <a:ext cx="11155680" cy="868680"/>
          </a:xfrm>
          <a:prstGeom prst="rect">
            <a:avLst/>
          </a:prstGeom>
          <a:noFill/>
        </p:spPr>
        <p:txBody>
          <a:bodyPr wrap="square" anchor="ctr" tIns="36576" bIns="36576">
            <a:spAutoFit/>
          </a:bodyPr>
          <a:lstStyle/>
          <a:p>
            <a:pPr algn="l"/>
            <a:r>
              <a:rPr sz="4000" b="1">
                <a:solidFill>
                  <a:srgbClr val="1F2A44"/>
                </a:solidFill>
                <a:latin typeface="Calibri"/>
              </a:rPr>
              <a:t>Lernziele: Am Ende könnt ihr …</a:t>
            </a:r>
          </a:p>
        </p:txBody>
      </p:sp>
      <p:sp>
        <p:nvSpPr>
          <p:cNvPr id="18" name="Rectangle 17"/>
          <p:cNvSpPr/>
          <p:nvPr/>
        </p:nvSpPr>
        <p:spPr>
          <a:xfrm>
            <a:off x="640080" y="1371600"/>
            <a:ext cx="1463040" cy="6400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 y="1645920"/>
            <a:ext cx="10881360" cy="96012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0080" y="1645920"/>
            <a:ext cx="109728" cy="9601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14400" y="1783080"/>
            <a:ext cx="685800" cy="6858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3000" b="1">
                <a:solidFill>
                  <a:srgbClr val="FFFFFF"/>
                </a:solidFill>
                <a:latin typeface="Calibri"/>
              </a:rPr>
              <a:t>1</a:t>
            </a:r>
          </a:p>
        </p:txBody>
      </p:sp>
      <p:sp>
        <p:nvSpPr>
          <p:cNvPr id="22" name="TextBox 21"/>
          <p:cNvSpPr txBox="1"/>
          <p:nvPr/>
        </p:nvSpPr>
        <p:spPr>
          <a:xfrm>
            <a:off x="1828800" y="1645920"/>
            <a:ext cx="9509760" cy="960120"/>
          </a:xfrm>
          <a:prstGeom prst="rect">
            <a:avLst/>
          </a:prstGeom>
          <a:noFill/>
        </p:spPr>
        <p:txBody>
          <a:bodyPr wrap="square" anchor="ctr" tIns="36576" bIns="36576">
            <a:spAutoFit/>
          </a:bodyPr>
          <a:lstStyle/>
          <a:p>
            <a:pPr algn="l"/>
            <a:r>
              <a:rPr sz="3000" b="0">
                <a:solidFill>
                  <a:srgbClr val="1F2A44"/>
                </a:solidFill>
                <a:latin typeface="Calibri"/>
              </a:rPr>
              <a:t>nennen, was in einen Ausbildungsvertrag gehört</a:t>
            </a:r>
          </a:p>
        </p:txBody>
      </p:sp>
      <p:sp>
        <p:nvSpPr>
          <p:cNvPr id="23" name="Rectangle 22"/>
          <p:cNvSpPr/>
          <p:nvPr/>
        </p:nvSpPr>
        <p:spPr>
          <a:xfrm>
            <a:off x="640080" y="2788920"/>
            <a:ext cx="10881360" cy="96012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0080" y="2788920"/>
            <a:ext cx="109728" cy="9601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14400" y="2926079"/>
            <a:ext cx="685800" cy="6858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3000" b="1">
                <a:solidFill>
                  <a:srgbClr val="FFFFFF"/>
                </a:solidFill>
                <a:latin typeface="Calibri"/>
              </a:rPr>
              <a:t>2</a:t>
            </a:r>
          </a:p>
        </p:txBody>
      </p:sp>
      <p:sp>
        <p:nvSpPr>
          <p:cNvPr id="26" name="TextBox 25"/>
          <p:cNvSpPr txBox="1"/>
          <p:nvPr/>
        </p:nvSpPr>
        <p:spPr>
          <a:xfrm>
            <a:off x="1828800" y="2788920"/>
            <a:ext cx="9509760" cy="960120"/>
          </a:xfrm>
          <a:prstGeom prst="rect">
            <a:avLst/>
          </a:prstGeom>
          <a:noFill/>
        </p:spPr>
        <p:txBody>
          <a:bodyPr wrap="square" anchor="ctr" tIns="36576" bIns="36576">
            <a:spAutoFit/>
          </a:bodyPr>
          <a:lstStyle/>
          <a:p>
            <a:pPr algn="l"/>
            <a:r>
              <a:rPr sz="3000" b="0">
                <a:solidFill>
                  <a:srgbClr val="1F2A44"/>
                </a:solidFill>
                <a:latin typeface="Calibri"/>
              </a:rPr>
              <a:t>Vergütung, Urlaub und Arbeitszeit bestimmen</a:t>
            </a:r>
          </a:p>
        </p:txBody>
      </p:sp>
      <p:sp>
        <p:nvSpPr>
          <p:cNvPr id="27" name="Rectangle 26"/>
          <p:cNvSpPr/>
          <p:nvPr/>
        </p:nvSpPr>
        <p:spPr>
          <a:xfrm>
            <a:off x="640080" y="3931920"/>
            <a:ext cx="10881360" cy="96012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40080" y="3931920"/>
            <a:ext cx="109728" cy="9601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14400" y="4069080"/>
            <a:ext cx="685800" cy="6858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3000" b="1">
                <a:solidFill>
                  <a:srgbClr val="FFFFFF"/>
                </a:solidFill>
                <a:latin typeface="Calibri"/>
              </a:rPr>
              <a:t>3</a:t>
            </a:r>
          </a:p>
        </p:txBody>
      </p:sp>
      <p:sp>
        <p:nvSpPr>
          <p:cNvPr id="30" name="TextBox 29"/>
          <p:cNvSpPr txBox="1"/>
          <p:nvPr/>
        </p:nvSpPr>
        <p:spPr>
          <a:xfrm>
            <a:off x="1828800" y="3931920"/>
            <a:ext cx="9509760" cy="960120"/>
          </a:xfrm>
          <a:prstGeom prst="rect">
            <a:avLst/>
          </a:prstGeom>
          <a:noFill/>
        </p:spPr>
        <p:txBody>
          <a:bodyPr wrap="square" anchor="ctr" tIns="36576" bIns="36576">
            <a:spAutoFit/>
          </a:bodyPr>
          <a:lstStyle/>
          <a:p>
            <a:pPr algn="l"/>
            <a:r>
              <a:rPr sz="3000" b="0">
                <a:solidFill>
                  <a:srgbClr val="1F2A44"/>
                </a:solidFill>
                <a:latin typeface="Calibri"/>
              </a:rPr>
              <a:t>Probezeit und Kündigung richtig anwenden</a:t>
            </a:r>
          </a:p>
        </p:txBody>
      </p:sp>
      <p:sp>
        <p:nvSpPr>
          <p:cNvPr id="31" name="Rectangle 30"/>
          <p:cNvSpPr/>
          <p:nvPr/>
        </p:nvSpPr>
        <p:spPr>
          <a:xfrm>
            <a:off x="640080" y="5074920"/>
            <a:ext cx="10881360" cy="96012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40080" y="5074920"/>
            <a:ext cx="109728" cy="9601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4400" y="5212080"/>
            <a:ext cx="685800" cy="6858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3000" b="1">
                <a:solidFill>
                  <a:srgbClr val="FFFFFF"/>
                </a:solidFill>
                <a:latin typeface="Calibri"/>
              </a:rPr>
              <a:t>4</a:t>
            </a:r>
          </a:p>
        </p:txBody>
      </p:sp>
      <p:sp>
        <p:nvSpPr>
          <p:cNvPr id="34" name="TextBox 33"/>
          <p:cNvSpPr txBox="1"/>
          <p:nvPr/>
        </p:nvSpPr>
        <p:spPr>
          <a:xfrm>
            <a:off x="1828800" y="5074920"/>
            <a:ext cx="9509760" cy="960120"/>
          </a:xfrm>
          <a:prstGeom prst="rect">
            <a:avLst/>
          </a:prstGeom>
          <a:noFill/>
        </p:spPr>
        <p:txBody>
          <a:bodyPr wrap="square" anchor="ctr" tIns="36576" bIns="36576">
            <a:spAutoFit/>
          </a:bodyPr>
          <a:lstStyle/>
          <a:p>
            <a:pPr algn="l"/>
            <a:r>
              <a:rPr sz="3000" b="0">
                <a:solidFill>
                  <a:srgbClr val="1F2A44"/>
                </a:solidFill>
                <a:latin typeface="Calibri"/>
              </a:rPr>
              <a:t>Fälle mit der passenden Regel begründen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square" anchor="ctr" tIns="36576" bIns="36576">
            <a:spAutoFit/>
          </a:bodyPr>
          <a:lstStyle/>
          <a:p>
            <a:pPr algn="ctr"/>
            <a:r>
              <a:rPr sz="2400" b="1">
                <a:solidFill>
                  <a:srgbClr val="1F2A44"/>
                </a:solidFill>
                <a:latin typeface="Calibri"/>
              </a:rPr>
              <a:t>Einstieg</a:t>
            </a:r>
          </a:p>
        </p:txBody>
      </p:sp>
      <p:sp>
        <p:nvSpPr>
          <p:cNvPr id="5" name="Rectangle 4"/>
          <p:cNvSpPr/>
          <p:nvPr/>
        </p:nvSpPr>
        <p:spPr>
          <a:xfrm>
            <a:off x="1741670"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1</a:t>
            </a:r>
          </a:p>
        </p:txBody>
      </p:sp>
      <p:sp>
        <p:nvSpPr>
          <p:cNvPr id="7" name="Rectangle 6"/>
          <p:cNvSpPr/>
          <p:nvPr/>
        </p:nvSpPr>
        <p:spPr>
          <a:xfrm>
            <a:off x="3483341"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3341"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2</a:t>
            </a:r>
          </a:p>
        </p:txBody>
      </p:sp>
      <p:sp>
        <p:nvSpPr>
          <p:cNvPr id="9" name="Rectangle 8"/>
          <p:cNvSpPr/>
          <p:nvPr/>
        </p:nvSpPr>
        <p:spPr>
          <a:xfrm>
            <a:off x="5225012"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25012"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3</a:t>
            </a:r>
          </a:p>
        </p:txBody>
      </p:sp>
      <p:sp>
        <p:nvSpPr>
          <p:cNvPr id="11" name="Rectangle 10"/>
          <p:cNvSpPr/>
          <p:nvPr/>
        </p:nvSpPr>
        <p:spPr>
          <a:xfrm>
            <a:off x="6966682"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66682" y="0"/>
            <a:ext cx="1741670" cy="457200"/>
          </a:xfrm>
          <a:prstGeom prst="rect">
            <a:avLst/>
          </a:prstGeom>
          <a:noFill/>
        </p:spPr>
        <p:txBody>
          <a:bodyPr wrap="square" anchor="ctr" tIns="36576" bIns="36576">
            <a:spAutoFit/>
          </a:bodyPr>
          <a:lstStyle/>
          <a:p>
            <a:pPr algn="ctr"/>
            <a:r>
              <a:rPr sz="2400" b="0">
                <a:solidFill>
                  <a:srgbClr val="FFFFFF"/>
                </a:solidFill>
                <a:latin typeface="Calibri"/>
              </a:rPr>
              <a:t>Üben</a:t>
            </a:r>
          </a:p>
        </p:txBody>
      </p:sp>
      <p:sp>
        <p:nvSpPr>
          <p:cNvPr id="13" name="Rectangle 12"/>
          <p:cNvSpPr/>
          <p:nvPr/>
        </p:nvSpPr>
        <p:spPr>
          <a:xfrm>
            <a:off x="8708353"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8353" y="0"/>
            <a:ext cx="1741670" cy="457200"/>
          </a:xfrm>
          <a:prstGeom prst="rect">
            <a:avLst/>
          </a:prstGeom>
          <a:noFill/>
        </p:spPr>
        <p:txBody>
          <a:bodyPr wrap="square" anchor="ctr" tIns="36576" bIns="36576">
            <a:spAutoFit/>
          </a:bodyPr>
          <a:lstStyle/>
          <a:p>
            <a:pPr algn="ctr"/>
            <a:r>
              <a:rPr sz="2400" b="0">
                <a:solidFill>
                  <a:srgbClr val="FFFFFF"/>
                </a:solidFill>
                <a:latin typeface="Calibri"/>
              </a:rPr>
              <a:t>Besprechen</a:t>
            </a:r>
          </a:p>
        </p:txBody>
      </p:sp>
      <p:sp>
        <p:nvSpPr>
          <p:cNvPr id="15" name="Rectangle 14"/>
          <p:cNvSpPr/>
          <p:nvPr/>
        </p:nvSpPr>
        <p:spPr>
          <a:xfrm>
            <a:off x="10450024"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50024" y="0"/>
            <a:ext cx="1741670" cy="457200"/>
          </a:xfrm>
          <a:prstGeom prst="rect">
            <a:avLst/>
          </a:prstGeom>
          <a:noFill/>
        </p:spPr>
        <p:txBody>
          <a:bodyPr wrap="square" anchor="ctr" tIns="36576" bIns="36576">
            <a:spAutoFit/>
          </a:bodyPr>
          <a:lstStyle/>
          <a:p>
            <a:pPr algn="ctr"/>
            <a:r>
              <a:rPr sz="2400" b="0">
                <a:solidFill>
                  <a:srgbClr val="FFFFFF"/>
                </a:solidFill>
                <a:latin typeface="Calibri"/>
              </a:rPr>
              <a:t>Abschluss</a:t>
            </a:r>
          </a:p>
        </p:txBody>
      </p:sp>
      <p:sp>
        <p:nvSpPr>
          <p:cNvPr id="17" name="Titel"/>
          <p:cNvSpPr txBox="1"/>
          <p:nvPr/>
        </p:nvSpPr>
        <p:spPr>
          <a:xfrm>
            <a:off x="548640" y="530352"/>
            <a:ext cx="11155680" cy="868680"/>
          </a:xfrm>
          <a:prstGeom prst="rect">
            <a:avLst/>
          </a:prstGeom>
          <a:noFill/>
        </p:spPr>
        <p:txBody>
          <a:bodyPr wrap="square" anchor="ctr" tIns="36576" bIns="36576">
            <a:spAutoFit/>
          </a:bodyPr>
          <a:lstStyle/>
          <a:p>
            <a:pPr algn="l"/>
            <a:r>
              <a:rPr sz="4000" b="1">
                <a:solidFill>
                  <a:srgbClr val="1F2A44"/>
                </a:solidFill>
                <a:latin typeface="Calibri"/>
              </a:rPr>
              <a:t>So läuft die Stunde</a:t>
            </a:r>
          </a:p>
        </p:txBody>
      </p:sp>
      <p:sp>
        <p:nvSpPr>
          <p:cNvPr id="18" name="Rectangle 17"/>
          <p:cNvSpPr/>
          <p:nvPr/>
        </p:nvSpPr>
        <p:spPr>
          <a:xfrm>
            <a:off x="640080" y="1371600"/>
            <a:ext cx="1463040" cy="6400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 y="2377440"/>
            <a:ext cx="1088136" cy="1097280"/>
          </a:xfrm>
          <a:prstGeom prst="rect">
            <a:avLst/>
          </a:prstGeom>
          <a:solidFill>
            <a:srgbClr val="34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2377440"/>
            <a:ext cx="1088136" cy="1097280"/>
          </a:xfrm>
          <a:prstGeom prst="rect">
            <a:avLst/>
          </a:prstGeom>
          <a:noFill/>
        </p:spPr>
        <p:txBody>
          <a:bodyPr wrap="square" anchor="ctr" tIns="36576" bIns="36576">
            <a:spAutoFit/>
          </a:bodyPr>
          <a:lstStyle/>
          <a:p>
            <a:pPr algn="ctr"/>
            <a:r>
              <a:rPr sz="3200" b="1">
                <a:solidFill>
                  <a:srgbClr val="FFFFFF"/>
                </a:solidFill>
                <a:latin typeface="Calibri"/>
              </a:rPr>
              <a:t>5</a:t>
            </a:r>
          </a:p>
        </p:txBody>
      </p:sp>
      <p:sp>
        <p:nvSpPr>
          <p:cNvPr id="21" name="TextBox 20"/>
          <p:cNvSpPr txBox="1"/>
          <p:nvPr/>
        </p:nvSpPr>
        <p:spPr>
          <a:xfrm>
            <a:off x="91439" y="3611880"/>
            <a:ext cx="2231136" cy="502920"/>
          </a:xfrm>
          <a:prstGeom prst="rect">
            <a:avLst/>
          </a:prstGeom>
          <a:noFill/>
        </p:spPr>
        <p:txBody>
          <a:bodyPr wrap="square" anchor="t" tIns="36576" bIns="36576">
            <a:spAutoFit/>
          </a:bodyPr>
          <a:lstStyle/>
          <a:p>
            <a:pPr algn="ctr"/>
            <a:r>
              <a:rPr sz="2400" b="1">
                <a:solidFill>
                  <a:srgbClr val="1F2A44"/>
                </a:solidFill>
                <a:latin typeface="Calibri"/>
              </a:rPr>
              <a:t>Einstieg</a:t>
            </a:r>
          </a:p>
        </p:txBody>
      </p:sp>
      <p:sp>
        <p:nvSpPr>
          <p:cNvPr id="22" name="Rectangle 21"/>
          <p:cNvSpPr/>
          <p:nvPr/>
        </p:nvSpPr>
        <p:spPr>
          <a:xfrm>
            <a:off x="1773936" y="2377440"/>
            <a:ext cx="3582619" cy="1097280"/>
          </a:xfrm>
          <a:prstGeom prst="rect">
            <a:avLst/>
          </a:prstGeom>
          <a:solidFill>
            <a:srgbClr val="34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773936" y="2377440"/>
            <a:ext cx="3582619" cy="1097280"/>
          </a:xfrm>
          <a:prstGeom prst="rect">
            <a:avLst/>
          </a:prstGeom>
          <a:noFill/>
        </p:spPr>
        <p:txBody>
          <a:bodyPr wrap="square" anchor="ctr" tIns="36576" bIns="36576">
            <a:spAutoFit/>
          </a:bodyPr>
          <a:lstStyle/>
          <a:p>
            <a:pPr algn="ctr"/>
            <a:r>
              <a:rPr sz="3200" b="1">
                <a:solidFill>
                  <a:srgbClr val="FFFFFF"/>
                </a:solidFill>
                <a:latin typeface="Calibri"/>
              </a:rPr>
              <a:t>16</a:t>
            </a:r>
          </a:p>
        </p:txBody>
      </p:sp>
      <p:sp>
        <p:nvSpPr>
          <p:cNvPr id="24" name="TextBox 23"/>
          <p:cNvSpPr txBox="1"/>
          <p:nvPr/>
        </p:nvSpPr>
        <p:spPr>
          <a:xfrm>
            <a:off x="1225295" y="4160520"/>
            <a:ext cx="4725619" cy="502920"/>
          </a:xfrm>
          <a:prstGeom prst="rect">
            <a:avLst/>
          </a:prstGeom>
          <a:noFill/>
        </p:spPr>
        <p:txBody>
          <a:bodyPr wrap="square" anchor="t" tIns="36576" bIns="36576">
            <a:spAutoFit/>
          </a:bodyPr>
          <a:lstStyle/>
          <a:p>
            <a:pPr algn="ctr"/>
            <a:r>
              <a:rPr sz="2400" b="1">
                <a:solidFill>
                  <a:srgbClr val="1F2A44"/>
                </a:solidFill>
                <a:latin typeface="Calibri"/>
              </a:rPr>
              <a:t>Erklären (3 Blöcke)</a:t>
            </a:r>
          </a:p>
        </p:txBody>
      </p:sp>
      <p:sp>
        <p:nvSpPr>
          <p:cNvPr id="25" name="Rectangle 24"/>
          <p:cNvSpPr/>
          <p:nvPr/>
        </p:nvSpPr>
        <p:spPr>
          <a:xfrm>
            <a:off x="5402275" y="2377440"/>
            <a:ext cx="2675534" cy="10972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02275" y="2377440"/>
            <a:ext cx="2675534" cy="1097280"/>
          </a:xfrm>
          <a:prstGeom prst="rect">
            <a:avLst/>
          </a:prstGeom>
          <a:noFill/>
        </p:spPr>
        <p:txBody>
          <a:bodyPr wrap="square" anchor="ctr" tIns="36576" bIns="36576">
            <a:spAutoFit/>
          </a:bodyPr>
          <a:lstStyle/>
          <a:p>
            <a:pPr algn="ctr"/>
            <a:r>
              <a:rPr sz="3200" b="1">
                <a:solidFill>
                  <a:srgbClr val="1F2A44"/>
                </a:solidFill>
                <a:latin typeface="Calibri"/>
              </a:rPr>
              <a:t>12</a:t>
            </a:r>
          </a:p>
        </p:txBody>
      </p:sp>
      <p:sp>
        <p:nvSpPr>
          <p:cNvPr id="27" name="TextBox 26"/>
          <p:cNvSpPr txBox="1"/>
          <p:nvPr/>
        </p:nvSpPr>
        <p:spPr>
          <a:xfrm>
            <a:off x="4853635" y="3611880"/>
            <a:ext cx="3818534" cy="502920"/>
          </a:xfrm>
          <a:prstGeom prst="rect">
            <a:avLst/>
          </a:prstGeom>
          <a:noFill/>
        </p:spPr>
        <p:txBody>
          <a:bodyPr wrap="square" anchor="t" tIns="36576" bIns="36576">
            <a:spAutoFit/>
          </a:bodyPr>
          <a:lstStyle/>
          <a:p>
            <a:pPr algn="ctr"/>
            <a:r>
              <a:rPr sz="2400" b="1">
                <a:solidFill>
                  <a:srgbClr val="1F2A44"/>
                </a:solidFill>
                <a:latin typeface="Calibri"/>
              </a:rPr>
              <a:t>Üben</a:t>
            </a:r>
          </a:p>
        </p:txBody>
      </p:sp>
      <p:sp>
        <p:nvSpPr>
          <p:cNvPr id="28" name="Rectangle 27"/>
          <p:cNvSpPr/>
          <p:nvPr/>
        </p:nvSpPr>
        <p:spPr>
          <a:xfrm>
            <a:off x="8123529" y="2377440"/>
            <a:ext cx="1541678" cy="1097280"/>
          </a:xfrm>
          <a:prstGeom prst="rect">
            <a:avLst/>
          </a:prstGeom>
          <a:solidFill>
            <a:srgbClr val="34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123529" y="2377440"/>
            <a:ext cx="1541678" cy="1097280"/>
          </a:xfrm>
          <a:prstGeom prst="rect">
            <a:avLst/>
          </a:prstGeom>
          <a:noFill/>
        </p:spPr>
        <p:txBody>
          <a:bodyPr wrap="square" anchor="ctr" tIns="36576" bIns="36576">
            <a:spAutoFit/>
          </a:bodyPr>
          <a:lstStyle/>
          <a:p>
            <a:pPr algn="ctr"/>
            <a:r>
              <a:rPr sz="3200" b="1">
                <a:solidFill>
                  <a:srgbClr val="FFFFFF"/>
                </a:solidFill>
                <a:latin typeface="Calibri"/>
              </a:rPr>
              <a:t>7</a:t>
            </a:r>
          </a:p>
        </p:txBody>
      </p:sp>
      <p:sp>
        <p:nvSpPr>
          <p:cNvPr id="30" name="TextBox 29"/>
          <p:cNvSpPr txBox="1"/>
          <p:nvPr/>
        </p:nvSpPr>
        <p:spPr>
          <a:xfrm>
            <a:off x="7574889" y="4160520"/>
            <a:ext cx="2684678" cy="502920"/>
          </a:xfrm>
          <a:prstGeom prst="rect">
            <a:avLst/>
          </a:prstGeom>
          <a:noFill/>
        </p:spPr>
        <p:txBody>
          <a:bodyPr wrap="square" anchor="t" tIns="36576" bIns="36576">
            <a:spAutoFit/>
          </a:bodyPr>
          <a:lstStyle/>
          <a:p>
            <a:pPr algn="ctr"/>
            <a:r>
              <a:rPr sz="2400" b="1">
                <a:solidFill>
                  <a:srgbClr val="1F2A44"/>
                </a:solidFill>
                <a:latin typeface="Calibri"/>
              </a:rPr>
              <a:t>Besprechen</a:t>
            </a:r>
          </a:p>
        </p:txBody>
      </p:sp>
      <p:sp>
        <p:nvSpPr>
          <p:cNvPr id="31" name="Rectangle 30"/>
          <p:cNvSpPr/>
          <p:nvPr/>
        </p:nvSpPr>
        <p:spPr>
          <a:xfrm>
            <a:off x="9710928" y="2377440"/>
            <a:ext cx="1088136" cy="1097280"/>
          </a:xfrm>
          <a:prstGeom prst="rect">
            <a:avLst/>
          </a:prstGeom>
          <a:solidFill>
            <a:srgbClr val="34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710928" y="2377440"/>
            <a:ext cx="1088136" cy="1097280"/>
          </a:xfrm>
          <a:prstGeom prst="rect">
            <a:avLst/>
          </a:prstGeom>
          <a:noFill/>
        </p:spPr>
        <p:txBody>
          <a:bodyPr wrap="square" anchor="ctr" tIns="36576" bIns="36576">
            <a:spAutoFit/>
          </a:bodyPr>
          <a:lstStyle/>
          <a:p>
            <a:pPr algn="ctr"/>
            <a:r>
              <a:rPr sz="3200" b="1">
                <a:solidFill>
                  <a:srgbClr val="FFFFFF"/>
                </a:solidFill>
                <a:latin typeface="Calibri"/>
              </a:rPr>
              <a:t>5</a:t>
            </a:r>
          </a:p>
        </p:txBody>
      </p:sp>
      <p:sp>
        <p:nvSpPr>
          <p:cNvPr id="33" name="TextBox 32"/>
          <p:cNvSpPr txBox="1"/>
          <p:nvPr/>
        </p:nvSpPr>
        <p:spPr>
          <a:xfrm>
            <a:off x="9162288" y="3611880"/>
            <a:ext cx="2231136" cy="502920"/>
          </a:xfrm>
          <a:prstGeom prst="rect">
            <a:avLst/>
          </a:prstGeom>
          <a:noFill/>
        </p:spPr>
        <p:txBody>
          <a:bodyPr wrap="square" anchor="t" tIns="36576" bIns="36576">
            <a:spAutoFit/>
          </a:bodyPr>
          <a:lstStyle/>
          <a:p>
            <a:pPr algn="ctr"/>
            <a:r>
              <a:rPr sz="2400" b="1">
                <a:solidFill>
                  <a:srgbClr val="1F2A44"/>
                </a:solidFill>
                <a:latin typeface="Calibri"/>
              </a:rPr>
              <a:t>Abschluss</a:t>
            </a:r>
          </a:p>
        </p:txBody>
      </p:sp>
      <p:sp>
        <p:nvSpPr>
          <p:cNvPr id="34" name="TextBox 33"/>
          <p:cNvSpPr txBox="1"/>
          <p:nvPr/>
        </p:nvSpPr>
        <p:spPr>
          <a:xfrm>
            <a:off x="640080" y="5029200"/>
            <a:ext cx="10881360" cy="731520"/>
          </a:xfrm>
          <a:prstGeom prst="rect">
            <a:avLst/>
          </a:prstGeom>
          <a:noFill/>
        </p:spPr>
        <p:txBody>
          <a:bodyPr wrap="square" anchor="t" tIns="36576" bIns="36576">
            <a:spAutoFit/>
          </a:bodyPr>
          <a:lstStyle/>
          <a:p>
            <a:pPr algn="l"/>
            <a:r>
              <a:rPr sz="2800" b="0">
                <a:solidFill>
                  <a:srgbClr val="4A5568"/>
                </a:solidFill>
                <a:latin typeface="Calibri"/>
              </a:rPr>
              <a:t>Zeit in Minuten · Handy bereithalten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square" anchor="ctr" tIns="36576" bIns="36576">
            <a:spAutoFit/>
          </a:bodyPr>
          <a:lstStyle/>
          <a:p>
            <a:pPr algn="ctr"/>
            <a:r>
              <a:rPr sz="2400" b="1">
                <a:solidFill>
                  <a:srgbClr val="1F2A44"/>
                </a:solidFill>
                <a:latin typeface="Calibri"/>
              </a:rPr>
              <a:t>Einstieg</a:t>
            </a:r>
          </a:p>
        </p:txBody>
      </p:sp>
      <p:sp>
        <p:nvSpPr>
          <p:cNvPr id="5" name="Rectangle 4"/>
          <p:cNvSpPr/>
          <p:nvPr/>
        </p:nvSpPr>
        <p:spPr>
          <a:xfrm>
            <a:off x="1741670"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1</a:t>
            </a:r>
          </a:p>
        </p:txBody>
      </p:sp>
      <p:sp>
        <p:nvSpPr>
          <p:cNvPr id="7" name="Rectangle 6"/>
          <p:cNvSpPr/>
          <p:nvPr/>
        </p:nvSpPr>
        <p:spPr>
          <a:xfrm>
            <a:off x="3483341"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3341"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2</a:t>
            </a:r>
          </a:p>
        </p:txBody>
      </p:sp>
      <p:sp>
        <p:nvSpPr>
          <p:cNvPr id="9" name="Rectangle 8"/>
          <p:cNvSpPr/>
          <p:nvPr/>
        </p:nvSpPr>
        <p:spPr>
          <a:xfrm>
            <a:off x="5225012"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25012"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3</a:t>
            </a:r>
          </a:p>
        </p:txBody>
      </p:sp>
      <p:sp>
        <p:nvSpPr>
          <p:cNvPr id="11" name="Rectangle 10"/>
          <p:cNvSpPr/>
          <p:nvPr/>
        </p:nvSpPr>
        <p:spPr>
          <a:xfrm>
            <a:off x="6966682"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66682" y="0"/>
            <a:ext cx="1741670" cy="457200"/>
          </a:xfrm>
          <a:prstGeom prst="rect">
            <a:avLst/>
          </a:prstGeom>
          <a:noFill/>
        </p:spPr>
        <p:txBody>
          <a:bodyPr wrap="square" anchor="ctr" tIns="36576" bIns="36576">
            <a:spAutoFit/>
          </a:bodyPr>
          <a:lstStyle/>
          <a:p>
            <a:pPr algn="ctr"/>
            <a:r>
              <a:rPr sz="2400" b="0">
                <a:solidFill>
                  <a:srgbClr val="FFFFFF"/>
                </a:solidFill>
                <a:latin typeface="Calibri"/>
              </a:rPr>
              <a:t>Üben</a:t>
            </a:r>
          </a:p>
        </p:txBody>
      </p:sp>
      <p:sp>
        <p:nvSpPr>
          <p:cNvPr id="13" name="Rectangle 12"/>
          <p:cNvSpPr/>
          <p:nvPr/>
        </p:nvSpPr>
        <p:spPr>
          <a:xfrm>
            <a:off x="8708353"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8353" y="0"/>
            <a:ext cx="1741670" cy="457200"/>
          </a:xfrm>
          <a:prstGeom prst="rect">
            <a:avLst/>
          </a:prstGeom>
          <a:noFill/>
        </p:spPr>
        <p:txBody>
          <a:bodyPr wrap="square" anchor="ctr" tIns="36576" bIns="36576">
            <a:spAutoFit/>
          </a:bodyPr>
          <a:lstStyle/>
          <a:p>
            <a:pPr algn="ctr"/>
            <a:r>
              <a:rPr sz="2400" b="0">
                <a:solidFill>
                  <a:srgbClr val="FFFFFF"/>
                </a:solidFill>
                <a:latin typeface="Calibri"/>
              </a:rPr>
              <a:t>Besprechen</a:t>
            </a:r>
          </a:p>
        </p:txBody>
      </p:sp>
      <p:sp>
        <p:nvSpPr>
          <p:cNvPr id="15" name="Rectangle 14"/>
          <p:cNvSpPr/>
          <p:nvPr/>
        </p:nvSpPr>
        <p:spPr>
          <a:xfrm>
            <a:off x="10450024"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50024" y="0"/>
            <a:ext cx="1741670" cy="457200"/>
          </a:xfrm>
          <a:prstGeom prst="rect">
            <a:avLst/>
          </a:prstGeom>
          <a:noFill/>
        </p:spPr>
        <p:txBody>
          <a:bodyPr wrap="square" anchor="ctr" tIns="36576" bIns="36576">
            <a:spAutoFit/>
          </a:bodyPr>
          <a:lstStyle/>
          <a:p>
            <a:pPr algn="ctr"/>
            <a:r>
              <a:rPr sz="2400" b="0">
                <a:solidFill>
                  <a:srgbClr val="FFFFFF"/>
                </a:solidFill>
                <a:latin typeface="Calibri"/>
              </a:rPr>
              <a:t>Abschluss</a:t>
            </a:r>
          </a:p>
        </p:txBody>
      </p:sp>
      <p:sp>
        <p:nvSpPr>
          <p:cNvPr id="17" name="Titel"/>
          <p:cNvSpPr txBox="1"/>
          <p:nvPr/>
        </p:nvSpPr>
        <p:spPr>
          <a:xfrm>
            <a:off x="548640" y="530352"/>
            <a:ext cx="11155680" cy="868680"/>
          </a:xfrm>
          <a:prstGeom prst="rect">
            <a:avLst/>
          </a:prstGeom>
          <a:noFill/>
        </p:spPr>
        <p:txBody>
          <a:bodyPr wrap="square" anchor="ctr" tIns="36576" bIns="36576">
            <a:spAutoFit/>
          </a:bodyPr>
          <a:lstStyle/>
          <a:p>
            <a:pPr algn="l"/>
            <a:r>
              <a:rPr sz="4000" b="1">
                <a:solidFill>
                  <a:srgbClr val="1F2A44"/>
                </a:solidFill>
                <a:latin typeface="Calibri"/>
              </a:rPr>
              <a:t>Was wisst ihr schon?</a:t>
            </a:r>
          </a:p>
        </p:txBody>
      </p:sp>
      <p:sp>
        <p:nvSpPr>
          <p:cNvPr id="18" name="Rectangle 17"/>
          <p:cNvSpPr/>
          <p:nvPr/>
        </p:nvSpPr>
        <p:spPr>
          <a:xfrm>
            <a:off x="640080" y="1371600"/>
            <a:ext cx="1463040" cy="6400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 y="1737360"/>
            <a:ext cx="10881360" cy="128016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0080" y="1737360"/>
            <a:ext cx="109728" cy="1280160"/>
          </a:xfrm>
          <a:prstGeom prst="rect">
            <a:avLst/>
          </a:prstGeom>
          <a:solidFill>
            <a:srgbClr val="34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1810512"/>
            <a:ext cx="10469880" cy="594360"/>
          </a:xfrm>
          <a:prstGeom prst="rect">
            <a:avLst/>
          </a:prstGeom>
          <a:noFill/>
        </p:spPr>
        <p:txBody>
          <a:bodyPr wrap="square" anchor="t" tIns="36576" bIns="36576">
            <a:spAutoFit/>
          </a:bodyPr>
          <a:lstStyle/>
          <a:p>
            <a:pPr algn="l"/>
            <a:r>
              <a:rPr sz="3200" b="1">
                <a:solidFill>
                  <a:srgbClr val="1F2A44"/>
                </a:solidFill>
                <a:latin typeface="Calibri"/>
              </a:rPr>
              <a:t>Vier Fragen</a:t>
            </a:r>
          </a:p>
        </p:txBody>
      </p:sp>
      <p:sp>
        <p:nvSpPr>
          <p:cNvPr id="22" name="TextBox 21"/>
          <p:cNvSpPr txBox="1"/>
          <p:nvPr/>
        </p:nvSpPr>
        <p:spPr>
          <a:xfrm>
            <a:off x="914400" y="2359152"/>
            <a:ext cx="10469880" cy="612647"/>
          </a:xfrm>
          <a:prstGeom prst="rect">
            <a:avLst/>
          </a:prstGeom>
          <a:noFill/>
        </p:spPr>
        <p:txBody>
          <a:bodyPr wrap="square" anchor="t" tIns="36576" bIns="36576">
            <a:spAutoFit/>
          </a:bodyPr>
          <a:lstStyle/>
          <a:p>
            <a:pPr algn="l"/>
            <a:r>
              <a:rPr sz="2800" b="0">
                <a:solidFill>
                  <a:srgbClr val="1F2A44"/>
                </a:solidFill>
                <a:latin typeface="Calibri"/>
              </a:rPr>
              <a:t>jede Frage einzeln</a:t>
            </a:r>
          </a:p>
        </p:txBody>
      </p:sp>
      <p:sp>
        <p:nvSpPr>
          <p:cNvPr id="23" name="Rectangle 22"/>
          <p:cNvSpPr/>
          <p:nvPr/>
        </p:nvSpPr>
        <p:spPr>
          <a:xfrm>
            <a:off x="640080" y="3200400"/>
            <a:ext cx="10881360" cy="128016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0080" y="3200400"/>
            <a:ext cx="109728" cy="1280160"/>
          </a:xfrm>
          <a:prstGeom prst="rect">
            <a:avLst/>
          </a:prstGeom>
          <a:solidFill>
            <a:srgbClr val="34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3273552"/>
            <a:ext cx="10469880" cy="594360"/>
          </a:xfrm>
          <a:prstGeom prst="rect">
            <a:avLst/>
          </a:prstGeom>
          <a:noFill/>
        </p:spPr>
        <p:txBody>
          <a:bodyPr wrap="square" anchor="t" tIns="36576" bIns="36576">
            <a:spAutoFit/>
          </a:bodyPr>
          <a:lstStyle/>
          <a:p>
            <a:pPr algn="l"/>
            <a:r>
              <a:rPr sz="3200" b="1">
                <a:solidFill>
                  <a:srgbClr val="1F2A44"/>
                </a:solidFill>
                <a:latin typeface="Calibri"/>
              </a:rPr>
              <a:t>Ihr antwortet frei</a:t>
            </a:r>
          </a:p>
        </p:txBody>
      </p:sp>
      <p:sp>
        <p:nvSpPr>
          <p:cNvPr id="26" name="TextBox 25"/>
          <p:cNvSpPr txBox="1"/>
          <p:nvPr/>
        </p:nvSpPr>
        <p:spPr>
          <a:xfrm>
            <a:off x="914400" y="3822191"/>
            <a:ext cx="10469880" cy="612648"/>
          </a:xfrm>
          <a:prstGeom prst="rect">
            <a:avLst/>
          </a:prstGeom>
          <a:noFill/>
        </p:spPr>
        <p:txBody>
          <a:bodyPr wrap="square" anchor="t" tIns="36576" bIns="36576">
            <a:spAutoFit/>
          </a:bodyPr>
          <a:lstStyle/>
          <a:p>
            <a:pPr algn="l"/>
            <a:r>
              <a:rPr sz="2800" b="0">
                <a:solidFill>
                  <a:srgbClr val="1F2A44"/>
                </a:solidFill>
                <a:latin typeface="Calibri"/>
              </a:rPr>
              <a:t>Zuruf oder Handzeichen</a:t>
            </a:r>
          </a:p>
        </p:txBody>
      </p:sp>
      <p:sp>
        <p:nvSpPr>
          <p:cNvPr id="27" name="Rectangle 26"/>
          <p:cNvSpPr/>
          <p:nvPr/>
        </p:nvSpPr>
        <p:spPr>
          <a:xfrm>
            <a:off x="640080" y="4663440"/>
            <a:ext cx="10881360" cy="1280160"/>
          </a:xfrm>
          <a:prstGeom prst="rect">
            <a:avLst/>
          </a:prstGeom>
          <a:solidFill>
            <a:srgbClr val="FFF0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40080" y="4663440"/>
            <a:ext cx="109728" cy="128016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4736592"/>
            <a:ext cx="10469880" cy="594360"/>
          </a:xfrm>
          <a:prstGeom prst="rect">
            <a:avLst/>
          </a:prstGeom>
          <a:noFill/>
        </p:spPr>
        <p:txBody>
          <a:bodyPr wrap="square" anchor="t" tIns="36576" bIns="36576">
            <a:spAutoFit/>
          </a:bodyPr>
          <a:lstStyle/>
          <a:p>
            <a:pPr algn="l"/>
            <a:r>
              <a:rPr sz="3200" b="1">
                <a:solidFill>
                  <a:srgbClr val="1F2A44"/>
                </a:solidFill>
                <a:latin typeface="Calibri"/>
              </a:rPr>
              <a:t>Wir schreiben mit</a:t>
            </a:r>
          </a:p>
        </p:txBody>
      </p:sp>
      <p:sp>
        <p:nvSpPr>
          <p:cNvPr id="30" name="TextBox 29"/>
          <p:cNvSpPr txBox="1"/>
          <p:nvPr/>
        </p:nvSpPr>
        <p:spPr>
          <a:xfrm>
            <a:off x="914400" y="5285231"/>
            <a:ext cx="10469880" cy="612648"/>
          </a:xfrm>
          <a:prstGeom prst="rect">
            <a:avLst/>
          </a:prstGeom>
          <a:noFill/>
        </p:spPr>
        <p:txBody>
          <a:bodyPr wrap="square" anchor="t" tIns="36576" bIns="36576">
            <a:spAutoFit/>
          </a:bodyPr>
          <a:lstStyle/>
          <a:p>
            <a:pPr algn="l"/>
            <a:r>
              <a:rPr sz="2800" b="0">
                <a:solidFill>
                  <a:srgbClr val="1F2A44"/>
                </a:solidFill>
                <a:latin typeface="Calibri"/>
              </a:rPr>
              <a:t>Tafel/Flipchart, noch keine Auflösung</a:t>
            </a:r>
          </a:p>
        </p:txBody>
      </p:sp>
      <p:sp>
        <p:nvSpPr>
          <p:cNvPr id="31" name="Rounded Rectangle 30"/>
          <p:cNvSpPr/>
          <p:nvPr/>
        </p:nvSpPr>
        <p:spPr>
          <a:xfrm>
            <a:off x="502920" y="6327648"/>
            <a:ext cx="1344168" cy="420624"/>
          </a:xfrm>
          <a:prstGeom prst="roundRect">
            <a:avLst>
              <a:gd name="adj" fmla="val 4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2920" y="6327648"/>
            <a:ext cx="1344168" cy="420624"/>
          </a:xfrm>
          <a:prstGeom prst="rect">
            <a:avLst/>
          </a:prstGeom>
          <a:noFill/>
        </p:spPr>
        <p:txBody>
          <a:bodyPr wrap="square" anchor="ctr" tIns="36576" bIns="36576">
            <a:spAutoFit/>
          </a:bodyPr>
          <a:lstStyle/>
          <a:p>
            <a:pPr algn="ctr"/>
            <a:r>
              <a:rPr sz="2400" b="1">
                <a:solidFill>
                  <a:srgbClr val="FFFFFF"/>
                </a:solidFill>
                <a:latin typeface="Calibri"/>
              </a:rPr>
              <a:t>Plenum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square" anchor="ctr" tIns="36576" bIns="36576">
            <a:spAutoFit/>
          </a:bodyPr>
          <a:lstStyle/>
          <a:p>
            <a:pPr algn="ctr"/>
            <a:r>
              <a:rPr sz="2400" b="1">
                <a:solidFill>
                  <a:srgbClr val="1F2A44"/>
                </a:solidFill>
                <a:latin typeface="Calibri"/>
              </a:rPr>
              <a:t>Einstieg</a:t>
            </a:r>
          </a:p>
        </p:txBody>
      </p:sp>
      <p:sp>
        <p:nvSpPr>
          <p:cNvPr id="5" name="Rectangle 4"/>
          <p:cNvSpPr/>
          <p:nvPr/>
        </p:nvSpPr>
        <p:spPr>
          <a:xfrm>
            <a:off x="1741670"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1</a:t>
            </a:r>
          </a:p>
        </p:txBody>
      </p:sp>
      <p:sp>
        <p:nvSpPr>
          <p:cNvPr id="7" name="Rectangle 6"/>
          <p:cNvSpPr/>
          <p:nvPr/>
        </p:nvSpPr>
        <p:spPr>
          <a:xfrm>
            <a:off x="3483341"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3341"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2</a:t>
            </a:r>
          </a:p>
        </p:txBody>
      </p:sp>
      <p:sp>
        <p:nvSpPr>
          <p:cNvPr id="9" name="Rectangle 8"/>
          <p:cNvSpPr/>
          <p:nvPr/>
        </p:nvSpPr>
        <p:spPr>
          <a:xfrm>
            <a:off x="5225012"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25012"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3</a:t>
            </a:r>
          </a:p>
        </p:txBody>
      </p:sp>
      <p:sp>
        <p:nvSpPr>
          <p:cNvPr id="11" name="Rectangle 10"/>
          <p:cNvSpPr/>
          <p:nvPr/>
        </p:nvSpPr>
        <p:spPr>
          <a:xfrm>
            <a:off x="6966682"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66682" y="0"/>
            <a:ext cx="1741670" cy="457200"/>
          </a:xfrm>
          <a:prstGeom prst="rect">
            <a:avLst/>
          </a:prstGeom>
          <a:noFill/>
        </p:spPr>
        <p:txBody>
          <a:bodyPr wrap="square" anchor="ctr" tIns="36576" bIns="36576">
            <a:spAutoFit/>
          </a:bodyPr>
          <a:lstStyle/>
          <a:p>
            <a:pPr algn="ctr"/>
            <a:r>
              <a:rPr sz="2400" b="0">
                <a:solidFill>
                  <a:srgbClr val="FFFFFF"/>
                </a:solidFill>
                <a:latin typeface="Calibri"/>
              </a:rPr>
              <a:t>Üben</a:t>
            </a:r>
          </a:p>
        </p:txBody>
      </p:sp>
      <p:sp>
        <p:nvSpPr>
          <p:cNvPr id="13" name="Rectangle 12"/>
          <p:cNvSpPr/>
          <p:nvPr/>
        </p:nvSpPr>
        <p:spPr>
          <a:xfrm>
            <a:off x="8708353"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8353" y="0"/>
            <a:ext cx="1741670" cy="457200"/>
          </a:xfrm>
          <a:prstGeom prst="rect">
            <a:avLst/>
          </a:prstGeom>
          <a:noFill/>
        </p:spPr>
        <p:txBody>
          <a:bodyPr wrap="square" anchor="ctr" tIns="36576" bIns="36576">
            <a:spAutoFit/>
          </a:bodyPr>
          <a:lstStyle/>
          <a:p>
            <a:pPr algn="ctr"/>
            <a:r>
              <a:rPr sz="2400" b="0">
                <a:solidFill>
                  <a:srgbClr val="FFFFFF"/>
                </a:solidFill>
                <a:latin typeface="Calibri"/>
              </a:rPr>
              <a:t>Besprechen</a:t>
            </a:r>
          </a:p>
        </p:txBody>
      </p:sp>
      <p:sp>
        <p:nvSpPr>
          <p:cNvPr id="15" name="Rectangle 14"/>
          <p:cNvSpPr/>
          <p:nvPr/>
        </p:nvSpPr>
        <p:spPr>
          <a:xfrm>
            <a:off x="10450024"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50024" y="0"/>
            <a:ext cx="1741670" cy="457200"/>
          </a:xfrm>
          <a:prstGeom prst="rect">
            <a:avLst/>
          </a:prstGeom>
          <a:noFill/>
        </p:spPr>
        <p:txBody>
          <a:bodyPr wrap="square" anchor="ctr" tIns="36576" bIns="36576">
            <a:spAutoFit/>
          </a:bodyPr>
          <a:lstStyle/>
          <a:p>
            <a:pPr algn="ctr"/>
            <a:r>
              <a:rPr sz="2400" b="0">
                <a:solidFill>
                  <a:srgbClr val="FFFFFF"/>
                </a:solidFill>
                <a:latin typeface="Calibri"/>
              </a:rPr>
              <a:t>Abschluss</a:t>
            </a:r>
          </a:p>
        </p:txBody>
      </p:sp>
      <p:pic>
        <p:nvPicPr>
          <p:cNvPr id="17" name="Picture 16" descr="Fragezeichen-Symbol"/>
          <p:cNvPicPr>
            <a:picLocks noChangeAspect="1"/>
          </p:cNvPicPr>
          <p:nvPr/>
        </p:nvPicPr>
        <p:blipFill>
          <a:blip r:embed="rId3"/>
          <a:stretch>
            <a:fillRect/>
          </a:stretch>
        </p:blipFill>
        <p:spPr>
          <a:xfrm>
            <a:off x="640080" y="914400"/>
            <a:ext cx="1234440" cy="1234440"/>
          </a:xfrm>
          <a:prstGeom prst="rect">
            <a:avLst/>
          </a:prstGeom>
        </p:spPr>
      </p:pic>
      <p:sp>
        <p:nvSpPr>
          <p:cNvPr id="18" name="Frage"/>
          <p:cNvSpPr txBox="1"/>
          <p:nvPr/>
        </p:nvSpPr>
        <p:spPr>
          <a:xfrm>
            <a:off x="2103120" y="914400"/>
            <a:ext cx="9601200" cy="3566160"/>
          </a:xfrm>
          <a:prstGeom prst="rect">
            <a:avLst/>
          </a:prstGeom>
          <a:noFill/>
        </p:spPr>
        <p:txBody>
          <a:bodyPr wrap="square" anchor="ctr" tIns="36576" bIns="36576">
            <a:spAutoFit/>
          </a:bodyPr>
          <a:lstStyle/>
          <a:p>
            <a:pPr algn="l"/>
            <a:r>
              <a:rPr sz="4000" b="1">
                <a:solidFill>
                  <a:srgbClr val="1F2A44"/>
                </a:solidFill>
                <a:latin typeface="Calibri"/>
              </a:rPr>
              <a:t>Wie lange darf die Probezeit höchstens dauern?</a:t>
            </a:r>
          </a:p>
        </p:txBody>
      </p:sp>
      <p:sp>
        <p:nvSpPr>
          <p:cNvPr id="19" name="Rounded Rectangle 18"/>
          <p:cNvSpPr/>
          <p:nvPr/>
        </p:nvSpPr>
        <p:spPr>
          <a:xfrm>
            <a:off x="502920" y="6327648"/>
            <a:ext cx="1344168" cy="420624"/>
          </a:xfrm>
          <a:prstGeom prst="roundRect">
            <a:avLst>
              <a:gd name="adj" fmla="val 4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6327648"/>
            <a:ext cx="1344168" cy="420624"/>
          </a:xfrm>
          <a:prstGeom prst="rect">
            <a:avLst/>
          </a:prstGeom>
          <a:noFill/>
        </p:spPr>
        <p:txBody>
          <a:bodyPr wrap="square" anchor="ctr" tIns="36576" bIns="36576">
            <a:spAutoFit/>
          </a:bodyPr>
          <a:lstStyle/>
          <a:p>
            <a:pPr algn="ctr"/>
            <a:r>
              <a:rPr sz="2400" b="1">
                <a:solidFill>
                  <a:srgbClr val="FFFFFF"/>
                </a:solidFill>
                <a:latin typeface="Calibri"/>
              </a:rPr>
              <a:t>Plenum</a:t>
            </a:r>
          </a:p>
        </p:txBody>
      </p:sp>
      <p:sp>
        <p:nvSpPr>
          <p:cNvPr id="21" name="TextBox 20"/>
          <p:cNvSpPr txBox="1"/>
          <p:nvPr/>
        </p:nvSpPr>
        <p:spPr>
          <a:xfrm>
            <a:off x="640080" y="4846320"/>
            <a:ext cx="10881360" cy="640080"/>
          </a:xfrm>
          <a:prstGeom prst="rect">
            <a:avLst/>
          </a:prstGeom>
          <a:noFill/>
        </p:spPr>
        <p:txBody>
          <a:bodyPr wrap="square" anchor="t" tIns="36576" bIns="36576">
            <a:spAutoFit/>
          </a:bodyPr>
          <a:lstStyle/>
          <a:p>
            <a:pPr algn="l"/>
            <a:r>
              <a:rPr sz="2800" b="1">
                <a:solidFill>
                  <a:srgbClr val="7A4B00"/>
                </a:solidFill>
                <a:latin typeface="Calibri"/>
              </a:rPr>
              <a:t>Frage a von 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square" anchor="ctr" tIns="36576" bIns="36576">
            <a:spAutoFit/>
          </a:bodyPr>
          <a:lstStyle/>
          <a:p>
            <a:pPr algn="ctr"/>
            <a:r>
              <a:rPr sz="2400" b="1">
                <a:solidFill>
                  <a:srgbClr val="1F2A44"/>
                </a:solidFill>
                <a:latin typeface="Calibri"/>
              </a:rPr>
              <a:t>Einstieg</a:t>
            </a:r>
          </a:p>
        </p:txBody>
      </p:sp>
      <p:sp>
        <p:nvSpPr>
          <p:cNvPr id="5" name="Rectangle 4"/>
          <p:cNvSpPr/>
          <p:nvPr/>
        </p:nvSpPr>
        <p:spPr>
          <a:xfrm>
            <a:off x="1741670"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1</a:t>
            </a:r>
          </a:p>
        </p:txBody>
      </p:sp>
      <p:sp>
        <p:nvSpPr>
          <p:cNvPr id="7" name="Rectangle 6"/>
          <p:cNvSpPr/>
          <p:nvPr/>
        </p:nvSpPr>
        <p:spPr>
          <a:xfrm>
            <a:off x="3483341"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3341"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2</a:t>
            </a:r>
          </a:p>
        </p:txBody>
      </p:sp>
      <p:sp>
        <p:nvSpPr>
          <p:cNvPr id="9" name="Rectangle 8"/>
          <p:cNvSpPr/>
          <p:nvPr/>
        </p:nvSpPr>
        <p:spPr>
          <a:xfrm>
            <a:off x="5225012"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25012"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3</a:t>
            </a:r>
          </a:p>
        </p:txBody>
      </p:sp>
      <p:sp>
        <p:nvSpPr>
          <p:cNvPr id="11" name="Rectangle 10"/>
          <p:cNvSpPr/>
          <p:nvPr/>
        </p:nvSpPr>
        <p:spPr>
          <a:xfrm>
            <a:off x="6966682"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66682" y="0"/>
            <a:ext cx="1741670" cy="457200"/>
          </a:xfrm>
          <a:prstGeom prst="rect">
            <a:avLst/>
          </a:prstGeom>
          <a:noFill/>
        </p:spPr>
        <p:txBody>
          <a:bodyPr wrap="square" anchor="ctr" tIns="36576" bIns="36576">
            <a:spAutoFit/>
          </a:bodyPr>
          <a:lstStyle/>
          <a:p>
            <a:pPr algn="ctr"/>
            <a:r>
              <a:rPr sz="2400" b="0">
                <a:solidFill>
                  <a:srgbClr val="FFFFFF"/>
                </a:solidFill>
                <a:latin typeface="Calibri"/>
              </a:rPr>
              <a:t>Üben</a:t>
            </a:r>
          </a:p>
        </p:txBody>
      </p:sp>
      <p:sp>
        <p:nvSpPr>
          <p:cNvPr id="13" name="Rectangle 12"/>
          <p:cNvSpPr/>
          <p:nvPr/>
        </p:nvSpPr>
        <p:spPr>
          <a:xfrm>
            <a:off x="8708353"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8353" y="0"/>
            <a:ext cx="1741670" cy="457200"/>
          </a:xfrm>
          <a:prstGeom prst="rect">
            <a:avLst/>
          </a:prstGeom>
          <a:noFill/>
        </p:spPr>
        <p:txBody>
          <a:bodyPr wrap="square" anchor="ctr" tIns="36576" bIns="36576">
            <a:spAutoFit/>
          </a:bodyPr>
          <a:lstStyle/>
          <a:p>
            <a:pPr algn="ctr"/>
            <a:r>
              <a:rPr sz="2400" b="0">
                <a:solidFill>
                  <a:srgbClr val="FFFFFF"/>
                </a:solidFill>
                <a:latin typeface="Calibri"/>
              </a:rPr>
              <a:t>Besprechen</a:t>
            </a:r>
          </a:p>
        </p:txBody>
      </p:sp>
      <p:sp>
        <p:nvSpPr>
          <p:cNvPr id="15" name="Rectangle 14"/>
          <p:cNvSpPr/>
          <p:nvPr/>
        </p:nvSpPr>
        <p:spPr>
          <a:xfrm>
            <a:off x="10450024"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50024" y="0"/>
            <a:ext cx="1741670" cy="457200"/>
          </a:xfrm>
          <a:prstGeom prst="rect">
            <a:avLst/>
          </a:prstGeom>
          <a:noFill/>
        </p:spPr>
        <p:txBody>
          <a:bodyPr wrap="square" anchor="ctr" tIns="36576" bIns="36576">
            <a:spAutoFit/>
          </a:bodyPr>
          <a:lstStyle/>
          <a:p>
            <a:pPr algn="ctr"/>
            <a:r>
              <a:rPr sz="2400" b="0">
                <a:solidFill>
                  <a:srgbClr val="FFFFFF"/>
                </a:solidFill>
                <a:latin typeface="Calibri"/>
              </a:rPr>
              <a:t>Abschluss</a:t>
            </a:r>
          </a:p>
        </p:txBody>
      </p:sp>
      <p:pic>
        <p:nvPicPr>
          <p:cNvPr id="17" name="Picture 16" descr="Fragezeichen-Symbol"/>
          <p:cNvPicPr>
            <a:picLocks noChangeAspect="1"/>
          </p:cNvPicPr>
          <p:nvPr/>
        </p:nvPicPr>
        <p:blipFill>
          <a:blip r:embed="rId3"/>
          <a:stretch>
            <a:fillRect/>
          </a:stretch>
        </p:blipFill>
        <p:spPr>
          <a:xfrm>
            <a:off x="640080" y="914400"/>
            <a:ext cx="1234440" cy="1234440"/>
          </a:xfrm>
          <a:prstGeom prst="rect">
            <a:avLst/>
          </a:prstGeom>
        </p:spPr>
      </p:pic>
      <p:sp>
        <p:nvSpPr>
          <p:cNvPr id="18" name="Frage"/>
          <p:cNvSpPr txBox="1"/>
          <p:nvPr/>
        </p:nvSpPr>
        <p:spPr>
          <a:xfrm>
            <a:off x="2103120" y="914400"/>
            <a:ext cx="9601200" cy="3566160"/>
          </a:xfrm>
          <a:prstGeom prst="rect">
            <a:avLst/>
          </a:prstGeom>
          <a:noFill/>
        </p:spPr>
        <p:txBody>
          <a:bodyPr wrap="square" anchor="ctr" tIns="36576" bIns="36576">
            <a:spAutoFit/>
          </a:bodyPr>
          <a:lstStyle/>
          <a:p>
            <a:pPr algn="l"/>
            <a:r>
              <a:rPr sz="4000" b="1">
                <a:solidFill>
                  <a:srgbClr val="1F2A44"/>
                </a:solidFill>
                <a:latin typeface="Calibri"/>
              </a:rPr>
              <a:t>Wie viele Urlaubstage stehen einem Azubi mindestens zu?</a:t>
            </a:r>
          </a:p>
        </p:txBody>
      </p:sp>
      <p:sp>
        <p:nvSpPr>
          <p:cNvPr id="19" name="Rounded Rectangle 18"/>
          <p:cNvSpPr/>
          <p:nvPr/>
        </p:nvSpPr>
        <p:spPr>
          <a:xfrm>
            <a:off x="502920" y="6327648"/>
            <a:ext cx="1344168" cy="420624"/>
          </a:xfrm>
          <a:prstGeom prst="roundRect">
            <a:avLst>
              <a:gd name="adj" fmla="val 4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6327648"/>
            <a:ext cx="1344168" cy="420624"/>
          </a:xfrm>
          <a:prstGeom prst="rect">
            <a:avLst/>
          </a:prstGeom>
          <a:noFill/>
        </p:spPr>
        <p:txBody>
          <a:bodyPr wrap="square" anchor="ctr" tIns="36576" bIns="36576">
            <a:spAutoFit/>
          </a:bodyPr>
          <a:lstStyle/>
          <a:p>
            <a:pPr algn="ctr"/>
            <a:r>
              <a:rPr sz="2400" b="1">
                <a:solidFill>
                  <a:srgbClr val="FFFFFF"/>
                </a:solidFill>
                <a:latin typeface="Calibri"/>
              </a:rPr>
              <a:t>Plenum</a:t>
            </a:r>
          </a:p>
        </p:txBody>
      </p:sp>
      <p:sp>
        <p:nvSpPr>
          <p:cNvPr id="21" name="TextBox 20"/>
          <p:cNvSpPr txBox="1"/>
          <p:nvPr/>
        </p:nvSpPr>
        <p:spPr>
          <a:xfrm>
            <a:off x="640080" y="4846320"/>
            <a:ext cx="10881360" cy="640080"/>
          </a:xfrm>
          <a:prstGeom prst="rect">
            <a:avLst/>
          </a:prstGeom>
          <a:noFill/>
        </p:spPr>
        <p:txBody>
          <a:bodyPr wrap="square" anchor="t" tIns="36576" bIns="36576">
            <a:spAutoFit/>
          </a:bodyPr>
          <a:lstStyle/>
          <a:p>
            <a:pPr algn="l"/>
            <a:r>
              <a:rPr sz="2800" b="1">
                <a:solidFill>
                  <a:srgbClr val="7A4B00"/>
                </a:solidFill>
                <a:latin typeface="Calibri"/>
              </a:rPr>
              <a:t>Frage b von 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square" anchor="ctr" tIns="36576" bIns="36576">
            <a:spAutoFit/>
          </a:bodyPr>
          <a:lstStyle/>
          <a:p>
            <a:pPr algn="ctr"/>
            <a:r>
              <a:rPr sz="2400" b="1">
                <a:solidFill>
                  <a:srgbClr val="1F2A44"/>
                </a:solidFill>
                <a:latin typeface="Calibri"/>
              </a:rPr>
              <a:t>Einstieg</a:t>
            </a:r>
          </a:p>
        </p:txBody>
      </p:sp>
      <p:sp>
        <p:nvSpPr>
          <p:cNvPr id="5" name="Rectangle 4"/>
          <p:cNvSpPr/>
          <p:nvPr/>
        </p:nvSpPr>
        <p:spPr>
          <a:xfrm>
            <a:off x="1741670"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1</a:t>
            </a:r>
          </a:p>
        </p:txBody>
      </p:sp>
      <p:sp>
        <p:nvSpPr>
          <p:cNvPr id="7" name="Rectangle 6"/>
          <p:cNvSpPr/>
          <p:nvPr/>
        </p:nvSpPr>
        <p:spPr>
          <a:xfrm>
            <a:off x="3483341"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3341"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2</a:t>
            </a:r>
          </a:p>
        </p:txBody>
      </p:sp>
      <p:sp>
        <p:nvSpPr>
          <p:cNvPr id="9" name="Rectangle 8"/>
          <p:cNvSpPr/>
          <p:nvPr/>
        </p:nvSpPr>
        <p:spPr>
          <a:xfrm>
            <a:off x="5225012"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25012"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3</a:t>
            </a:r>
          </a:p>
        </p:txBody>
      </p:sp>
      <p:sp>
        <p:nvSpPr>
          <p:cNvPr id="11" name="Rectangle 10"/>
          <p:cNvSpPr/>
          <p:nvPr/>
        </p:nvSpPr>
        <p:spPr>
          <a:xfrm>
            <a:off x="6966682"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66682" y="0"/>
            <a:ext cx="1741670" cy="457200"/>
          </a:xfrm>
          <a:prstGeom prst="rect">
            <a:avLst/>
          </a:prstGeom>
          <a:noFill/>
        </p:spPr>
        <p:txBody>
          <a:bodyPr wrap="square" anchor="ctr" tIns="36576" bIns="36576">
            <a:spAutoFit/>
          </a:bodyPr>
          <a:lstStyle/>
          <a:p>
            <a:pPr algn="ctr"/>
            <a:r>
              <a:rPr sz="2400" b="0">
                <a:solidFill>
                  <a:srgbClr val="FFFFFF"/>
                </a:solidFill>
                <a:latin typeface="Calibri"/>
              </a:rPr>
              <a:t>Üben</a:t>
            </a:r>
          </a:p>
        </p:txBody>
      </p:sp>
      <p:sp>
        <p:nvSpPr>
          <p:cNvPr id="13" name="Rectangle 12"/>
          <p:cNvSpPr/>
          <p:nvPr/>
        </p:nvSpPr>
        <p:spPr>
          <a:xfrm>
            <a:off x="8708353"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8353" y="0"/>
            <a:ext cx="1741670" cy="457200"/>
          </a:xfrm>
          <a:prstGeom prst="rect">
            <a:avLst/>
          </a:prstGeom>
          <a:noFill/>
        </p:spPr>
        <p:txBody>
          <a:bodyPr wrap="square" anchor="ctr" tIns="36576" bIns="36576">
            <a:spAutoFit/>
          </a:bodyPr>
          <a:lstStyle/>
          <a:p>
            <a:pPr algn="ctr"/>
            <a:r>
              <a:rPr sz="2400" b="0">
                <a:solidFill>
                  <a:srgbClr val="FFFFFF"/>
                </a:solidFill>
                <a:latin typeface="Calibri"/>
              </a:rPr>
              <a:t>Besprechen</a:t>
            </a:r>
          </a:p>
        </p:txBody>
      </p:sp>
      <p:sp>
        <p:nvSpPr>
          <p:cNvPr id="15" name="Rectangle 14"/>
          <p:cNvSpPr/>
          <p:nvPr/>
        </p:nvSpPr>
        <p:spPr>
          <a:xfrm>
            <a:off x="10450024"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50024" y="0"/>
            <a:ext cx="1741670" cy="457200"/>
          </a:xfrm>
          <a:prstGeom prst="rect">
            <a:avLst/>
          </a:prstGeom>
          <a:noFill/>
        </p:spPr>
        <p:txBody>
          <a:bodyPr wrap="square" anchor="ctr" tIns="36576" bIns="36576">
            <a:spAutoFit/>
          </a:bodyPr>
          <a:lstStyle/>
          <a:p>
            <a:pPr algn="ctr"/>
            <a:r>
              <a:rPr sz="2400" b="0">
                <a:solidFill>
                  <a:srgbClr val="FFFFFF"/>
                </a:solidFill>
                <a:latin typeface="Calibri"/>
              </a:rPr>
              <a:t>Abschluss</a:t>
            </a:r>
          </a:p>
        </p:txBody>
      </p:sp>
      <p:pic>
        <p:nvPicPr>
          <p:cNvPr id="17" name="Picture 16" descr="Fragezeichen-Symbol"/>
          <p:cNvPicPr>
            <a:picLocks noChangeAspect="1"/>
          </p:cNvPicPr>
          <p:nvPr/>
        </p:nvPicPr>
        <p:blipFill>
          <a:blip r:embed="rId3"/>
          <a:stretch>
            <a:fillRect/>
          </a:stretch>
        </p:blipFill>
        <p:spPr>
          <a:xfrm>
            <a:off x="640080" y="914400"/>
            <a:ext cx="1234440" cy="1234440"/>
          </a:xfrm>
          <a:prstGeom prst="rect">
            <a:avLst/>
          </a:prstGeom>
        </p:spPr>
      </p:pic>
      <p:sp>
        <p:nvSpPr>
          <p:cNvPr id="18" name="Frage"/>
          <p:cNvSpPr txBox="1"/>
          <p:nvPr/>
        </p:nvSpPr>
        <p:spPr>
          <a:xfrm>
            <a:off x="2103120" y="914400"/>
            <a:ext cx="9601200" cy="3566160"/>
          </a:xfrm>
          <a:prstGeom prst="rect">
            <a:avLst/>
          </a:prstGeom>
          <a:noFill/>
        </p:spPr>
        <p:txBody>
          <a:bodyPr wrap="square" anchor="ctr" tIns="36576" bIns="36576">
            <a:spAutoFit/>
          </a:bodyPr>
          <a:lstStyle/>
          <a:p>
            <a:pPr algn="l"/>
            <a:r>
              <a:rPr sz="4000" b="1">
                <a:solidFill>
                  <a:srgbClr val="1F2A44"/>
                </a:solidFill>
                <a:latin typeface="Calibri"/>
              </a:rPr>
              <a:t>Welche Kündigungsfrist gilt in der Probezeit?</a:t>
            </a:r>
          </a:p>
        </p:txBody>
      </p:sp>
      <p:sp>
        <p:nvSpPr>
          <p:cNvPr id="19" name="Rounded Rectangle 18"/>
          <p:cNvSpPr/>
          <p:nvPr/>
        </p:nvSpPr>
        <p:spPr>
          <a:xfrm>
            <a:off x="502920" y="6327648"/>
            <a:ext cx="1344168" cy="420624"/>
          </a:xfrm>
          <a:prstGeom prst="roundRect">
            <a:avLst>
              <a:gd name="adj" fmla="val 4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6327648"/>
            <a:ext cx="1344168" cy="420624"/>
          </a:xfrm>
          <a:prstGeom prst="rect">
            <a:avLst/>
          </a:prstGeom>
          <a:noFill/>
        </p:spPr>
        <p:txBody>
          <a:bodyPr wrap="square" anchor="ctr" tIns="36576" bIns="36576">
            <a:spAutoFit/>
          </a:bodyPr>
          <a:lstStyle/>
          <a:p>
            <a:pPr algn="ctr"/>
            <a:r>
              <a:rPr sz="2400" b="1">
                <a:solidFill>
                  <a:srgbClr val="FFFFFF"/>
                </a:solidFill>
                <a:latin typeface="Calibri"/>
              </a:rPr>
              <a:t>Plenum</a:t>
            </a:r>
          </a:p>
        </p:txBody>
      </p:sp>
      <p:sp>
        <p:nvSpPr>
          <p:cNvPr id="21" name="TextBox 20"/>
          <p:cNvSpPr txBox="1"/>
          <p:nvPr/>
        </p:nvSpPr>
        <p:spPr>
          <a:xfrm>
            <a:off x="640080" y="4846320"/>
            <a:ext cx="10881360" cy="640080"/>
          </a:xfrm>
          <a:prstGeom prst="rect">
            <a:avLst/>
          </a:prstGeom>
          <a:noFill/>
        </p:spPr>
        <p:txBody>
          <a:bodyPr wrap="square" anchor="t" tIns="36576" bIns="36576">
            <a:spAutoFit/>
          </a:bodyPr>
          <a:lstStyle/>
          <a:p>
            <a:pPr algn="l"/>
            <a:r>
              <a:rPr sz="2800" b="1">
                <a:solidFill>
                  <a:srgbClr val="7A4B00"/>
                </a:solidFill>
                <a:latin typeface="Calibri"/>
              </a:rPr>
              <a:t>Frage c von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square" anchor="ctr" tIns="36576" bIns="36576">
            <a:spAutoFit/>
          </a:bodyPr>
          <a:lstStyle/>
          <a:p>
            <a:pPr algn="ctr"/>
            <a:r>
              <a:rPr sz="2400" b="1">
                <a:solidFill>
                  <a:srgbClr val="1F2A44"/>
                </a:solidFill>
                <a:latin typeface="Calibri"/>
              </a:rPr>
              <a:t>Einstieg</a:t>
            </a:r>
          </a:p>
        </p:txBody>
      </p:sp>
      <p:sp>
        <p:nvSpPr>
          <p:cNvPr id="5" name="Rectangle 4"/>
          <p:cNvSpPr/>
          <p:nvPr/>
        </p:nvSpPr>
        <p:spPr>
          <a:xfrm>
            <a:off x="1741670"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1</a:t>
            </a:r>
          </a:p>
        </p:txBody>
      </p:sp>
      <p:sp>
        <p:nvSpPr>
          <p:cNvPr id="7" name="Rectangle 6"/>
          <p:cNvSpPr/>
          <p:nvPr/>
        </p:nvSpPr>
        <p:spPr>
          <a:xfrm>
            <a:off x="3483341"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3341"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2</a:t>
            </a:r>
          </a:p>
        </p:txBody>
      </p:sp>
      <p:sp>
        <p:nvSpPr>
          <p:cNvPr id="9" name="Rectangle 8"/>
          <p:cNvSpPr/>
          <p:nvPr/>
        </p:nvSpPr>
        <p:spPr>
          <a:xfrm>
            <a:off x="5225012"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25012"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3</a:t>
            </a:r>
          </a:p>
        </p:txBody>
      </p:sp>
      <p:sp>
        <p:nvSpPr>
          <p:cNvPr id="11" name="Rectangle 10"/>
          <p:cNvSpPr/>
          <p:nvPr/>
        </p:nvSpPr>
        <p:spPr>
          <a:xfrm>
            <a:off x="6966682"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66682" y="0"/>
            <a:ext cx="1741670" cy="457200"/>
          </a:xfrm>
          <a:prstGeom prst="rect">
            <a:avLst/>
          </a:prstGeom>
          <a:noFill/>
        </p:spPr>
        <p:txBody>
          <a:bodyPr wrap="square" anchor="ctr" tIns="36576" bIns="36576">
            <a:spAutoFit/>
          </a:bodyPr>
          <a:lstStyle/>
          <a:p>
            <a:pPr algn="ctr"/>
            <a:r>
              <a:rPr sz="2400" b="0">
                <a:solidFill>
                  <a:srgbClr val="FFFFFF"/>
                </a:solidFill>
                <a:latin typeface="Calibri"/>
              </a:rPr>
              <a:t>Üben</a:t>
            </a:r>
          </a:p>
        </p:txBody>
      </p:sp>
      <p:sp>
        <p:nvSpPr>
          <p:cNvPr id="13" name="Rectangle 12"/>
          <p:cNvSpPr/>
          <p:nvPr/>
        </p:nvSpPr>
        <p:spPr>
          <a:xfrm>
            <a:off x="8708353"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8353" y="0"/>
            <a:ext cx="1741670" cy="457200"/>
          </a:xfrm>
          <a:prstGeom prst="rect">
            <a:avLst/>
          </a:prstGeom>
          <a:noFill/>
        </p:spPr>
        <p:txBody>
          <a:bodyPr wrap="square" anchor="ctr" tIns="36576" bIns="36576">
            <a:spAutoFit/>
          </a:bodyPr>
          <a:lstStyle/>
          <a:p>
            <a:pPr algn="ctr"/>
            <a:r>
              <a:rPr sz="2400" b="0">
                <a:solidFill>
                  <a:srgbClr val="FFFFFF"/>
                </a:solidFill>
                <a:latin typeface="Calibri"/>
              </a:rPr>
              <a:t>Besprechen</a:t>
            </a:r>
          </a:p>
        </p:txBody>
      </p:sp>
      <p:sp>
        <p:nvSpPr>
          <p:cNvPr id="15" name="Rectangle 14"/>
          <p:cNvSpPr/>
          <p:nvPr/>
        </p:nvSpPr>
        <p:spPr>
          <a:xfrm>
            <a:off x="10450024"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50024" y="0"/>
            <a:ext cx="1741670" cy="457200"/>
          </a:xfrm>
          <a:prstGeom prst="rect">
            <a:avLst/>
          </a:prstGeom>
          <a:noFill/>
        </p:spPr>
        <p:txBody>
          <a:bodyPr wrap="square" anchor="ctr" tIns="36576" bIns="36576">
            <a:spAutoFit/>
          </a:bodyPr>
          <a:lstStyle/>
          <a:p>
            <a:pPr algn="ctr"/>
            <a:r>
              <a:rPr sz="2400" b="0">
                <a:solidFill>
                  <a:srgbClr val="FFFFFF"/>
                </a:solidFill>
                <a:latin typeface="Calibri"/>
              </a:rPr>
              <a:t>Abschluss</a:t>
            </a:r>
          </a:p>
        </p:txBody>
      </p:sp>
      <p:pic>
        <p:nvPicPr>
          <p:cNvPr id="17" name="Picture 16" descr="Fragezeichen-Symbol"/>
          <p:cNvPicPr>
            <a:picLocks noChangeAspect="1"/>
          </p:cNvPicPr>
          <p:nvPr/>
        </p:nvPicPr>
        <p:blipFill>
          <a:blip r:embed="rId3"/>
          <a:stretch>
            <a:fillRect/>
          </a:stretch>
        </p:blipFill>
        <p:spPr>
          <a:xfrm>
            <a:off x="640080" y="914400"/>
            <a:ext cx="1234440" cy="1234440"/>
          </a:xfrm>
          <a:prstGeom prst="rect">
            <a:avLst/>
          </a:prstGeom>
        </p:spPr>
      </p:pic>
      <p:sp>
        <p:nvSpPr>
          <p:cNvPr id="18" name="Frage"/>
          <p:cNvSpPr txBox="1"/>
          <p:nvPr/>
        </p:nvSpPr>
        <p:spPr>
          <a:xfrm>
            <a:off x="2103120" y="914400"/>
            <a:ext cx="9601200" cy="3566160"/>
          </a:xfrm>
          <a:prstGeom prst="rect">
            <a:avLst/>
          </a:prstGeom>
          <a:noFill/>
        </p:spPr>
        <p:txBody>
          <a:bodyPr wrap="square" anchor="ctr" tIns="36576" bIns="36576">
            <a:spAutoFit/>
          </a:bodyPr>
          <a:lstStyle/>
          <a:p>
            <a:pPr algn="l"/>
            <a:r>
              <a:rPr sz="4000" b="1">
                <a:solidFill>
                  <a:srgbClr val="1F2A44"/>
                </a:solidFill>
                <a:latin typeface="Calibri"/>
              </a:rPr>
              <a:t>Muss eine Kündigung schriftlich sein?</a:t>
            </a:r>
          </a:p>
        </p:txBody>
      </p:sp>
      <p:sp>
        <p:nvSpPr>
          <p:cNvPr id="19" name="Rounded Rectangle 18"/>
          <p:cNvSpPr/>
          <p:nvPr/>
        </p:nvSpPr>
        <p:spPr>
          <a:xfrm>
            <a:off x="502920" y="6327648"/>
            <a:ext cx="1344168" cy="420624"/>
          </a:xfrm>
          <a:prstGeom prst="roundRect">
            <a:avLst>
              <a:gd name="adj" fmla="val 4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6327648"/>
            <a:ext cx="1344168" cy="420624"/>
          </a:xfrm>
          <a:prstGeom prst="rect">
            <a:avLst/>
          </a:prstGeom>
          <a:noFill/>
        </p:spPr>
        <p:txBody>
          <a:bodyPr wrap="square" anchor="ctr" tIns="36576" bIns="36576">
            <a:spAutoFit/>
          </a:bodyPr>
          <a:lstStyle/>
          <a:p>
            <a:pPr algn="ctr"/>
            <a:r>
              <a:rPr sz="2400" b="1">
                <a:solidFill>
                  <a:srgbClr val="FFFFFF"/>
                </a:solidFill>
                <a:latin typeface="Calibri"/>
              </a:rPr>
              <a:t>Plenum</a:t>
            </a:r>
          </a:p>
        </p:txBody>
      </p:sp>
      <p:sp>
        <p:nvSpPr>
          <p:cNvPr id="21" name="TextBox 20"/>
          <p:cNvSpPr txBox="1"/>
          <p:nvPr/>
        </p:nvSpPr>
        <p:spPr>
          <a:xfrm>
            <a:off x="640080" y="4846320"/>
            <a:ext cx="10881360" cy="640080"/>
          </a:xfrm>
          <a:prstGeom prst="rect">
            <a:avLst/>
          </a:prstGeom>
          <a:noFill/>
        </p:spPr>
        <p:txBody>
          <a:bodyPr wrap="square" anchor="t" tIns="36576" bIns="36576">
            <a:spAutoFit/>
          </a:bodyPr>
          <a:lstStyle/>
          <a:p>
            <a:pPr algn="l"/>
            <a:r>
              <a:rPr sz="2800" b="1">
                <a:solidFill>
                  <a:srgbClr val="7A4B00"/>
                </a:solidFill>
                <a:latin typeface="Calibri"/>
              </a:rPr>
              <a:t>Frage d von 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square" anchor="ctr" tIns="36576" bIns="36576">
            <a:spAutoFit/>
          </a:bodyPr>
          <a:lstStyle/>
          <a:p>
            <a:pPr algn="ctr"/>
            <a:r>
              <a:rPr sz="2400" b="0">
                <a:solidFill>
                  <a:srgbClr val="FFFFFF"/>
                </a:solidFill>
                <a:latin typeface="Calibri"/>
              </a:rPr>
              <a:t>Einstieg</a:t>
            </a:r>
          </a:p>
        </p:txBody>
      </p:sp>
      <p:sp>
        <p:nvSpPr>
          <p:cNvPr id="5" name="Rectangle 4"/>
          <p:cNvSpPr/>
          <p:nvPr/>
        </p:nvSpPr>
        <p:spPr>
          <a:xfrm>
            <a:off x="1741670"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741670" cy="457200"/>
          </a:xfrm>
          <a:prstGeom prst="rect">
            <a:avLst/>
          </a:prstGeom>
          <a:noFill/>
        </p:spPr>
        <p:txBody>
          <a:bodyPr wrap="square" anchor="ctr" tIns="36576" bIns="36576">
            <a:spAutoFit/>
          </a:bodyPr>
          <a:lstStyle/>
          <a:p>
            <a:pPr algn="ctr"/>
            <a:r>
              <a:rPr sz="2400" b="1">
                <a:solidFill>
                  <a:srgbClr val="1F2A44"/>
                </a:solidFill>
                <a:latin typeface="Calibri"/>
              </a:rPr>
              <a:t>Block 1</a:t>
            </a:r>
          </a:p>
        </p:txBody>
      </p:sp>
      <p:sp>
        <p:nvSpPr>
          <p:cNvPr id="7" name="Rectangle 6"/>
          <p:cNvSpPr/>
          <p:nvPr/>
        </p:nvSpPr>
        <p:spPr>
          <a:xfrm>
            <a:off x="3483341"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3341"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2</a:t>
            </a:r>
          </a:p>
        </p:txBody>
      </p:sp>
      <p:sp>
        <p:nvSpPr>
          <p:cNvPr id="9" name="Rectangle 8"/>
          <p:cNvSpPr/>
          <p:nvPr/>
        </p:nvSpPr>
        <p:spPr>
          <a:xfrm>
            <a:off x="5225012"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25012"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3</a:t>
            </a:r>
          </a:p>
        </p:txBody>
      </p:sp>
      <p:sp>
        <p:nvSpPr>
          <p:cNvPr id="11" name="Rectangle 10"/>
          <p:cNvSpPr/>
          <p:nvPr/>
        </p:nvSpPr>
        <p:spPr>
          <a:xfrm>
            <a:off x="6966682"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66682" y="0"/>
            <a:ext cx="1741670" cy="457200"/>
          </a:xfrm>
          <a:prstGeom prst="rect">
            <a:avLst/>
          </a:prstGeom>
          <a:noFill/>
        </p:spPr>
        <p:txBody>
          <a:bodyPr wrap="square" anchor="ctr" tIns="36576" bIns="36576">
            <a:spAutoFit/>
          </a:bodyPr>
          <a:lstStyle/>
          <a:p>
            <a:pPr algn="ctr"/>
            <a:r>
              <a:rPr sz="2400" b="0">
                <a:solidFill>
                  <a:srgbClr val="FFFFFF"/>
                </a:solidFill>
                <a:latin typeface="Calibri"/>
              </a:rPr>
              <a:t>Üben</a:t>
            </a:r>
          </a:p>
        </p:txBody>
      </p:sp>
      <p:sp>
        <p:nvSpPr>
          <p:cNvPr id="13" name="Rectangle 12"/>
          <p:cNvSpPr/>
          <p:nvPr/>
        </p:nvSpPr>
        <p:spPr>
          <a:xfrm>
            <a:off x="8708353"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8353" y="0"/>
            <a:ext cx="1741670" cy="457200"/>
          </a:xfrm>
          <a:prstGeom prst="rect">
            <a:avLst/>
          </a:prstGeom>
          <a:noFill/>
        </p:spPr>
        <p:txBody>
          <a:bodyPr wrap="square" anchor="ctr" tIns="36576" bIns="36576">
            <a:spAutoFit/>
          </a:bodyPr>
          <a:lstStyle/>
          <a:p>
            <a:pPr algn="ctr"/>
            <a:r>
              <a:rPr sz="2400" b="0">
                <a:solidFill>
                  <a:srgbClr val="FFFFFF"/>
                </a:solidFill>
                <a:latin typeface="Calibri"/>
              </a:rPr>
              <a:t>Besprechen</a:t>
            </a:r>
          </a:p>
        </p:txBody>
      </p:sp>
      <p:sp>
        <p:nvSpPr>
          <p:cNvPr id="15" name="Rectangle 14"/>
          <p:cNvSpPr/>
          <p:nvPr/>
        </p:nvSpPr>
        <p:spPr>
          <a:xfrm>
            <a:off x="10450024"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50024" y="0"/>
            <a:ext cx="1741670" cy="457200"/>
          </a:xfrm>
          <a:prstGeom prst="rect">
            <a:avLst/>
          </a:prstGeom>
          <a:noFill/>
        </p:spPr>
        <p:txBody>
          <a:bodyPr wrap="square" anchor="ctr" tIns="36576" bIns="36576">
            <a:spAutoFit/>
          </a:bodyPr>
          <a:lstStyle/>
          <a:p>
            <a:pPr algn="ctr"/>
            <a:r>
              <a:rPr sz="2400" b="0">
                <a:solidFill>
                  <a:srgbClr val="FFFFFF"/>
                </a:solidFill>
                <a:latin typeface="Calibri"/>
              </a:rPr>
              <a:t>Abschluss</a:t>
            </a:r>
          </a:p>
        </p:txBody>
      </p:sp>
      <p:sp>
        <p:nvSpPr>
          <p:cNvPr id="17" name="Titel"/>
          <p:cNvSpPr txBox="1"/>
          <p:nvPr/>
        </p:nvSpPr>
        <p:spPr>
          <a:xfrm>
            <a:off x="548640" y="530352"/>
            <a:ext cx="11155680" cy="868680"/>
          </a:xfrm>
          <a:prstGeom prst="rect">
            <a:avLst/>
          </a:prstGeom>
          <a:noFill/>
        </p:spPr>
        <p:txBody>
          <a:bodyPr wrap="square" anchor="ctr" tIns="36576" bIns="36576">
            <a:spAutoFit/>
          </a:bodyPr>
          <a:lstStyle/>
          <a:p>
            <a:pPr algn="l"/>
            <a:r>
              <a:rPr sz="4000" b="1">
                <a:solidFill>
                  <a:srgbClr val="1F2A44"/>
                </a:solidFill>
                <a:latin typeface="Calibri"/>
              </a:rPr>
              <a:t>Der Vertrag: sechs Pflichtangaben</a:t>
            </a:r>
          </a:p>
        </p:txBody>
      </p:sp>
      <p:sp>
        <p:nvSpPr>
          <p:cNvPr id="18" name="Rectangle 17"/>
          <p:cNvSpPr/>
          <p:nvPr/>
        </p:nvSpPr>
        <p:spPr>
          <a:xfrm>
            <a:off x="640080" y="1371600"/>
            <a:ext cx="1463040" cy="6400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89520" y="6327648"/>
            <a:ext cx="4114800" cy="420624"/>
          </a:xfrm>
          <a:prstGeom prst="rect">
            <a:avLst/>
          </a:prstGeom>
          <a:noFill/>
        </p:spPr>
        <p:txBody>
          <a:bodyPr wrap="square" anchor="ctr" tIns="36576" bIns="36576">
            <a:spAutoFit/>
          </a:bodyPr>
          <a:lstStyle/>
          <a:p>
            <a:pPr algn="r"/>
            <a:r>
              <a:rPr sz="2400" b="0">
                <a:solidFill>
                  <a:srgbClr val="4A5568"/>
                </a:solidFill>
                <a:latin typeface="Calibri"/>
              </a:rPr>
              <a:t>§ 11 BBiG</a:t>
            </a:r>
          </a:p>
        </p:txBody>
      </p:sp>
      <p:sp>
        <p:nvSpPr>
          <p:cNvPr id="20" name="Rectangle 19"/>
          <p:cNvSpPr/>
          <p:nvPr/>
        </p:nvSpPr>
        <p:spPr>
          <a:xfrm>
            <a:off x="640080" y="1645920"/>
            <a:ext cx="3520440" cy="1143000"/>
          </a:xfrm>
          <a:prstGeom prst="rect">
            <a:avLst/>
          </a:prstGeom>
          <a:solidFill>
            <a:srgbClr val="FFFFFF"/>
          </a:solidFill>
          <a:ln w="25400">
            <a:solidFill>
              <a:srgbClr val="B8C0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Symbol Beginn und Dauer"/>
          <p:cNvPicPr>
            <a:picLocks noChangeAspect="1"/>
          </p:cNvPicPr>
          <p:nvPr/>
        </p:nvPicPr>
        <p:blipFill>
          <a:blip r:embed="rId3"/>
          <a:stretch>
            <a:fillRect/>
          </a:stretch>
        </p:blipFill>
        <p:spPr>
          <a:xfrm>
            <a:off x="777240" y="1783080"/>
            <a:ext cx="868680" cy="868680"/>
          </a:xfrm>
          <a:prstGeom prst="rect">
            <a:avLst/>
          </a:prstGeom>
        </p:spPr>
      </p:pic>
      <p:sp>
        <p:nvSpPr>
          <p:cNvPr id="22" name="TextBox 21"/>
          <p:cNvSpPr txBox="1"/>
          <p:nvPr/>
        </p:nvSpPr>
        <p:spPr>
          <a:xfrm>
            <a:off x="1691639" y="1645920"/>
            <a:ext cx="2468880" cy="1143000"/>
          </a:xfrm>
          <a:prstGeom prst="rect">
            <a:avLst/>
          </a:prstGeom>
          <a:noFill/>
        </p:spPr>
        <p:txBody>
          <a:bodyPr wrap="square" anchor="ctr" tIns="36576" bIns="36576">
            <a:spAutoFit/>
          </a:bodyPr>
          <a:lstStyle/>
          <a:p>
            <a:pPr algn="l"/>
            <a:r>
              <a:rPr sz="2600" b="1">
                <a:solidFill>
                  <a:srgbClr val="1F2A44"/>
                </a:solidFill>
                <a:latin typeface="Calibri"/>
              </a:rPr>
              <a:t>Beginn und Dauer</a:t>
            </a:r>
          </a:p>
        </p:txBody>
      </p:sp>
      <p:sp>
        <p:nvSpPr>
          <p:cNvPr id="23" name="Rectangle 22"/>
          <p:cNvSpPr/>
          <p:nvPr/>
        </p:nvSpPr>
        <p:spPr>
          <a:xfrm>
            <a:off x="4343400" y="1645920"/>
            <a:ext cx="3520440" cy="1143000"/>
          </a:xfrm>
          <a:prstGeom prst="rect">
            <a:avLst/>
          </a:prstGeom>
          <a:solidFill>
            <a:srgbClr val="FFFFFF"/>
          </a:solidFill>
          <a:ln w="25400">
            <a:solidFill>
              <a:srgbClr val="B8C0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Symbol tägliche Ausbildungszeit"/>
          <p:cNvPicPr>
            <a:picLocks noChangeAspect="1"/>
          </p:cNvPicPr>
          <p:nvPr/>
        </p:nvPicPr>
        <p:blipFill>
          <a:blip r:embed="rId4"/>
          <a:stretch>
            <a:fillRect/>
          </a:stretch>
        </p:blipFill>
        <p:spPr>
          <a:xfrm>
            <a:off x="4480560" y="1783080"/>
            <a:ext cx="868680" cy="868680"/>
          </a:xfrm>
          <a:prstGeom prst="rect">
            <a:avLst/>
          </a:prstGeom>
        </p:spPr>
      </p:pic>
      <p:sp>
        <p:nvSpPr>
          <p:cNvPr id="25" name="TextBox 24"/>
          <p:cNvSpPr txBox="1"/>
          <p:nvPr/>
        </p:nvSpPr>
        <p:spPr>
          <a:xfrm>
            <a:off x="5394960" y="1645920"/>
            <a:ext cx="2468880" cy="1143000"/>
          </a:xfrm>
          <a:prstGeom prst="rect">
            <a:avLst/>
          </a:prstGeom>
          <a:noFill/>
        </p:spPr>
        <p:txBody>
          <a:bodyPr wrap="square" anchor="ctr" tIns="36576" bIns="36576">
            <a:spAutoFit/>
          </a:bodyPr>
          <a:lstStyle/>
          <a:p>
            <a:pPr algn="l"/>
            <a:r>
              <a:rPr sz="2600" b="1">
                <a:solidFill>
                  <a:srgbClr val="1F2A44"/>
                </a:solidFill>
                <a:latin typeface="Calibri"/>
              </a:rPr>
              <a:t>tägliche Ausbildungszeit</a:t>
            </a:r>
          </a:p>
        </p:txBody>
      </p:sp>
      <p:sp>
        <p:nvSpPr>
          <p:cNvPr id="26" name="Rectangle 25"/>
          <p:cNvSpPr/>
          <p:nvPr/>
        </p:nvSpPr>
        <p:spPr>
          <a:xfrm>
            <a:off x="8046719" y="1645920"/>
            <a:ext cx="3520440" cy="1143000"/>
          </a:xfrm>
          <a:prstGeom prst="rect">
            <a:avLst/>
          </a:prstGeom>
          <a:solidFill>
            <a:srgbClr val="FFFFFF"/>
          </a:solidFill>
          <a:ln w="25400">
            <a:solidFill>
              <a:srgbClr val="B8C0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Symbol Probezeit"/>
          <p:cNvPicPr>
            <a:picLocks noChangeAspect="1"/>
          </p:cNvPicPr>
          <p:nvPr/>
        </p:nvPicPr>
        <p:blipFill>
          <a:blip r:embed="rId5"/>
          <a:stretch>
            <a:fillRect/>
          </a:stretch>
        </p:blipFill>
        <p:spPr>
          <a:xfrm>
            <a:off x="8183879" y="1783080"/>
            <a:ext cx="868680" cy="868680"/>
          </a:xfrm>
          <a:prstGeom prst="rect">
            <a:avLst/>
          </a:prstGeom>
        </p:spPr>
      </p:pic>
      <p:sp>
        <p:nvSpPr>
          <p:cNvPr id="28" name="TextBox 27"/>
          <p:cNvSpPr txBox="1"/>
          <p:nvPr/>
        </p:nvSpPr>
        <p:spPr>
          <a:xfrm>
            <a:off x="9098280" y="1645920"/>
            <a:ext cx="2468880" cy="1143000"/>
          </a:xfrm>
          <a:prstGeom prst="rect">
            <a:avLst/>
          </a:prstGeom>
          <a:noFill/>
        </p:spPr>
        <p:txBody>
          <a:bodyPr wrap="square" anchor="ctr" tIns="36576" bIns="36576">
            <a:spAutoFit/>
          </a:bodyPr>
          <a:lstStyle/>
          <a:p>
            <a:pPr algn="l"/>
            <a:r>
              <a:rPr sz="2600" b="1">
                <a:solidFill>
                  <a:srgbClr val="1F2A44"/>
                </a:solidFill>
                <a:latin typeface="Calibri"/>
              </a:rPr>
              <a:t>Probezeit</a:t>
            </a:r>
          </a:p>
        </p:txBody>
      </p:sp>
      <p:sp>
        <p:nvSpPr>
          <p:cNvPr id="29" name="Rectangle 28"/>
          <p:cNvSpPr/>
          <p:nvPr/>
        </p:nvSpPr>
        <p:spPr>
          <a:xfrm>
            <a:off x="640080" y="2971800"/>
            <a:ext cx="3520440" cy="1143000"/>
          </a:xfrm>
          <a:prstGeom prst="rect">
            <a:avLst/>
          </a:prstGeom>
          <a:solidFill>
            <a:srgbClr val="FFFFFF"/>
          </a:solidFill>
          <a:ln w="25400">
            <a:solidFill>
              <a:srgbClr val="B8C0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Symbol Vergütung"/>
          <p:cNvPicPr>
            <a:picLocks noChangeAspect="1"/>
          </p:cNvPicPr>
          <p:nvPr/>
        </p:nvPicPr>
        <p:blipFill>
          <a:blip r:embed="rId6"/>
          <a:stretch>
            <a:fillRect/>
          </a:stretch>
        </p:blipFill>
        <p:spPr>
          <a:xfrm>
            <a:off x="777240" y="3108960"/>
            <a:ext cx="868680" cy="868680"/>
          </a:xfrm>
          <a:prstGeom prst="rect">
            <a:avLst/>
          </a:prstGeom>
        </p:spPr>
      </p:pic>
      <p:sp>
        <p:nvSpPr>
          <p:cNvPr id="31" name="TextBox 30"/>
          <p:cNvSpPr txBox="1"/>
          <p:nvPr/>
        </p:nvSpPr>
        <p:spPr>
          <a:xfrm>
            <a:off x="1691639" y="2971800"/>
            <a:ext cx="2468880" cy="1143000"/>
          </a:xfrm>
          <a:prstGeom prst="rect">
            <a:avLst/>
          </a:prstGeom>
          <a:noFill/>
        </p:spPr>
        <p:txBody>
          <a:bodyPr wrap="square" anchor="ctr" tIns="36576" bIns="36576">
            <a:spAutoFit/>
          </a:bodyPr>
          <a:lstStyle/>
          <a:p>
            <a:pPr algn="l"/>
            <a:r>
              <a:rPr sz="2600" b="1">
                <a:solidFill>
                  <a:srgbClr val="1F2A44"/>
                </a:solidFill>
                <a:latin typeface="Calibri"/>
              </a:rPr>
              <a:t>Vergütung</a:t>
            </a:r>
          </a:p>
        </p:txBody>
      </p:sp>
      <p:sp>
        <p:nvSpPr>
          <p:cNvPr id="32" name="Rectangle 31"/>
          <p:cNvSpPr/>
          <p:nvPr/>
        </p:nvSpPr>
        <p:spPr>
          <a:xfrm>
            <a:off x="4343400" y="2971800"/>
            <a:ext cx="3520440" cy="1143000"/>
          </a:xfrm>
          <a:prstGeom prst="rect">
            <a:avLst/>
          </a:prstGeom>
          <a:solidFill>
            <a:srgbClr val="FFFFFF"/>
          </a:solidFill>
          <a:ln w="25400">
            <a:solidFill>
              <a:srgbClr val="B8C0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Symbol Urlaub"/>
          <p:cNvPicPr>
            <a:picLocks noChangeAspect="1"/>
          </p:cNvPicPr>
          <p:nvPr/>
        </p:nvPicPr>
        <p:blipFill>
          <a:blip r:embed="rId7"/>
          <a:stretch>
            <a:fillRect/>
          </a:stretch>
        </p:blipFill>
        <p:spPr>
          <a:xfrm>
            <a:off x="4480560" y="3108960"/>
            <a:ext cx="868680" cy="868680"/>
          </a:xfrm>
          <a:prstGeom prst="rect">
            <a:avLst/>
          </a:prstGeom>
        </p:spPr>
      </p:pic>
      <p:sp>
        <p:nvSpPr>
          <p:cNvPr id="34" name="TextBox 33"/>
          <p:cNvSpPr txBox="1"/>
          <p:nvPr/>
        </p:nvSpPr>
        <p:spPr>
          <a:xfrm>
            <a:off x="5394960" y="2971800"/>
            <a:ext cx="2468880" cy="1143000"/>
          </a:xfrm>
          <a:prstGeom prst="rect">
            <a:avLst/>
          </a:prstGeom>
          <a:noFill/>
        </p:spPr>
        <p:txBody>
          <a:bodyPr wrap="square" anchor="ctr" tIns="36576" bIns="36576">
            <a:spAutoFit/>
          </a:bodyPr>
          <a:lstStyle/>
          <a:p>
            <a:pPr algn="l"/>
            <a:r>
              <a:rPr sz="2600" b="1">
                <a:solidFill>
                  <a:srgbClr val="1F2A44"/>
                </a:solidFill>
                <a:latin typeface="Calibri"/>
              </a:rPr>
              <a:t>Urlaub</a:t>
            </a:r>
          </a:p>
        </p:txBody>
      </p:sp>
      <p:sp>
        <p:nvSpPr>
          <p:cNvPr id="35" name="Rectangle 34"/>
          <p:cNvSpPr/>
          <p:nvPr/>
        </p:nvSpPr>
        <p:spPr>
          <a:xfrm>
            <a:off x="8046719" y="2971800"/>
            <a:ext cx="3520440" cy="1143000"/>
          </a:xfrm>
          <a:prstGeom prst="rect">
            <a:avLst/>
          </a:prstGeom>
          <a:solidFill>
            <a:srgbClr val="FFFFFF"/>
          </a:solidFill>
          <a:ln w="25400">
            <a:solidFill>
              <a:srgbClr val="B8C0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Symbol Kündigung"/>
          <p:cNvPicPr>
            <a:picLocks noChangeAspect="1"/>
          </p:cNvPicPr>
          <p:nvPr/>
        </p:nvPicPr>
        <p:blipFill>
          <a:blip r:embed="rId8"/>
          <a:stretch>
            <a:fillRect/>
          </a:stretch>
        </p:blipFill>
        <p:spPr>
          <a:xfrm>
            <a:off x="8183879" y="3108960"/>
            <a:ext cx="868680" cy="868680"/>
          </a:xfrm>
          <a:prstGeom prst="rect">
            <a:avLst/>
          </a:prstGeom>
        </p:spPr>
      </p:pic>
      <p:sp>
        <p:nvSpPr>
          <p:cNvPr id="37" name="TextBox 36"/>
          <p:cNvSpPr txBox="1"/>
          <p:nvPr/>
        </p:nvSpPr>
        <p:spPr>
          <a:xfrm>
            <a:off x="9098280" y="2971800"/>
            <a:ext cx="2468880" cy="1143000"/>
          </a:xfrm>
          <a:prstGeom prst="rect">
            <a:avLst/>
          </a:prstGeom>
          <a:noFill/>
        </p:spPr>
        <p:txBody>
          <a:bodyPr wrap="square" anchor="ctr" tIns="36576" bIns="36576">
            <a:spAutoFit/>
          </a:bodyPr>
          <a:lstStyle/>
          <a:p>
            <a:pPr algn="l"/>
            <a:r>
              <a:rPr sz="2600" b="1">
                <a:solidFill>
                  <a:srgbClr val="1F2A44"/>
                </a:solidFill>
                <a:latin typeface="Calibri"/>
              </a:rPr>
              <a:t>Kündigung</a:t>
            </a:r>
          </a:p>
        </p:txBody>
      </p:sp>
      <p:sp>
        <p:nvSpPr>
          <p:cNvPr id="38" name="Rectangle 37"/>
          <p:cNvSpPr/>
          <p:nvPr/>
        </p:nvSpPr>
        <p:spPr>
          <a:xfrm>
            <a:off x="640080" y="4434840"/>
            <a:ext cx="10881360" cy="1691640"/>
          </a:xfrm>
          <a:prstGeom prst="rect">
            <a:avLst/>
          </a:prstGeom>
          <a:solidFill>
            <a:srgbClr val="FFF0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40080" y="4434840"/>
            <a:ext cx="109728" cy="169164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34840"/>
            <a:ext cx="10515600" cy="1691640"/>
          </a:xfrm>
          <a:prstGeom prst="rect">
            <a:avLst/>
          </a:prstGeom>
          <a:noFill/>
        </p:spPr>
        <p:txBody>
          <a:bodyPr wrap="square" anchor="ctr" tIns="36576" bIns="36576">
            <a:spAutoFit/>
          </a:bodyPr>
          <a:lstStyle/>
          <a:p>
            <a:pPr algn="l"/>
            <a:r>
              <a:rPr sz="3200" b="1">
                <a:solidFill>
                  <a:srgbClr val="1F2A44"/>
                </a:solidFill>
                <a:latin typeface="Calibri"/>
              </a:rPr>
              <a:t>Textform genügt </a:t>
            </a:r>
            <a:r>
              <a:rPr sz="3200" b="0">
                <a:solidFill>
                  <a:srgbClr val="1F2A44"/>
                </a:solidFill>
                <a:latin typeface="Calibri"/>
              </a:rPr>
              <a:t>(seit 01.08.2024), zum Beispiel per E-Mail.</a:t>
            </a:r>
          </a:p>
          <a:p>
            <a:pPr algn="l">
              <a:spcBef>
                <a:spcPts val="960"/>
              </a:spcBef>
            </a:pPr>
            <a:r>
              <a:rPr sz="3200" b="1">
                <a:solidFill>
                  <a:srgbClr val="1F2A44"/>
                </a:solidFill>
                <a:latin typeface="Calibri"/>
              </a:rPr>
              <a:t>Vorher: </a:t>
            </a:r>
            <a:r>
              <a:rPr sz="3200" b="0">
                <a:solidFill>
                  <a:srgbClr val="1F2A44"/>
                </a:solidFill>
                <a:latin typeface="Calibri"/>
              </a:rPr>
              <a:t>Papierform.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square" anchor="ctr" tIns="36576" bIns="36576">
            <a:spAutoFit/>
          </a:bodyPr>
          <a:lstStyle/>
          <a:p>
            <a:pPr algn="ctr"/>
            <a:r>
              <a:rPr sz="2400" b="0">
                <a:solidFill>
                  <a:srgbClr val="FFFFFF"/>
                </a:solidFill>
                <a:latin typeface="Calibri"/>
              </a:rPr>
              <a:t>Einstieg</a:t>
            </a:r>
          </a:p>
        </p:txBody>
      </p:sp>
      <p:sp>
        <p:nvSpPr>
          <p:cNvPr id="5" name="Rectangle 4"/>
          <p:cNvSpPr/>
          <p:nvPr/>
        </p:nvSpPr>
        <p:spPr>
          <a:xfrm>
            <a:off x="1741670"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741670" cy="457200"/>
          </a:xfrm>
          <a:prstGeom prst="rect">
            <a:avLst/>
          </a:prstGeom>
          <a:noFill/>
        </p:spPr>
        <p:txBody>
          <a:bodyPr wrap="square" anchor="ctr" tIns="36576" bIns="36576">
            <a:spAutoFit/>
          </a:bodyPr>
          <a:lstStyle/>
          <a:p>
            <a:pPr algn="ctr"/>
            <a:r>
              <a:rPr sz="2400" b="1">
                <a:solidFill>
                  <a:srgbClr val="1F2A44"/>
                </a:solidFill>
                <a:latin typeface="Calibri"/>
              </a:rPr>
              <a:t>Block 1</a:t>
            </a:r>
          </a:p>
        </p:txBody>
      </p:sp>
      <p:sp>
        <p:nvSpPr>
          <p:cNvPr id="7" name="Rectangle 6"/>
          <p:cNvSpPr/>
          <p:nvPr/>
        </p:nvSpPr>
        <p:spPr>
          <a:xfrm>
            <a:off x="3483341"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3341"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2</a:t>
            </a:r>
          </a:p>
        </p:txBody>
      </p:sp>
      <p:sp>
        <p:nvSpPr>
          <p:cNvPr id="9" name="Rectangle 8"/>
          <p:cNvSpPr/>
          <p:nvPr/>
        </p:nvSpPr>
        <p:spPr>
          <a:xfrm>
            <a:off x="5225012"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25012"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3</a:t>
            </a:r>
          </a:p>
        </p:txBody>
      </p:sp>
      <p:sp>
        <p:nvSpPr>
          <p:cNvPr id="11" name="Rectangle 10"/>
          <p:cNvSpPr/>
          <p:nvPr/>
        </p:nvSpPr>
        <p:spPr>
          <a:xfrm>
            <a:off x="6966682"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66682" y="0"/>
            <a:ext cx="1741670" cy="457200"/>
          </a:xfrm>
          <a:prstGeom prst="rect">
            <a:avLst/>
          </a:prstGeom>
          <a:noFill/>
        </p:spPr>
        <p:txBody>
          <a:bodyPr wrap="square" anchor="ctr" tIns="36576" bIns="36576">
            <a:spAutoFit/>
          </a:bodyPr>
          <a:lstStyle/>
          <a:p>
            <a:pPr algn="ctr"/>
            <a:r>
              <a:rPr sz="2400" b="0">
                <a:solidFill>
                  <a:srgbClr val="FFFFFF"/>
                </a:solidFill>
                <a:latin typeface="Calibri"/>
              </a:rPr>
              <a:t>Üben</a:t>
            </a:r>
          </a:p>
        </p:txBody>
      </p:sp>
      <p:sp>
        <p:nvSpPr>
          <p:cNvPr id="13" name="Rectangle 12"/>
          <p:cNvSpPr/>
          <p:nvPr/>
        </p:nvSpPr>
        <p:spPr>
          <a:xfrm>
            <a:off x="8708353"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8353" y="0"/>
            <a:ext cx="1741670" cy="457200"/>
          </a:xfrm>
          <a:prstGeom prst="rect">
            <a:avLst/>
          </a:prstGeom>
          <a:noFill/>
        </p:spPr>
        <p:txBody>
          <a:bodyPr wrap="square" anchor="ctr" tIns="36576" bIns="36576">
            <a:spAutoFit/>
          </a:bodyPr>
          <a:lstStyle/>
          <a:p>
            <a:pPr algn="ctr"/>
            <a:r>
              <a:rPr sz="2400" b="0">
                <a:solidFill>
                  <a:srgbClr val="FFFFFF"/>
                </a:solidFill>
                <a:latin typeface="Calibri"/>
              </a:rPr>
              <a:t>Besprechen</a:t>
            </a:r>
          </a:p>
        </p:txBody>
      </p:sp>
      <p:sp>
        <p:nvSpPr>
          <p:cNvPr id="15" name="Rectangle 14"/>
          <p:cNvSpPr/>
          <p:nvPr/>
        </p:nvSpPr>
        <p:spPr>
          <a:xfrm>
            <a:off x="10450024"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50024" y="0"/>
            <a:ext cx="1741670" cy="457200"/>
          </a:xfrm>
          <a:prstGeom prst="rect">
            <a:avLst/>
          </a:prstGeom>
          <a:noFill/>
        </p:spPr>
        <p:txBody>
          <a:bodyPr wrap="square" anchor="ctr" tIns="36576" bIns="36576">
            <a:spAutoFit/>
          </a:bodyPr>
          <a:lstStyle/>
          <a:p>
            <a:pPr algn="ctr"/>
            <a:r>
              <a:rPr sz="2400" b="0">
                <a:solidFill>
                  <a:srgbClr val="FFFFFF"/>
                </a:solidFill>
                <a:latin typeface="Calibri"/>
              </a:rPr>
              <a:t>Abschluss</a:t>
            </a:r>
          </a:p>
        </p:txBody>
      </p:sp>
      <p:pic>
        <p:nvPicPr>
          <p:cNvPr id="17" name="Picture 16" descr="Fragezeichen-Symbol"/>
          <p:cNvPicPr>
            <a:picLocks noChangeAspect="1"/>
          </p:cNvPicPr>
          <p:nvPr/>
        </p:nvPicPr>
        <p:blipFill>
          <a:blip r:embed="rId3"/>
          <a:stretch>
            <a:fillRect/>
          </a:stretch>
        </p:blipFill>
        <p:spPr>
          <a:xfrm>
            <a:off x="640080" y="914400"/>
            <a:ext cx="1234440" cy="1234440"/>
          </a:xfrm>
          <a:prstGeom prst="rect">
            <a:avLst/>
          </a:prstGeom>
        </p:spPr>
      </p:pic>
      <p:sp>
        <p:nvSpPr>
          <p:cNvPr id="18" name="Frage"/>
          <p:cNvSpPr txBox="1"/>
          <p:nvPr/>
        </p:nvSpPr>
        <p:spPr>
          <a:xfrm>
            <a:off x="2103120" y="914400"/>
            <a:ext cx="9601200" cy="3566160"/>
          </a:xfrm>
          <a:prstGeom prst="rect">
            <a:avLst/>
          </a:prstGeom>
          <a:noFill/>
        </p:spPr>
        <p:txBody>
          <a:bodyPr wrap="square" anchor="ctr" tIns="36576" bIns="36576">
            <a:spAutoFit/>
          </a:bodyPr>
          <a:lstStyle/>
          <a:p>
            <a:pPr algn="l"/>
            <a:r>
              <a:rPr sz="3400" b="1">
                <a:solidFill>
                  <a:srgbClr val="1F2A44"/>
                </a:solidFill>
                <a:latin typeface="Calibri"/>
              </a:rPr>
              <a:t>Ergänzt den Satz auf eurem Arbeitsblatt:
„Seit dem ① genügt für den Vertragsinhalt die ② . Vorher war die ③ vorgeschrieben.“</a:t>
            </a:r>
          </a:p>
        </p:txBody>
      </p:sp>
      <p:sp>
        <p:nvSpPr>
          <p:cNvPr id="19" name="Rounded Rectangle 18"/>
          <p:cNvSpPr/>
          <p:nvPr/>
        </p:nvSpPr>
        <p:spPr>
          <a:xfrm>
            <a:off x="502920" y="6327648"/>
            <a:ext cx="2276856" cy="420624"/>
          </a:xfrm>
          <a:prstGeom prst="roundRect">
            <a:avLst>
              <a:gd name="adj" fmla="val 4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6327648"/>
            <a:ext cx="2276856" cy="420624"/>
          </a:xfrm>
          <a:prstGeom prst="rect">
            <a:avLst/>
          </a:prstGeom>
          <a:noFill/>
        </p:spPr>
        <p:txBody>
          <a:bodyPr wrap="square" anchor="ctr" tIns="36576" bIns="36576">
            <a:spAutoFit/>
          </a:bodyPr>
          <a:lstStyle/>
          <a:p>
            <a:pPr algn="ctr"/>
            <a:r>
              <a:rPr sz="2400" b="1">
                <a:solidFill>
                  <a:srgbClr val="FFFFFF"/>
                </a:solidFill>
                <a:latin typeface="Calibri"/>
              </a:rPr>
              <a:t>Einzelarbeit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square" anchor="ctr" tIns="36576" bIns="36576">
            <a:spAutoFit/>
          </a:bodyPr>
          <a:lstStyle/>
          <a:p>
            <a:pPr algn="ctr"/>
            <a:r>
              <a:rPr sz="2400" b="0">
                <a:solidFill>
                  <a:srgbClr val="FFFFFF"/>
                </a:solidFill>
                <a:latin typeface="Calibri"/>
              </a:rPr>
              <a:t>Einstieg</a:t>
            </a:r>
          </a:p>
        </p:txBody>
      </p:sp>
      <p:sp>
        <p:nvSpPr>
          <p:cNvPr id="5" name="Rectangle 4"/>
          <p:cNvSpPr/>
          <p:nvPr/>
        </p:nvSpPr>
        <p:spPr>
          <a:xfrm>
            <a:off x="1741670"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741670" cy="457200"/>
          </a:xfrm>
          <a:prstGeom prst="rect">
            <a:avLst/>
          </a:prstGeom>
          <a:noFill/>
        </p:spPr>
        <p:txBody>
          <a:bodyPr wrap="square" anchor="ctr" tIns="36576" bIns="36576">
            <a:spAutoFit/>
          </a:bodyPr>
          <a:lstStyle/>
          <a:p>
            <a:pPr algn="ctr"/>
            <a:r>
              <a:rPr sz="2400" b="1">
                <a:solidFill>
                  <a:srgbClr val="1F2A44"/>
                </a:solidFill>
                <a:latin typeface="Calibri"/>
              </a:rPr>
              <a:t>Block 1</a:t>
            </a:r>
          </a:p>
        </p:txBody>
      </p:sp>
      <p:sp>
        <p:nvSpPr>
          <p:cNvPr id="7" name="Rectangle 6"/>
          <p:cNvSpPr/>
          <p:nvPr/>
        </p:nvSpPr>
        <p:spPr>
          <a:xfrm>
            <a:off x="3483341"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3341"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2</a:t>
            </a:r>
          </a:p>
        </p:txBody>
      </p:sp>
      <p:sp>
        <p:nvSpPr>
          <p:cNvPr id="9" name="Rectangle 8"/>
          <p:cNvSpPr/>
          <p:nvPr/>
        </p:nvSpPr>
        <p:spPr>
          <a:xfrm>
            <a:off x="5225012"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25012"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3</a:t>
            </a:r>
          </a:p>
        </p:txBody>
      </p:sp>
      <p:sp>
        <p:nvSpPr>
          <p:cNvPr id="11" name="Rectangle 10"/>
          <p:cNvSpPr/>
          <p:nvPr/>
        </p:nvSpPr>
        <p:spPr>
          <a:xfrm>
            <a:off x="6966682"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66682" y="0"/>
            <a:ext cx="1741670" cy="457200"/>
          </a:xfrm>
          <a:prstGeom prst="rect">
            <a:avLst/>
          </a:prstGeom>
          <a:noFill/>
        </p:spPr>
        <p:txBody>
          <a:bodyPr wrap="square" anchor="ctr" tIns="36576" bIns="36576">
            <a:spAutoFit/>
          </a:bodyPr>
          <a:lstStyle/>
          <a:p>
            <a:pPr algn="ctr"/>
            <a:r>
              <a:rPr sz="2400" b="0">
                <a:solidFill>
                  <a:srgbClr val="FFFFFF"/>
                </a:solidFill>
                <a:latin typeface="Calibri"/>
              </a:rPr>
              <a:t>Üben</a:t>
            </a:r>
          </a:p>
        </p:txBody>
      </p:sp>
      <p:sp>
        <p:nvSpPr>
          <p:cNvPr id="13" name="Rectangle 12"/>
          <p:cNvSpPr/>
          <p:nvPr/>
        </p:nvSpPr>
        <p:spPr>
          <a:xfrm>
            <a:off x="8708353"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8353" y="0"/>
            <a:ext cx="1741670" cy="457200"/>
          </a:xfrm>
          <a:prstGeom prst="rect">
            <a:avLst/>
          </a:prstGeom>
          <a:noFill/>
        </p:spPr>
        <p:txBody>
          <a:bodyPr wrap="square" anchor="ctr" tIns="36576" bIns="36576">
            <a:spAutoFit/>
          </a:bodyPr>
          <a:lstStyle/>
          <a:p>
            <a:pPr algn="ctr"/>
            <a:r>
              <a:rPr sz="2400" b="0">
                <a:solidFill>
                  <a:srgbClr val="FFFFFF"/>
                </a:solidFill>
                <a:latin typeface="Calibri"/>
              </a:rPr>
              <a:t>Besprechen</a:t>
            </a:r>
          </a:p>
        </p:txBody>
      </p:sp>
      <p:sp>
        <p:nvSpPr>
          <p:cNvPr id="15" name="Rectangle 14"/>
          <p:cNvSpPr/>
          <p:nvPr/>
        </p:nvSpPr>
        <p:spPr>
          <a:xfrm>
            <a:off x="10450024"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50024" y="0"/>
            <a:ext cx="1741670" cy="457200"/>
          </a:xfrm>
          <a:prstGeom prst="rect">
            <a:avLst/>
          </a:prstGeom>
          <a:noFill/>
        </p:spPr>
        <p:txBody>
          <a:bodyPr wrap="square" anchor="ctr" tIns="36576" bIns="36576">
            <a:spAutoFit/>
          </a:bodyPr>
          <a:lstStyle/>
          <a:p>
            <a:pPr algn="ctr"/>
            <a:r>
              <a:rPr sz="2400" b="0">
                <a:solidFill>
                  <a:srgbClr val="FFFFFF"/>
                </a:solidFill>
                <a:latin typeface="Calibri"/>
              </a:rPr>
              <a:t>Abschluss</a:t>
            </a:r>
          </a:p>
        </p:txBody>
      </p:sp>
      <p:sp>
        <p:nvSpPr>
          <p:cNvPr id="17" name="Antwortrahmen"/>
          <p:cNvSpPr/>
          <p:nvPr/>
        </p:nvSpPr>
        <p:spPr>
          <a:xfrm>
            <a:off x="411480" y="566928"/>
            <a:ext cx="11365992" cy="5669280"/>
          </a:xfrm>
          <a:prstGeom prst="rect">
            <a:avLst/>
          </a:prstGeom>
          <a:noFill/>
          <a:ln w="76200">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Haken: Antwortfolie"/>
          <p:cNvPicPr>
            <a:picLocks noChangeAspect="1"/>
          </p:cNvPicPr>
          <p:nvPr/>
        </p:nvPicPr>
        <p:blipFill>
          <a:blip r:embed="rId3"/>
          <a:stretch>
            <a:fillRect/>
          </a:stretch>
        </p:blipFill>
        <p:spPr>
          <a:xfrm>
            <a:off x="10972800" y="640080"/>
            <a:ext cx="685800" cy="685800"/>
          </a:xfrm>
          <a:prstGeom prst="rect">
            <a:avLst/>
          </a:prstGeom>
        </p:spPr>
      </p:pic>
      <p:sp>
        <p:nvSpPr>
          <p:cNvPr id="19" name="Titel"/>
          <p:cNvSpPr txBox="1"/>
          <p:nvPr/>
        </p:nvSpPr>
        <p:spPr>
          <a:xfrm>
            <a:off x="640080" y="594360"/>
            <a:ext cx="10241280" cy="822960"/>
          </a:xfrm>
          <a:prstGeom prst="rect">
            <a:avLst/>
          </a:prstGeom>
          <a:noFill/>
        </p:spPr>
        <p:txBody>
          <a:bodyPr wrap="square" anchor="ctr" tIns="36576" bIns="36576">
            <a:spAutoFit/>
          </a:bodyPr>
          <a:lstStyle/>
          <a:p>
            <a:pPr algn="l"/>
            <a:r>
              <a:rPr sz="4000" b="1">
                <a:solidFill>
                  <a:srgbClr val="1F2A44"/>
                </a:solidFill>
                <a:latin typeface="Calibri"/>
              </a:rPr>
              <a:t>So steht es im Gesetz (§ 11 BBiG)</a:t>
            </a:r>
          </a:p>
        </p:txBody>
      </p:sp>
      <p:sp>
        <p:nvSpPr>
          <p:cNvPr id="20" name="TextBox 19"/>
          <p:cNvSpPr txBox="1"/>
          <p:nvPr/>
        </p:nvSpPr>
        <p:spPr>
          <a:xfrm>
            <a:off x="822960" y="1645920"/>
            <a:ext cx="10515600" cy="1554480"/>
          </a:xfrm>
          <a:prstGeom prst="rect">
            <a:avLst/>
          </a:prstGeom>
          <a:noFill/>
        </p:spPr>
        <p:txBody>
          <a:bodyPr wrap="square" anchor="t" tIns="36576" bIns="36576">
            <a:spAutoFit/>
          </a:bodyPr>
          <a:lstStyle/>
          <a:p>
            <a:pPr algn="l"/>
            <a:r>
              <a:rPr sz="3400" b="0">
                <a:solidFill>
                  <a:srgbClr val="1F2A44"/>
                </a:solidFill>
                <a:latin typeface="Calibri"/>
              </a:rPr>
              <a:t>Seit dem ① genügt für den Vertragsinhalt die ② . Vorher war die ③ vorgeschrieben.</a:t>
            </a:r>
          </a:p>
        </p:txBody>
      </p:sp>
      <p:sp>
        <p:nvSpPr>
          <p:cNvPr id="21" name="Antwort_1"/>
          <p:cNvSpPr/>
          <p:nvPr/>
        </p:nvSpPr>
        <p:spPr>
          <a:xfrm>
            <a:off x="822960" y="3657600"/>
            <a:ext cx="3383280" cy="1280160"/>
          </a:xfrm>
          <a:prstGeom prst="roundRect">
            <a:avLst/>
          </a:prstGeom>
          <a:solidFill>
            <a:srgbClr val="FFF0D1"/>
          </a:solidFill>
          <a:ln w="38100">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3200" b="1">
                <a:solidFill>
                  <a:srgbClr val="1F2A44"/>
                </a:solidFill>
                <a:latin typeface="Calibri"/>
              </a:rPr>
              <a:t>① 01.08.2024</a:t>
            </a:r>
          </a:p>
        </p:txBody>
      </p:sp>
      <p:sp>
        <p:nvSpPr>
          <p:cNvPr id="22" name="Antwort_2"/>
          <p:cNvSpPr/>
          <p:nvPr/>
        </p:nvSpPr>
        <p:spPr>
          <a:xfrm>
            <a:off x="4480560" y="3657600"/>
            <a:ext cx="3383280" cy="1280160"/>
          </a:xfrm>
          <a:prstGeom prst="roundRect">
            <a:avLst/>
          </a:prstGeom>
          <a:solidFill>
            <a:srgbClr val="FFF0D1"/>
          </a:solidFill>
          <a:ln w="38100">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3200" b="1">
                <a:solidFill>
                  <a:srgbClr val="1F2A44"/>
                </a:solidFill>
                <a:latin typeface="Calibri"/>
              </a:rPr>
              <a:t>② Textform</a:t>
            </a:r>
          </a:p>
        </p:txBody>
      </p:sp>
      <p:sp>
        <p:nvSpPr>
          <p:cNvPr id="23" name="Antwort_3"/>
          <p:cNvSpPr/>
          <p:nvPr/>
        </p:nvSpPr>
        <p:spPr>
          <a:xfrm>
            <a:off x="8138160" y="3657600"/>
            <a:ext cx="3383280" cy="1280160"/>
          </a:xfrm>
          <a:prstGeom prst="roundRect">
            <a:avLst/>
          </a:prstGeom>
          <a:solidFill>
            <a:srgbClr val="FFF0D1"/>
          </a:solidFill>
          <a:ln w="38100">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3200" b="1">
                <a:solidFill>
                  <a:srgbClr val="1F2A44"/>
                </a:solidFill>
                <a:latin typeface="Calibri"/>
              </a:rPr>
              <a:t>③ Papierform</a:t>
            </a:r>
          </a:p>
        </p:txBody>
      </p:sp>
      <p:sp>
        <p:nvSpPr>
          <p:cNvPr id="24" name="TextBox 23"/>
          <p:cNvSpPr txBox="1"/>
          <p:nvPr/>
        </p:nvSpPr>
        <p:spPr>
          <a:xfrm>
            <a:off x="7589520" y="6327648"/>
            <a:ext cx="4114800" cy="420624"/>
          </a:xfrm>
          <a:prstGeom prst="rect">
            <a:avLst/>
          </a:prstGeom>
          <a:noFill/>
        </p:spPr>
        <p:txBody>
          <a:bodyPr wrap="square" anchor="ctr" tIns="36576" bIns="36576">
            <a:spAutoFit/>
          </a:bodyPr>
          <a:lstStyle/>
          <a:p>
            <a:pPr algn="r"/>
            <a:r>
              <a:rPr sz="2400" b="0">
                <a:solidFill>
                  <a:srgbClr val="4A5568"/>
                </a:solidFill>
                <a:latin typeface="Calibri"/>
              </a:rPr>
              <a:t>§ 11 BBiG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square" anchor="ctr" tIns="36576" bIns="36576">
            <a:spAutoFit/>
          </a:bodyPr>
          <a:lstStyle/>
          <a:p>
            <a:pPr algn="ctr"/>
            <a:r>
              <a:rPr sz="2400" b="0">
                <a:solidFill>
                  <a:srgbClr val="FFFFFF"/>
                </a:solidFill>
                <a:latin typeface="Calibri"/>
              </a:rPr>
              <a:t>Einstieg</a:t>
            </a:r>
          </a:p>
        </p:txBody>
      </p:sp>
      <p:sp>
        <p:nvSpPr>
          <p:cNvPr id="5" name="Rectangle 4"/>
          <p:cNvSpPr/>
          <p:nvPr/>
        </p:nvSpPr>
        <p:spPr>
          <a:xfrm>
            <a:off x="1741670"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741670" cy="457200"/>
          </a:xfrm>
          <a:prstGeom prst="rect">
            <a:avLst/>
          </a:prstGeom>
          <a:noFill/>
        </p:spPr>
        <p:txBody>
          <a:bodyPr wrap="square" anchor="ctr" tIns="36576" bIns="36576">
            <a:spAutoFit/>
          </a:bodyPr>
          <a:lstStyle/>
          <a:p>
            <a:pPr algn="ctr"/>
            <a:r>
              <a:rPr sz="2400" b="1">
                <a:solidFill>
                  <a:srgbClr val="1F2A44"/>
                </a:solidFill>
                <a:latin typeface="Calibri"/>
              </a:rPr>
              <a:t>Block 1</a:t>
            </a:r>
          </a:p>
        </p:txBody>
      </p:sp>
      <p:sp>
        <p:nvSpPr>
          <p:cNvPr id="7" name="Rectangle 6"/>
          <p:cNvSpPr/>
          <p:nvPr/>
        </p:nvSpPr>
        <p:spPr>
          <a:xfrm>
            <a:off x="3483341"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3341"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2</a:t>
            </a:r>
          </a:p>
        </p:txBody>
      </p:sp>
      <p:sp>
        <p:nvSpPr>
          <p:cNvPr id="9" name="Rectangle 8"/>
          <p:cNvSpPr/>
          <p:nvPr/>
        </p:nvSpPr>
        <p:spPr>
          <a:xfrm>
            <a:off x="5225012"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25012"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3</a:t>
            </a:r>
          </a:p>
        </p:txBody>
      </p:sp>
      <p:sp>
        <p:nvSpPr>
          <p:cNvPr id="11" name="Rectangle 10"/>
          <p:cNvSpPr/>
          <p:nvPr/>
        </p:nvSpPr>
        <p:spPr>
          <a:xfrm>
            <a:off x="6966682"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66682" y="0"/>
            <a:ext cx="1741670" cy="457200"/>
          </a:xfrm>
          <a:prstGeom prst="rect">
            <a:avLst/>
          </a:prstGeom>
          <a:noFill/>
        </p:spPr>
        <p:txBody>
          <a:bodyPr wrap="square" anchor="ctr" tIns="36576" bIns="36576">
            <a:spAutoFit/>
          </a:bodyPr>
          <a:lstStyle/>
          <a:p>
            <a:pPr algn="ctr"/>
            <a:r>
              <a:rPr sz="2400" b="0">
                <a:solidFill>
                  <a:srgbClr val="FFFFFF"/>
                </a:solidFill>
                <a:latin typeface="Calibri"/>
              </a:rPr>
              <a:t>Üben</a:t>
            </a:r>
          </a:p>
        </p:txBody>
      </p:sp>
      <p:sp>
        <p:nvSpPr>
          <p:cNvPr id="13" name="Rectangle 12"/>
          <p:cNvSpPr/>
          <p:nvPr/>
        </p:nvSpPr>
        <p:spPr>
          <a:xfrm>
            <a:off x="8708353"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8353" y="0"/>
            <a:ext cx="1741670" cy="457200"/>
          </a:xfrm>
          <a:prstGeom prst="rect">
            <a:avLst/>
          </a:prstGeom>
          <a:noFill/>
        </p:spPr>
        <p:txBody>
          <a:bodyPr wrap="square" anchor="ctr" tIns="36576" bIns="36576">
            <a:spAutoFit/>
          </a:bodyPr>
          <a:lstStyle/>
          <a:p>
            <a:pPr algn="ctr"/>
            <a:r>
              <a:rPr sz="2400" b="0">
                <a:solidFill>
                  <a:srgbClr val="FFFFFF"/>
                </a:solidFill>
                <a:latin typeface="Calibri"/>
              </a:rPr>
              <a:t>Besprechen</a:t>
            </a:r>
          </a:p>
        </p:txBody>
      </p:sp>
      <p:sp>
        <p:nvSpPr>
          <p:cNvPr id="15" name="Rectangle 14"/>
          <p:cNvSpPr/>
          <p:nvPr/>
        </p:nvSpPr>
        <p:spPr>
          <a:xfrm>
            <a:off x="10450024"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50024" y="0"/>
            <a:ext cx="1741670" cy="457200"/>
          </a:xfrm>
          <a:prstGeom prst="rect">
            <a:avLst/>
          </a:prstGeom>
          <a:noFill/>
        </p:spPr>
        <p:txBody>
          <a:bodyPr wrap="square" anchor="ctr" tIns="36576" bIns="36576">
            <a:spAutoFit/>
          </a:bodyPr>
          <a:lstStyle/>
          <a:p>
            <a:pPr algn="ctr"/>
            <a:r>
              <a:rPr sz="2400" b="0">
                <a:solidFill>
                  <a:srgbClr val="FFFFFF"/>
                </a:solidFill>
                <a:latin typeface="Calibri"/>
              </a:rPr>
              <a:t>Abschluss</a:t>
            </a:r>
          </a:p>
        </p:txBody>
      </p:sp>
      <p:sp>
        <p:nvSpPr>
          <p:cNvPr id="17" name="Titel"/>
          <p:cNvSpPr txBox="1"/>
          <p:nvPr/>
        </p:nvSpPr>
        <p:spPr>
          <a:xfrm>
            <a:off x="548640" y="530352"/>
            <a:ext cx="11155680" cy="868680"/>
          </a:xfrm>
          <a:prstGeom prst="rect">
            <a:avLst/>
          </a:prstGeom>
          <a:noFill/>
        </p:spPr>
        <p:txBody>
          <a:bodyPr wrap="square" anchor="ctr" tIns="36576" bIns="36576">
            <a:spAutoFit/>
          </a:bodyPr>
          <a:lstStyle/>
          <a:p>
            <a:pPr algn="l"/>
            <a:r>
              <a:rPr sz="4000" b="1">
                <a:solidFill>
                  <a:srgbClr val="1F2A44"/>
                </a:solidFill>
                <a:latin typeface="Calibri"/>
              </a:rPr>
              <a:t>Beginn und Dauer: Zeitstrahl</a:t>
            </a:r>
          </a:p>
        </p:txBody>
      </p:sp>
      <p:sp>
        <p:nvSpPr>
          <p:cNvPr id="18" name="Rectangle 17"/>
          <p:cNvSpPr/>
          <p:nvPr/>
        </p:nvSpPr>
        <p:spPr>
          <a:xfrm>
            <a:off x="640080" y="1371600"/>
            <a:ext cx="1463040" cy="6400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89520" y="6327648"/>
            <a:ext cx="4114800" cy="420624"/>
          </a:xfrm>
          <a:prstGeom prst="rect">
            <a:avLst/>
          </a:prstGeom>
          <a:noFill/>
        </p:spPr>
        <p:txBody>
          <a:bodyPr wrap="square" anchor="ctr" tIns="36576" bIns="36576">
            <a:spAutoFit/>
          </a:bodyPr>
          <a:lstStyle/>
          <a:p>
            <a:pPr algn="r"/>
            <a:r>
              <a:rPr sz="2400" b="0">
                <a:solidFill>
                  <a:srgbClr val="4A5568"/>
                </a:solidFill>
                <a:latin typeface="Calibri"/>
              </a:rPr>
              <a:t>§ 8, § 21 BBiG</a:t>
            </a:r>
          </a:p>
        </p:txBody>
      </p:sp>
      <p:sp>
        <p:nvSpPr>
          <p:cNvPr id="20" name="Rectangle 19"/>
          <p:cNvSpPr/>
          <p:nvPr/>
        </p:nvSpPr>
        <p:spPr>
          <a:xfrm>
            <a:off x="1097280" y="1783080"/>
            <a:ext cx="9966960" cy="5029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97280" y="1783080"/>
            <a:ext cx="9966960" cy="502920"/>
          </a:xfrm>
          <a:prstGeom prst="rect">
            <a:avLst/>
          </a:prstGeom>
          <a:noFill/>
        </p:spPr>
        <p:txBody>
          <a:bodyPr wrap="square" anchor="ctr" tIns="36576" bIns="36576">
            <a:spAutoFit/>
          </a:bodyPr>
          <a:lstStyle/>
          <a:p>
            <a:pPr algn="ctr"/>
            <a:r>
              <a:rPr sz="2800" b="1">
                <a:solidFill>
                  <a:srgbClr val="FFFFFF"/>
                </a:solidFill>
                <a:latin typeface="Calibri"/>
              </a:rPr>
              <a:t>Ausbildungsdauer</a:t>
            </a:r>
          </a:p>
        </p:txBody>
      </p:sp>
      <p:sp>
        <p:nvSpPr>
          <p:cNvPr id="22" name="Oval 21"/>
          <p:cNvSpPr/>
          <p:nvPr/>
        </p:nvSpPr>
        <p:spPr>
          <a:xfrm>
            <a:off x="914400" y="1737360"/>
            <a:ext cx="594360" cy="594360"/>
          </a:xfrm>
          <a:prstGeom prst="ellipse">
            <a:avLst/>
          </a:prstGeom>
          <a:solidFill>
            <a:srgbClr val="F5A623"/>
          </a:solidFill>
          <a:ln w="381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881360" y="1737360"/>
            <a:ext cx="594360" cy="594360"/>
          </a:xfrm>
          <a:prstGeom prst="ellipse">
            <a:avLst/>
          </a:prstGeom>
          <a:solidFill>
            <a:srgbClr val="F5A623"/>
          </a:solidFill>
          <a:ln w="381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2377440"/>
            <a:ext cx="2743200" cy="457200"/>
          </a:xfrm>
          <a:prstGeom prst="rect">
            <a:avLst/>
          </a:prstGeom>
          <a:noFill/>
        </p:spPr>
        <p:txBody>
          <a:bodyPr wrap="square" anchor="t" tIns="36576" bIns="36576">
            <a:spAutoFit/>
          </a:bodyPr>
          <a:lstStyle/>
          <a:p>
            <a:pPr algn="l"/>
            <a:r>
              <a:rPr sz="2800" b="1">
                <a:solidFill>
                  <a:srgbClr val="1F2A44"/>
                </a:solidFill>
                <a:latin typeface="Calibri"/>
              </a:rPr>
              <a:t>Beginn</a:t>
            </a:r>
          </a:p>
        </p:txBody>
      </p:sp>
      <p:sp>
        <p:nvSpPr>
          <p:cNvPr id="25" name="TextBox 24"/>
          <p:cNvSpPr txBox="1"/>
          <p:nvPr/>
        </p:nvSpPr>
        <p:spPr>
          <a:xfrm>
            <a:off x="6949440" y="2377440"/>
            <a:ext cx="4754880" cy="457200"/>
          </a:xfrm>
          <a:prstGeom prst="rect">
            <a:avLst/>
          </a:prstGeom>
          <a:noFill/>
        </p:spPr>
        <p:txBody>
          <a:bodyPr wrap="square" anchor="t" tIns="36576" bIns="36576">
            <a:spAutoFit/>
          </a:bodyPr>
          <a:lstStyle/>
          <a:p>
            <a:pPr algn="r"/>
            <a:r>
              <a:rPr sz="2800" b="1">
                <a:solidFill>
                  <a:srgbClr val="1F2A44"/>
                </a:solidFill>
                <a:latin typeface="Calibri"/>
              </a:rPr>
              <a:t>Prüfung</a:t>
            </a:r>
          </a:p>
        </p:txBody>
      </p:sp>
      <p:sp>
        <p:nvSpPr>
          <p:cNvPr id="26" name="TextBox 25"/>
          <p:cNvSpPr txBox="1"/>
          <p:nvPr/>
        </p:nvSpPr>
        <p:spPr>
          <a:xfrm>
            <a:off x="5669280" y="2834640"/>
            <a:ext cx="6035040" cy="457200"/>
          </a:xfrm>
          <a:prstGeom prst="rect">
            <a:avLst/>
          </a:prstGeom>
          <a:noFill/>
        </p:spPr>
        <p:txBody>
          <a:bodyPr wrap="square" anchor="t" tIns="36576" bIns="36576">
            <a:spAutoFit/>
          </a:bodyPr>
          <a:lstStyle/>
          <a:p>
            <a:pPr algn="r"/>
            <a:r>
              <a:rPr sz="2400" b="0">
                <a:solidFill>
                  <a:srgbClr val="4A5568"/>
                </a:solidFill>
                <a:latin typeface="Calibri"/>
              </a:rPr>
              <a:t>Ende mit Bekanntgabe des Ergebnisses</a:t>
            </a:r>
          </a:p>
        </p:txBody>
      </p:sp>
      <p:sp>
        <p:nvSpPr>
          <p:cNvPr id="27" name="Rectangle 26"/>
          <p:cNvSpPr/>
          <p:nvPr/>
        </p:nvSpPr>
        <p:spPr>
          <a:xfrm>
            <a:off x="640080" y="3429000"/>
            <a:ext cx="5349240" cy="2743200"/>
          </a:xfrm>
          <a:prstGeom prst="rect">
            <a:avLst/>
          </a:prstGeom>
          <a:solidFill>
            <a:srgbClr val="E3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40080" y="3429000"/>
            <a:ext cx="109728" cy="2743200"/>
          </a:xfrm>
          <a:prstGeom prst="rect">
            <a:avLst/>
          </a:prstGeom>
          <a:solidFill>
            <a:srgbClr val="1E7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3502152"/>
            <a:ext cx="4937759" cy="594360"/>
          </a:xfrm>
          <a:prstGeom prst="rect">
            <a:avLst/>
          </a:prstGeom>
          <a:noFill/>
        </p:spPr>
        <p:txBody>
          <a:bodyPr wrap="square" anchor="t" tIns="36576" bIns="36576">
            <a:spAutoFit/>
          </a:bodyPr>
          <a:lstStyle/>
          <a:p>
            <a:pPr algn="l"/>
            <a:r>
              <a:rPr sz="3200" b="1">
                <a:solidFill>
                  <a:srgbClr val="1F2A44"/>
                </a:solidFill>
                <a:latin typeface="Calibri"/>
              </a:rPr>
              <a:t>Verkürzung</a:t>
            </a:r>
          </a:p>
        </p:txBody>
      </p:sp>
      <p:sp>
        <p:nvSpPr>
          <p:cNvPr id="30" name="TextBox 29"/>
          <p:cNvSpPr txBox="1"/>
          <p:nvPr/>
        </p:nvSpPr>
        <p:spPr>
          <a:xfrm>
            <a:off x="914400" y="4050791"/>
            <a:ext cx="4937759" cy="2075688"/>
          </a:xfrm>
          <a:prstGeom prst="rect">
            <a:avLst/>
          </a:prstGeom>
          <a:noFill/>
        </p:spPr>
        <p:txBody>
          <a:bodyPr wrap="square" anchor="t" tIns="36576" bIns="36576">
            <a:spAutoFit/>
          </a:bodyPr>
          <a:lstStyle/>
          <a:p>
            <a:pPr algn="l"/>
            <a:r>
              <a:rPr sz="2800" b="0">
                <a:solidFill>
                  <a:srgbClr val="1F2A44"/>
                </a:solidFill>
                <a:latin typeface="Calibri"/>
              </a:rPr>
              <a:t>auf gemeinsamen Antrag von Azubi und Betrieb bei der zuständigen Stelle</a:t>
            </a:r>
          </a:p>
        </p:txBody>
      </p:sp>
      <p:sp>
        <p:nvSpPr>
          <p:cNvPr id="31" name="Rectangle 30"/>
          <p:cNvSpPr/>
          <p:nvPr/>
        </p:nvSpPr>
        <p:spPr>
          <a:xfrm>
            <a:off x="6172200" y="3429000"/>
            <a:ext cx="5349240" cy="2743200"/>
          </a:xfrm>
          <a:prstGeom prst="rect">
            <a:avLst/>
          </a:prstGeom>
          <a:solidFill>
            <a:srgbClr val="FCEB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72200" y="3429000"/>
            <a:ext cx="109728" cy="2743200"/>
          </a:xfrm>
          <a:prstGeom prst="rect">
            <a:avLst/>
          </a:prstGeom>
          <a:solidFill>
            <a:srgbClr val="B85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46520" y="3502152"/>
            <a:ext cx="4937759" cy="594360"/>
          </a:xfrm>
          <a:prstGeom prst="rect">
            <a:avLst/>
          </a:prstGeom>
          <a:noFill/>
        </p:spPr>
        <p:txBody>
          <a:bodyPr wrap="square" anchor="t" tIns="36576" bIns="36576">
            <a:spAutoFit/>
          </a:bodyPr>
          <a:lstStyle/>
          <a:p>
            <a:pPr algn="l"/>
            <a:r>
              <a:rPr sz="3200" b="1">
                <a:solidFill>
                  <a:srgbClr val="1F2A44"/>
                </a:solidFill>
                <a:latin typeface="Calibri"/>
              </a:rPr>
              <a:t>Verlängerung</a:t>
            </a:r>
          </a:p>
        </p:txBody>
      </p:sp>
      <p:sp>
        <p:nvSpPr>
          <p:cNvPr id="34" name="TextBox 33"/>
          <p:cNvSpPr txBox="1"/>
          <p:nvPr/>
        </p:nvSpPr>
        <p:spPr>
          <a:xfrm>
            <a:off x="6446520" y="4050791"/>
            <a:ext cx="4937759" cy="2075688"/>
          </a:xfrm>
          <a:prstGeom prst="rect">
            <a:avLst/>
          </a:prstGeom>
          <a:noFill/>
        </p:spPr>
        <p:txBody>
          <a:bodyPr wrap="square" anchor="t" tIns="36576" bIns="36576">
            <a:spAutoFit/>
          </a:bodyPr>
          <a:lstStyle/>
          <a:p>
            <a:pPr algn="l"/>
            <a:r>
              <a:rPr sz="2800" b="0">
                <a:solidFill>
                  <a:srgbClr val="1F2A44"/>
                </a:solidFill>
                <a:latin typeface="Calibri"/>
              </a:rPr>
              <a:t>nur in Ausnahmefällen auf Antrag des Azubis oder nach nicht bestandener Prüfung, höchstens um ein Jahr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square" anchor="ctr" tIns="36576" bIns="36576">
            <a:spAutoFit/>
          </a:bodyPr>
          <a:lstStyle/>
          <a:p>
            <a:pPr algn="ctr"/>
            <a:r>
              <a:rPr sz="2400" b="0">
                <a:solidFill>
                  <a:srgbClr val="FFFFFF"/>
                </a:solidFill>
                <a:latin typeface="Calibri"/>
              </a:rPr>
              <a:t>Einstieg</a:t>
            </a:r>
          </a:p>
        </p:txBody>
      </p:sp>
      <p:sp>
        <p:nvSpPr>
          <p:cNvPr id="5" name="Rectangle 4"/>
          <p:cNvSpPr/>
          <p:nvPr/>
        </p:nvSpPr>
        <p:spPr>
          <a:xfrm>
            <a:off x="1741670"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741670" cy="457200"/>
          </a:xfrm>
          <a:prstGeom prst="rect">
            <a:avLst/>
          </a:prstGeom>
          <a:noFill/>
        </p:spPr>
        <p:txBody>
          <a:bodyPr wrap="square" anchor="ctr" tIns="36576" bIns="36576">
            <a:spAutoFit/>
          </a:bodyPr>
          <a:lstStyle/>
          <a:p>
            <a:pPr algn="ctr"/>
            <a:r>
              <a:rPr sz="2400" b="1">
                <a:solidFill>
                  <a:srgbClr val="1F2A44"/>
                </a:solidFill>
                <a:latin typeface="Calibri"/>
              </a:rPr>
              <a:t>Block 1</a:t>
            </a:r>
          </a:p>
        </p:txBody>
      </p:sp>
      <p:sp>
        <p:nvSpPr>
          <p:cNvPr id="7" name="Rectangle 6"/>
          <p:cNvSpPr/>
          <p:nvPr/>
        </p:nvSpPr>
        <p:spPr>
          <a:xfrm>
            <a:off x="3483341"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3341"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2</a:t>
            </a:r>
          </a:p>
        </p:txBody>
      </p:sp>
      <p:sp>
        <p:nvSpPr>
          <p:cNvPr id="9" name="Rectangle 8"/>
          <p:cNvSpPr/>
          <p:nvPr/>
        </p:nvSpPr>
        <p:spPr>
          <a:xfrm>
            <a:off x="5225012"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25012"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3</a:t>
            </a:r>
          </a:p>
        </p:txBody>
      </p:sp>
      <p:sp>
        <p:nvSpPr>
          <p:cNvPr id="11" name="Rectangle 10"/>
          <p:cNvSpPr/>
          <p:nvPr/>
        </p:nvSpPr>
        <p:spPr>
          <a:xfrm>
            <a:off x="6966682"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66682" y="0"/>
            <a:ext cx="1741670" cy="457200"/>
          </a:xfrm>
          <a:prstGeom prst="rect">
            <a:avLst/>
          </a:prstGeom>
          <a:noFill/>
        </p:spPr>
        <p:txBody>
          <a:bodyPr wrap="square" anchor="ctr" tIns="36576" bIns="36576">
            <a:spAutoFit/>
          </a:bodyPr>
          <a:lstStyle/>
          <a:p>
            <a:pPr algn="ctr"/>
            <a:r>
              <a:rPr sz="2400" b="0">
                <a:solidFill>
                  <a:srgbClr val="FFFFFF"/>
                </a:solidFill>
                <a:latin typeface="Calibri"/>
              </a:rPr>
              <a:t>Üben</a:t>
            </a:r>
          </a:p>
        </p:txBody>
      </p:sp>
      <p:sp>
        <p:nvSpPr>
          <p:cNvPr id="13" name="Rectangle 12"/>
          <p:cNvSpPr/>
          <p:nvPr/>
        </p:nvSpPr>
        <p:spPr>
          <a:xfrm>
            <a:off x="8708353"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8353" y="0"/>
            <a:ext cx="1741670" cy="457200"/>
          </a:xfrm>
          <a:prstGeom prst="rect">
            <a:avLst/>
          </a:prstGeom>
          <a:noFill/>
        </p:spPr>
        <p:txBody>
          <a:bodyPr wrap="square" anchor="ctr" tIns="36576" bIns="36576">
            <a:spAutoFit/>
          </a:bodyPr>
          <a:lstStyle/>
          <a:p>
            <a:pPr algn="ctr"/>
            <a:r>
              <a:rPr sz="2400" b="0">
                <a:solidFill>
                  <a:srgbClr val="FFFFFF"/>
                </a:solidFill>
                <a:latin typeface="Calibri"/>
              </a:rPr>
              <a:t>Besprechen</a:t>
            </a:r>
          </a:p>
        </p:txBody>
      </p:sp>
      <p:sp>
        <p:nvSpPr>
          <p:cNvPr id="15" name="Rectangle 14"/>
          <p:cNvSpPr/>
          <p:nvPr/>
        </p:nvSpPr>
        <p:spPr>
          <a:xfrm>
            <a:off x="10450024"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50024" y="0"/>
            <a:ext cx="1741670" cy="457200"/>
          </a:xfrm>
          <a:prstGeom prst="rect">
            <a:avLst/>
          </a:prstGeom>
          <a:noFill/>
        </p:spPr>
        <p:txBody>
          <a:bodyPr wrap="square" anchor="ctr" tIns="36576" bIns="36576">
            <a:spAutoFit/>
          </a:bodyPr>
          <a:lstStyle/>
          <a:p>
            <a:pPr algn="ctr"/>
            <a:r>
              <a:rPr sz="2400" b="0">
                <a:solidFill>
                  <a:srgbClr val="FFFFFF"/>
                </a:solidFill>
                <a:latin typeface="Calibri"/>
              </a:rPr>
              <a:t>Abschluss</a:t>
            </a:r>
          </a:p>
        </p:txBody>
      </p:sp>
      <p:sp>
        <p:nvSpPr>
          <p:cNvPr id="17" name="Titel"/>
          <p:cNvSpPr txBox="1"/>
          <p:nvPr/>
        </p:nvSpPr>
        <p:spPr>
          <a:xfrm>
            <a:off x="548640" y="530352"/>
            <a:ext cx="11155680" cy="868680"/>
          </a:xfrm>
          <a:prstGeom prst="rect">
            <a:avLst/>
          </a:prstGeom>
          <a:noFill/>
        </p:spPr>
        <p:txBody>
          <a:bodyPr wrap="square" anchor="ctr" tIns="36576" bIns="36576">
            <a:spAutoFit/>
          </a:bodyPr>
          <a:lstStyle/>
          <a:p>
            <a:pPr algn="l"/>
            <a:r>
              <a:rPr sz="4000" b="1">
                <a:solidFill>
                  <a:srgbClr val="1F2A44"/>
                </a:solidFill>
                <a:latin typeface="Calibri"/>
              </a:rPr>
              <a:t>Ausbildungszeit: Jugendliche und Volljährige</a:t>
            </a:r>
          </a:p>
        </p:txBody>
      </p:sp>
      <p:sp>
        <p:nvSpPr>
          <p:cNvPr id="18" name="Rectangle 17"/>
          <p:cNvSpPr/>
          <p:nvPr/>
        </p:nvSpPr>
        <p:spPr>
          <a:xfrm>
            <a:off x="640080" y="1371600"/>
            <a:ext cx="1463040" cy="6400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89520" y="6327648"/>
            <a:ext cx="4114800" cy="420624"/>
          </a:xfrm>
          <a:prstGeom prst="rect">
            <a:avLst/>
          </a:prstGeom>
          <a:noFill/>
        </p:spPr>
        <p:txBody>
          <a:bodyPr wrap="square" anchor="ctr" tIns="36576" bIns="36576">
            <a:spAutoFit/>
          </a:bodyPr>
          <a:lstStyle/>
          <a:p>
            <a:pPr algn="r"/>
            <a:r>
              <a:rPr sz="2400" b="0">
                <a:solidFill>
                  <a:srgbClr val="4A5568"/>
                </a:solidFill>
                <a:latin typeface="Calibri"/>
              </a:rPr>
              <a:t>§ 8 JArbSchG · § 3 ArbZG</a:t>
            </a:r>
          </a:p>
        </p:txBody>
      </p:sp>
      <p:sp>
        <p:nvSpPr>
          <p:cNvPr id="20" name="Rectangle 19"/>
          <p:cNvSpPr/>
          <p:nvPr/>
        </p:nvSpPr>
        <p:spPr>
          <a:xfrm>
            <a:off x="640080" y="1691640"/>
            <a:ext cx="5349240" cy="68580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59" y="1691640"/>
            <a:ext cx="5029200" cy="685800"/>
          </a:xfrm>
          <a:prstGeom prst="rect">
            <a:avLst/>
          </a:prstGeom>
          <a:noFill/>
        </p:spPr>
        <p:txBody>
          <a:bodyPr wrap="square" anchor="ctr" tIns="36576" bIns="36576">
            <a:spAutoFit/>
          </a:bodyPr>
          <a:lstStyle/>
          <a:p>
            <a:pPr algn="l"/>
            <a:r>
              <a:rPr sz="3200" b="1">
                <a:solidFill>
                  <a:srgbClr val="FFFFFF"/>
                </a:solidFill>
                <a:latin typeface="Calibri"/>
              </a:rPr>
              <a:t>Jugendliche</a:t>
            </a:r>
          </a:p>
        </p:txBody>
      </p:sp>
      <p:sp>
        <p:nvSpPr>
          <p:cNvPr id="22" name="Rectangle 21"/>
          <p:cNvSpPr/>
          <p:nvPr/>
        </p:nvSpPr>
        <p:spPr>
          <a:xfrm>
            <a:off x="640080" y="2377440"/>
            <a:ext cx="5349240" cy="379476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2468880"/>
            <a:ext cx="5349240" cy="1188720"/>
          </a:xfrm>
          <a:prstGeom prst="rect">
            <a:avLst/>
          </a:prstGeom>
          <a:noFill/>
        </p:spPr>
        <p:txBody>
          <a:bodyPr wrap="square" anchor="ctr" tIns="36576" bIns="36576">
            <a:spAutoFit/>
          </a:bodyPr>
          <a:lstStyle/>
          <a:p>
            <a:pPr algn="ctr"/>
            <a:r>
              <a:rPr sz="8000" b="1">
                <a:solidFill>
                  <a:srgbClr val="1F2A44"/>
                </a:solidFill>
                <a:latin typeface="Calibri"/>
              </a:rPr>
              <a:t>8</a:t>
            </a:r>
          </a:p>
        </p:txBody>
      </p:sp>
      <p:sp>
        <p:nvSpPr>
          <p:cNvPr id="24" name="TextBox 23"/>
          <p:cNvSpPr txBox="1"/>
          <p:nvPr/>
        </p:nvSpPr>
        <p:spPr>
          <a:xfrm>
            <a:off x="640080" y="3611880"/>
            <a:ext cx="5349240" cy="548640"/>
          </a:xfrm>
          <a:prstGeom prst="rect">
            <a:avLst/>
          </a:prstGeom>
          <a:noFill/>
        </p:spPr>
        <p:txBody>
          <a:bodyPr wrap="square" anchor="t" tIns="36576" bIns="36576">
            <a:spAutoFit/>
          </a:bodyPr>
          <a:lstStyle/>
          <a:p>
            <a:pPr algn="ctr"/>
            <a:r>
              <a:rPr sz="2800" b="1">
                <a:solidFill>
                  <a:srgbClr val="1F2A44"/>
                </a:solidFill>
                <a:latin typeface="Calibri"/>
              </a:rPr>
              <a:t>Stunden täglich</a:t>
            </a:r>
          </a:p>
        </p:txBody>
      </p:sp>
      <p:sp>
        <p:nvSpPr>
          <p:cNvPr id="25" name="TextBox 24"/>
          <p:cNvSpPr txBox="1"/>
          <p:nvPr/>
        </p:nvSpPr>
        <p:spPr>
          <a:xfrm>
            <a:off x="822959" y="4297680"/>
            <a:ext cx="5029200" cy="1828800"/>
          </a:xfrm>
          <a:prstGeom prst="rect">
            <a:avLst/>
          </a:prstGeom>
          <a:noFill/>
        </p:spPr>
        <p:txBody>
          <a:bodyPr wrap="square" anchor="t" tIns="36576" bIns="36576">
            <a:spAutoFit/>
          </a:bodyPr>
          <a:lstStyle/>
          <a:p>
            <a:pPr algn="l"/>
            <a:r>
              <a:rPr sz="2800" b="1">
                <a:solidFill>
                  <a:srgbClr val="F5A623"/>
                </a:solidFill>
                <a:latin typeface="Calibri"/>
              </a:rPr>
              <a:t>• </a:t>
            </a:r>
            <a:r>
              <a:rPr sz="2800" b="0">
                <a:solidFill>
                  <a:srgbClr val="1F2A44"/>
                </a:solidFill>
                <a:latin typeface="Calibri"/>
              </a:rPr>
              <a:t>höchstens 40 pro Woche</a:t>
            </a:r>
          </a:p>
          <a:p>
            <a:pPr algn="l">
              <a:spcBef>
                <a:spcPts val="1120"/>
              </a:spcBef>
            </a:pPr>
            <a:r>
              <a:rPr sz="2800" b="1">
                <a:solidFill>
                  <a:srgbClr val="F5A623"/>
                </a:solidFill>
                <a:latin typeface="Calibri"/>
              </a:rPr>
              <a:t>• </a:t>
            </a:r>
            <a:r>
              <a:rPr sz="2800" b="0">
                <a:solidFill>
                  <a:srgbClr val="1F2A44"/>
                </a:solidFill>
                <a:latin typeface="Calibri"/>
              </a:rPr>
              <a:t>ausnahmsweise 8,5 bei Ausgleich</a:t>
            </a:r>
          </a:p>
        </p:txBody>
      </p:sp>
      <p:sp>
        <p:nvSpPr>
          <p:cNvPr id="26" name="Rectangle 25"/>
          <p:cNvSpPr/>
          <p:nvPr/>
        </p:nvSpPr>
        <p:spPr>
          <a:xfrm>
            <a:off x="6172200" y="1691640"/>
            <a:ext cx="5349240" cy="6858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55080" y="1691640"/>
            <a:ext cx="5029200" cy="685800"/>
          </a:xfrm>
          <a:prstGeom prst="rect">
            <a:avLst/>
          </a:prstGeom>
          <a:noFill/>
        </p:spPr>
        <p:txBody>
          <a:bodyPr wrap="square" anchor="ctr" tIns="36576" bIns="36576">
            <a:spAutoFit/>
          </a:bodyPr>
          <a:lstStyle/>
          <a:p>
            <a:pPr algn="l"/>
            <a:r>
              <a:rPr sz="3200" b="1">
                <a:solidFill>
                  <a:srgbClr val="1F2A44"/>
                </a:solidFill>
                <a:latin typeface="Calibri"/>
              </a:rPr>
              <a:t>Volljährige</a:t>
            </a:r>
          </a:p>
        </p:txBody>
      </p:sp>
      <p:sp>
        <p:nvSpPr>
          <p:cNvPr id="28" name="Rectangle 27"/>
          <p:cNvSpPr/>
          <p:nvPr/>
        </p:nvSpPr>
        <p:spPr>
          <a:xfrm>
            <a:off x="6172200" y="2377440"/>
            <a:ext cx="5349240" cy="379476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172200" y="2468880"/>
            <a:ext cx="5349240" cy="1188720"/>
          </a:xfrm>
          <a:prstGeom prst="rect">
            <a:avLst/>
          </a:prstGeom>
          <a:noFill/>
        </p:spPr>
        <p:txBody>
          <a:bodyPr wrap="square" anchor="ctr" tIns="36576" bIns="36576">
            <a:spAutoFit/>
          </a:bodyPr>
          <a:lstStyle/>
          <a:p>
            <a:pPr algn="ctr"/>
            <a:r>
              <a:rPr sz="8000" b="1">
                <a:solidFill>
                  <a:srgbClr val="1F2A44"/>
                </a:solidFill>
                <a:latin typeface="Calibri"/>
              </a:rPr>
              <a:t>8</a:t>
            </a:r>
          </a:p>
        </p:txBody>
      </p:sp>
      <p:sp>
        <p:nvSpPr>
          <p:cNvPr id="30" name="TextBox 29"/>
          <p:cNvSpPr txBox="1"/>
          <p:nvPr/>
        </p:nvSpPr>
        <p:spPr>
          <a:xfrm>
            <a:off x="6172200" y="3611880"/>
            <a:ext cx="5349240" cy="548640"/>
          </a:xfrm>
          <a:prstGeom prst="rect">
            <a:avLst/>
          </a:prstGeom>
          <a:noFill/>
        </p:spPr>
        <p:txBody>
          <a:bodyPr wrap="square" anchor="t" tIns="36576" bIns="36576">
            <a:spAutoFit/>
          </a:bodyPr>
          <a:lstStyle/>
          <a:p>
            <a:pPr algn="ctr"/>
            <a:r>
              <a:rPr sz="2800" b="1">
                <a:solidFill>
                  <a:srgbClr val="1F2A44"/>
                </a:solidFill>
                <a:latin typeface="Calibri"/>
              </a:rPr>
              <a:t>Stunden täglich</a:t>
            </a:r>
          </a:p>
        </p:txBody>
      </p:sp>
      <p:sp>
        <p:nvSpPr>
          <p:cNvPr id="31" name="TextBox 30"/>
          <p:cNvSpPr txBox="1"/>
          <p:nvPr/>
        </p:nvSpPr>
        <p:spPr>
          <a:xfrm>
            <a:off x="6355080" y="4297680"/>
            <a:ext cx="5029200" cy="1828800"/>
          </a:xfrm>
          <a:prstGeom prst="rect">
            <a:avLst/>
          </a:prstGeom>
          <a:noFill/>
        </p:spPr>
        <p:txBody>
          <a:bodyPr wrap="square" anchor="t" tIns="36576" bIns="36576">
            <a:spAutoFit/>
          </a:bodyPr>
          <a:lstStyle/>
          <a:p>
            <a:pPr algn="l"/>
            <a:r>
              <a:rPr sz="2800" b="1">
                <a:solidFill>
                  <a:srgbClr val="F5A623"/>
                </a:solidFill>
                <a:latin typeface="Calibri"/>
              </a:rPr>
              <a:t>• </a:t>
            </a:r>
            <a:r>
              <a:rPr sz="2800" b="0">
                <a:solidFill>
                  <a:srgbClr val="1F2A44"/>
                </a:solidFill>
                <a:latin typeface="Calibri"/>
              </a:rPr>
              <a:t>bis 10 mit Ausgleich (6 Monate)</a:t>
            </a:r>
          </a:p>
          <a:p>
            <a:pPr algn="l">
              <a:spcBef>
                <a:spcPts val="1120"/>
              </a:spcBef>
            </a:pPr>
            <a:r>
              <a:rPr sz="2800" b="1">
                <a:solidFill>
                  <a:srgbClr val="F5A623"/>
                </a:solidFill>
                <a:latin typeface="Calibri"/>
              </a:rPr>
              <a:t>• </a:t>
            </a:r>
            <a:r>
              <a:rPr sz="2800" b="0">
                <a:solidFill>
                  <a:srgbClr val="1F2A44"/>
                </a:solidFill>
                <a:latin typeface="Calibri"/>
              </a:rPr>
              <a:t>höchstens 48 pro Woche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square" anchor="ctr" tIns="36576" bIns="36576">
            <a:spAutoFit/>
          </a:bodyPr>
          <a:lstStyle/>
          <a:p>
            <a:pPr algn="ctr"/>
            <a:r>
              <a:rPr sz="2400" b="0">
                <a:solidFill>
                  <a:srgbClr val="FFFFFF"/>
                </a:solidFill>
                <a:latin typeface="Calibri"/>
              </a:rPr>
              <a:t>Einstieg</a:t>
            </a:r>
          </a:p>
        </p:txBody>
      </p:sp>
      <p:sp>
        <p:nvSpPr>
          <p:cNvPr id="5" name="Rectangle 4"/>
          <p:cNvSpPr/>
          <p:nvPr/>
        </p:nvSpPr>
        <p:spPr>
          <a:xfrm>
            <a:off x="1741670"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741670" cy="457200"/>
          </a:xfrm>
          <a:prstGeom prst="rect">
            <a:avLst/>
          </a:prstGeom>
          <a:noFill/>
        </p:spPr>
        <p:txBody>
          <a:bodyPr wrap="square" anchor="ctr" tIns="36576" bIns="36576">
            <a:spAutoFit/>
          </a:bodyPr>
          <a:lstStyle/>
          <a:p>
            <a:pPr algn="ctr"/>
            <a:r>
              <a:rPr sz="2400" b="1">
                <a:solidFill>
                  <a:srgbClr val="1F2A44"/>
                </a:solidFill>
                <a:latin typeface="Calibri"/>
              </a:rPr>
              <a:t>Block 1</a:t>
            </a:r>
          </a:p>
        </p:txBody>
      </p:sp>
      <p:sp>
        <p:nvSpPr>
          <p:cNvPr id="7" name="Rectangle 6"/>
          <p:cNvSpPr/>
          <p:nvPr/>
        </p:nvSpPr>
        <p:spPr>
          <a:xfrm>
            <a:off x="3483341"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3341"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2</a:t>
            </a:r>
          </a:p>
        </p:txBody>
      </p:sp>
      <p:sp>
        <p:nvSpPr>
          <p:cNvPr id="9" name="Rectangle 8"/>
          <p:cNvSpPr/>
          <p:nvPr/>
        </p:nvSpPr>
        <p:spPr>
          <a:xfrm>
            <a:off x="5225012"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25012"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3</a:t>
            </a:r>
          </a:p>
        </p:txBody>
      </p:sp>
      <p:sp>
        <p:nvSpPr>
          <p:cNvPr id="11" name="Rectangle 10"/>
          <p:cNvSpPr/>
          <p:nvPr/>
        </p:nvSpPr>
        <p:spPr>
          <a:xfrm>
            <a:off x="6966682"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66682" y="0"/>
            <a:ext cx="1741670" cy="457200"/>
          </a:xfrm>
          <a:prstGeom prst="rect">
            <a:avLst/>
          </a:prstGeom>
          <a:noFill/>
        </p:spPr>
        <p:txBody>
          <a:bodyPr wrap="square" anchor="ctr" tIns="36576" bIns="36576">
            <a:spAutoFit/>
          </a:bodyPr>
          <a:lstStyle/>
          <a:p>
            <a:pPr algn="ctr"/>
            <a:r>
              <a:rPr sz="2400" b="0">
                <a:solidFill>
                  <a:srgbClr val="FFFFFF"/>
                </a:solidFill>
                <a:latin typeface="Calibri"/>
              </a:rPr>
              <a:t>Üben</a:t>
            </a:r>
          </a:p>
        </p:txBody>
      </p:sp>
      <p:sp>
        <p:nvSpPr>
          <p:cNvPr id="13" name="Rectangle 12"/>
          <p:cNvSpPr/>
          <p:nvPr/>
        </p:nvSpPr>
        <p:spPr>
          <a:xfrm>
            <a:off x="8708353"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8353" y="0"/>
            <a:ext cx="1741670" cy="457200"/>
          </a:xfrm>
          <a:prstGeom prst="rect">
            <a:avLst/>
          </a:prstGeom>
          <a:noFill/>
        </p:spPr>
        <p:txBody>
          <a:bodyPr wrap="square" anchor="ctr" tIns="36576" bIns="36576">
            <a:spAutoFit/>
          </a:bodyPr>
          <a:lstStyle/>
          <a:p>
            <a:pPr algn="ctr"/>
            <a:r>
              <a:rPr sz="2400" b="0">
                <a:solidFill>
                  <a:srgbClr val="FFFFFF"/>
                </a:solidFill>
                <a:latin typeface="Calibri"/>
              </a:rPr>
              <a:t>Besprechen</a:t>
            </a:r>
          </a:p>
        </p:txBody>
      </p:sp>
      <p:sp>
        <p:nvSpPr>
          <p:cNvPr id="15" name="Rectangle 14"/>
          <p:cNvSpPr/>
          <p:nvPr/>
        </p:nvSpPr>
        <p:spPr>
          <a:xfrm>
            <a:off x="10450024"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50024" y="0"/>
            <a:ext cx="1741670" cy="457200"/>
          </a:xfrm>
          <a:prstGeom prst="rect">
            <a:avLst/>
          </a:prstGeom>
          <a:noFill/>
        </p:spPr>
        <p:txBody>
          <a:bodyPr wrap="square" anchor="ctr" tIns="36576" bIns="36576">
            <a:spAutoFit/>
          </a:bodyPr>
          <a:lstStyle/>
          <a:p>
            <a:pPr algn="ctr"/>
            <a:r>
              <a:rPr sz="2400" b="0">
                <a:solidFill>
                  <a:srgbClr val="FFFFFF"/>
                </a:solidFill>
                <a:latin typeface="Calibri"/>
              </a:rPr>
              <a:t>Abschluss</a:t>
            </a:r>
          </a:p>
        </p:txBody>
      </p:sp>
      <p:pic>
        <p:nvPicPr>
          <p:cNvPr id="17" name="Picture 16" descr="Fragezeichen-Symbol"/>
          <p:cNvPicPr>
            <a:picLocks noChangeAspect="1"/>
          </p:cNvPicPr>
          <p:nvPr/>
        </p:nvPicPr>
        <p:blipFill>
          <a:blip r:embed="rId3"/>
          <a:stretch>
            <a:fillRect/>
          </a:stretch>
        </p:blipFill>
        <p:spPr>
          <a:xfrm>
            <a:off x="640080" y="914400"/>
            <a:ext cx="1234440" cy="1234440"/>
          </a:xfrm>
          <a:prstGeom prst="rect">
            <a:avLst/>
          </a:prstGeom>
        </p:spPr>
      </p:pic>
      <p:sp>
        <p:nvSpPr>
          <p:cNvPr id="18" name="Frage"/>
          <p:cNvSpPr txBox="1"/>
          <p:nvPr/>
        </p:nvSpPr>
        <p:spPr>
          <a:xfrm>
            <a:off x="2103120" y="914400"/>
            <a:ext cx="9601200" cy="3566160"/>
          </a:xfrm>
          <a:prstGeom prst="rect">
            <a:avLst/>
          </a:prstGeom>
          <a:noFill/>
        </p:spPr>
        <p:txBody>
          <a:bodyPr wrap="square" anchor="ctr" tIns="36576" bIns="36576">
            <a:spAutoFit/>
          </a:bodyPr>
          <a:lstStyle/>
          <a:p>
            <a:pPr algn="l"/>
            <a:r>
              <a:rPr sz="4000" b="1">
                <a:solidFill>
                  <a:srgbClr val="1F2A44"/>
                </a:solidFill>
                <a:latin typeface="Calibri"/>
              </a:rPr>
              <a:t>Wie viele Stunden dürfen Jugendliche täglich höchstens arbeiten – und wie viele pro Woche?</a:t>
            </a:r>
          </a:p>
        </p:txBody>
      </p:sp>
      <p:sp>
        <p:nvSpPr>
          <p:cNvPr id="19" name="Rounded Rectangle 18"/>
          <p:cNvSpPr/>
          <p:nvPr/>
        </p:nvSpPr>
        <p:spPr>
          <a:xfrm>
            <a:off x="502920" y="6327648"/>
            <a:ext cx="2743200" cy="420624"/>
          </a:xfrm>
          <a:prstGeom prst="roundRect">
            <a:avLst>
              <a:gd name="adj" fmla="val 4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6327648"/>
            <a:ext cx="2743200" cy="420624"/>
          </a:xfrm>
          <a:prstGeom prst="rect">
            <a:avLst/>
          </a:prstGeom>
          <a:noFill/>
        </p:spPr>
        <p:txBody>
          <a:bodyPr wrap="square" anchor="ctr" tIns="36576" bIns="36576">
            <a:spAutoFit/>
          </a:bodyPr>
          <a:lstStyle/>
          <a:p>
            <a:pPr algn="ctr"/>
            <a:r>
              <a:rPr sz="2400" b="1">
                <a:solidFill>
                  <a:srgbClr val="FFFFFF"/>
                </a:solidFill>
                <a:latin typeface="Calibri"/>
              </a:rPr>
              <a:t>Partnergespräch</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square" anchor="ctr" tIns="36576" bIns="36576">
            <a:spAutoFit/>
          </a:bodyPr>
          <a:lstStyle/>
          <a:p>
            <a:pPr algn="ctr"/>
            <a:r>
              <a:rPr sz="2400" b="0">
                <a:solidFill>
                  <a:srgbClr val="FFFFFF"/>
                </a:solidFill>
                <a:latin typeface="Calibri"/>
              </a:rPr>
              <a:t>Einstieg</a:t>
            </a:r>
          </a:p>
        </p:txBody>
      </p:sp>
      <p:sp>
        <p:nvSpPr>
          <p:cNvPr id="5" name="Rectangle 4"/>
          <p:cNvSpPr/>
          <p:nvPr/>
        </p:nvSpPr>
        <p:spPr>
          <a:xfrm>
            <a:off x="1741670"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741670" cy="457200"/>
          </a:xfrm>
          <a:prstGeom prst="rect">
            <a:avLst/>
          </a:prstGeom>
          <a:noFill/>
        </p:spPr>
        <p:txBody>
          <a:bodyPr wrap="square" anchor="ctr" tIns="36576" bIns="36576">
            <a:spAutoFit/>
          </a:bodyPr>
          <a:lstStyle/>
          <a:p>
            <a:pPr algn="ctr"/>
            <a:r>
              <a:rPr sz="2400" b="1">
                <a:solidFill>
                  <a:srgbClr val="1F2A44"/>
                </a:solidFill>
                <a:latin typeface="Calibri"/>
              </a:rPr>
              <a:t>Block 1</a:t>
            </a:r>
          </a:p>
        </p:txBody>
      </p:sp>
      <p:sp>
        <p:nvSpPr>
          <p:cNvPr id="7" name="Rectangle 6"/>
          <p:cNvSpPr/>
          <p:nvPr/>
        </p:nvSpPr>
        <p:spPr>
          <a:xfrm>
            <a:off x="3483341"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3341"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2</a:t>
            </a:r>
          </a:p>
        </p:txBody>
      </p:sp>
      <p:sp>
        <p:nvSpPr>
          <p:cNvPr id="9" name="Rectangle 8"/>
          <p:cNvSpPr/>
          <p:nvPr/>
        </p:nvSpPr>
        <p:spPr>
          <a:xfrm>
            <a:off x="5225012"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25012"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3</a:t>
            </a:r>
          </a:p>
        </p:txBody>
      </p:sp>
      <p:sp>
        <p:nvSpPr>
          <p:cNvPr id="11" name="Rectangle 10"/>
          <p:cNvSpPr/>
          <p:nvPr/>
        </p:nvSpPr>
        <p:spPr>
          <a:xfrm>
            <a:off x="6966682"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66682" y="0"/>
            <a:ext cx="1741670" cy="457200"/>
          </a:xfrm>
          <a:prstGeom prst="rect">
            <a:avLst/>
          </a:prstGeom>
          <a:noFill/>
        </p:spPr>
        <p:txBody>
          <a:bodyPr wrap="square" anchor="ctr" tIns="36576" bIns="36576">
            <a:spAutoFit/>
          </a:bodyPr>
          <a:lstStyle/>
          <a:p>
            <a:pPr algn="ctr"/>
            <a:r>
              <a:rPr sz="2400" b="0">
                <a:solidFill>
                  <a:srgbClr val="FFFFFF"/>
                </a:solidFill>
                <a:latin typeface="Calibri"/>
              </a:rPr>
              <a:t>Üben</a:t>
            </a:r>
          </a:p>
        </p:txBody>
      </p:sp>
      <p:sp>
        <p:nvSpPr>
          <p:cNvPr id="13" name="Rectangle 12"/>
          <p:cNvSpPr/>
          <p:nvPr/>
        </p:nvSpPr>
        <p:spPr>
          <a:xfrm>
            <a:off x="8708353"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8353" y="0"/>
            <a:ext cx="1741670" cy="457200"/>
          </a:xfrm>
          <a:prstGeom prst="rect">
            <a:avLst/>
          </a:prstGeom>
          <a:noFill/>
        </p:spPr>
        <p:txBody>
          <a:bodyPr wrap="square" anchor="ctr" tIns="36576" bIns="36576">
            <a:spAutoFit/>
          </a:bodyPr>
          <a:lstStyle/>
          <a:p>
            <a:pPr algn="ctr"/>
            <a:r>
              <a:rPr sz="2400" b="0">
                <a:solidFill>
                  <a:srgbClr val="FFFFFF"/>
                </a:solidFill>
                <a:latin typeface="Calibri"/>
              </a:rPr>
              <a:t>Besprechen</a:t>
            </a:r>
          </a:p>
        </p:txBody>
      </p:sp>
      <p:sp>
        <p:nvSpPr>
          <p:cNvPr id="15" name="Rectangle 14"/>
          <p:cNvSpPr/>
          <p:nvPr/>
        </p:nvSpPr>
        <p:spPr>
          <a:xfrm>
            <a:off x="10450024"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50024" y="0"/>
            <a:ext cx="1741670" cy="457200"/>
          </a:xfrm>
          <a:prstGeom prst="rect">
            <a:avLst/>
          </a:prstGeom>
          <a:noFill/>
        </p:spPr>
        <p:txBody>
          <a:bodyPr wrap="square" anchor="ctr" tIns="36576" bIns="36576">
            <a:spAutoFit/>
          </a:bodyPr>
          <a:lstStyle/>
          <a:p>
            <a:pPr algn="ctr"/>
            <a:r>
              <a:rPr sz="2400" b="0">
                <a:solidFill>
                  <a:srgbClr val="FFFFFF"/>
                </a:solidFill>
                <a:latin typeface="Calibri"/>
              </a:rPr>
              <a:t>Abschluss</a:t>
            </a:r>
          </a:p>
        </p:txBody>
      </p:sp>
      <p:sp>
        <p:nvSpPr>
          <p:cNvPr id="17" name="Antwortrahmen"/>
          <p:cNvSpPr/>
          <p:nvPr/>
        </p:nvSpPr>
        <p:spPr>
          <a:xfrm>
            <a:off x="411480" y="566928"/>
            <a:ext cx="11365992" cy="5669280"/>
          </a:xfrm>
          <a:prstGeom prst="rect">
            <a:avLst/>
          </a:prstGeom>
          <a:noFill/>
          <a:ln w="76200">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Haken: Antwortfolie"/>
          <p:cNvPicPr>
            <a:picLocks noChangeAspect="1"/>
          </p:cNvPicPr>
          <p:nvPr/>
        </p:nvPicPr>
        <p:blipFill>
          <a:blip r:embed="rId3"/>
          <a:stretch>
            <a:fillRect/>
          </a:stretch>
        </p:blipFill>
        <p:spPr>
          <a:xfrm>
            <a:off x="10972800" y="640080"/>
            <a:ext cx="685800" cy="685800"/>
          </a:xfrm>
          <a:prstGeom prst="rect">
            <a:avLst/>
          </a:prstGeom>
        </p:spPr>
      </p:pic>
      <p:sp>
        <p:nvSpPr>
          <p:cNvPr id="19" name="Titel"/>
          <p:cNvSpPr txBox="1"/>
          <p:nvPr/>
        </p:nvSpPr>
        <p:spPr>
          <a:xfrm>
            <a:off x="640080" y="594360"/>
            <a:ext cx="10241280" cy="822960"/>
          </a:xfrm>
          <a:prstGeom prst="rect">
            <a:avLst/>
          </a:prstGeom>
          <a:noFill/>
        </p:spPr>
        <p:txBody>
          <a:bodyPr wrap="square" anchor="ctr" tIns="36576" bIns="36576">
            <a:spAutoFit/>
          </a:bodyPr>
          <a:lstStyle/>
          <a:p>
            <a:pPr algn="l"/>
            <a:r>
              <a:rPr sz="4000" b="1">
                <a:solidFill>
                  <a:srgbClr val="1F2A44"/>
                </a:solidFill>
                <a:latin typeface="Calibri"/>
              </a:rPr>
              <a:t>8 Stunden täglich, 40 pro Woche</a:t>
            </a:r>
          </a:p>
        </p:txBody>
      </p:sp>
      <p:sp>
        <p:nvSpPr>
          <p:cNvPr id="20" name="Antwort_1"/>
          <p:cNvSpPr/>
          <p:nvPr/>
        </p:nvSpPr>
        <p:spPr>
          <a:xfrm>
            <a:off x="822960" y="1737360"/>
            <a:ext cx="10515600" cy="2377440"/>
          </a:xfrm>
          <a:prstGeom prst="roundRect">
            <a:avLst/>
          </a:prstGeom>
          <a:solidFill>
            <a:srgbClr val="FFF0D1"/>
          </a:solidFill>
          <a:ln w="38100">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3200" b="1">
                <a:solidFill>
                  <a:srgbClr val="1F2A44"/>
                </a:solidFill>
                <a:latin typeface="Calibri"/>
              </a:rPr>
              <a:t>8 Stunden täglich, 40 pro Woche</a:t>
            </a:r>
          </a:p>
          <a:p>
            <a:pPr algn="ctr">
              <a:spcBef>
                <a:spcPts val="960"/>
              </a:spcBef>
            </a:pPr>
            <a:r>
              <a:rPr sz="3200" b="0">
                <a:solidFill>
                  <a:srgbClr val="1F2A44"/>
                </a:solidFill>
                <a:latin typeface="Calibri"/>
              </a:rPr>
              <a:t>Ausnahmsweise 8,5 Stunden täglich bei Ausgleich.</a:t>
            </a:r>
          </a:p>
        </p:txBody>
      </p:sp>
      <p:sp>
        <p:nvSpPr>
          <p:cNvPr id="21" name="TextBox 20"/>
          <p:cNvSpPr txBox="1"/>
          <p:nvPr/>
        </p:nvSpPr>
        <p:spPr>
          <a:xfrm>
            <a:off x="7589520" y="6327648"/>
            <a:ext cx="4114800" cy="420624"/>
          </a:xfrm>
          <a:prstGeom prst="rect">
            <a:avLst/>
          </a:prstGeom>
          <a:noFill/>
        </p:spPr>
        <p:txBody>
          <a:bodyPr wrap="square" anchor="ctr" tIns="36576" bIns="36576">
            <a:spAutoFit/>
          </a:bodyPr>
          <a:lstStyle/>
          <a:p>
            <a:pPr algn="r"/>
            <a:r>
              <a:rPr sz="2400" b="0">
                <a:solidFill>
                  <a:srgbClr val="4A5568"/>
                </a:solidFill>
                <a:latin typeface="Calibri"/>
              </a:rPr>
              <a:t>§ 8 JArbSchG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square" anchor="ctr" tIns="36576" bIns="36576">
            <a:spAutoFit/>
          </a:bodyPr>
          <a:lstStyle/>
          <a:p>
            <a:pPr algn="ctr"/>
            <a:r>
              <a:rPr sz="2400" b="0">
                <a:solidFill>
                  <a:srgbClr val="FFFFFF"/>
                </a:solidFill>
                <a:latin typeface="Calibri"/>
              </a:rPr>
              <a:t>Einstieg</a:t>
            </a:r>
          </a:p>
        </p:txBody>
      </p:sp>
      <p:sp>
        <p:nvSpPr>
          <p:cNvPr id="5" name="Rectangle 4"/>
          <p:cNvSpPr/>
          <p:nvPr/>
        </p:nvSpPr>
        <p:spPr>
          <a:xfrm>
            <a:off x="1741670"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741670" cy="457200"/>
          </a:xfrm>
          <a:prstGeom prst="rect">
            <a:avLst/>
          </a:prstGeom>
          <a:noFill/>
        </p:spPr>
        <p:txBody>
          <a:bodyPr wrap="square" anchor="ctr" tIns="36576" bIns="36576">
            <a:spAutoFit/>
          </a:bodyPr>
          <a:lstStyle/>
          <a:p>
            <a:pPr algn="ctr"/>
            <a:r>
              <a:rPr sz="2400" b="1">
                <a:solidFill>
                  <a:srgbClr val="1F2A44"/>
                </a:solidFill>
                <a:latin typeface="Calibri"/>
              </a:rPr>
              <a:t>Block 1</a:t>
            </a:r>
          </a:p>
        </p:txBody>
      </p:sp>
      <p:sp>
        <p:nvSpPr>
          <p:cNvPr id="7" name="Rectangle 6"/>
          <p:cNvSpPr/>
          <p:nvPr/>
        </p:nvSpPr>
        <p:spPr>
          <a:xfrm>
            <a:off x="3483341"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3341"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2</a:t>
            </a:r>
          </a:p>
        </p:txBody>
      </p:sp>
      <p:sp>
        <p:nvSpPr>
          <p:cNvPr id="9" name="Rectangle 8"/>
          <p:cNvSpPr/>
          <p:nvPr/>
        </p:nvSpPr>
        <p:spPr>
          <a:xfrm>
            <a:off x="5225012"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25012"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3</a:t>
            </a:r>
          </a:p>
        </p:txBody>
      </p:sp>
      <p:sp>
        <p:nvSpPr>
          <p:cNvPr id="11" name="Rectangle 10"/>
          <p:cNvSpPr/>
          <p:nvPr/>
        </p:nvSpPr>
        <p:spPr>
          <a:xfrm>
            <a:off x="6966682"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66682" y="0"/>
            <a:ext cx="1741670" cy="457200"/>
          </a:xfrm>
          <a:prstGeom prst="rect">
            <a:avLst/>
          </a:prstGeom>
          <a:noFill/>
        </p:spPr>
        <p:txBody>
          <a:bodyPr wrap="square" anchor="ctr" tIns="36576" bIns="36576">
            <a:spAutoFit/>
          </a:bodyPr>
          <a:lstStyle/>
          <a:p>
            <a:pPr algn="ctr"/>
            <a:r>
              <a:rPr sz="2400" b="0">
                <a:solidFill>
                  <a:srgbClr val="FFFFFF"/>
                </a:solidFill>
                <a:latin typeface="Calibri"/>
              </a:rPr>
              <a:t>Üben</a:t>
            </a:r>
          </a:p>
        </p:txBody>
      </p:sp>
      <p:sp>
        <p:nvSpPr>
          <p:cNvPr id="13" name="Rectangle 12"/>
          <p:cNvSpPr/>
          <p:nvPr/>
        </p:nvSpPr>
        <p:spPr>
          <a:xfrm>
            <a:off x="8708353"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8353" y="0"/>
            <a:ext cx="1741670" cy="457200"/>
          </a:xfrm>
          <a:prstGeom prst="rect">
            <a:avLst/>
          </a:prstGeom>
          <a:noFill/>
        </p:spPr>
        <p:txBody>
          <a:bodyPr wrap="square" anchor="ctr" tIns="36576" bIns="36576">
            <a:spAutoFit/>
          </a:bodyPr>
          <a:lstStyle/>
          <a:p>
            <a:pPr algn="ctr"/>
            <a:r>
              <a:rPr sz="2400" b="0">
                <a:solidFill>
                  <a:srgbClr val="FFFFFF"/>
                </a:solidFill>
                <a:latin typeface="Calibri"/>
              </a:rPr>
              <a:t>Besprechen</a:t>
            </a:r>
          </a:p>
        </p:txBody>
      </p:sp>
      <p:sp>
        <p:nvSpPr>
          <p:cNvPr id="15" name="Rectangle 14"/>
          <p:cNvSpPr/>
          <p:nvPr/>
        </p:nvSpPr>
        <p:spPr>
          <a:xfrm>
            <a:off x="10450024"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50024" y="0"/>
            <a:ext cx="1741670" cy="457200"/>
          </a:xfrm>
          <a:prstGeom prst="rect">
            <a:avLst/>
          </a:prstGeom>
          <a:noFill/>
        </p:spPr>
        <p:txBody>
          <a:bodyPr wrap="square" anchor="ctr" tIns="36576" bIns="36576">
            <a:spAutoFit/>
          </a:bodyPr>
          <a:lstStyle/>
          <a:p>
            <a:pPr algn="ctr"/>
            <a:r>
              <a:rPr sz="2400" b="0">
                <a:solidFill>
                  <a:srgbClr val="FFFFFF"/>
                </a:solidFill>
                <a:latin typeface="Calibri"/>
              </a:rPr>
              <a:t>Abschluss</a:t>
            </a:r>
          </a:p>
        </p:txBody>
      </p:sp>
      <p:pic>
        <p:nvPicPr>
          <p:cNvPr id="17" name="Picture 16" descr="Fragezeichen-Symbol"/>
          <p:cNvPicPr>
            <a:picLocks noChangeAspect="1"/>
          </p:cNvPicPr>
          <p:nvPr/>
        </p:nvPicPr>
        <p:blipFill>
          <a:blip r:embed="rId3"/>
          <a:stretch>
            <a:fillRect/>
          </a:stretch>
        </p:blipFill>
        <p:spPr>
          <a:xfrm>
            <a:off x="640080" y="914400"/>
            <a:ext cx="1234440" cy="1234440"/>
          </a:xfrm>
          <a:prstGeom prst="rect">
            <a:avLst/>
          </a:prstGeom>
        </p:spPr>
      </p:pic>
      <p:sp>
        <p:nvSpPr>
          <p:cNvPr id="18" name="Frage"/>
          <p:cNvSpPr txBox="1"/>
          <p:nvPr/>
        </p:nvSpPr>
        <p:spPr>
          <a:xfrm>
            <a:off x="2103120" y="914400"/>
            <a:ext cx="9601200" cy="3566160"/>
          </a:xfrm>
          <a:prstGeom prst="rect">
            <a:avLst/>
          </a:prstGeom>
          <a:noFill/>
        </p:spPr>
        <p:txBody>
          <a:bodyPr wrap="square" anchor="ctr" tIns="36576" bIns="36576">
            <a:spAutoFit/>
          </a:bodyPr>
          <a:lstStyle/>
          <a:p>
            <a:pPr algn="l"/>
            <a:r>
              <a:rPr sz="4000" b="1">
                <a:solidFill>
                  <a:srgbClr val="1F2A44"/>
                </a:solidFill>
                <a:latin typeface="Calibri"/>
              </a:rPr>
              <a:t>Wie hoch ist die gesetzliche Mindestausbildungsvergütung im 1. Ausbildungsjahr bei Beginn 2026?</a:t>
            </a:r>
          </a:p>
        </p:txBody>
      </p:sp>
      <p:sp>
        <p:nvSpPr>
          <p:cNvPr id="19" name="Rounded Rectangle 18"/>
          <p:cNvSpPr/>
          <p:nvPr/>
        </p:nvSpPr>
        <p:spPr>
          <a:xfrm>
            <a:off x="502920" y="6327648"/>
            <a:ext cx="2121408" cy="420624"/>
          </a:xfrm>
          <a:prstGeom prst="roundRect">
            <a:avLst>
              <a:gd name="adj" fmla="val 4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6327648"/>
            <a:ext cx="2121408" cy="420624"/>
          </a:xfrm>
          <a:prstGeom prst="rect">
            <a:avLst/>
          </a:prstGeom>
          <a:noFill/>
        </p:spPr>
        <p:txBody>
          <a:bodyPr wrap="square" anchor="ctr" tIns="36576" bIns="36576">
            <a:spAutoFit/>
          </a:bodyPr>
          <a:lstStyle/>
          <a:p>
            <a:pPr algn="ctr"/>
            <a:r>
              <a:rPr sz="2400" b="1">
                <a:solidFill>
                  <a:srgbClr val="FFFFFF"/>
                </a:solidFill>
                <a:latin typeface="Calibri"/>
              </a:rPr>
              <a:t>Murmelphase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Icon_Hintergrund"/>
          <p:cNvSpPr/>
          <p:nvPr/>
        </p:nvSpPr>
        <p:spPr>
          <a:xfrm>
            <a:off x="5257800" y="731520"/>
            <a:ext cx="1645920" cy="16459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Zwei Personen im Gespräch"/>
          <p:cNvPicPr>
            <a:picLocks noChangeAspect="1"/>
          </p:cNvPicPr>
          <p:nvPr/>
        </p:nvPicPr>
        <p:blipFill>
          <a:blip r:embed="rId3"/>
          <a:stretch>
            <a:fillRect/>
          </a:stretch>
        </p:blipFill>
        <p:spPr>
          <a:xfrm>
            <a:off x="5532120" y="1005840"/>
            <a:ext cx="1097280" cy="1097280"/>
          </a:xfrm>
          <a:prstGeom prst="rect">
            <a:avLst/>
          </a:prstGeom>
        </p:spPr>
      </p:pic>
      <p:sp>
        <p:nvSpPr>
          <p:cNvPr id="6" name="Denkpause"/>
          <p:cNvSpPr txBox="1"/>
          <p:nvPr/>
        </p:nvSpPr>
        <p:spPr>
          <a:xfrm>
            <a:off x="914400" y="2286000"/>
            <a:ext cx="10332720" cy="1097280"/>
          </a:xfrm>
          <a:prstGeom prst="rect">
            <a:avLst/>
          </a:prstGeom>
          <a:noFill/>
        </p:spPr>
        <p:txBody>
          <a:bodyPr wrap="square" anchor="t" tIns="36576" bIns="36576">
            <a:spAutoFit/>
          </a:bodyPr>
          <a:lstStyle/>
          <a:p>
            <a:pPr algn="ctr"/>
            <a:r>
              <a:rPr sz="6600" b="1">
                <a:solidFill>
                  <a:srgbClr val="FFFFFF"/>
                </a:solidFill>
                <a:latin typeface="Calibri"/>
              </a:rPr>
              <a:t>Denkpause</a:t>
            </a:r>
          </a:p>
        </p:txBody>
      </p:sp>
      <p:sp>
        <p:nvSpPr>
          <p:cNvPr id="7" name="TextBox 6"/>
          <p:cNvSpPr txBox="1"/>
          <p:nvPr/>
        </p:nvSpPr>
        <p:spPr>
          <a:xfrm>
            <a:off x="914400" y="3383280"/>
            <a:ext cx="10332720" cy="914400"/>
          </a:xfrm>
          <a:prstGeom prst="rect">
            <a:avLst/>
          </a:prstGeom>
          <a:noFill/>
        </p:spPr>
        <p:txBody>
          <a:bodyPr wrap="square" anchor="t" tIns="36576" bIns="36576">
            <a:spAutoFit/>
          </a:bodyPr>
          <a:lstStyle/>
          <a:p>
            <a:pPr algn="ctr"/>
            <a:r>
              <a:rPr sz="3000" b="0">
                <a:solidFill>
                  <a:srgbClr val="DCE3F2"/>
                </a:solidFill>
                <a:latin typeface="Calibri"/>
              </a:rPr>
              <a:t>15 Sekunden – sprecht kurz mit eurer Sitznachbarin / eurem Sitznachbarn.</a:t>
            </a:r>
          </a:p>
        </p:txBody>
      </p:sp>
      <p:sp>
        <p:nvSpPr>
          <p:cNvPr id="8" name="Countdown_1"/>
          <p:cNvSpPr/>
          <p:nvPr/>
        </p:nvSpPr>
        <p:spPr>
          <a:xfrm>
            <a:off x="1051560" y="4754880"/>
            <a:ext cx="914400" cy="5029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ountdown_2"/>
          <p:cNvSpPr/>
          <p:nvPr/>
        </p:nvSpPr>
        <p:spPr>
          <a:xfrm>
            <a:off x="2057400" y="4754880"/>
            <a:ext cx="914400" cy="5029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ountdown_3"/>
          <p:cNvSpPr/>
          <p:nvPr/>
        </p:nvSpPr>
        <p:spPr>
          <a:xfrm>
            <a:off x="3063240" y="4754880"/>
            <a:ext cx="914400" cy="5029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ountdown_4"/>
          <p:cNvSpPr/>
          <p:nvPr/>
        </p:nvSpPr>
        <p:spPr>
          <a:xfrm>
            <a:off x="4069080" y="4754880"/>
            <a:ext cx="914400" cy="5029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Countdown_5"/>
          <p:cNvSpPr/>
          <p:nvPr/>
        </p:nvSpPr>
        <p:spPr>
          <a:xfrm>
            <a:off x="5074920" y="4754880"/>
            <a:ext cx="914400" cy="5029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ountdown_6"/>
          <p:cNvSpPr/>
          <p:nvPr/>
        </p:nvSpPr>
        <p:spPr>
          <a:xfrm>
            <a:off x="6080760" y="4754880"/>
            <a:ext cx="914400" cy="5029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Countdown_7"/>
          <p:cNvSpPr/>
          <p:nvPr/>
        </p:nvSpPr>
        <p:spPr>
          <a:xfrm>
            <a:off x="7086600" y="4754880"/>
            <a:ext cx="914400" cy="5029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ountdown_8"/>
          <p:cNvSpPr/>
          <p:nvPr/>
        </p:nvSpPr>
        <p:spPr>
          <a:xfrm>
            <a:off x="8092440" y="4754880"/>
            <a:ext cx="914400" cy="5029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ountdown_9"/>
          <p:cNvSpPr/>
          <p:nvPr/>
        </p:nvSpPr>
        <p:spPr>
          <a:xfrm>
            <a:off x="9098280" y="4754880"/>
            <a:ext cx="914400" cy="5029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ountdown_10"/>
          <p:cNvSpPr/>
          <p:nvPr/>
        </p:nvSpPr>
        <p:spPr>
          <a:xfrm>
            <a:off x="10104120" y="4754880"/>
            <a:ext cx="914400" cy="5029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5394960"/>
            <a:ext cx="10332720" cy="731520"/>
          </a:xfrm>
          <a:prstGeom prst="rect">
            <a:avLst/>
          </a:prstGeom>
          <a:noFill/>
        </p:spPr>
        <p:txBody>
          <a:bodyPr wrap="square" anchor="t" tIns="36576" bIns="36576">
            <a:spAutoFit/>
          </a:bodyPr>
          <a:lstStyle/>
          <a:p>
            <a:pPr algn="ctr"/>
            <a:r>
              <a:rPr sz="2800" b="1">
                <a:solidFill>
                  <a:srgbClr val="F5A623"/>
                </a:solidFill>
                <a:latin typeface="Calibri"/>
              </a:rPr>
              <a:t>Countdown: 15 Sekunden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par>
                          <p:cTn id="7" fill="hold">
                            <p:stCondLst>
                              <p:cond delay="1500"/>
                            </p:stCondLst>
                            <p:childTnLst>
                              <p:par>
                                <p:cTn id="8" presetID="1"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childTnLst>
                                </p:cTn>
                              </p:par>
                            </p:childTnLst>
                          </p:cTn>
                        </p:par>
                        <p:par>
                          <p:cTn id="10" fill="hold">
                            <p:stCondLst>
                              <p:cond delay="3000"/>
                            </p:stCondLst>
                            <p:childTnLst>
                              <p:par>
                                <p:cTn id="11" presetID="1" presetClass="entr" presetSubtype="0" fill="hold" grpId="0" nodeType="after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par>
                          <p:cTn id="13" fill="hold">
                            <p:stCondLst>
                              <p:cond delay="4500"/>
                            </p:stCondLst>
                            <p:childTnLst>
                              <p:par>
                                <p:cTn id="14" presetID="1"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childTnLst>
                                </p:cTn>
                              </p:par>
                            </p:childTnLst>
                          </p:cTn>
                        </p:par>
                        <p:par>
                          <p:cTn id="16" fill="hold">
                            <p:stCondLst>
                              <p:cond delay="6000"/>
                            </p:stCondLst>
                            <p:childTnLst>
                              <p:par>
                                <p:cTn id="17" presetID="1" presetClass="entr" presetSubtype="0"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par>
                          <p:cTn id="19" fill="hold">
                            <p:stCondLst>
                              <p:cond delay="7500"/>
                            </p:stCondLst>
                            <p:childTnLst>
                              <p:par>
                                <p:cTn id="20" presetID="1" presetClass="entr" presetSubtype="0" fill="hold" grpId="0" nodeType="afterEffect">
                                  <p:stCondLst>
                                    <p:cond delay="0"/>
                                  </p:stCondLst>
                                  <p:childTnLst>
                                    <p:set>
                                      <p:cBhvr>
                                        <p:cTn id="21" dur="1" fill="hold">
                                          <p:stCondLst>
                                            <p:cond delay="0"/>
                                          </p:stCondLst>
                                        </p:cTn>
                                        <p:tgtEl>
                                          <p:spTgt spid="13"/>
                                        </p:tgtEl>
                                        <p:attrNameLst>
                                          <p:attrName>style.visibility</p:attrName>
                                        </p:attrNameLst>
                                      </p:cBhvr>
                                      <p:to>
                                        <p:strVal val="visible"/>
                                      </p:to>
                                    </p:set>
                                  </p:childTnLst>
                                </p:cTn>
                              </p:par>
                            </p:childTnLst>
                          </p:cTn>
                        </p:par>
                        <p:par>
                          <p:cTn id="22" fill="hold">
                            <p:stCondLst>
                              <p:cond delay="9000"/>
                            </p:stCondLst>
                            <p:childTnLst>
                              <p:par>
                                <p:cTn id="23" presetID="1" presetClass="entr" presetSubtype="0" fill="hold" grpId="0" nodeType="after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par>
                          <p:cTn id="25" fill="hold">
                            <p:stCondLst>
                              <p:cond delay="10500"/>
                            </p:stCondLst>
                            <p:childTnLst>
                              <p:par>
                                <p:cTn id="26" presetID="1" presetClass="entr" presetSubtype="0" fill="hold" grpId="0" nodeType="afterEffect">
                                  <p:stCondLst>
                                    <p:cond delay="0"/>
                                  </p:stCondLst>
                                  <p:childTnLst>
                                    <p:set>
                                      <p:cBhvr>
                                        <p:cTn id="27" dur="1" fill="hold">
                                          <p:stCondLst>
                                            <p:cond delay="0"/>
                                          </p:stCondLst>
                                        </p:cTn>
                                        <p:tgtEl>
                                          <p:spTgt spid="15"/>
                                        </p:tgtEl>
                                        <p:attrNameLst>
                                          <p:attrName>style.visibility</p:attrName>
                                        </p:attrNameLst>
                                      </p:cBhvr>
                                      <p:to>
                                        <p:strVal val="visible"/>
                                      </p:to>
                                    </p:set>
                                  </p:childTnLst>
                                </p:cTn>
                              </p:par>
                            </p:childTnLst>
                          </p:cTn>
                        </p:par>
                        <p:par>
                          <p:cTn id="28" fill="hold">
                            <p:stCondLst>
                              <p:cond delay="12000"/>
                            </p:stCondLst>
                            <p:childTnLst>
                              <p:par>
                                <p:cTn id="29" presetID="1" presetClass="entr" presetSubtype="0" fill="hold" grpId="0" nodeType="after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par>
                          <p:cTn id="31" fill="hold">
                            <p:stCondLst>
                              <p:cond delay="13500"/>
                            </p:stCondLst>
                            <p:childTnLst>
                              <p:par>
                                <p:cTn id="32" presetID="1" presetClass="entr" presetSubtype="0" fill="hold" grpId="0" nodeType="afterEffect">
                                  <p:stCondLst>
                                    <p:cond delay="0"/>
                                  </p:stCondLst>
                                  <p:childTnLst>
                                    <p:set>
                                      <p:cBhvr>
                                        <p:cTn id="33"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square" anchor="ctr" tIns="36576" bIns="36576">
            <a:spAutoFit/>
          </a:bodyPr>
          <a:lstStyle/>
          <a:p>
            <a:pPr algn="ctr"/>
            <a:r>
              <a:rPr sz="2400" b="0">
                <a:solidFill>
                  <a:srgbClr val="FFFFFF"/>
                </a:solidFill>
                <a:latin typeface="Calibri"/>
              </a:rPr>
              <a:t>Einstieg</a:t>
            </a:r>
          </a:p>
        </p:txBody>
      </p:sp>
      <p:sp>
        <p:nvSpPr>
          <p:cNvPr id="5" name="Rectangle 4"/>
          <p:cNvSpPr/>
          <p:nvPr/>
        </p:nvSpPr>
        <p:spPr>
          <a:xfrm>
            <a:off x="1741670"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741670" cy="457200"/>
          </a:xfrm>
          <a:prstGeom prst="rect">
            <a:avLst/>
          </a:prstGeom>
          <a:noFill/>
        </p:spPr>
        <p:txBody>
          <a:bodyPr wrap="square" anchor="ctr" tIns="36576" bIns="36576">
            <a:spAutoFit/>
          </a:bodyPr>
          <a:lstStyle/>
          <a:p>
            <a:pPr algn="ctr"/>
            <a:r>
              <a:rPr sz="2400" b="1">
                <a:solidFill>
                  <a:srgbClr val="1F2A44"/>
                </a:solidFill>
                <a:latin typeface="Calibri"/>
              </a:rPr>
              <a:t>Block 1</a:t>
            </a:r>
          </a:p>
        </p:txBody>
      </p:sp>
      <p:sp>
        <p:nvSpPr>
          <p:cNvPr id="7" name="Rectangle 6"/>
          <p:cNvSpPr/>
          <p:nvPr/>
        </p:nvSpPr>
        <p:spPr>
          <a:xfrm>
            <a:off x="3483341"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3341"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2</a:t>
            </a:r>
          </a:p>
        </p:txBody>
      </p:sp>
      <p:sp>
        <p:nvSpPr>
          <p:cNvPr id="9" name="Rectangle 8"/>
          <p:cNvSpPr/>
          <p:nvPr/>
        </p:nvSpPr>
        <p:spPr>
          <a:xfrm>
            <a:off x="5225012"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25012"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3</a:t>
            </a:r>
          </a:p>
        </p:txBody>
      </p:sp>
      <p:sp>
        <p:nvSpPr>
          <p:cNvPr id="11" name="Rectangle 10"/>
          <p:cNvSpPr/>
          <p:nvPr/>
        </p:nvSpPr>
        <p:spPr>
          <a:xfrm>
            <a:off x="6966682"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66682" y="0"/>
            <a:ext cx="1741670" cy="457200"/>
          </a:xfrm>
          <a:prstGeom prst="rect">
            <a:avLst/>
          </a:prstGeom>
          <a:noFill/>
        </p:spPr>
        <p:txBody>
          <a:bodyPr wrap="square" anchor="ctr" tIns="36576" bIns="36576">
            <a:spAutoFit/>
          </a:bodyPr>
          <a:lstStyle/>
          <a:p>
            <a:pPr algn="ctr"/>
            <a:r>
              <a:rPr sz="2400" b="0">
                <a:solidFill>
                  <a:srgbClr val="FFFFFF"/>
                </a:solidFill>
                <a:latin typeface="Calibri"/>
              </a:rPr>
              <a:t>Üben</a:t>
            </a:r>
          </a:p>
        </p:txBody>
      </p:sp>
      <p:sp>
        <p:nvSpPr>
          <p:cNvPr id="13" name="Rectangle 12"/>
          <p:cNvSpPr/>
          <p:nvPr/>
        </p:nvSpPr>
        <p:spPr>
          <a:xfrm>
            <a:off x="8708353"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8353" y="0"/>
            <a:ext cx="1741670" cy="457200"/>
          </a:xfrm>
          <a:prstGeom prst="rect">
            <a:avLst/>
          </a:prstGeom>
          <a:noFill/>
        </p:spPr>
        <p:txBody>
          <a:bodyPr wrap="square" anchor="ctr" tIns="36576" bIns="36576">
            <a:spAutoFit/>
          </a:bodyPr>
          <a:lstStyle/>
          <a:p>
            <a:pPr algn="ctr"/>
            <a:r>
              <a:rPr sz="2400" b="0">
                <a:solidFill>
                  <a:srgbClr val="FFFFFF"/>
                </a:solidFill>
                <a:latin typeface="Calibri"/>
              </a:rPr>
              <a:t>Besprechen</a:t>
            </a:r>
          </a:p>
        </p:txBody>
      </p:sp>
      <p:sp>
        <p:nvSpPr>
          <p:cNvPr id="15" name="Rectangle 14"/>
          <p:cNvSpPr/>
          <p:nvPr/>
        </p:nvSpPr>
        <p:spPr>
          <a:xfrm>
            <a:off x="10450024"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50024" y="0"/>
            <a:ext cx="1741670" cy="457200"/>
          </a:xfrm>
          <a:prstGeom prst="rect">
            <a:avLst/>
          </a:prstGeom>
          <a:noFill/>
        </p:spPr>
        <p:txBody>
          <a:bodyPr wrap="square" anchor="ctr" tIns="36576" bIns="36576">
            <a:spAutoFit/>
          </a:bodyPr>
          <a:lstStyle/>
          <a:p>
            <a:pPr algn="ctr"/>
            <a:r>
              <a:rPr sz="2400" b="0">
                <a:solidFill>
                  <a:srgbClr val="FFFFFF"/>
                </a:solidFill>
                <a:latin typeface="Calibri"/>
              </a:rPr>
              <a:t>Abschluss</a:t>
            </a:r>
          </a:p>
        </p:txBody>
      </p:sp>
      <p:sp>
        <p:nvSpPr>
          <p:cNvPr id="17" name="Antwortrahmen"/>
          <p:cNvSpPr/>
          <p:nvPr/>
        </p:nvSpPr>
        <p:spPr>
          <a:xfrm>
            <a:off x="411480" y="566928"/>
            <a:ext cx="11365992" cy="5669280"/>
          </a:xfrm>
          <a:prstGeom prst="rect">
            <a:avLst/>
          </a:prstGeom>
          <a:noFill/>
          <a:ln w="76200">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Haken: Antwortfolie"/>
          <p:cNvPicPr>
            <a:picLocks noChangeAspect="1"/>
          </p:cNvPicPr>
          <p:nvPr/>
        </p:nvPicPr>
        <p:blipFill>
          <a:blip r:embed="rId3"/>
          <a:stretch>
            <a:fillRect/>
          </a:stretch>
        </p:blipFill>
        <p:spPr>
          <a:xfrm>
            <a:off x="10972800" y="640080"/>
            <a:ext cx="685800" cy="685800"/>
          </a:xfrm>
          <a:prstGeom prst="rect">
            <a:avLst/>
          </a:prstGeom>
        </p:spPr>
      </p:pic>
      <p:sp>
        <p:nvSpPr>
          <p:cNvPr id="19" name="Titel"/>
          <p:cNvSpPr txBox="1"/>
          <p:nvPr/>
        </p:nvSpPr>
        <p:spPr>
          <a:xfrm>
            <a:off x="640080" y="594360"/>
            <a:ext cx="10241280" cy="822960"/>
          </a:xfrm>
          <a:prstGeom prst="rect">
            <a:avLst/>
          </a:prstGeom>
          <a:noFill/>
        </p:spPr>
        <p:txBody>
          <a:bodyPr wrap="square" anchor="ctr" tIns="36576" bIns="36576">
            <a:spAutoFit/>
          </a:bodyPr>
          <a:lstStyle/>
          <a:p>
            <a:pPr algn="l"/>
            <a:r>
              <a:rPr sz="4000" b="1">
                <a:solidFill>
                  <a:srgbClr val="1F2A44"/>
                </a:solidFill>
                <a:latin typeface="Calibri"/>
              </a:rPr>
              <a:t>Mindestausbildungsvergütung 2026</a:t>
            </a:r>
          </a:p>
        </p:txBody>
      </p:sp>
      <p:sp>
        <p:nvSpPr>
          <p:cNvPr id="20" name="Jahr_1"/>
          <p:cNvSpPr txBox="1"/>
          <p:nvPr/>
        </p:nvSpPr>
        <p:spPr>
          <a:xfrm>
            <a:off x="822960" y="1600200"/>
            <a:ext cx="1463040" cy="822960"/>
          </a:xfrm>
          <a:prstGeom prst="rect">
            <a:avLst/>
          </a:prstGeom>
          <a:noFill/>
        </p:spPr>
        <p:txBody>
          <a:bodyPr wrap="square" anchor="ctr" tIns="36576" bIns="36576">
            <a:spAutoFit/>
          </a:bodyPr>
          <a:lstStyle/>
          <a:p>
            <a:pPr algn="l"/>
            <a:r>
              <a:rPr sz="2800" b="1">
                <a:solidFill>
                  <a:srgbClr val="1F2A44"/>
                </a:solidFill>
                <a:latin typeface="Calibri"/>
              </a:rPr>
              <a:t>1. Jahr</a:t>
            </a:r>
          </a:p>
        </p:txBody>
      </p:sp>
      <p:sp>
        <p:nvSpPr>
          <p:cNvPr id="21" name="Balken_1"/>
          <p:cNvSpPr/>
          <p:nvPr/>
        </p:nvSpPr>
        <p:spPr>
          <a:xfrm>
            <a:off x="2377440" y="1600200"/>
            <a:ext cx="6137120" cy="82296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r"/>
            <a:r>
              <a:rPr sz="3000" b="1">
                <a:solidFill>
                  <a:srgbClr val="1F2A44"/>
                </a:solidFill>
                <a:latin typeface="Calibri"/>
              </a:rPr>
              <a:t>724 €</a:t>
            </a:r>
          </a:p>
        </p:txBody>
      </p:sp>
      <p:sp>
        <p:nvSpPr>
          <p:cNvPr id="22" name="Jahr_2"/>
          <p:cNvSpPr txBox="1"/>
          <p:nvPr/>
        </p:nvSpPr>
        <p:spPr>
          <a:xfrm>
            <a:off x="822960" y="2587752"/>
            <a:ext cx="1463040" cy="822960"/>
          </a:xfrm>
          <a:prstGeom prst="rect">
            <a:avLst/>
          </a:prstGeom>
          <a:noFill/>
        </p:spPr>
        <p:txBody>
          <a:bodyPr wrap="square" anchor="ctr" tIns="36576" bIns="36576">
            <a:spAutoFit/>
          </a:bodyPr>
          <a:lstStyle/>
          <a:p>
            <a:pPr algn="l"/>
            <a:r>
              <a:rPr sz="2800" b="1">
                <a:solidFill>
                  <a:srgbClr val="1F2A44"/>
                </a:solidFill>
                <a:latin typeface="Calibri"/>
              </a:rPr>
              <a:t>2. Jahr</a:t>
            </a:r>
          </a:p>
        </p:txBody>
      </p:sp>
      <p:sp>
        <p:nvSpPr>
          <p:cNvPr id="23" name="Balken_2"/>
          <p:cNvSpPr/>
          <p:nvPr/>
        </p:nvSpPr>
        <p:spPr>
          <a:xfrm>
            <a:off x="2377440" y="2587752"/>
            <a:ext cx="7239090" cy="822960"/>
          </a:xfrm>
          <a:prstGeom prst="rect">
            <a:avLst/>
          </a:prstGeom>
          <a:solidFill>
            <a:srgbClr val="344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r"/>
            <a:r>
              <a:rPr sz="3000" b="1">
                <a:solidFill>
                  <a:srgbClr val="FFFFFF"/>
                </a:solidFill>
                <a:latin typeface="Calibri"/>
              </a:rPr>
              <a:t>854 €</a:t>
            </a:r>
          </a:p>
        </p:txBody>
      </p:sp>
      <p:sp>
        <p:nvSpPr>
          <p:cNvPr id="24" name="Jahr_3"/>
          <p:cNvSpPr txBox="1"/>
          <p:nvPr/>
        </p:nvSpPr>
        <p:spPr>
          <a:xfrm>
            <a:off x="822960" y="3575304"/>
            <a:ext cx="1463040" cy="822960"/>
          </a:xfrm>
          <a:prstGeom prst="rect">
            <a:avLst/>
          </a:prstGeom>
          <a:noFill/>
        </p:spPr>
        <p:txBody>
          <a:bodyPr wrap="square" anchor="ctr" tIns="36576" bIns="36576">
            <a:spAutoFit/>
          </a:bodyPr>
          <a:lstStyle/>
          <a:p>
            <a:pPr algn="l"/>
            <a:r>
              <a:rPr sz="2800" b="1">
                <a:solidFill>
                  <a:srgbClr val="1F2A44"/>
                </a:solidFill>
                <a:latin typeface="Calibri"/>
              </a:rPr>
              <a:t>3. Jahr</a:t>
            </a:r>
          </a:p>
        </p:txBody>
      </p:sp>
      <p:sp>
        <p:nvSpPr>
          <p:cNvPr id="25" name="Balken_3"/>
          <p:cNvSpPr/>
          <p:nvPr/>
        </p:nvSpPr>
        <p:spPr>
          <a:xfrm>
            <a:off x="2377440" y="3575304"/>
            <a:ext cx="8281722" cy="822960"/>
          </a:xfrm>
          <a:prstGeom prst="rect">
            <a:avLst/>
          </a:prstGeom>
          <a:solidFill>
            <a:srgbClr val="344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r"/>
            <a:r>
              <a:rPr sz="3000" b="1">
                <a:solidFill>
                  <a:srgbClr val="FFFFFF"/>
                </a:solidFill>
                <a:latin typeface="Calibri"/>
              </a:rPr>
              <a:t>977 €</a:t>
            </a:r>
          </a:p>
        </p:txBody>
      </p:sp>
      <p:sp>
        <p:nvSpPr>
          <p:cNvPr id="26" name="Jahr_4"/>
          <p:cNvSpPr txBox="1"/>
          <p:nvPr/>
        </p:nvSpPr>
        <p:spPr>
          <a:xfrm>
            <a:off x="822960" y="4562856"/>
            <a:ext cx="1463040" cy="822960"/>
          </a:xfrm>
          <a:prstGeom prst="rect">
            <a:avLst/>
          </a:prstGeom>
          <a:noFill/>
        </p:spPr>
        <p:txBody>
          <a:bodyPr wrap="square" anchor="ctr" tIns="36576" bIns="36576">
            <a:spAutoFit/>
          </a:bodyPr>
          <a:lstStyle/>
          <a:p>
            <a:pPr algn="l"/>
            <a:r>
              <a:rPr sz="2800" b="1">
                <a:solidFill>
                  <a:srgbClr val="1F2A44"/>
                </a:solidFill>
                <a:latin typeface="Calibri"/>
              </a:rPr>
              <a:t>4. Jahr</a:t>
            </a:r>
          </a:p>
        </p:txBody>
      </p:sp>
      <p:sp>
        <p:nvSpPr>
          <p:cNvPr id="27" name="Balken_4"/>
          <p:cNvSpPr/>
          <p:nvPr/>
        </p:nvSpPr>
        <p:spPr>
          <a:xfrm>
            <a:off x="2377440" y="4562856"/>
            <a:ext cx="8595360" cy="822960"/>
          </a:xfrm>
          <a:prstGeom prst="rect">
            <a:avLst/>
          </a:prstGeom>
          <a:solidFill>
            <a:srgbClr val="344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r"/>
            <a:r>
              <a:rPr sz="3000" b="1">
                <a:solidFill>
                  <a:srgbClr val="FFFFFF"/>
                </a:solidFill>
                <a:latin typeface="Calibri"/>
              </a:rPr>
              <a:t>1.014 €</a:t>
            </a:r>
          </a:p>
        </p:txBody>
      </p:sp>
      <p:sp>
        <p:nvSpPr>
          <p:cNvPr id="28" name="TextBox 27"/>
          <p:cNvSpPr txBox="1"/>
          <p:nvPr/>
        </p:nvSpPr>
        <p:spPr>
          <a:xfrm>
            <a:off x="822960" y="5577840"/>
            <a:ext cx="8686800" cy="457200"/>
          </a:xfrm>
          <a:prstGeom prst="rect">
            <a:avLst/>
          </a:prstGeom>
          <a:noFill/>
        </p:spPr>
        <p:txBody>
          <a:bodyPr wrap="square" anchor="t" tIns="36576" bIns="36576">
            <a:spAutoFit/>
          </a:bodyPr>
          <a:lstStyle/>
          <a:p>
            <a:pPr algn="l"/>
            <a:r>
              <a:rPr sz="2400" b="0">
                <a:solidFill>
                  <a:srgbClr val="4A5568"/>
                </a:solidFill>
                <a:latin typeface="Calibri"/>
              </a:rPr>
              <a:t>Darf nicht unterschritten werden · wird jedes Jahr neu festgelegt</a:t>
            </a:r>
          </a:p>
        </p:txBody>
      </p:sp>
      <p:sp>
        <p:nvSpPr>
          <p:cNvPr id="29" name="TextBox 28"/>
          <p:cNvSpPr txBox="1"/>
          <p:nvPr/>
        </p:nvSpPr>
        <p:spPr>
          <a:xfrm>
            <a:off x="7589520" y="6327648"/>
            <a:ext cx="4114800" cy="420624"/>
          </a:xfrm>
          <a:prstGeom prst="rect">
            <a:avLst/>
          </a:prstGeom>
          <a:noFill/>
        </p:spPr>
        <p:txBody>
          <a:bodyPr wrap="square" anchor="ctr" tIns="36576" bIns="36576">
            <a:spAutoFit/>
          </a:bodyPr>
          <a:lstStyle/>
          <a:p>
            <a:pPr algn="r"/>
            <a:r>
              <a:rPr sz="2400" b="0">
                <a:solidFill>
                  <a:srgbClr val="4A5568"/>
                </a:solidFill>
                <a:latin typeface="Calibri"/>
              </a:rPr>
              <a:t>§ 17 BBiG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23" grpId="0" animBg="1"/>
      <p:bldP spid="24" grpId="0" animBg="1"/>
      <p:bldP spid="25" grpId="0" animBg="1"/>
      <p:bldP spid="26" grpId="0" animBg="1"/>
      <p:bldP spid="27" grpId="0" animBg="1"/>
    </p:bld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square" anchor="ctr" tIns="36576" bIns="36576">
            <a:spAutoFit/>
          </a:bodyPr>
          <a:lstStyle/>
          <a:p>
            <a:pPr algn="ctr"/>
            <a:r>
              <a:rPr sz="2400" b="0">
                <a:solidFill>
                  <a:srgbClr val="FFFFFF"/>
                </a:solidFill>
                <a:latin typeface="Calibri"/>
              </a:rPr>
              <a:t>Einstieg</a:t>
            </a:r>
          </a:p>
        </p:txBody>
      </p:sp>
      <p:sp>
        <p:nvSpPr>
          <p:cNvPr id="5" name="Rectangle 4"/>
          <p:cNvSpPr/>
          <p:nvPr/>
        </p:nvSpPr>
        <p:spPr>
          <a:xfrm>
            <a:off x="174167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1</a:t>
            </a:r>
          </a:p>
        </p:txBody>
      </p:sp>
      <p:sp>
        <p:nvSpPr>
          <p:cNvPr id="7" name="Rectangle 6"/>
          <p:cNvSpPr/>
          <p:nvPr/>
        </p:nvSpPr>
        <p:spPr>
          <a:xfrm>
            <a:off x="3483341"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3341" y="0"/>
            <a:ext cx="1741670" cy="457200"/>
          </a:xfrm>
          <a:prstGeom prst="rect">
            <a:avLst/>
          </a:prstGeom>
          <a:noFill/>
        </p:spPr>
        <p:txBody>
          <a:bodyPr wrap="square" anchor="ctr" tIns="36576" bIns="36576">
            <a:spAutoFit/>
          </a:bodyPr>
          <a:lstStyle/>
          <a:p>
            <a:pPr algn="ctr"/>
            <a:r>
              <a:rPr sz="2400" b="1">
                <a:solidFill>
                  <a:srgbClr val="1F2A44"/>
                </a:solidFill>
                <a:latin typeface="Calibri"/>
              </a:rPr>
              <a:t>Block 2</a:t>
            </a:r>
          </a:p>
        </p:txBody>
      </p:sp>
      <p:sp>
        <p:nvSpPr>
          <p:cNvPr id="9" name="Rectangle 8"/>
          <p:cNvSpPr/>
          <p:nvPr/>
        </p:nvSpPr>
        <p:spPr>
          <a:xfrm>
            <a:off x="5225012"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25012"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3</a:t>
            </a:r>
          </a:p>
        </p:txBody>
      </p:sp>
      <p:sp>
        <p:nvSpPr>
          <p:cNvPr id="11" name="Rectangle 10"/>
          <p:cNvSpPr/>
          <p:nvPr/>
        </p:nvSpPr>
        <p:spPr>
          <a:xfrm>
            <a:off x="6966682"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66682" y="0"/>
            <a:ext cx="1741670" cy="457200"/>
          </a:xfrm>
          <a:prstGeom prst="rect">
            <a:avLst/>
          </a:prstGeom>
          <a:noFill/>
        </p:spPr>
        <p:txBody>
          <a:bodyPr wrap="square" anchor="ctr" tIns="36576" bIns="36576">
            <a:spAutoFit/>
          </a:bodyPr>
          <a:lstStyle/>
          <a:p>
            <a:pPr algn="ctr"/>
            <a:r>
              <a:rPr sz="2400" b="0">
                <a:solidFill>
                  <a:srgbClr val="FFFFFF"/>
                </a:solidFill>
                <a:latin typeface="Calibri"/>
              </a:rPr>
              <a:t>Üben</a:t>
            </a:r>
          </a:p>
        </p:txBody>
      </p:sp>
      <p:sp>
        <p:nvSpPr>
          <p:cNvPr id="13" name="Rectangle 12"/>
          <p:cNvSpPr/>
          <p:nvPr/>
        </p:nvSpPr>
        <p:spPr>
          <a:xfrm>
            <a:off x="8708353"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8353" y="0"/>
            <a:ext cx="1741670" cy="457200"/>
          </a:xfrm>
          <a:prstGeom prst="rect">
            <a:avLst/>
          </a:prstGeom>
          <a:noFill/>
        </p:spPr>
        <p:txBody>
          <a:bodyPr wrap="square" anchor="ctr" tIns="36576" bIns="36576">
            <a:spAutoFit/>
          </a:bodyPr>
          <a:lstStyle/>
          <a:p>
            <a:pPr algn="ctr"/>
            <a:r>
              <a:rPr sz="2400" b="0">
                <a:solidFill>
                  <a:srgbClr val="FFFFFF"/>
                </a:solidFill>
                <a:latin typeface="Calibri"/>
              </a:rPr>
              <a:t>Besprechen</a:t>
            </a:r>
          </a:p>
        </p:txBody>
      </p:sp>
      <p:sp>
        <p:nvSpPr>
          <p:cNvPr id="15" name="Rectangle 14"/>
          <p:cNvSpPr/>
          <p:nvPr/>
        </p:nvSpPr>
        <p:spPr>
          <a:xfrm>
            <a:off x="10450024"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50024" y="0"/>
            <a:ext cx="1741670" cy="457200"/>
          </a:xfrm>
          <a:prstGeom prst="rect">
            <a:avLst/>
          </a:prstGeom>
          <a:noFill/>
        </p:spPr>
        <p:txBody>
          <a:bodyPr wrap="square" anchor="ctr" tIns="36576" bIns="36576">
            <a:spAutoFit/>
          </a:bodyPr>
          <a:lstStyle/>
          <a:p>
            <a:pPr algn="ctr"/>
            <a:r>
              <a:rPr sz="2400" b="0">
                <a:solidFill>
                  <a:srgbClr val="FFFFFF"/>
                </a:solidFill>
                <a:latin typeface="Calibri"/>
              </a:rPr>
              <a:t>Abschluss</a:t>
            </a:r>
          </a:p>
        </p:txBody>
      </p:sp>
      <p:pic>
        <p:nvPicPr>
          <p:cNvPr id="17" name="Picture 16" descr="Fragezeichen-Symbol"/>
          <p:cNvPicPr>
            <a:picLocks noChangeAspect="1"/>
          </p:cNvPicPr>
          <p:nvPr/>
        </p:nvPicPr>
        <p:blipFill>
          <a:blip r:embed="rId3"/>
          <a:stretch>
            <a:fillRect/>
          </a:stretch>
        </p:blipFill>
        <p:spPr>
          <a:xfrm>
            <a:off x="640080" y="914400"/>
            <a:ext cx="1234440" cy="1234440"/>
          </a:xfrm>
          <a:prstGeom prst="rect">
            <a:avLst/>
          </a:prstGeom>
        </p:spPr>
      </p:pic>
      <p:sp>
        <p:nvSpPr>
          <p:cNvPr id="18" name="Frage"/>
          <p:cNvSpPr txBox="1"/>
          <p:nvPr/>
        </p:nvSpPr>
        <p:spPr>
          <a:xfrm>
            <a:off x="2103120" y="914400"/>
            <a:ext cx="9601200" cy="3566160"/>
          </a:xfrm>
          <a:prstGeom prst="rect">
            <a:avLst/>
          </a:prstGeom>
          <a:noFill/>
        </p:spPr>
        <p:txBody>
          <a:bodyPr wrap="square" anchor="ctr" tIns="36576" bIns="36576">
            <a:spAutoFit/>
          </a:bodyPr>
          <a:lstStyle/>
          <a:p>
            <a:pPr algn="l"/>
            <a:r>
              <a:rPr sz="4400" b="1">
                <a:solidFill>
                  <a:srgbClr val="1F2A44"/>
                </a:solidFill>
                <a:latin typeface="Calibri"/>
              </a:rPr>
              <a:t>Stimmt oder stimmt nicht?
Der Samstag zählt als Werktag.</a:t>
            </a:r>
          </a:p>
        </p:txBody>
      </p:sp>
      <p:sp>
        <p:nvSpPr>
          <p:cNvPr id="19" name="Rounded Rectangle 18"/>
          <p:cNvSpPr/>
          <p:nvPr/>
        </p:nvSpPr>
        <p:spPr>
          <a:xfrm>
            <a:off x="502920" y="6327648"/>
            <a:ext cx="1344168" cy="420624"/>
          </a:xfrm>
          <a:prstGeom prst="roundRect">
            <a:avLst>
              <a:gd name="adj" fmla="val 4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6327648"/>
            <a:ext cx="1344168" cy="420624"/>
          </a:xfrm>
          <a:prstGeom prst="rect">
            <a:avLst/>
          </a:prstGeom>
          <a:noFill/>
        </p:spPr>
        <p:txBody>
          <a:bodyPr wrap="square" anchor="ctr" tIns="36576" bIns="36576">
            <a:spAutoFit/>
          </a:bodyPr>
          <a:lstStyle/>
          <a:p>
            <a:pPr algn="ctr"/>
            <a:r>
              <a:rPr sz="2400" b="1">
                <a:solidFill>
                  <a:srgbClr val="FFFFFF"/>
                </a:solidFill>
                <a:latin typeface="Calibri"/>
              </a:rPr>
              <a:t>Plenum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square" anchor="ctr" tIns="36576" bIns="36576">
            <a:spAutoFit/>
          </a:bodyPr>
          <a:lstStyle/>
          <a:p>
            <a:pPr algn="ctr"/>
            <a:r>
              <a:rPr sz="2400" b="0">
                <a:solidFill>
                  <a:srgbClr val="FFFFFF"/>
                </a:solidFill>
                <a:latin typeface="Calibri"/>
              </a:rPr>
              <a:t>Einstieg</a:t>
            </a:r>
          </a:p>
        </p:txBody>
      </p:sp>
      <p:sp>
        <p:nvSpPr>
          <p:cNvPr id="5" name="Rectangle 4"/>
          <p:cNvSpPr/>
          <p:nvPr/>
        </p:nvSpPr>
        <p:spPr>
          <a:xfrm>
            <a:off x="174167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1</a:t>
            </a:r>
          </a:p>
        </p:txBody>
      </p:sp>
      <p:sp>
        <p:nvSpPr>
          <p:cNvPr id="7" name="Rectangle 6"/>
          <p:cNvSpPr/>
          <p:nvPr/>
        </p:nvSpPr>
        <p:spPr>
          <a:xfrm>
            <a:off x="3483341"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3341" y="0"/>
            <a:ext cx="1741670" cy="457200"/>
          </a:xfrm>
          <a:prstGeom prst="rect">
            <a:avLst/>
          </a:prstGeom>
          <a:noFill/>
        </p:spPr>
        <p:txBody>
          <a:bodyPr wrap="square" anchor="ctr" tIns="36576" bIns="36576">
            <a:spAutoFit/>
          </a:bodyPr>
          <a:lstStyle/>
          <a:p>
            <a:pPr algn="ctr"/>
            <a:r>
              <a:rPr sz="2400" b="1">
                <a:solidFill>
                  <a:srgbClr val="1F2A44"/>
                </a:solidFill>
                <a:latin typeface="Calibri"/>
              </a:rPr>
              <a:t>Block 2</a:t>
            </a:r>
          </a:p>
        </p:txBody>
      </p:sp>
      <p:sp>
        <p:nvSpPr>
          <p:cNvPr id="9" name="Rectangle 8"/>
          <p:cNvSpPr/>
          <p:nvPr/>
        </p:nvSpPr>
        <p:spPr>
          <a:xfrm>
            <a:off x="5225012"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25012"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3</a:t>
            </a:r>
          </a:p>
        </p:txBody>
      </p:sp>
      <p:sp>
        <p:nvSpPr>
          <p:cNvPr id="11" name="Rectangle 10"/>
          <p:cNvSpPr/>
          <p:nvPr/>
        </p:nvSpPr>
        <p:spPr>
          <a:xfrm>
            <a:off x="6966682"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66682" y="0"/>
            <a:ext cx="1741670" cy="457200"/>
          </a:xfrm>
          <a:prstGeom prst="rect">
            <a:avLst/>
          </a:prstGeom>
          <a:noFill/>
        </p:spPr>
        <p:txBody>
          <a:bodyPr wrap="square" anchor="ctr" tIns="36576" bIns="36576">
            <a:spAutoFit/>
          </a:bodyPr>
          <a:lstStyle/>
          <a:p>
            <a:pPr algn="ctr"/>
            <a:r>
              <a:rPr sz="2400" b="0">
                <a:solidFill>
                  <a:srgbClr val="FFFFFF"/>
                </a:solidFill>
                <a:latin typeface="Calibri"/>
              </a:rPr>
              <a:t>Üben</a:t>
            </a:r>
          </a:p>
        </p:txBody>
      </p:sp>
      <p:sp>
        <p:nvSpPr>
          <p:cNvPr id="13" name="Rectangle 12"/>
          <p:cNvSpPr/>
          <p:nvPr/>
        </p:nvSpPr>
        <p:spPr>
          <a:xfrm>
            <a:off x="8708353"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8353" y="0"/>
            <a:ext cx="1741670" cy="457200"/>
          </a:xfrm>
          <a:prstGeom prst="rect">
            <a:avLst/>
          </a:prstGeom>
          <a:noFill/>
        </p:spPr>
        <p:txBody>
          <a:bodyPr wrap="square" anchor="ctr" tIns="36576" bIns="36576">
            <a:spAutoFit/>
          </a:bodyPr>
          <a:lstStyle/>
          <a:p>
            <a:pPr algn="ctr"/>
            <a:r>
              <a:rPr sz="2400" b="0">
                <a:solidFill>
                  <a:srgbClr val="FFFFFF"/>
                </a:solidFill>
                <a:latin typeface="Calibri"/>
              </a:rPr>
              <a:t>Besprechen</a:t>
            </a:r>
          </a:p>
        </p:txBody>
      </p:sp>
      <p:sp>
        <p:nvSpPr>
          <p:cNvPr id="15" name="Rectangle 14"/>
          <p:cNvSpPr/>
          <p:nvPr/>
        </p:nvSpPr>
        <p:spPr>
          <a:xfrm>
            <a:off x="10450024"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50024" y="0"/>
            <a:ext cx="1741670" cy="457200"/>
          </a:xfrm>
          <a:prstGeom prst="rect">
            <a:avLst/>
          </a:prstGeom>
          <a:noFill/>
        </p:spPr>
        <p:txBody>
          <a:bodyPr wrap="square" anchor="ctr" tIns="36576" bIns="36576">
            <a:spAutoFit/>
          </a:bodyPr>
          <a:lstStyle/>
          <a:p>
            <a:pPr algn="ctr"/>
            <a:r>
              <a:rPr sz="2400" b="0">
                <a:solidFill>
                  <a:srgbClr val="FFFFFF"/>
                </a:solidFill>
                <a:latin typeface="Calibri"/>
              </a:rPr>
              <a:t>Abschluss</a:t>
            </a:r>
          </a:p>
        </p:txBody>
      </p:sp>
      <p:sp>
        <p:nvSpPr>
          <p:cNvPr id="17" name="Antwortrahmen"/>
          <p:cNvSpPr/>
          <p:nvPr/>
        </p:nvSpPr>
        <p:spPr>
          <a:xfrm>
            <a:off x="411480" y="566928"/>
            <a:ext cx="11365992" cy="5669280"/>
          </a:xfrm>
          <a:prstGeom prst="rect">
            <a:avLst/>
          </a:prstGeom>
          <a:noFill/>
          <a:ln w="76200">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Haken: Antwortfolie"/>
          <p:cNvPicPr>
            <a:picLocks noChangeAspect="1"/>
          </p:cNvPicPr>
          <p:nvPr/>
        </p:nvPicPr>
        <p:blipFill>
          <a:blip r:embed="rId3"/>
          <a:stretch>
            <a:fillRect/>
          </a:stretch>
        </p:blipFill>
        <p:spPr>
          <a:xfrm>
            <a:off x="10972800" y="640080"/>
            <a:ext cx="685800" cy="685800"/>
          </a:xfrm>
          <a:prstGeom prst="rect">
            <a:avLst/>
          </a:prstGeom>
        </p:spPr>
      </p:pic>
      <p:sp>
        <p:nvSpPr>
          <p:cNvPr id="19" name="Titel"/>
          <p:cNvSpPr txBox="1"/>
          <p:nvPr/>
        </p:nvSpPr>
        <p:spPr>
          <a:xfrm>
            <a:off x="640080" y="594360"/>
            <a:ext cx="10241280" cy="822960"/>
          </a:xfrm>
          <a:prstGeom prst="rect">
            <a:avLst/>
          </a:prstGeom>
          <a:noFill/>
        </p:spPr>
        <p:txBody>
          <a:bodyPr wrap="square" anchor="ctr" tIns="36576" bIns="36576">
            <a:spAutoFit/>
          </a:bodyPr>
          <a:lstStyle/>
          <a:p>
            <a:pPr algn="l"/>
            <a:r>
              <a:rPr sz="4000" b="1">
                <a:solidFill>
                  <a:srgbClr val="1F2A44"/>
                </a:solidFill>
                <a:latin typeface="Calibri"/>
              </a:rPr>
              <a:t>Stimmt: Der Samstag ist ein Werktag</a:t>
            </a:r>
          </a:p>
        </p:txBody>
      </p:sp>
      <p:sp>
        <p:nvSpPr>
          <p:cNvPr id="20" name="Antwort_1"/>
          <p:cNvSpPr/>
          <p:nvPr/>
        </p:nvSpPr>
        <p:spPr>
          <a:xfrm>
            <a:off x="822960" y="1645920"/>
            <a:ext cx="10515600" cy="1828800"/>
          </a:xfrm>
          <a:prstGeom prst="roundRect">
            <a:avLst/>
          </a:prstGeom>
          <a:solidFill>
            <a:srgbClr val="FFF0D1"/>
          </a:solidFill>
          <a:ln w="38100">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3200" b="1">
                <a:solidFill>
                  <a:srgbClr val="1F2A44"/>
                </a:solidFill>
                <a:latin typeface="Calibri"/>
              </a:rPr>
              <a:t>Werktage sind alle Kalendertage außer Sonntagen und gesetzlichen Feiertagen.</a:t>
            </a:r>
          </a:p>
        </p:txBody>
      </p:sp>
      <p:sp>
        <p:nvSpPr>
          <p:cNvPr id="21" name="Antwort_2"/>
          <p:cNvSpPr/>
          <p:nvPr/>
        </p:nvSpPr>
        <p:spPr>
          <a:xfrm>
            <a:off x="822960" y="3749039"/>
            <a:ext cx="10515600" cy="1645920"/>
          </a:xfrm>
          <a:prstGeom prst="roundRect">
            <a:avLst/>
          </a:prstGeom>
          <a:solidFill>
            <a:srgbClr val="EEF1F8"/>
          </a:solidFill>
          <a:ln w="38100">
            <a:solidFill>
              <a:srgbClr val="34456B"/>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3200" b="0">
                <a:solidFill>
                  <a:srgbClr val="1F2A44"/>
                </a:solidFill>
                <a:latin typeface="Calibri"/>
              </a:rPr>
              <a:t>24 Werktage entsprechen 20 Arbeitstagen bei der Fünf-Tage-Woche.</a:t>
            </a:r>
          </a:p>
        </p:txBody>
      </p:sp>
      <p:sp>
        <p:nvSpPr>
          <p:cNvPr id="22" name="TextBox 21"/>
          <p:cNvSpPr txBox="1"/>
          <p:nvPr/>
        </p:nvSpPr>
        <p:spPr>
          <a:xfrm>
            <a:off x="7589520" y="6327648"/>
            <a:ext cx="4114800" cy="420624"/>
          </a:xfrm>
          <a:prstGeom prst="rect">
            <a:avLst/>
          </a:prstGeom>
          <a:noFill/>
        </p:spPr>
        <p:txBody>
          <a:bodyPr wrap="square" anchor="ctr" tIns="36576" bIns="36576">
            <a:spAutoFit/>
          </a:bodyPr>
          <a:lstStyle/>
          <a:p>
            <a:pPr algn="r"/>
            <a:r>
              <a:rPr sz="2400" b="0">
                <a:solidFill>
                  <a:srgbClr val="4A5568"/>
                </a:solidFill>
                <a:latin typeface="Calibri"/>
              </a:rPr>
              <a:t>§ 3 BUrlG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square" anchor="ctr" tIns="36576" bIns="36576">
            <a:spAutoFit/>
          </a:bodyPr>
          <a:lstStyle/>
          <a:p>
            <a:pPr algn="ctr"/>
            <a:r>
              <a:rPr sz="2400" b="0">
                <a:solidFill>
                  <a:srgbClr val="FFFFFF"/>
                </a:solidFill>
                <a:latin typeface="Calibri"/>
              </a:rPr>
              <a:t>Einstieg</a:t>
            </a:r>
          </a:p>
        </p:txBody>
      </p:sp>
      <p:sp>
        <p:nvSpPr>
          <p:cNvPr id="5" name="Rectangle 4"/>
          <p:cNvSpPr/>
          <p:nvPr/>
        </p:nvSpPr>
        <p:spPr>
          <a:xfrm>
            <a:off x="174167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1</a:t>
            </a:r>
          </a:p>
        </p:txBody>
      </p:sp>
      <p:sp>
        <p:nvSpPr>
          <p:cNvPr id="7" name="Rectangle 6"/>
          <p:cNvSpPr/>
          <p:nvPr/>
        </p:nvSpPr>
        <p:spPr>
          <a:xfrm>
            <a:off x="3483341"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3341" y="0"/>
            <a:ext cx="1741670" cy="457200"/>
          </a:xfrm>
          <a:prstGeom prst="rect">
            <a:avLst/>
          </a:prstGeom>
          <a:noFill/>
        </p:spPr>
        <p:txBody>
          <a:bodyPr wrap="square" anchor="ctr" tIns="36576" bIns="36576">
            <a:spAutoFit/>
          </a:bodyPr>
          <a:lstStyle/>
          <a:p>
            <a:pPr algn="ctr"/>
            <a:r>
              <a:rPr sz="2400" b="1">
                <a:solidFill>
                  <a:srgbClr val="1F2A44"/>
                </a:solidFill>
                <a:latin typeface="Calibri"/>
              </a:rPr>
              <a:t>Block 2</a:t>
            </a:r>
          </a:p>
        </p:txBody>
      </p:sp>
      <p:sp>
        <p:nvSpPr>
          <p:cNvPr id="9" name="Rectangle 8"/>
          <p:cNvSpPr/>
          <p:nvPr/>
        </p:nvSpPr>
        <p:spPr>
          <a:xfrm>
            <a:off x="5225012"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25012"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3</a:t>
            </a:r>
          </a:p>
        </p:txBody>
      </p:sp>
      <p:sp>
        <p:nvSpPr>
          <p:cNvPr id="11" name="Rectangle 10"/>
          <p:cNvSpPr/>
          <p:nvPr/>
        </p:nvSpPr>
        <p:spPr>
          <a:xfrm>
            <a:off x="6966682"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66682" y="0"/>
            <a:ext cx="1741670" cy="457200"/>
          </a:xfrm>
          <a:prstGeom prst="rect">
            <a:avLst/>
          </a:prstGeom>
          <a:noFill/>
        </p:spPr>
        <p:txBody>
          <a:bodyPr wrap="square" anchor="ctr" tIns="36576" bIns="36576">
            <a:spAutoFit/>
          </a:bodyPr>
          <a:lstStyle/>
          <a:p>
            <a:pPr algn="ctr"/>
            <a:r>
              <a:rPr sz="2400" b="0">
                <a:solidFill>
                  <a:srgbClr val="FFFFFF"/>
                </a:solidFill>
                <a:latin typeface="Calibri"/>
              </a:rPr>
              <a:t>Üben</a:t>
            </a:r>
          </a:p>
        </p:txBody>
      </p:sp>
      <p:sp>
        <p:nvSpPr>
          <p:cNvPr id="13" name="Rectangle 12"/>
          <p:cNvSpPr/>
          <p:nvPr/>
        </p:nvSpPr>
        <p:spPr>
          <a:xfrm>
            <a:off x="8708353"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8353" y="0"/>
            <a:ext cx="1741670" cy="457200"/>
          </a:xfrm>
          <a:prstGeom prst="rect">
            <a:avLst/>
          </a:prstGeom>
          <a:noFill/>
        </p:spPr>
        <p:txBody>
          <a:bodyPr wrap="square" anchor="ctr" tIns="36576" bIns="36576">
            <a:spAutoFit/>
          </a:bodyPr>
          <a:lstStyle/>
          <a:p>
            <a:pPr algn="ctr"/>
            <a:r>
              <a:rPr sz="2400" b="0">
                <a:solidFill>
                  <a:srgbClr val="FFFFFF"/>
                </a:solidFill>
                <a:latin typeface="Calibri"/>
              </a:rPr>
              <a:t>Besprechen</a:t>
            </a:r>
          </a:p>
        </p:txBody>
      </p:sp>
      <p:sp>
        <p:nvSpPr>
          <p:cNvPr id="15" name="Rectangle 14"/>
          <p:cNvSpPr/>
          <p:nvPr/>
        </p:nvSpPr>
        <p:spPr>
          <a:xfrm>
            <a:off x="10450024"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50024" y="0"/>
            <a:ext cx="1741670" cy="457200"/>
          </a:xfrm>
          <a:prstGeom prst="rect">
            <a:avLst/>
          </a:prstGeom>
          <a:noFill/>
        </p:spPr>
        <p:txBody>
          <a:bodyPr wrap="square" anchor="ctr" tIns="36576" bIns="36576">
            <a:spAutoFit/>
          </a:bodyPr>
          <a:lstStyle/>
          <a:p>
            <a:pPr algn="ctr"/>
            <a:r>
              <a:rPr sz="2400" b="0">
                <a:solidFill>
                  <a:srgbClr val="FFFFFF"/>
                </a:solidFill>
                <a:latin typeface="Calibri"/>
              </a:rPr>
              <a:t>Abschluss</a:t>
            </a:r>
          </a:p>
        </p:txBody>
      </p:sp>
      <p:sp>
        <p:nvSpPr>
          <p:cNvPr id="17" name="Titel"/>
          <p:cNvSpPr txBox="1"/>
          <p:nvPr/>
        </p:nvSpPr>
        <p:spPr>
          <a:xfrm>
            <a:off x="548640" y="530352"/>
            <a:ext cx="11155680" cy="868680"/>
          </a:xfrm>
          <a:prstGeom prst="rect">
            <a:avLst/>
          </a:prstGeom>
          <a:noFill/>
        </p:spPr>
        <p:txBody>
          <a:bodyPr wrap="square" anchor="ctr" tIns="36576" bIns="36576">
            <a:spAutoFit/>
          </a:bodyPr>
          <a:lstStyle/>
          <a:p>
            <a:pPr algn="l"/>
            <a:r>
              <a:rPr sz="4000" b="1">
                <a:solidFill>
                  <a:srgbClr val="1F2A44"/>
                </a:solidFill>
                <a:latin typeface="Calibri"/>
              </a:rPr>
              <a:t>Mindesturlaub nach Alter</a:t>
            </a:r>
          </a:p>
        </p:txBody>
      </p:sp>
      <p:sp>
        <p:nvSpPr>
          <p:cNvPr id="18" name="Rectangle 17"/>
          <p:cNvSpPr/>
          <p:nvPr/>
        </p:nvSpPr>
        <p:spPr>
          <a:xfrm>
            <a:off x="640080" y="1371600"/>
            <a:ext cx="1463040" cy="6400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89520" y="6327648"/>
            <a:ext cx="4114800" cy="420624"/>
          </a:xfrm>
          <a:prstGeom prst="rect">
            <a:avLst/>
          </a:prstGeom>
          <a:noFill/>
        </p:spPr>
        <p:txBody>
          <a:bodyPr wrap="square" anchor="ctr" tIns="36576" bIns="36576">
            <a:spAutoFit/>
          </a:bodyPr>
          <a:lstStyle/>
          <a:p>
            <a:pPr algn="r"/>
            <a:r>
              <a:rPr sz="2400" b="0">
                <a:solidFill>
                  <a:srgbClr val="4A5568"/>
                </a:solidFill>
                <a:latin typeface="Calibri"/>
              </a:rPr>
              <a:t>§ 19 JArbSchG · § 3 BUrlG</a:t>
            </a:r>
          </a:p>
        </p:txBody>
      </p:sp>
      <p:sp>
        <p:nvSpPr>
          <p:cNvPr id="20" name="Alter_1"/>
          <p:cNvSpPr txBox="1"/>
          <p:nvPr/>
        </p:nvSpPr>
        <p:spPr>
          <a:xfrm>
            <a:off x="822960" y="1737360"/>
            <a:ext cx="2377440" cy="868680"/>
          </a:xfrm>
          <a:prstGeom prst="rect">
            <a:avLst/>
          </a:prstGeom>
          <a:noFill/>
        </p:spPr>
        <p:txBody>
          <a:bodyPr wrap="square" anchor="ctr" tIns="36576" bIns="36576">
            <a:spAutoFit/>
          </a:bodyPr>
          <a:lstStyle/>
          <a:p>
            <a:pPr algn="l"/>
            <a:r>
              <a:rPr sz="3000" b="1">
                <a:solidFill>
                  <a:srgbClr val="1F2A44"/>
                </a:solidFill>
                <a:latin typeface="Calibri"/>
              </a:rPr>
              <a:t>unter 16</a:t>
            </a:r>
          </a:p>
        </p:txBody>
      </p:sp>
      <p:sp>
        <p:nvSpPr>
          <p:cNvPr id="21" name="Urlaub_1"/>
          <p:cNvSpPr/>
          <p:nvPr/>
        </p:nvSpPr>
        <p:spPr>
          <a:xfrm>
            <a:off x="3291840" y="1737360"/>
            <a:ext cx="7863840" cy="868680"/>
          </a:xfrm>
          <a:prstGeom prst="rect">
            <a:avLst/>
          </a:prstGeom>
          <a:solidFill>
            <a:srgbClr val="344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r"/>
            <a:r>
              <a:rPr sz="3000" b="1">
                <a:solidFill>
                  <a:srgbClr val="FFFFFF"/>
                </a:solidFill>
                <a:latin typeface="Calibri"/>
              </a:rPr>
              <a:t>30 Werktage</a:t>
            </a:r>
          </a:p>
        </p:txBody>
      </p:sp>
      <p:sp>
        <p:nvSpPr>
          <p:cNvPr id="22" name="Alter_2"/>
          <p:cNvSpPr txBox="1"/>
          <p:nvPr/>
        </p:nvSpPr>
        <p:spPr>
          <a:xfrm>
            <a:off x="822960" y="2834639"/>
            <a:ext cx="2377440" cy="868680"/>
          </a:xfrm>
          <a:prstGeom prst="rect">
            <a:avLst/>
          </a:prstGeom>
          <a:noFill/>
        </p:spPr>
        <p:txBody>
          <a:bodyPr wrap="square" anchor="ctr" tIns="36576" bIns="36576">
            <a:spAutoFit/>
          </a:bodyPr>
          <a:lstStyle/>
          <a:p>
            <a:pPr algn="l"/>
            <a:r>
              <a:rPr sz="3000" b="1">
                <a:solidFill>
                  <a:srgbClr val="1F2A44"/>
                </a:solidFill>
                <a:latin typeface="Calibri"/>
              </a:rPr>
              <a:t>unter 17</a:t>
            </a:r>
          </a:p>
        </p:txBody>
      </p:sp>
      <p:sp>
        <p:nvSpPr>
          <p:cNvPr id="23" name="Urlaub_2"/>
          <p:cNvSpPr/>
          <p:nvPr/>
        </p:nvSpPr>
        <p:spPr>
          <a:xfrm>
            <a:off x="3291840" y="2834639"/>
            <a:ext cx="7077455" cy="868680"/>
          </a:xfrm>
          <a:prstGeom prst="rect">
            <a:avLst/>
          </a:prstGeom>
          <a:solidFill>
            <a:srgbClr val="344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r"/>
            <a:r>
              <a:rPr sz="3000" b="1">
                <a:solidFill>
                  <a:srgbClr val="FFFFFF"/>
                </a:solidFill>
                <a:latin typeface="Calibri"/>
              </a:rPr>
              <a:t>27 Werktage</a:t>
            </a:r>
          </a:p>
        </p:txBody>
      </p:sp>
      <p:sp>
        <p:nvSpPr>
          <p:cNvPr id="24" name="Alter_3"/>
          <p:cNvSpPr txBox="1"/>
          <p:nvPr/>
        </p:nvSpPr>
        <p:spPr>
          <a:xfrm>
            <a:off x="822960" y="3931920"/>
            <a:ext cx="2377440" cy="868680"/>
          </a:xfrm>
          <a:prstGeom prst="rect">
            <a:avLst/>
          </a:prstGeom>
          <a:noFill/>
        </p:spPr>
        <p:txBody>
          <a:bodyPr wrap="square" anchor="ctr" tIns="36576" bIns="36576">
            <a:spAutoFit/>
          </a:bodyPr>
          <a:lstStyle/>
          <a:p>
            <a:pPr algn="l"/>
            <a:r>
              <a:rPr sz="3000" b="1">
                <a:solidFill>
                  <a:srgbClr val="1F2A44"/>
                </a:solidFill>
                <a:latin typeface="Calibri"/>
              </a:rPr>
              <a:t>unter 18</a:t>
            </a:r>
          </a:p>
        </p:txBody>
      </p:sp>
      <p:sp>
        <p:nvSpPr>
          <p:cNvPr id="25" name="Urlaub_3"/>
          <p:cNvSpPr/>
          <p:nvPr/>
        </p:nvSpPr>
        <p:spPr>
          <a:xfrm>
            <a:off x="3291840" y="3931920"/>
            <a:ext cx="6553200" cy="868680"/>
          </a:xfrm>
          <a:prstGeom prst="rect">
            <a:avLst/>
          </a:prstGeom>
          <a:solidFill>
            <a:srgbClr val="344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r"/>
            <a:r>
              <a:rPr sz="3000" b="1">
                <a:solidFill>
                  <a:srgbClr val="FFFFFF"/>
                </a:solidFill>
                <a:latin typeface="Calibri"/>
              </a:rPr>
              <a:t>25 Werktage</a:t>
            </a:r>
          </a:p>
        </p:txBody>
      </p:sp>
      <p:sp>
        <p:nvSpPr>
          <p:cNvPr id="26" name="Alter_4"/>
          <p:cNvSpPr txBox="1"/>
          <p:nvPr/>
        </p:nvSpPr>
        <p:spPr>
          <a:xfrm>
            <a:off x="822960" y="5029200"/>
            <a:ext cx="2377440" cy="868680"/>
          </a:xfrm>
          <a:prstGeom prst="rect">
            <a:avLst/>
          </a:prstGeom>
          <a:noFill/>
        </p:spPr>
        <p:txBody>
          <a:bodyPr wrap="square" anchor="ctr" tIns="36576" bIns="36576">
            <a:spAutoFit/>
          </a:bodyPr>
          <a:lstStyle/>
          <a:p>
            <a:pPr algn="l"/>
            <a:r>
              <a:rPr sz="3000" b="1">
                <a:solidFill>
                  <a:srgbClr val="1F2A44"/>
                </a:solidFill>
                <a:latin typeface="Calibri"/>
              </a:rPr>
              <a:t>ab 18</a:t>
            </a:r>
          </a:p>
        </p:txBody>
      </p:sp>
      <p:sp>
        <p:nvSpPr>
          <p:cNvPr id="27" name="Urlaub_4"/>
          <p:cNvSpPr/>
          <p:nvPr/>
        </p:nvSpPr>
        <p:spPr>
          <a:xfrm>
            <a:off x="3291840" y="5029200"/>
            <a:ext cx="6291071" cy="8686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r"/>
            <a:r>
              <a:rPr sz="3000" b="1">
                <a:solidFill>
                  <a:srgbClr val="1F2A44"/>
                </a:solidFill>
                <a:latin typeface="Calibri"/>
              </a:rPr>
              <a:t>24 Werktage</a:t>
            </a:r>
          </a:p>
        </p:txBody>
      </p:sp>
      <p:sp>
        <p:nvSpPr>
          <p:cNvPr id="28" name="TextBox 27"/>
          <p:cNvSpPr txBox="1"/>
          <p:nvPr/>
        </p:nvSpPr>
        <p:spPr>
          <a:xfrm>
            <a:off x="822960" y="5989320"/>
            <a:ext cx="7315200" cy="457200"/>
          </a:xfrm>
          <a:prstGeom prst="rect">
            <a:avLst/>
          </a:prstGeom>
          <a:noFill/>
        </p:spPr>
        <p:txBody>
          <a:bodyPr wrap="square" anchor="t" tIns="36576" bIns="36576">
            <a:spAutoFit/>
          </a:bodyPr>
          <a:lstStyle/>
          <a:p>
            <a:pPr algn="l"/>
            <a:r>
              <a:rPr sz="2400" b="0">
                <a:solidFill>
                  <a:srgbClr val="4A5568"/>
                </a:solidFill>
                <a:latin typeface="Calibri"/>
              </a:rPr>
              <a:t>Alter zu Jahresbeginn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23" grpId="0" animBg="1"/>
      <p:bldP spid="24" grpId="0" animBg="1"/>
      <p:bldP spid="25" grpId="0" animBg="1"/>
      <p:bldP spid="26" grpId="0" animBg="1"/>
      <p:bldP spid="27" grpId="0" animBg="1"/>
    </p:bld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square" anchor="ctr" tIns="36576" bIns="36576">
            <a:spAutoFit/>
          </a:bodyPr>
          <a:lstStyle/>
          <a:p>
            <a:pPr algn="ctr"/>
            <a:r>
              <a:rPr sz="2400" b="0">
                <a:solidFill>
                  <a:srgbClr val="FFFFFF"/>
                </a:solidFill>
                <a:latin typeface="Calibri"/>
              </a:rPr>
              <a:t>Einstieg</a:t>
            </a:r>
          </a:p>
        </p:txBody>
      </p:sp>
      <p:sp>
        <p:nvSpPr>
          <p:cNvPr id="5" name="Rectangle 4"/>
          <p:cNvSpPr/>
          <p:nvPr/>
        </p:nvSpPr>
        <p:spPr>
          <a:xfrm>
            <a:off x="174167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1</a:t>
            </a:r>
          </a:p>
        </p:txBody>
      </p:sp>
      <p:sp>
        <p:nvSpPr>
          <p:cNvPr id="7" name="Rectangle 6"/>
          <p:cNvSpPr/>
          <p:nvPr/>
        </p:nvSpPr>
        <p:spPr>
          <a:xfrm>
            <a:off x="3483341"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3341" y="0"/>
            <a:ext cx="1741670" cy="457200"/>
          </a:xfrm>
          <a:prstGeom prst="rect">
            <a:avLst/>
          </a:prstGeom>
          <a:noFill/>
        </p:spPr>
        <p:txBody>
          <a:bodyPr wrap="square" anchor="ctr" tIns="36576" bIns="36576">
            <a:spAutoFit/>
          </a:bodyPr>
          <a:lstStyle/>
          <a:p>
            <a:pPr algn="ctr"/>
            <a:r>
              <a:rPr sz="2400" b="1">
                <a:solidFill>
                  <a:srgbClr val="1F2A44"/>
                </a:solidFill>
                <a:latin typeface="Calibri"/>
              </a:rPr>
              <a:t>Block 2</a:t>
            </a:r>
          </a:p>
        </p:txBody>
      </p:sp>
      <p:sp>
        <p:nvSpPr>
          <p:cNvPr id="9" name="Rectangle 8"/>
          <p:cNvSpPr/>
          <p:nvPr/>
        </p:nvSpPr>
        <p:spPr>
          <a:xfrm>
            <a:off x="5225012"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25012"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3</a:t>
            </a:r>
          </a:p>
        </p:txBody>
      </p:sp>
      <p:sp>
        <p:nvSpPr>
          <p:cNvPr id="11" name="Rectangle 10"/>
          <p:cNvSpPr/>
          <p:nvPr/>
        </p:nvSpPr>
        <p:spPr>
          <a:xfrm>
            <a:off x="6966682"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66682" y="0"/>
            <a:ext cx="1741670" cy="457200"/>
          </a:xfrm>
          <a:prstGeom prst="rect">
            <a:avLst/>
          </a:prstGeom>
          <a:noFill/>
        </p:spPr>
        <p:txBody>
          <a:bodyPr wrap="square" anchor="ctr" tIns="36576" bIns="36576">
            <a:spAutoFit/>
          </a:bodyPr>
          <a:lstStyle/>
          <a:p>
            <a:pPr algn="ctr"/>
            <a:r>
              <a:rPr sz="2400" b="0">
                <a:solidFill>
                  <a:srgbClr val="FFFFFF"/>
                </a:solidFill>
                <a:latin typeface="Calibri"/>
              </a:rPr>
              <a:t>Üben</a:t>
            </a:r>
          </a:p>
        </p:txBody>
      </p:sp>
      <p:sp>
        <p:nvSpPr>
          <p:cNvPr id="13" name="Rectangle 12"/>
          <p:cNvSpPr/>
          <p:nvPr/>
        </p:nvSpPr>
        <p:spPr>
          <a:xfrm>
            <a:off x="8708353"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8353" y="0"/>
            <a:ext cx="1741670" cy="457200"/>
          </a:xfrm>
          <a:prstGeom prst="rect">
            <a:avLst/>
          </a:prstGeom>
          <a:noFill/>
        </p:spPr>
        <p:txBody>
          <a:bodyPr wrap="square" anchor="ctr" tIns="36576" bIns="36576">
            <a:spAutoFit/>
          </a:bodyPr>
          <a:lstStyle/>
          <a:p>
            <a:pPr algn="ctr"/>
            <a:r>
              <a:rPr sz="2400" b="0">
                <a:solidFill>
                  <a:srgbClr val="FFFFFF"/>
                </a:solidFill>
                <a:latin typeface="Calibri"/>
              </a:rPr>
              <a:t>Besprechen</a:t>
            </a:r>
          </a:p>
        </p:txBody>
      </p:sp>
      <p:sp>
        <p:nvSpPr>
          <p:cNvPr id="15" name="Rectangle 14"/>
          <p:cNvSpPr/>
          <p:nvPr/>
        </p:nvSpPr>
        <p:spPr>
          <a:xfrm>
            <a:off x="10450024"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50024" y="0"/>
            <a:ext cx="1741670" cy="457200"/>
          </a:xfrm>
          <a:prstGeom prst="rect">
            <a:avLst/>
          </a:prstGeom>
          <a:noFill/>
        </p:spPr>
        <p:txBody>
          <a:bodyPr wrap="square" anchor="ctr" tIns="36576" bIns="36576">
            <a:spAutoFit/>
          </a:bodyPr>
          <a:lstStyle/>
          <a:p>
            <a:pPr algn="ctr"/>
            <a:r>
              <a:rPr sz="2400" b="0">
                <a:solidFill>
                  <a:srgbClr val="FFFFFF"/>
                </a:solidFill>
                <a:latin typeface="Calibri"/>
              </a:rPr>
              <a:t>Abschluss</a:t>
            </a:r>
          </a:p>
        </p:txBody>
      </p:sp>
      <p:pic>
        <p:nvPicPr>
          <p:cNvPr id="17" name="Picture 16" descr="Fragezeichen-Symbol"/>
          <p:cNvPicPr>
            <a:picLocks noChangeAspect="1"/>
          </p:cNvPicPr>
          <p:nvPr/>
        </p:nvPicPr>
        <p:blipFill>
          <a:blip r:embed="rId3"/>
          <a:stretch>
            <a:fillRect/>
          </a:stretch>
        </p:blipFill>
        <p:spPr>
          <a:xfrm>
            <a:off x="640080" y="914400"/>
            <a:ext cx="1234440" cy="1234440"/>
          </a:xfrm>
          <a:prstGeom prst="rect">
            <a:avLst/>
          </a:prstGeom>
        </p:spPr>
      </p:pic>
      <p:sp>
        <p:nvSpPr>
          <p:cNvPr id="18" name="Frage"/>
          <p:cNvSpPr txBox="1"/>
          <p:nvPr/>
        </p:nvSpPr>
        <p:spPr>
          <a:xfrm>
            <a:off x="2103120" y="914400"/>
            <a:ext cx="9601200" cy="3566160"/>
          </a:xfrm>
          <a:prstGeom prst="rect">
            <a:avLst/>
          </a:prstGeom>
          <a:noFill/>
        </p:spPr>
        <p:txBody>
          <a:bodyPr wrap="square" anchor="ctr" tIns="36576" bIns="36576">
            <a:spAutoFit/>
          </a:bodyPr>
          <a:lstStyle/>
          <a:p>
            <a:pPr algn="l"/>
            <a:r>
              <a:rPr sz="4000" b="1">
                <a:solidFill>
                  <a:srgbClr val="1F2A44"/>
                </a:solidFill>
                <a:latin typeface="Calibri"/>
              </a:rPr>
              <a:t>Wie viele Werktage Mindesturlaub hat eine Auszubildende, die zu Jahresbeginn 16 Jahre alt ist?</a:t>
            </a:r>
          </a:p>
        </p:txBody>
      </p:sp>
      <p:sp>
        <p:nvSpPr>
          <p:cNvPr id="19" name="Rounded Rectangle 18"/>
          <p:cNvSpPr/>
          <p:nvPr/>
        </p:nvSpPr>
        <p:spPr>
          <a:xfrm>
            <a:off x="502920" y="6327648"/>
            <a:ext cx="2898648" cy="420624"/>
          </a:xfrm>
          <a:prstGeom prst="roundRect">
            <a:avLst>
              <a:gd name="adj" fmla="val 4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6327648"/>
            <a:ext cx="2898648" cy="420624"/>
          </a:xfrm>
          <a:prstGeom prst="rect">
            <a:avLst/>
          </a:prstGeom>
          <a:noFill/>
        </p:spPr>
        <p:txBody>
          <a:bodyPr wrap="square" anchor="ctr" tIns="36576" bIns="36576">
            <a:spAutoFit/>
          </a:bodyPr>
          <a:lstStyle/>
          <a:p>
            <a:pPr algn="ctr"/>
            <a:r>
              <a:rPr sz="2400" b="1">
                <a:solidFill>
                  <a:srgbClr val="FFFFFF"/>
                </a:solidFill>
                <a:latin typeface="Calibri"/>
              </a:rPr>
              <a:t>Think-Pair-Share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Icon_Hintergrund"/>
          <p:cNvSpPr/>
          <p:nvPr/>
        </p:nvSpPr>
        <p:spPr>
          <a:xfrm>
            <a:off x="5257800" y="731520"/>
            <a:ext cx="1645920" cy="16459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Zwei Personen im Gespräch"/>
          <p:cNvPicPr>
            <a:picLocks noChangeAspect="1"/>
          </p:cNvPicPr>
          <p:nvPr/>
        </p:nvPicPr>
        <p:blipFill>
          <a:blip r:embed="rId3"/>
          <a:stretch>
            <a:fillRect/>
          </a:stretch>
        </p:blipFill>
        <p:spPr>
          <a:xfrm>
            <a:off x="5532120" y="1005840"/>
            <a:ext cx="1097280" cy="1097280"/>
          </a:xfrm>
          <a:prstGeom prst="rect">
            <a:avLst/>
          </a:prstGeom>
        </p:spPr>
      </p:pic>
      <p:sp>
        <p:nvSpPr>
          <p:cNvPr id="6" name="Denkpause"/>
          <p:cNvSpPr txBox="1"/>
          <p:nvPr/>
        </p:nvSpPr>
        <p:spPr>
          <a:xfrm>
            <a:off x="914400" y="2286000"/>
            <a:ext cx="10332720" cy="1097280"/>
          </a:xfrm>
          <a:prstGeom prst="rect">
            <a:avLst/>
          </a:prstGeom>
          <a:noFill/>
        </p:spPr>
        <p:txBody>
          <a:bodyPr wrap="square" anchor="t" tIns="36576" bIns="36576">
            <a:spAutoFit/>
          </a:bodyPr>
          <a:lstStyle/>
          <a:p>
            <a:pPr algn="ctr"/>
            <a:r>
              <a:rPr sz="6600" b="1">
                <a:solidFill>
                  <a:srgbClr val="FFFFFF"/>
                </a:solidFill>
                <a:latin typeface="Calibri"/>
              </a:rPr>
              <a:t>Denkpause</a:t>
            </a:r>
          </a:p>
        </p:txBody>
      </p:sp>
      <p:sp>
        <p:nvSpPr>
          <p:cNvPr id="7" name="TextBox 6"/>
          <p:cNvSpPr txBox="1"/>
          <p:nvPr/>
        </p:nvSpPr>
        <p:spPr>
          <a:xfrm>
            <a:off x="914400" y="3383280"/>
            <a:ext cx="10332720" cy="914400"/>
          </a:xfrm>
          <a:prstGeom prst="rect">
            <a:avLst/>
          </a:prstGeom>
          <a:noFill/>
        </p:spPr>
        <p:txBody>
          <a:bodyPr wrap="square" anchor="t" tIns="36576" bIns="36576">
            <a:spAutoFit/>
          </a:bodyPr>
          <a:lstStyle/>
          <a:p>
            <a:pPr algn="ctr"/>
            <a:r>
              <a:rPr sz="3000" b="0">
                <a:solidFill>
                  <a:srgbClr val="DCE3F2"/>
                </a:solidFill>
                <a:latin typeface="Calibri"/>
              </a:rPr>
              <a:t>15 Sekunden – sprecht kurz mit eurer Sitznachbarin / eurem Sitznachbarn.</a:t>
            </a:r>
          </a:p>
        </p:txBody>
      </p:sp>
      <p:sp>
        <p:nvSpPr>
          <p:cNvPr id="8" name="Countdown_1"/>
          <p:cNvSpPr/>
          <p:nvPr/>
        </p:nvSpPr>
        <p:spPr>
          <a:xfrm>
            <a:off x="1051560" y="4754880"/>
            <a:ext cx="914400" cy="5029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ountdown_2"/>
          <p:cNvSpPr/>
          <p:nvPr/>
        </p:nvSpPr>
        <p:spPr>
          <a:xfrm>
            <a:off x="2057400" y="4754880"/>
            <a:ext cx="914400" cy="5029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ountdown_3"/>
          <p:cNvSpPr/>
          <p:nvPr/>
        </p:nvSpPr>
        <p:spPr>
          <a:xfrm>
            <a:off x="3063240" y="4754880"/>
            <a:ext cx="914400" cy="5029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ountdown_4"/>
          <p:cNvSpPr/>
          <p:nvPr/>
        </p:nvSpPr>
        <p:spPr>
          <a:xfrm>
            <a:off x="4069080" y="4754880"/>
            <a:ext cx="914400" cy="5029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Countdown_5"/>
          <p:cNvSpPr/>
          <p:nvPr/>
        </p:nvSpPr>
        <p:spPr>
          <a:xfrm>
            <a:off x="5074920" y="4754880"/>
            <a:ext cx="914400" cy="5029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ountdown_6"/>
          <p:cNvSpPr/>
          <p:nvPr/>
        </p:nvSpPr>
        <p:spPr>
          <a:xfrm>
            <a:off x="6080760" y="4754880"/>
            <a:ext cx="914400" cy="5029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Countdown_7"/>
          <p:cNvSpPr/>
          <p:nvPr/>
        </p:nvSpPr>
        <p:spPr>
          <a:xfrm>
            <a:off x="7086600" y="4754880"/>
            <a:ext cx="914400" cy="5029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ountdown_8"/>
          <p:cNvSpPr/>
          <p:nvPr/>
        </p:nvSpPr>
        <p:spPr>
          <a:xfrm>
            <a:off x="8092440" y="4754880"/>
            <a:ext cx="914400" cy="5029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ountdown_9"/>
          <p:cNvSpPr/>
          <p:nvPr/>
        </p:nvSpPr>
        <p:spPr>
          <a:xfrm>
            <a:off x="9098280" y="4754880"/>
            <a:ext cx="914400" cy="5029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ountdown_10"/>
          <p:cNvSpPr/>
          <p:nvPr/>
        </p:nvSpPr>
        <p:spPr>
          <a:xfrm>
            <a:off x="10104120" y="4754880"/>
            <a:ext cx="914400" cy="5029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5394960"/>
            <a:ext cx="10332720" cy="731520"/>
          </a:xfrm>
          <a:prstGeom prst="rect">
            <a:avLst/>
          </a:prstGeom>
          <a:noFill/>
        </p:spPr>
        <p:txBody>
          <a:bodyPr wrap="square" anchor="t" tIns="36576" bIns="36576">
            <a:spAutoFit/>
          </a:bodyPr>
          <a:lstStyle/>
          <a:p>
            <a:pPr algn="ctr"/>
            <a:r>
              <a:rPr sz="2800" b="1">
                <a:solidFill>
                  <a:srgbClr val="F5A623"/>
                </a:solidFill>
                <a:latin typeface="Calibri"/>
              </a:rPr>
              <a:t>Countdown: 15 Sekunden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par>
                          <p:cTn id="7" fill="hold">
                            <p:stCondLst>
                              <p:cond delay="1500"/>
                            </p:stCondLst>
                            <p:childTnLst>
                              <p:par>
                                <p:cTn id="8" presetID="1"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childTnLst>
                                </p:cTn>
                              </p:par>
                            </p:childTnLst>
                          </p:cTn>
                        </p:par>
                        <p:par>
                          <p:cTn id="10" fill="hold">
                            <p:stCondLst>
                              <p:cond delay="3000"/>
                            </p:stCondLst>
                            <p:childTnLst>
                              <p:par>
                                <p:cTn id="11" presetID="1" presetClass="entr" presetSubtype="0" fill="hold" grpId="0" nodeType="after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par>
                          <p:cTn id="13" fill="hold">
                            <p:stCondLst>
                              <p:cond delay="4500"/>
                            </p:stCondLst>
                            <p:childTnLst>
                              <p:par>
                                <p:cTn id="14" presetID="1"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childTnLst>
                                </p:cTn>
                              </p:par>
                            </p:childTnLst>
                          </p:cTn>
                        </p:par>
                        <p:par>
                          <p:cTn id="16" fill="hold">
                            <p:stCondLst>
                              <p:cond delay="6000"/>
                            </p:stCondLst>
                            <p:childTnLst>
                              <p:par>
                                <p:cTn id="17" presetID="1" presetClass="entr" presetSubtype="0"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par>
                          <p:cTn id="19" fill="hold">
                            <p:stCondLst>
                              <p:cond delay="7500"/>
                            </p:stCondLst>
                            <p:childTnLst>
                              <p:par>
                                <p:cTn id="20" presetID="1" presetClass="entr" presetSubtype="0" fill="hold" grpId="0" nodeType="afterEffect">
                                  <p:stCondLst>
                                    <p:cond delay="0"/>
                                  </p:stCondLst>
                                  <p:childTnLst>
                                    <p:set>
                                      <p:cBhvr>
                                        <p:cTn id="21" dur="1" fill="hold">
                                          <p:stCondLst>
                                            <p:cond delay="0"/>
                                          </p:stCondLst>
                                        </p:cTn>
                                        <p:tgtEl>
                                          <p:spTgt spid="13"/>
                                        </p:tgtEl>
                                        <p:attrNameLst>
                                          <p:attrName>style.visibility</p:attrName>
                                        </p:attrNameLst>
                                      </p:cBhvr>
                                      <p:to>
                                        <p:strVal val="visible"/>
                                      </p:to>
                                    </p:set>
                                  </p:childTnLst>
                                </p:cTn>
                              </p:par>
                            </p:childTnLst>
                          </p:cTn>
                        </p:par>
                        <p:par>
                          <p:cTn id="22" fill="hold">
                            <p:stCondLst>
                              <p:cond delay="9000"/>
                            </p:stCondLst>
                            <p:childTnLst>
                              <p:par>
                                <p:cTn id="23" presetID="1" presetClass="entr" presetSubtype="0" fill="hold" grpId="0" nodeType="after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par>
                          <p:cTn id="25" fill="hold">
                            <p:stCondLst>
                              <p:cond delay="10500"/>
                            </p:stCondLst>
                            <p:childTnLst>
                              <p:par>
                                <p:cTn id="26" presetID="1" presetClass="entr" presetSubtype="0" fill="hold" grpId="0" nodeType="afterEffect">
                                  <p:stCondLst>
                                    <p:cond delay="0"/>
                                  </p:stCondLst>
                                  <p:childTnLst>
                                    <p:set>
                                      <p:cBhvr>
                                        <p:cTn id="27" dur="1" fill="hold">
                                          <p:stCondLst>
                                            <p:cond delay="0"/>
                                          </p:stCondLst>
                                        </p:cTn>
                                        <p:tgtEl>
                                          <p:spTgt spid="15"/>
                                        </p:tgtEl>
                                        <p:attrNameLst>
                                          <p:attrName>style.visibility</p:attrName>
                                        </p:attrNameLst>
                                      </p:cBhvr>
                                      <p:to>
                                        <p:strVal val="visible"/>
                                      </p:to>
                                    </p:set>
                                  </p:childTnLst>
                                </p:cTn>
                              </p:par>
                            </p:childTnLst>
                          </p:cTn>
                        </p:par>
                        <p:par>
                          <p:cTn id="28" fill="hold">
                            <p:stCondLst>
                              <p:cond delay="12000"/>
                            </p:stCondLst>
                            <p:childTnLst>
                              <p:par>
                                <p:cTn id="29" presetID="1" presetClass="entr" presetSubtype="0" fill="hold" grpId="0" nodeType="after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par>
                          <p:cTn id="31" fill="hold">
                            <p:stCondLst>
                              <p:cond delay="13500"/>
                            </p:stCondLst>
                            <p:childTnLst>
                              <p:par>
                                <p:cTn id="32" presetID="1" presetClass="entr" presetSubtype="0" fill="hold" grpId="0" nodeType="afterEffect">
                                  <p:stCondLst>
                                    <p:cond delay="0"/>
                                  </p:stCondLst>
                                  <p:childTnLst>
                                    <p:set>
                                      <p:cBhvr>
                                        <p:cTn id="33"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square" anchor="ctr" tIns="36576" bIns="36576">
            <a:spAutoFit/>
          </a:bodyPr>
          <a:lstStyle/>
          <a:p>
            <a:pPr algn="ctr"/>
            <a:r>
              <a:rPr sz="2400" b="0">
                <a:solidFill>
                  <a:srgbClr val="FFFFFF"/>
                </a:solidFill>
                <a:latin typeface="Calibri"/>
              </a:rPr>
              <a:t>Einstieg</a:t>
            </a:r>
          </a:p>
        </p:txBody>
      </p:sp>
      <p:sp>
        <p:nvSpPr>
          <p:cNvPr id="5" name="Rectangle 4"/>
          <p:cNvSpPr/>
          <p:nvPr/>
        </p:nvSpPr>
        <p:spPr>
          <a:xfrm>
            <a:off x="174167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1</a:t>
            </a:r>
          </a:p>
        </p:txBody>
      </p:sp>
      <p:sp>
        <p:nvSpPr>
          <p:cNvPr id="7" name="Rectangle 6"/>
          <p:cNvSpPr/>
          <p:nvPr/>
        </p:nvSpPr>
        <p:spPr>
          <a:xfrm>
            <a:off x="3483341"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3341" y="0"/>
            <a:ext cx="1741670" cy="457200"/>
          </a:xfrm>
          <a:prstGeom prst="rect">
            <a:avLst/>
          </a:prstGeom>
          <a:noFill/>
        </p:spPr>
        <p:txBody>
          <a:bodyPr wrap="square" anchor="ctr" tIns="36576" bIns="36576">
            <a:spAutoFit/>
          </a:bodyPr>
          <a:lstStyle/>
          <a:p>
            <a:pPr algn="ctr"/>
            <a:r>
              <a:rPr sz="2400" b="1">
                <a:solidFill>
                  <a:srgbClr val="1F2A44"/>
                </a:solidFill>
                <a:latin typeface="Calibri"/>
              </a:rPr>
              <a:t>Block 2</a:t>
            </a:r>
          </a:p>
        </p:txBody>
      </p:sp>
      <p:sp>
        <p:nvSpPr>
          <p:cNvPr id="9" name="Rectangle 8"/>
          <p:cNvSpPr/>
          <p:nvPr/>
        </p:nvSpPr>
        <p:spPr>
          <a:xfrm>
            <a:off x="5225012"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25012"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3</a:t>
            </a:r>
          </a:p>
        </p:txBody>
      </p:sp>
      <p:sp>
        <p:nvSpPr>
          <p:cNvPr id="11" name="Rectangle 10"/>
          <p:cNvSpPr/>
          <p:nvPr/>
        </p:nvSpPr>
        <p:spPr>
          <a:xfrm>
            <a:off x="6966682"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66682" y="0"/>
            <a:ext cx="1741670" cy="457200"/>
          </a:xfrm>
          <a:prstGeom prst="rect">
            <a:avLst/>
          </a:prstGeom>
          <a:noFill/>
        </p:spPr>
        <p:txBody>
          <a:bodyPr wrap="square" anchor="ctr" tIns="36576" bIns="36576">
            <a:spAutoFit/>
          </a:bodyPr>
          <a:lstStyle/>
          <a:p>
            <a:pPr algn="ctr"/>
            <a:r>
              <a:rPr sz="2400" b="0">
                <a:solidFill>
                  <a:srgbClr val="FFFFFF"/>
                </a:solidFill>
                <a:latin typeface="Calibri"/>
              </a:rPr>
              <a:t>Üben</a:t>
            </a:r>
          </a:p>
        </p:txBody>
      </p:sp>
      <p:sp>
        <p:nvSpPr>
          <p:cNvPr id="13" name="Rectangle 12"/>
          <p:cNvSpPr/>
          <p:nvPr/>
        </p:nvSpPr>
        <p:spPr>
          <a:xfrm>
            <a:off x="8708353"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8353" y="0"/>
            <a:ext cx="1741670" cy="457200"/>
          </a:xfrm>
          <a:prstGeom prst="rect">
            <a:avLst/>
          </a:prstGeom>
          <a:noFill/>
        </p:spPr>
        <p:txBody>
          <a:bodyPr wrap="square" anchor="ctr" tIns="36576" bIns="36576">
            <a:spAutoFit/>
          </a:bodyPr>
          <a:lstStyle/>
          <a:p>
            <a:pPr algn="ctr"/>
            <a:r>
              <a:rPr sz="2400" b="0">
                <a:solidFill>
                  <a:srgbClr val="FFFFFF"/>
                </a:solidFill>
                <a:latin typeface="Calibri"/>
              </a:rPr>
              <a:t>Besprechen</a:t>
            </a:r>
          </a:p>
        </p:txBody>
      </p:sp>
      <p:sp>
        <p:nvSpPr>
          <p:cNvPr id="15" name="Rectangle 14"/>
          <p:cNvSpPr/>
          <p:nvPr/>
        </p:nvSpPr>
        <p:spPr>
          <a:xfrm>
            <a:off x="10450024"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50024" y="0"/>
            <a:ext cx="1741670" cy="457200"/>
          </a:xfrm>
          <a:prstGeom prst="rect">
            <a:avLst/>
          </a:prstGeom>
          <a:noFill/>
        </p:spPr>
        <p:txBody>
          <a:bodyPr wrap="square" anchor="ctr" tIns="36576" bIns="36576">
            <a:spAutoFit/>
          </a:bodyPr>
          <a:lstStyle/>
          <a:p>
            <a:pPr algn="ctr"/>
            <a:r>
              <a:rPr sz="2400" b="0">
                <a:solidFill>
                  <a:srgbClr val="FFFFFF"/>
                </a:solidFill>
                <a:latin typeface="Calibri"/>
              </a:rPr>
              <a:t>Abschluss</a:t>
            </a:r>
          </a:p>
        </p:txBody>
      </p:sp>
      <p:sp>
        <p:nvSpPr>
          <p:cNvPr id="17" name="Antwortrahmen"/>
          <p:cNvSpPr/>
          <p:nvPr/>
        </p:nvSpPr>
        <p:spPr>
          <a:xfrm>
            <a:off x="411480" y="566928"/>
            <a:ext cx="11365992" cy="5669280"/>
          </a:xfrm>
          <a:prstGeom prst="rect">
            <a:avLst/>
          </a:prstGeom>
          <a:noFill/>
          <a:ln w="76200">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Haken: Antwortfolie"/>
          <p:cNvPicPr>
            <a:picLocks noChangeAspect="1"/>
          </p:cNvPicPr>
          <p:nvPr/>
        </p:nvPicPr>
        <p:blipFill>
          <a:blip r:embed="rId3"/>
          <a:stretch>
            <a:fillRect/>
          </a:stretch>
        </p:blipFill>
        <p:spPr>
          <a:xfrm>
            <a:off x="10972800" y="640080"/>
            <a:ext cx="685800" cy="685800"/>
          </a:xfrm>
          <a:prstGeom prst="rect">
            <a:avLst/>
          </a:prstGeom>
        </p:spPr>
      </p:pic>
      <p:sp>
        <p:nvSpPr>
          <p:cNvPr id="19" name="Titel"/>
          <p:cNvSpPr txBox="1"/>
          <p:nvPr/>
        </p:nvSpPr>
        <p:spPr>
          <a:xfrm>
            <a:off x="640080" y="594360"/>
            <a:ext cx="10241280" cy="822960"/>
          </a:xfrm>
          <a:prstGeom prst="rect">
            <a:avLst/>
          </a:prstGeom>
          <a:noFill/>
        </p:spPr>
        <p:txBody>
          <a:bodyPr wrap="square" anchor="ctr" tIns="36576" bIns="36576">
            <a:spAutoFit/>
          </a:bodyPr>
          <a:lstStyle/>
          <a:p>
            <a:pPr algn="l"/>
            <a:r>
              <a:rPr sz="4000" b="1">
                <a:solidFill>
                  <a:srgbClr val="1F2A44"/>
                </a:solidFill>
                <a:latin typeface="Calibri"/>
              </a:rPr>
              <a:t>27 Werktage</a:t>
            </a:r>
          </a:p>
        </p:txBody>
      </p:sp>
      <p:sp>
        <p:nvSpPr>
          <p:cNvPr id="20" name="Antwort_1"/>
          <p:cNvSpPr/>
          <p:nvPr/>
        </p:nvSpPr>
        <p:spPr>
          <a:xfrm>
            <a:off x="822960" y="1737360"/>
            <a:ext cx="10515600" cy="2560320"/>
          </a:xfrm>
          <a:prstGeom prst="roundRect">
            <a:avLst/>
          </a:prstGeom>
          <a:solidFill>
            <a:srgbClr val="FFF0D1"/>
          </a:solidFill>
          <a:ln w="38100">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4400" b="1">
                <a:solidFill>
                  <a:srgbClr val="1F2A44"/>
                </a:solidFill>
                <a:latin typeface="Calibri"/>
              </a:rPr>
              <a:t>27 Werktage</a:t>
            </a:r>
          </a:p>
          <a:p>
            <a:pPr algn="ctr">
              <a:spcBef>
                <a:spcPts val="1320"/>
              </a:spcBef>
            </a:pPr>
            <a:r>
              <a:rPr sz="4400" b="0">
                <a:solidFill>
                  <a:srgbClr val="1F2A44"/>
                </a:solidFill>
                <a:latin typeface="Calibri"/>
              </a:rPr>
              <a:t>unter 17 Jahre zu Jahresbeginn</a:t>
            </a:r>
          </a:p>
        </p:txBody>
      </p:sp>
      <p:sp>
        <p:nvSpPr>
          <p:cNvPr id="21" name="TextBox 20"/>
          <p:cNvSpPr txBox="1"/>
          <p:nvPr/>
        </p:nvSpPr>
        <p:spPr>
          <a:xfrm>
            <a:off x="7589520" y="6327648"/>
            <a:ext cx="4114800" cy="420624"/>
          </a:xfrm>
          <a:prstGeom prst="rect">
            <a:avLst/>
          </a:prstGeom>
          <a:noFill/>
        </p:spPr>
        <p:txBody>
          <a:bodyPr wrap="square" anchor="ctr" tIns="36576" bIns="36576">
            <a:spAutoFit/>
          </a:bodyPr>
          <a:lstStyle/>
          <a:p>
            <a:pPr algn="r"/>
            <a:r>
              <a:rPr sz="2400" b="0">
                <a:solidFill>
                  <a:srgbClr val="4A5568"/>
                </a:solidFill>
                <a:latin typeface="Calibri"/>
              </a:rPr>
              <a:t>§ 19 JArbSchG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square" anchor="ctr" tIns="36576" bIns="36576">
            <a:spAutoFit/>
          </a:bodyPr>
          <a:lstStyle/>
          <a:p>
            <a:pPr algn="ctr"/>
            <a:r>
              <a:rPr sz="2400" b="0">
                <a:solidFill>
                  <a:srgbClr val="FFFFFF"/>
                </a:solidFill>
                <a:latin typeface="Calibri"/>
              </a:rPr>
              <a:t>Einstieg</a:t>
            </a:r>
          </a:p>
        </p:txBody>
      </p:sp>
      <p:sp>
        <p:nvSpPr>
          <p:cNvPr id="5" name="Rectangle 4"/>
          <p:cNvSpPr/>
          <p:nvPr/>
        </p:nvSpPr>
        <p:spPr>
          <a:xfrm>
            <a:off x="174167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1</a:t>
            </a:r>
          </a:p>
        </p:txBody>
      </p:sp>
      <p:sp>
        <p:nvSpPr>
          <p:cNvPr id="7" name="Rectangle 6"/>
          <p:cNvSpPr/>
          <p:nvPr/>
        </p:nvSpPr>
        <p:spPr>
          <a:xfrm>
            <a:off x="3483341"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3341" y="0"/>
            <a:ext cx="1741670" cy="457200"/>
          </a:xfrm>
          <a:prstGeom prst="rect">
            <a:avLst/>
          </a:prstGeom>
          <a:noFill/>
        </p:spPr>
        <p:txBody>
          <a:bodyPr wrap="square" anchor="ctr" tIns="36576" bIns="36576">
            <a:spAutoFit/>
          </a:bodyPr>
          <a:lstStyle/>
          <a:p>
            <a:pPr algn="ctr"/>
            <a:r>
              <a:rPr sz="2400" b="1">
                <a:solidFill>
                  <a:srgbClr val="1F2A44"/>
                </a:solidFill>
                <a:latin typeface="Calibri"/>
              </a:rPr>
              <a:t>Block 2</a:t>
            </a:r>
          </a:p>
        </p:txBody>
      </p:sp>
      <p:sp>
        <p:nvSpPr>
          <p:cNvPr id="9" name="Rectangle 8"/>
          <p:cNvSpPr/>
          <p:nvPr/>
        </p:nvSpPr>
        <p:spPr>
          <a:xfrm>
            <a:off x="5225012"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25012"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3</a:t>
            </a:r>
          </a:p>
        </p:txBody>
      </p:sp>
      <p:sp>
        <p:nvSpPr>
          <p:cNvPr id="11" name="Rectangle 10"/>
          <p:cNvSpPr/>
          <p:nvPr/>
        </p:nvSpPr>
        <p:spPr>
          <a:xfrm>
            <a:off x="6966682"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66682" y="0"/>
            <a:ext cx="1741670" cy="457200"/>
          </a:xfrm>
          <a:prstGeom prst="rect">
            <a:avLst/>
          </a:prstGeom>
          <a:noFill/>
        </p:spPr>
        <p:txBody>
          <a:bodyPr wrap="square" anchor="ctr" tIns="36576" bIns="36576">
            <a:spAutoFit/>
          </a:bodyPr>
          <a:lstStyle/>
          <a:p>
            <a:pPr algn="ctr"/>
            <a:r>
              <a:rPr sz="2400" b="0">
                <a:solidFill>
                  <a:srgbClr val="FFFFFF"/>
                </a:solidFill>
                <a:latin typeface="Calibri"/>
              </a:rPr>
              <a:t>Üben</a:t>
            </a:r>
          </a:p>
        </p:txBody>
      </p:sp>
      <p:sp>
        <p:nvSpPr>
          <p:cNvPr id="13" name="Rectangle 12"/>
          <p:cNvSpPr/>
          <p:nvPr/>
        </p:nvSpPr>
        <p:spPr>
          <a:xfrm>
            <a:off x="8708353"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8353" y="0"/>
            <a:ext cx="1741670" cy="457200"/>
          </a:xfrm>
          <a:prstGeom prst="rect">
            <a:avLst/>
          </a:prstGeom>
          <a:noFill/>
        </p:spPr>
        <p:txBody>
          <a:bodyPr wrap="square" anchor="ctr" tIns="36576" bIns="36576">
            <a:spAutoFit/>
          </a:bodyPr>
          <a:lstStyle/>
          <a:p>
            <a:pPr algn="ctr"/>
            <a:r>
              <a:rPr sz="2400" b="0">
                <a:solidFill>
                  <a:srgbClr val="FFFFFF"/>
                </a:solidFill>
                <a:latin typeface="Calibri"/>
              </a:rPr>
              <a:t>Besprechen</a:t>
            </a:r>
          </a:p>
        </p:txBody>
      </p:sp>
      <p:sp>
        <p:nvSpPr>
          <p:cNvPr id="15" name="Rectangle 14"/>
          <p:cNvSpPr/>
          <p:nvPr/>
        </p:nvSpPr>
        <p:spPr>
          <a:xfrm>
            <a:off x="10450024"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50024" y="0"/>
            <a:ext cx="1741670" cy="457200"/>
          </a:xfrm>
          <a:prstGeom prst="rect">
            <a:avLst/>
          </a:prstGeom>
          <a:noFill/>
        </p:spPr>
        <p:txBody>
          <a:bodyPr wrap="square" anchor="ctr" tIns="36576" bIns="36576">
            <a:spAutoFit/>
          </a:bodyPr>
          <a:lstStyle/>
          <a:p>
            <a:pPr algn="ctr"/>
            <a:r>
              <a:rPr sz="2400" b="0">
                <a:solidFill>
                  <a:srgbClr val="FFFFFF"/>
                </a:solidFill>
                <a:latin typeface="Calibri"/>
              </a:rPr>
              <a:t>Abschluss</a:t>
            </a:r>
          </a:p>
        </p:txBody>
      </p:sp>
      <p:sp>
        <p:nvSpPr>
          <p:cNvPr id="17" name="Titel"/>
          <p:cNvSpPr txBox="1"/>
          <p:nvPr/>
        </p:nvSpPr>
        <p:spPr>
          <a:xfrm>
            <a:off x="548640" y="530352"/>
            <a:ext cx="11155680" cy="868680"/>
          </a:xfrm>
          <a:prstGeom prst="rect">
            <a:avLst/>
          </a:prstGeom>
          <a:noFill/>
        </p:spPr>
        <p:txBody>
          <a:bodyPr wrap="square" anchor="ctr" tIns="36576" bIns="36576">
            <a:spAutoFit/>
          </a:bodyPr>
          <a:lstStyle/>
          <a:p>
            <a:pPr algn="l"/>
            <a:r>
              <a:rPr sz="4000" b="1">
                <a:solidFill>
                  <a:srgbClr val="1F2A44"/>
                </a:solidFill>
                <a:latin typeface="Calibri"/>
              </a:rPr>
              <a:t>Probezeit: ein bis vier Monate</a:t>
            </a:r>
          </a:p>
        </p:txBody>
      </p:sp>
      <p:sp>
        <p:nvSpPr>
          <p:cNvPr id="18" name="Rectangle 17"/>
          <p:cNvSpPr/>
          <p:nvPr/>
        </p:nvSpPr>
        <p:spPr>
          <a:xfrm>
            <a:off x="640080" y="1371600"/>
            <a:ext cx="1463040" cy="6400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89520" y="6327648"/>
            <a:ext cx="4114800" cy="420624"/>
          </a:xfrm>
          <a:prstGeom prst="rect">
            <a:avLst/>
          </a:prstGeom>
          <a:noFill/>
        </p:spPr>
        <p:txBody>
          <a:bodyPr wrap="square" anchor="ctr" tIns="36576" bIns="36576">
            <a:spAutoFit/>
          </a:bodyPr>
          <a:lstStyle/>
          <a:p>
            <a:pPr algn="r"/>
            <a:r>
              <a:rPr sz="2400" b="0">
                <a:solidFill>
                  <a:srgbClr val="4A5568"/>
                </a:solidFill>
                <a:latin typeface="Calibri"/>
              </a:rPr>
              <a:t>§ 20 BBiG</a:t>
            </a:r>
          </a:p>
        </p:txBody>
      </p:sp>
      <p:sp>
        <p:nvSpPr>
          <p:cNvPr id="20" name="TextBox 19"/>
          <p:cNvSpPr txBox="1"/>
          <p:nvPr/>
        </p:nvSpPr>
        <p:spPr>
          <a:xfrm>
            <a:off x="640080" y="1645920"/>
            <a:ext cx="10881360" cy="1097280"/>
          </a:xfrm>
          <a:prstGeom prst="rect">
            <a:avLst/>
          </a:prstGeom>
          <a:noFill/>
        </p:spPr>
        <p:txBody>
          <a:bodyPr wrap="square" anchor="t" tIns="36576" bIns="36576">
            <a:spAutoFit/>
          </a:bodyPr>
          <a:lstStyle/>
          <a:p>
            <a:pPr algn="l"/>
            <a:r>
              <a:rPr sz="3200" b="1">
                <a:solidFill>
                  <a:srgbClr val="1F2A44"/>
                </a:solidFill>
                <a:latin typeface="Calibri"/>
              </a:rPr>
              <a:t>Jedes Ausbildungsverhältnis beginnt mit einer Probezeit.</a:t>
            </a:r>
          </a:p>
        </p:txBody>
      </p:sp>
      <p:sp>
        <p:nvSpPr>
          <p:cNvPr id="21" name="Monat_1"/>
          <p:cNvSpPr/>
          <p:nvPr/>
        </p:nvSpPr>
        <p:spPr>
          <a:xfrm>
            <a:off x="640080" y="3108960"/>
            <a:ext cx="2651760" cy="1371600"/>
          </a:xfrm>
          <a:prstGeom prst="rect">
            <a:avLst/>
          </a:prstGeom>
          <a:solidFill>
            <a:srgbClr val="344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3200" b="1">
                <a:solidFill>
                  <a:srgbClr val="FFFFFF"/>
                </a:solidFill>
                <a:latin typeface="Calibri"/>
              </a:rPr>
              <a:t>1. Monat</a:t>
            </a:r>
          </a:p>
        </p:txBody>
      </p:sp>
      <p:sp>
        <p:nvSpPr>
          <p:cNvPr id="22" name="Monat_2"/>
          <p:cNvSpPr/>
          <p:nvPr/>
        </p:nvSpPr>
        <p:spPr>
          <a:xfrm>
            <a:off x="3383280" y="3108960"/>
            <a:ext cx="2651760" cy="1371600"/>
          </a:xfrm>
          <a:prstGeom prst="rect">
            <a:avLst/>
          </a:prstGeom>
          <a:solidFill>
            <a:srgbClr val="344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3200" b="1">
                <a:solidFill>
                  <a:srgbClr val="FFFFFF"/>
                </a:solidFill>
                <a:latin typeface="Calibri"/>
              </a:rPr>
              <a:t>2. Monat</a:t>
            </a:r>
          </a:p>
        </p:txBody>
      </p:sp>
      <p:sp>
        <p:nvSpPr>
          <p:cNvPr id="23" name="Monat_3"/>
          <p:cNvSpPr/>
          <p:nvPr/>
        </p:nvSpPr>
        <p:spPr>
          <a:xfrm>
            <a:off x="6126480" y="3108960"/>
            <a:ext cx="2651760" cy="1371600"/>
          </a:xfrm>
          <a:prstGeom prst="rect">
            <a:avLst/>
          </a:prstGeom>
          <a:solidFill>
            <a:srgbClr val="344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3200" b="1">
                <a:solidFill>
                  <a:srgbClr val="FFFFFF"/>
                </a:solidFill>
                <a:latin typeface="Calibri"/>
              </a:rPr>
              <a:t>3. Monat</a:t>
            </a:r>
          </a:p>
        </p:txBody>
      </p:sp>
      <p:sp>
        <p:nvSpPr>
          <p:cNvPr id="24" name="Monat_4"/>
          <p:cNvSpPr/>
          <p:nvPr/>
        </p:nvSpPr>
        <p:spPr>
          <a:xfrm>
            <a:off x="8869680" y="3108960"/>
            <a:ext cx="2651760" cy="13716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3200" b="1">
                <a:solidFill>
                  <a:srgbClr val="1F2A44"/>
                </a:solidFill>
                <a:latin typeface="Calibri"/>
              </a:rPr>
              <a:t>4. Monat</a:t>
            </a:r>
          </a:p>
        </p:txBody>
      </p:sp>
      <p:sp>
        <p:nvSpPr>
          <p:cNvPr id="25" name="TextBox 24"/>
          <p:cNvSpPr txBox="1"/>
          <p:nvPr/>
        </p:nvSpPr>
        <p:spPr>
          <a:xfrm>
            <a:off x="640080" y="4663440"/>
            <a:ext cx="4572000" cy="548640"/>
          </a:xfrm>
          <a:prstGeom prst="rect">
            <a:avLst/>
          </a:prstGeom>
          <a:noFill/>
        </p:spPr>
        <p:txBody>
          <a:bodyPr wrap="square" anchor="t" tIns="36576" bIns="36576">
            <a:spAutoFit/>
          </a:bodyPr>
          <a:lstStyle/>
          <a:p>
            <a:pPr algn="l"/>
            <a:r>
              <a:rPr sz="2800" b="0">
                <a:solidFill>
                  <a:srgbClr val="4A5568"/>
                </a:solidFill>
                <a:latin typeface="Calibri"/>
              </a:rPr>
              <a:t>mindestens 1 Monat</a:t>
            </a:r>
          </a:p>
        </p:txBody>
      </p:sp>
      <p:sp>
        <p:nvSpPr>
          <p:cNvPr id="26" name="TextBox 25"/>
          <p:cNvSpPr txBox="1"/>
          <p:nvPr/>
        </p:nvSpPr>
        <p:spPr>
          <a:xfrm>
            <a:off x="6949440" y="4663440"/>
            <a:ext cx="4572000" cy="548640"/>
          </a:xfrm>
          <a:prstGeom prst="rect">
            <a:avLst/>
          </a:prstGeom>
          <a:noFill/>
        </p:spPr>
        <p:txBody>
          <a:bodyPr wrap="square" anchor="t" tIns="36576" bIns="36576">
            <a:spAutoFit/>
          </a:bodyPr>
          <a:lstStyle/>
          <a:p>
            <a:pPr algn="r"/>
            <a:r>
              <a:rPr sz="2800" b="1">
                <a:solidFill>
                  <a:srgbClr val="1F2A44"/>
                </a:solidFill>
                <a:latin typeface="Calibri"/>
              </a:rPr>
              <a:t>höchstens 4 Monate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Lst>
  </p:timing>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square" anchor="ctr" tIns="36576" bIns="36576">
            <a:spAutoFit/>
          </a:bodyPr>
          <a:lstStyle/>
          <a:p>
            <a:pPr algn="ctr"/>
            <a:r>
              <a:rPr sz="2400" b="0">
                <a:solidFill>
                  <a:srgbClr val="FFFFFF"/>
                </a:solidFill>
                <a:latin typeface="Calibri"/>
              </a:rPr>
              <a:t>Einstieg</a:t>
            </a:r>
          </a:p>
        </p:txBody>
      </p:sp>
      <p:sp>
        <p:nvSpPr>
          <p:cNvPr id="5" name="Rectangle 4"/>
          <p:cNvSpPr/>
          <p:nvPr/>
        </p:nvSpPr>
        <p:spPr>
          <a:xfrm>
            <a:off x="174167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1</a:t>
            </a:r>
          </a:p>
        </p:txBody>
      </p:sp>
      <p:sp>
        <p:nvSpPr>
          <p:cNvPr id="7" name="Rectangle 6"/>
          <p:cNvSpPr/>
          <p:nvPr/>
        </p:nvSpPr>
        <p:spPr>
          <a:xfrm>
            <a:off x="3483341"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3341" y="0"/>
            <a:ext cx="1741670" cy="457200"/>
          </a:xfrm>
          <a:prstGeom prst="rect">
            <a:avLst/>
          </a:prstGeom>
          <a:noFill/>
        </p:spPr>
        <p:txBody>
          <a:bodyPr wrap="square" anchor="ctr" tIns="36576" bIns="36576">
            <a:spAutoFit/>
          </a:bodyPr>
          <a:lstStyle/>
          <a:p>
            <a:pPr algn="ctr"/>
            <a:r>
              <a:rPr sz="2400" b="1">
                <a:solidFill>
                  <a:srgbClr val="1F2A44"/>
                </a:solidFill>
                <a:latin typeface="Calibri"/>
              </a:rPr>
              <a:t>Block 2</a:t>
            </a:r>
          </a:p>
        </p:txBody>
      </p:sp>
      <p:sp>
        <p:nvSpPr>
          <p:cNvPr id="9" name="Rectangle 8"/>
          <p:cNvSpPr/>
          <p:nvPr/>
        </p:nvSpPr>
        <p:spPr>
          <a:xfrm>
            <a:off x="5225012"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25012"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3</a:t>
            </a:r>
          </a:p>
        </p:txBody>
      </p:sp>
      <p:sp>
        <p:nvSpPr>
          <p:cNvPr id="11" name="Rectangle 10"/>
          <p:cNvSpPr/>
          <p:nvPr/>
        </p:nvSpPr>
        <p:spPr>
          <a:xfrm>
            <a:off x="6966682"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66682" y="0"/>
            <a:ext cx="1741670" cy="457200"/>
          </a:xfrm>
          <a:prstGeom prst="rect">
            <a:avLst/>
          </a:prstGeom>
          <a:noFill/>
        </p:spPr>
        <p:txBody>
          <a:bodyPr wrap="square" anchor="ctr" tIns="36576" bIns="36576">
            <a:spAutoFit/>
          </a:bodyPr>
          <a:lstStyle/>
          <a:p>
            <a:pPr algn="ctr"/>
            <a:r>
              <a:rPr sz="2400" b="0">
                <a:solidFill>
                  <a:srgbClr val="FFFFFF"/>
                </a:solidFill>
                <a:latin typeface="Calibri"/>
              </a:rPr>
              <a:t>Üben</a:t>
            </a:r>
          </a:p>
        </p:txBody>
      </p:sp>
      <p:sp>
        <p:nvSpPr>
          <p:cNvPr id="13" name="Rectangle 12"/>
          <p:cNvSpPr/>
          <p:nvPr/>
        </p:nvSpPr>
        <p:spPr>
          <a:xfrm>
            <a:off x="8708353"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8353" y="0"/>
            <a:ext cx="1741670" cy="457200"/>
          </a:xfrm>
          <a:prstGeom prst="rect">
            <a:avLst/>
          </a:prstGeom>
          <a:noFill/>
        </p:spPr>
        <p:txBody>
          <a:bodyPr wrap="square" anchor="ctr" tIns="36576" bIns="36576">
            <a:spAutoFit/>
          </a:bodyPr>
          <a:lstStyle/>
          <a:p>
            <a:pPr algn="ctr"/>
            <a:r>
              <a:rPr sz="2400" b="0">
                <a:solidFill>
                  <a:srgbClr val="FFFFFF"/>
                </a:solidFill>
                <a:latin typeface="Calibri"/>
              </a:rPr>
              <a:t>Besprechen</a:t>
            </a:r>
          </a:p>
        </p:txBody>
      </p:sp>
      <p:sp>
        <p:nvSpPr>
          <p:cNvPr id="15" name="Rectangle 14"/>
          <p:cNvSpPr/>
          <p:nvPr/>
        </p:nvSpPr>
        <p:spPr>
          <a:xfrm>
            <a:off x="10450024"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50024" y="0"/>
            <a:ext cx="1741670" cy="457200"/>
          </a:xfrm>
          <a:prstGeom prst="rect">
            <a:avLst/>
          </a:prstGeom>
          <a:noFill/>
        </p:spPr>
        <p:txBody>
          <a:bodyPr wrap="square" anchor="ctr" tIns="36576" bIns="36576">
            <a:spAutoFit/>
          </a:bodyPr>
          <a:lstStyle/>
          <a:p>
            <a:pPr algn="ctr"/>
            <a:r>
              <a:rPr sz="2400" b="0">
                <a:solidFill>
                  <a:srgbClr val="FFFFFF"/>
                </a:solidFill>
                <a:latin typeface="Calibri"/>
              </a:rPr>
              <a:t>Abschluss</a:t>
            </a:r>
          </a:p>
        </p:txBody>
      </p:sp>
      <p:pic>
        <p:nvPicPr>
          <p:cNvPr id="17" name="Picture 16" descr="Fragezeichen-Symbol"/>
          <p:cNvPicPr>
            <a:picLocks noChangeAspect="1"/>
          </p:cNvPicPr>
          <p:nvPr/>
        </p:nvPicPr>
        <p:blipFill>
          <a:blip r:embed="rId3"/>
          <a:stretch>
            <a:fillRect/>
          </a:stretch>
        </p:blipFill>
        <p:spPr>
          <a:xfrm>
            <a:off x="640080" y="914400"/>
            <a:ext cx="1234440" cy="1234440"/>
          </a:xfrm>
          <a:prstGeom prst="rect">
            <a:avLst/>
          </a:prstGeom>
        </p:spPr>
      </p:pic>
      <p:sp>
        <p:nvSpPr>
          <p:cNvPr id="18" name="Frage"/>
          <p:cNvSpPr txBox="1"/>
          <p:nvPr/>
        </p:nvSpPr>
        <p:spPr>
          <a:xfrm>
            <a:off x="2103120" y="914400"/>
            <a:ext cx="9601200" cy="3566160"/>
          </a:xfrm>
          <a:prstGeom prst="rect">
            <a:avLst/>
          </a:prstGeom>
          <a:noFill/>
        </p:spPr>
        <p:txBody>
          <a:bodyPr wrap="square" anchor="ctr" tIns="36576" bIns="36576">
            <a:spAutoFit/>
          </a:bodyPr>
          <a:lstStyle/>
          <a:p>
            <a:pPr algn="l"/>
            <a:r>
              <a:rPr sz="3800" b="1">
                <a:solidFill>
                  <a:srgbClr val="1F2A44"/>
                </a:solidFill>
                <a:latin typeface="Calibri"/>
              </a:rPr>
              <a:t>Stimmt oder stimmt nicht?
Die Probezeit darf sechs Monate dauern, wenn der Azubi zustimmt.</a:t>
            </a:r>
          </a:p>
        </p:txBody>
      </p:sp>
      <p:sp>
        <p:nvSpPr>
          <p:cNvPr id="19" name="Rounded Rectangle 18"/>
          <p:cNvSpPr/>
          <p:nvPr/>
        </p:nvSpPr>
        <p:spPr>
          <a:xfrm>
            <a:off x="502920" y="6327648"/>
            <a:ext cx="1965960" cy="420624"/>
          </a:xfrm>
          <a:prstGeom prst="roundRect">
            <a:avLst>
              <a:gd name="adj" fmla="val 4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6327648"/>
            <a:ext cx="1965960" cy="420624"/>
          </a:xfrm>
          <a:prstGeom prst="rect">
            <a:avLst/>
          </a:prstGeom>
          <a:noFill/>
        </p:spPr>
        <p:txBody>
          <a:bodyPr wrap="square" anchor="ctr" tIns="36576" bIns="36576">
            <a:spAutoFit/>
          </a:bodyPr>
          <a:lstStyle/>
          <a:p>
            <a:pPr algn="ctr"/>
            <a:r>
              <a:rPr sz="2400" b="1">
                <a:solidFill>
                  <a:srgbClr val="FFFFFF"/>
                </a:solidFill>
                <a:latin typeface="Calibri"/>
              </a:rPr>
              <a:t>Aufstellen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square" anchor="ctr" tIns="36576" bIns="36576">
            <a:spAutoFit/>
          </a:bodyPr>
          <a:lstStyle/>
          <a:p>
            <a:pPr algn="ctr"/>
            <a:r>
              <a:rPr sz="2400" b="0">
                <a:solidFill>
                  <a:srgbClr val="FFFFFF"/>
                </a:solidFill>
                <a:latin typeface="Calibri"/>
              </a:rPr>
              <a:t>Einstieg</a:t>
            </a:r>
          </a:p>
        </p:txBody>
      </p:sp>
      <p:sp>
        <p:nvSpPr>
          <p:cNvPr id="5" name="Rectangle 4"/>
          <p:cNvSpPr/>
          <p:nvPr/>
        </p:nvSpPr>
        <p:spPr>
          <a:xfrm>
            <a:off x="174167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1</a:t>
            </a:r>
          </a:p>
        </p:txBody>
      </p:sp>
      <p:sp>
        <p:nvSpPr>
          <p:cNvPr id="7" name="Rectangle 6"/>
          <p:cNvSpPr/>
          <p:nvPr/>
        </p:nvSpPr>
        <p:spPr>
          <a:xfrm>
            <a:off x="3483341"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3341" y="0"/>
            <a:ext cx="1741670" cy="457200"/>
          </a:xfrm>
          <a:prstGeom prst="rect">
            <a:avLst/>
          </a:prstGeom>
          <a:noFill/>
        </p:spPr>
        <p:txBody>
          <a:bodyPr wrap="square" anchor="ctr" tIns="36576" bIns="36576">
            <a:spAutoFit/>
          </a:bodyPr>
          <a:lstStyle/>
          <a:p>
            <a:pPr algn="ctr"/>
            <a:r>
              <a:rPr sz="2400" b="1">
                <a:solidFill>
                  <a:srgbClr val="1F2A44"/>
                </a:solidFill>
                <a:latin typeface="Calibri"/>
              </a:rPr>
              <a:t>Block 2</a:t>
            </a:r>
          </a:p>
        </p:txBody>
      </p:sp>
      <p:sp>
        <p:nvSpPr>
          <p:cNvPr id="9" name="Rectangle 8"/>
          <p:cNvSpPr/>
          <p:nvPr/>
        </p:nvSpPr>
        <p:spPr>
          <a:xfrm>
            <a:off x="5225012"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25012"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3</a:t>
            </a:r>
          </a:p>
        </p:txBody>
      </p:sp>
      <p:sp>
        <p:nvSpPr>
          <p:cNvPr id="11" name="Rectangle 10"/>
          <p:cNvSpPr/>
          <p:nvPr/>
        </p:nvSpPr>
        <p:spPr>
          <a:xfrm>
            <a:off x="6966682"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66682" y="0"/>
            <a:ext cx="1741670" cy="457200"/>
          </a:xfrm>
          <a:prstGeom prst="rect">
            <a:avLst/>
          </a:prstGeom>
          <a:noFill/>
        </p:spPr>
        <p:txBody>
          <a:bodyPr wrap="square" anchor="ctr" tIns="36576" bIns="36576">
            <a:spAutoFit/>
          </a:bodyPr>
          <a:lstStyle/>
          <a:p>
            <a:pPr algn="ctr"/>
            <a:r>
              <a:rPr sz="2400" b="0">
                <a:solidFill>
                  <a:srgbClr val="FFFFFF"/>
                </a:solidFill>
                <a:latin typeface="Calibri"/>
              </a:rPr>
              <a:t>Üben</a:t>
            </a:r>
          </a:p>
        </p:txBody>
      </p:sp>
      <p:sp>
        <p:nvSpPr>
          <p:cNvPr id="13" name="Rectangle 12"/>
          <p:cNvSpPr/>
          <p:nvPr/>
        </p:nvSpPr>
        <p:spPr>
          <a:xfrm>
            <a:off x="8708353"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8353" y="0"/>
            <a:ext cx="1741670" cy="457200"/>
          </a:xfrm>
          <a:prstGeom prst="rect">
            <a:avLst/>
          </a:prstGeom>
          <a:noFill/>
        </p:spPr>
        <p:txBody>
          <a:bodyPr wrap="square" anchor="ctr" tIns="36576" bIns="36576">
            <a:spAutoFit/>
          </a:bodyPr>
          <a:lstStyle/>
          <a:p>
            <a:pPr algn="ctr"/>
            <a:r>
              <a:rPr sz="2400" b="0">
                <a:solidFill>
                  <a:srgbClr val="FFFFFF"/>
                </a:solidFill>
                <a:latin typeface="Calibri"/>
              </a:rPr>
              <a:t>Besprechen</a:t>
            </a:r>
          </a:p>
        </p:txBody>
      </p:sp>
      <p:sp>
        <p:nvSpPr>
          <p:cNvPr id="15" name="Rectangle 14"/>
          <p:cNvSpPr/>
          <p:nvPr/>
        </p:nvSpPr>
        <p:spPr>
          <a:xfrm>
            <a:off x="10450024"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50024" y="0"/>
            <a:ext cx="1741670" cy="457200"/>
          </a:xfrm>
          <a:prstGeom prst="rect">
            <a:avLst/>
          </a:prstGeom>
          <a:noFill/>
        </p:spPr>
        <p:txBody>
          <a:bodyPr wrap="square" anchor="ctr" tIns="36576" bIns="36576">
            <a:spAutoFit/>
          </a:bodyPr>
          <a:lstStyle/>
          <a:p>
            <a:pPr algn="ctr"/>
            <a:r>
              <a:rPr sz="2400" b="0">
                <a:solidFill>
                  <a:srgbClr val="FFFFFF"/>
                </a:solidFill>
                <a:latin typeface="Calibri"/>
              </a:rPr>
              <a:t>Abschluss</a:t>
            </a:r>
          </a:p>
        </p:txBody>
      </p:sp>
      <p:sp>
        <p:nvSpPr>
          <p:cNvPr id="17" name="Antwortrahmen"/>
          <p:cNvSpPr/>
          <p:nvPr/>
        </p:nvSpPr>
        <p:spPr>
          <a:xfrm>
            <a:off x="411480" y="566928"/>
            <a:ext cx="11365992" cy="5669280"/>
          </a:xfrm>
          <a:prstGeom prst="rect">
            <a:avLst/>
          </a:prstGeom>
          <a:noFill/>
          <a:ln w="76200">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Haken: Antwortfolie"/>
          <p:cNvPicPr>
            <a:picLocks noChangeAspect="1"/>
          </p:cNvPicPr>
          <p:nvPr/>
        </p:nvPicPr>
        <p:blipFill>
          <a:blip r:embed="rId3"/>
          <a:stretch>
            <a:fillRect/>
          </a:stretch>
        </p:blipFill>
        <p:spPr>
          <a:xfrm>
            <a:off x="10972800" y="640080"/>
            <a:ext cx="685800" cy="685800"/>
          </a:xfrm>
          <a:prstGeom prst="rect">
            <a:avLst/>
          </a:prstGeom>
        </p:spPr>
      </p:pic>
      <p:sp>
        <p:nvSpPr>
          <p:cNvPr id="19" name="Titel"/>
          <p:cNvSpPr txBox="1"/>
          <p:nvPr/>
        </p:nvSpPr>
        <p:spPr>
          <a:xfrm>
            <a:off x="640080" y="594360"/>
            <a:ext cx="10241280" cy="822960"/>
          </a:xfrm>
          <a:prstGeom prst="rect">
            <a:avLst/>
          </a:prstGeom>
          <a:noFill/>
        </p:spPr>
        <p:txBody>
          <a:bodyPr wrap="square" anchor="ctr" tIns="36576" bIns="36576">
            <a:spAutoFit/>
          </a:bodyPr>
          <a:lstStyle/>
          <a:p>
            <a:pPr algn="l"/>
            <a:r>
              <a:rPr sz="4000" b="1">
                <a:solidFill>
                  <a:srgbClr val="1F2A44"/>
                </a:solidFill>
                <a:latin typeface="Calibri"/>
              </a:rPr>
              <a:t>Stimmt nicht: höchstens vier Monate</a:t>
            </a:r>
          </a:p>
        </p:txBody>
      </p:sp>
      <p:sp>
        <p:nvSpPr>
          <p:cNvPr id="20" name="Antwort_1"/>
          <p:cNvSpPr/>
          <p:nvPr/>
        </p:nvSpPr>
        <p:spPr>
          <a:xfrm>
            <a:off x="822960" y="1737360"/>
            <a:ext cx="10515600" cy="2194560"/>
          </a:xfrm>
          <a:prstGeom prst="roundRect">
            <a:avLst/>
          </a:prstGeom>
          <a:solidFill>
            <a:srgbClr val="FFF0D1"/>
          </a:solidFill>
          <a:ln w="38100">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3600" b="1">
                <a:solidFill>
                  <a:srgbClr val="1F2A44"/>
                </a:solidFill>
                <a:latin typeface="Calibri"/>
              </a:rPr>
              <a:t>Höchstens vier Monate, auch mit Zustimmung des Azubis.</a:t>
            </a:r>
          </a:p>
        </p:txBody>
      </p:sp>
      <p:sp>
        <p:nvSpPr>
          <p:cNvPr id="21" name="TextBox 20"/>
          <p:cNvSpPr txBox="1"/>
          <p:nvPr/>
        </p:nvSpPr>
        <p:spPr>
          <a:xfrm>
            <a:off x="7589520" y="6327648"/>
            <a:ext cx="4114800" cy="420624"/>
          </a:xfrm>
          <a:prstGeom prst="rect">
            <a:avLst/>
          </a:prstGeom>
          <a:noFill/>
        </p:spPr>
        <p:txBody>
          <a:bodyPr wrap="square" anchor="ctr" tIns="36576" bIns="36576">
            <a:spAutoFit/>
          </a:bodyPr>
          <a:lstStyle/>
          <a:p>
            <a:pPr algn="r"/>
            <a:r>
              <a:rPr sz="2400" b="0">
                <a:solidFill>
                  <a:srgbClr val="4A5568"/>
                </a:solidFill>
                <a:latin typeface="Calibri"/>
              </a:rPr>
              <a:t>§ 20 BBiG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square" anchor="ctr" tIns="36576" bIns="36576">
            <a:spAutoFit/>
          </a:bodyPr>
          <a:lstStyle/>
          <a:p>
            <a:pPr algn="ctr"/>
            <a:r>
              <a:rPr sz="2400" b="0">
                <a:solidFill>
                  <a:srgbClr val="FFFFFF"/>
                </a:solidFill>
                <a:latin typeface="Calibri"/>
              </a:rPr>
              <a:t>Einstieg</a:t>
            </a:r>
          </a:p>
        </p:txBody>
      </p:sp>
      <p:sp>
        <p:nvSpPr>
          <p:cNvPr id="5" name="Rectangle 4"/>
          <p:cNvSpPr/>
          <p:nvPr/>
        </p:nvSpPr>
        <p:spPr>
          <a:xfrm>
            <a:off x="174167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1</a:t>
            </a:r>
          </a:p>
        </p:txBody>
      </p:sp>
      <p:sp>
        <p:nvSpPr>
          <p:cNvPr id="7" name="Rectangle 6"/>
          <p:cNvSpPr/>
          <p:nvPr/>
        </p:nvSpPr>
        <p:spPr>
          <a:xfrm>
            <a:off x="3483341"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3341" y="0"/>
            <a:ext cx="1741670" cy="457200"/>
          </a:xfrm>
          <a:prstGeom prst="rect">
            <a:avLst/>
          </a:prstGeom>
          <a:noFill/>
        </p:spPr>
        <p:txBody>
          <a:bodyPr wrap="square" anchor="ctr" tIns="36576" bIns="36576">
            <a:spAutoFit/>
          </a:bodyPr>
          <a:lstStyle/>
          <a:p>
            <a:pPr algn="ctr"/>
            <a:r>
              <a:rPr sz="2400" b="1">
                <a:solidFill>
                  <a:srgbClr val="1F2A44"/>
                </a:solidFill>
                <a:latin typeface="Calibri"/>
              </a:rPr>
              <a:t>Block 2</a:t>
            </a:r>
          </a:p>
        </p:txBody>
      </p:sp>
      <p:sp>
        <p:nvSpPr>
          <p:cNvPr id="9" name="Rectangle 8"/>
          <p:cNvSpPr/>
          <p:nvPr/>
        </p:nvSpPr>
        <p:spPr>
          <a:xfrm>
            <a:off x="5225012"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25012"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3</a:t>
            </a:r>
          </a:p>
        </p:txBody>
      </p:sp>
      <p:sp>
        <p:nvSpPr>
          <p:cNvPr id="11" name="Rectangle 10"/>
          <p:cNvSpPr/>
          <p:nvPr/>
        </p:nvSpPr>
        <p:spPr>
          <a:xfrm>
            <a:off x="6966682"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66682" y="0"/>
            <a:ext cx="1741670" cy="457200"/>
          </a:xfrm>
          <a:prstGeom prst="rect">
            <a:avLst/>
          </a:prstGeom>
          <a:noFill/>
        </p:spPr>
        <p:txBody>
          <a:bodyPr wrap="square" anchor="ctr" tIns="36576" bIns="36576">
            <a:spAutoFit/>
          </a:bodyPr>
          <a:lstStyle/>
          <a:p>
            <a:pPr algn="ctr"/>
            <a:r>
              <a:rPr sz="2400" b="0">
                <a:solidFill>
                  <a:srgbClr val="FFFFFF"/>
                </a:solidFill>
                <a:latin typeface="Calibri"/>
              </a:rPr>
              <a:t>Üben</a:t>
            </a:r>
          </a:p>
        </p:txBody>
      </p:sp>
      <p:sp>
        <p:nvSpPr>
          <p:cNvPr id="13" name="Rectangle 12"/>
          <p:cNvSpPr/>
          <p:nvPr/>
        </p:nvSpPr>
        <p:spPr>
          <a:xfrm>
            <a:off x="8708353"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8353" y="0"/>
            <a:ext cx="1741670" cy="457200"/>
          </a:xfrm>
          <a:prstGeom prst="rect">
            <a:avLst/>
          </a:prstGeom>
          <a:noFill/>
        </p:spPr>
        <p:txBody>
          <a:bodyPr wrap="square" anchor="ctr" tIns="36576" bIns="36576">
            <a:spAutoFit/>
          </a:bodyPr>
          <a:lstStyle/>
          <a:p>
            <a:pPr algn="ctr"/>
            <a:r>
              <a:rPr sz="2400" b="0">
                <a:solidFill>
                  <a:srgbClr val="FFFFFF"/>
                </a:solidFill>
                <a:latin typeface="Calibri"/>
              </a:rPr>
              <a:t>Besprechen</a:t>
            </a:r>
          </a:p>
        </p:txBody>
      </p:sp>
      <p:sp>
        <p:nvSpPr>
          <p:cNvPr id="15" name="Rectangle 14"/>
          <p:cNvSpPr/>
          <p:nvPr/>
        </p:nvSpPr>
        <p:spPr>
          <a:xfrm>
            <a:off x="10450024"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50024" y="0"/>
            <a:ext cx="1741670" cy="457200"/>
          </a:xfrm>
          <a:prstGeom prst="rect">
            <a:avLst/>
          </a:prstGeom>
          <a:noFill/>
        </p:spPr>
        <p:txBody>
          <a:bodyPr wrap="square" anchor="ctr" tIns="36576" bIns="36576">
            <a:spAutoFit/>
          </a:bodyPr>
          <a:lstStyle/>
          <a:p>
            <a:pPr algn="ctr"/>
            <a:r>
              <a:rPr sz="2400" b="0">
                <a:solidFill>
                  <a:srgbClr val="FFFFFF"/>
                </a:solidFill>
                <a:latin typeface="Calibri"/>
              </a:rPr>
              <a:t>Abschluss</a:t>
            </a:r>
          </a:p>
        </p:txBody>
      </p:sp>
      <p:sp>
        <p:nvSpPr>
          <p:cNvPr id="17" name="Titel"/>
          <p:cNvSpPr txBox="1"/>
          <p:nvPr/>
        </p:nvSpPr>
        <p:spPr>
          <a:xfrm>
            <a:off x="548640" y="530352"/>
            <a:ext cx="11155680" cy="868680"/>
          </a:xfrm>
          <a:prstGeom prst="rect">
            <a:avLst/>
          </a:prstGeom>
          <a:noFill/>
        </p:spPr>
        <p:txBody>
          <a:bodyPr wrap="square" anchor="ctr" tIns="36576" bIns="36576">
            <a:spAutoFit/>
          </a:bodyPr>
          <a:lstStyle/>
          <a:p>
            <a:pPr algn="l"/>
            <a:r>
              <a:rPr sz="4000" b="1">
                <a:solidFill>
                  <a:srgbClr val="1F2A44"/>
                </a:solidFill>
                <a:latin typeface="Calibri"/>
              </a:rPr>
              <a:t>Ampelkarte: Urlaub und Probezeit</a:t>
            </a:r>
          </a:p>
        </p:txBody>
      </p:sp>
      <p:sp>
        <p:nvSpPr>
          <p:cNvPr id="18" name="Rectangle 17"/>
          <p:cNvSpPr/>
          <p:nvPr/>
        </p:nvSpPr>
        <p:spPr>
          <a:xfrm>
            <a:off x="640080" y="1371600"/>
            <a:ext cx="1463040" cy="6400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 y="1737360"/>
            <a:ext cx="10881360" cy="118872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4400" y="1874519"/>
            <a:ext cx="914400" cy="914400"/>
          </a:xfrm>
          <a:prstGeom prst="ellipse">
            <a:avLst/>
          </a:prstGeom>
          <a:solidFill>
            <a:srgbClr val="1E7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400" b="1">
                <a:solidFill>
                  <a:srgbClr val="FFFFFF"/>
                </a:solidFill>
                <a:latin typeface="Calibri"/>
              </a:rPr>
              <a:t/>
            </a:r>
          </a:p>
        </p:txBody>
      </p:sp>
      <p:sp>
        <p:nvSpPr>
          <p:cNvPr id="21" name="TextBox 20"/>
          <p:cNvSpPr txBox="1"/>
          <p:nvPr/>
        </p:nvSpPr>
        <p:spPr>
          <a:xfrm>
            <a:off x="2194560" y="1737360"/>
            <a:ext cx="9144000" cy="1188720"/>
          </a:xfrm>
          <a:prstGeom prst="rect">
            <a:avLst/>
          </a:prstGeom>
          <a:noFill/>
        </p:spPr>
        <p:txBody>
          <a:bodyPr wrap="square" anchor="ctr" tIns="36576" bIns="36576">
            <a:spAutoFit/>
          </a:bodyPr>
          <a:lstStyle/>
          <a:p>
            <a:pPr algn="l"/>
            <a:r>
              <a:rPr sz="3400" b="1">
                <a:solidFill>
                  <a:srgbClr val="1F2A44"/>
                </a:solidFill>
                <a:latin typeface="Calibri"/>
              </a:rPr>
              <a:t>Grün: </a:t>
            </a:r>
            <a:r>
              <a:rPr sz="3400" b="0">
                <a:solidFill>
                  <a:srgbClr val="1F2A44"/>
                </a:solidFill>
                <a:latin typeface="Calibri"/>
              </a:rPr>
              <a:t>kann ich erklären</a:t>
            </a:r>
          </a:p>
        </p:txBody>
      </p:sp>
      <p:sp>
        <p:nvSpPr>
          <p:cNvPr id="22" name="Rectangle 21"/>
          <p:cNvSpPr/>
          <p:nvPr/>
        </p:nvSpPr>
        <p:spPr>
          <a:xfrm>
            <a:off x="640080" y="3108960"/>
            <a:ext cx="10881360" cy="118872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14400" y="3246120"/>
            <a:ext cx="914400" cy="91440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400" b="1">
                <a:solidFill>
                  <a:srgbClr val="FFFFFF"/>
                </a:solidFill>
                <a:latin typeface="Calibri"/>
              </a:rPr>
              <a:t/>
            </a:r>
          </a:p>
        </p:txBody>
      </p:sp>
      <p:sp>
        <p:nvSpPr>
          <p:cNvPr id="24" name="TextBox 23"/>
          <p:cNvSpPr txBox="1"/>
          <p:nvPr/>
        </p:nvSpPr>
        <p:spPr>
          <a:xfrm>
            <a:off x="2194560" y="3108960"/>
            <a:ext cx="9144000" cy="1188720"/>
          </a:xfrm>
          <a:prstGeom prst="rect">
            <a:avLst/>
          </a:prstGeom>
          <a:noFill/>
        </p:spPr>
        <p:txBody>
          <a:bodyPr wrap="square" anchor="ctr" tIns="36576" bIns="36576">
            <a:spAutoFit/>
          </a:bodyPr>
          <a:lstStyle/>
          <a:p>
            <a:pPr algn="l"/>
            <a:r>
              <a:rPr sz="3400" b="1">
                <a:solidFill>
                  <a:srgbClr val="1F2A44"/>
                </a:solidFill>
                <a:latin typeface="Calibri"/>
              </a:rPr>
              <a:t>Gelb: </a:t>
            </a:r>
            <a:r>
              <a:rPr sz="3400" b="0">
                <a:solidFill>
                  <a:srgbClr val="1F2A44"/>
                </a:solidFill>
                <a:latin typeface="Calibri"/>
              </a:rPr>
              <a:t>bin unsicher</a:t>
            </a:r>
          </a:p>
        </p:txBody>
      </p:sp>
      <p:sp>
        <p:nvSpPr>
          <p:cNvPr id="25" name="Rectangle 24"/>
          <p:cNvSpPr/>
          <p:nvPr/>
        </p:nvSpPr>
        <p:spPr>
          <a:xfrm>
            <a:off x="640080" y="4480560"/>
            <a:ext cx="10881360" cy="118872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4400" y="4617720"/>
            <a:ext cx="914400" cy="914400"/>
          </a:xfrm>
          <a:prstGeom prst="ellipse">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400" b="1">
                <a:solidFill>
                  <a:srgbClr val="FFFFFF"/>
                </a:solidFill>
                <a:latin typeface="Calibri"/>
              </a:rPr>
              <a:t/>
            </a:r>
          </a:p>
        </p:txBody>
      </p:sp>
      <p:sp>
        <p:nvSpPr>
          <p:cNvPr id="27" name="TextBox 26"/>
          <p:cNvSpPr txBox="1"/>
          <p:nvPr/>
        </p:nvSpPr>
        <p:spPr>
          <a:xfrm>
            <a:off x="2194560" y="4480560"/>
            <a:ext cx="9144000" cy="1188720"/>
          </a:xfrm>
          <a:prstGeom prst="rect">
            <a:avLst/>
          </a:prstGeom>
          <a:noFill/>
        </p:spPr>
        <p:txBody>
          <a:bodyPr wrap="square" anchor="ctr" tIns="36576" bIns="36576">
            <a:spAutoFit/>
          </a:bodyPr>
          <a:lstStyle/>
          <a:p>
            <a:pPr algn="l"/>
            <a:r>
              <a:rPr sz="3400" b="1">
                <a:solidFill>
                  <a:srgbClr val="1F2A44"/>
                </a:solidFill>
                <a:latin typeface="Calibri"/>
              </a:rPr>
              <a:t>Rot: </a:t>
            </a:r>
            <a:r>
              <a:rPr sz="3400" b="0">
                <a:solidFill>
                  <a:srgbClr val="1F2A44"/>
                </a:solidFill>
                <a:latin typeface="Calibri"/>
              </a:rPr>
              <a:t>verstehe ich noch nicht</a:t>
            </a:r>
          </a:p>
        </p:txBody>
      </p:sp>
      <p:sp>
        <p:nvSpPr>
          <p:cNvPr id="28" name="Rounded Rectangle 27"/>
          <p:cNvSpPr/>
          <p:nvPr/>
        </p:nvSpPr>
        <p:spPr>
          <a:xfrm>
            <a:off x="502920" y="6327648"/>
            <a:ext cx="2743200" cy="420624"/>
          </a:xfrm>
          <a:prstGeom prst="roundRect">
            <a:avLst>
              <a:gd name="adj" fmla="val 4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2920" y="6327648"/>
            <a:ext cx="2743200" cy="420624"/>
          </a:xfrm>
          <a:prstGeom prst="rect">
            <a:avLst/>
          </a:prstGeom>
          <a:noFill/>
        </p:spPr>
        <p:txBody>
          <a:bodyPr wrap="square" anchor="ctr" tIns="36576" bIns="36576">
            <a:spAutoFit/>
          </a:bodyPr>
          <a:lstStyle/>
          <a:p>
            <a:pPr algn="ctr"/>
            <a:r>
              <a:rPr sz="2400" b="1">
                <a:solidFill>
                  <a:srgbClr val="FFFFFF"/>
                </a:solidFill>
                <a:latin typeface="Calibri"/>
              </a:rPr>
              <a:t>Ampelkarte hoch</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square" anchor="ctr" tIns="36576" bIns="36576">
            <a:spAutoFit/>
          </a:bodyPr>
          <a:lstStyle/>
          <a:p>
            <a:pPr algn="ctr"/>
            <a:r>
              <a:rPr sz="2400" b="0">
                <a:solidFill>
                  <a:srgbClr val="FFFFFF"/>
                </a:solidFill>
                <a:latin typeface="Calibri"/>
              </a:rPr>
              <a:t>Einstieg</a:t>
            </a:r>
          </a:p>
        </p:txBody>
      </p:sp>
      <p:sp>
        <p:nvSpPr>
          <p:cNvPr id="5" name="Rectangle 4"/>
          <p:cNvSpPr/>
          <p:nvPr/>
        </p:nvSpPr>
        <p:spPr>
          <a:xfrm>
            <a:off x="174167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1</a:t>
            </a:r>
          </a:p>
        </p:txBody>
      </p:sp>
      <p:sp>
        <p:nvSpPr>
          <p:cNvPr id="7" name="Rectangle 6"/>
          <p:cNvSpPr/>
          <p:nvPr/>
        </p:nvSpPr>
        <p:spPr>
          <a:xfrm>
            <a:off x="3483341"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3341"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2</a:t>
            </a:r>
          </a:p>
        </p:txBody>
      </p:sp>
      <p:sp>
        <p:nvSpPr>
          <p:cNvPr id="9" name="Rectangle 8"/>
          <p:cNvSpPr/>
          <p:nvPr/>
        </p:nvSpPr>
        <p:spPr>
          <a:xfrm>
            <a:off x="5225012"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25012" y="0"/>
            <a:ext cx="1741670" cy="457200"/>
          </a:xfrm>
          <a:prstGeom prst="rect">
            <a:avLst/>
          </a:prstGeom>
          <a:noFill/>
        </p:spPr>
        <p:txBody>
          <a:bodyPr wrap="square" anchor="ctr" tIns="36576" bIns="36576">
            <a:spAutoFit/>
          </a:bodyPr>
          <a:lstStyle/>
          <a:p>
            <a:pPr algn="ctr"/>
            <a:r>
              <a:rPr sz="2400" b="1">
                <a:solidFill>
                  <a:srgbClr val="1F2A44"/>
                </a:solidFill>
                <a:latin typeface="Calibri"/>
              </a:rPr>
              <a:t>Block 3</a:t>
            </a:r>
          </a:p>
        </p:txBody>
      </p:sp>
      <p:sp>
        <p:nvSpPr>
          <p:cNvPr id="11" name="Rectangle 10"/>
          <p:cNvSpPr/>
          <p:nvPr/>
        </p:nvSpPr>
        <p:spPr>
          <a:xfrm>
            <a:off x="6966682"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66682" y="0"/>
            <a:ext cx="1741670" cy="457200"/>
          </a:xfrm>
          <a:prstGeom prst="rect">
            <a:avLst/>
          </a:prstGeom>
          <a:noFill/>
        </p:spPr>
        <p:txBody>
          <a:bodyPr wrap="square" anchor="ctr" tIns="36576" bIns="36576">
            <a:spAutoFit/>
          </a:bodyPr>
          <a:lstStyle/>
          <a:p>
            <a:pPr algn="ctr"/>
            <a:r>
              <a:rPr sz="2400" b="0">
                <a:solidFill>
                  <a:srgbClr val="FFFFFF"/>
                </a:solidFill>
                <a:latin typeface="Calibri"/>
              </a:rPr>
              <a:t>Üben</a:t>
            </a:r>
          </a:p>
        </p:txBody>
      </p:sp>
      <p:sp>
        <p:nvSpPr>
          <p:cNvPr id="13" name="Rectangle 12"/>
          <p:cNvSpPr/>
          <p:nvPr/>
        </p:nvSpPr>
        <p:spPr>
          <a:xfrm>
            <a:off x="8708353"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8353" y="0"/>
            <a:ext cx="1741670" cy="457200"/>
          </a:xfrm>
          <a:prstGeom prst="rect">
            <a:avLst/>
          </a:prstGeom>
          <a:noFill/>
        </p:spPr>
        <p:txBody>
          <a:bodyPr wrap="square" anchor="ctr" tIns="36576" bIns="36576">
            <a:spAutoFit/>
          </a:bodyPr>
          <a:lstStyle/>
          <a:p>
            <a:pPr algn="ctr"/>
            <a:r>
              <a:rPr sz="2400" b="0">
                <a:solidFill>
                  <a:srgbClr val="FFFFFF"/>
                </a:solidFill>
                <a:latin typeface="Calibri"/>
              </a:rPr>
              <a:t>Besprechen</a:t>
            </a:r>
          </a:p>
        </p:txBody>
      </p:sp>
      <p:sp>
        <p:nvSpPr>
          <p:cNvPr id="15" name="Rectangle 14"/>
          <p:cNvSpPr/>
          <p:nvPr/>
        </p:nvSpPr>
        <p:spPr>
          <a:xfrm>
            <a:off x="10450024"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50024" y="0"/>
            <a:ext cx="1741670" cy="457200"/>
          </a:xfrm>
          <a:prstGeom prst="rect">
            <a:avLst/>
          </a:prstGeom>
          <a:noFill/>
        </p:spPr>
        <p:txBody>
          <a:bodyPr wrap="square" anchor="ctr" tIns="36576" bIns="36576">
            <a:spAutoFit/>
          </a:bodyPr>
          <a:lstStyle/>
          <a:p>
            <a:pPr algn="ctr"/>
            <a:r>
              <a:rPr sz="2400" b="0">
                <a:solidFill>
                  <a:srgbClr val="FFFFFF"/>
                </a:solidFill>
                <a:latin typeface="Calibri"/>
              </a:rPr>
              <a:t>Abschluss</a:t>
            </a:r>
          </a:p>
        </p:txBody>
      </p:sp>
      <p:pic>
        <p:nvPicPr>
          <p:cNvPr id="17" name="Picture 16" descr="Fragezeichen-Symbol"/>
          <p:cNvPicPr>
            <a:picLocks noChangeAspect="1"/>
          </p:cNvPicPr>
          <p:nvPr/>
        </p:nvPicPr>
        <p:blipFill>
          <a:blip r:embed="rId3"/>
          <a:stretch>
            <a:fillRect/>
          </a:stretch>
        </p:blipFill>
        <p:spPr>
          <a:xfrm>
            <a:off x="640080" y="914400"/>
            <a:ext cx="1234440" cy="1234440"/>
          </a:xfrm>
          <a:prstGeom prst="rect">
            <a:avLst/>
          </a:prstGeom>
        </p:spPr>
      </p:pic>
      <p:sp>
        <p:nvSpPr>
          <p:cNvPr id="18" name="Frage"/>
          <p:cNvSpPr txBox="1"/>
          <p:nvPr/>
        </p:nvSpPr>
        <p:spPr>
          <a:xfrm>
            <a:off x="2103120" y="914400"/>
            <a:ext cx="9601200" cy="3566160"/>
          </a:xfrm>
          <a:prstGeom prst="rect">
            <a:avLst/>
          </a:prstGeom>
          <a:noFill/>
        </p:spPr>
        <p:txBody>
          <a:bodyPr wrap="square" anchor="ctr" tIns="36576" bIns="36576">
            <a:spAutoFit/>
          </a:bodyPr>
          <a:lstStyle/>
          <a:p>
            <a:pPr algn="l"/>
            <a:r>
              <a:rPr sz="4000" b="1">
                <a:solidFill>
                  <a:srgbClr val="1F2A44"/>
                </a:solidFill>
                <a:latin typeface="Calibri"/>
              </a:rPr>
              <a:t>Ein Azubi merkt in der Probezeit: Der Beruf passt nicht zu ihm. Was darf er tun?</a:t>
            </a:r>
          </a:p>
        </p:txBody>
      </p:sp>
      <p:sp>
        <p:nvSpPr>
          <p:cNvPr id="19" name="Rounded Rectangle 18"/>
          <p:cNvSpPr/>
          <p:nvPr/>
        </p:nvSpPr>
        <p:spPr>
          <a:xfrm>
            <a:off x="502920" y="6327648"/>
            <a:ext cx="2121408" cy="420624"/>
          </a:xfrm>
          <a:prstGeom prst="roundRect">
            <a:avLst>
              <a:gd name="adj" fmla="val 4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6327648"/>
            <a:ext cx="2121408" cy="420624"/>
          </a:xfrm>
          <a:prstGeom prst="rect">
            <a:avLst/>
          </a:prstGeom>
          <a:noFill/>
        </p:spPr>
        <p:txBody>
          <a:bodyPr wrap="square" anchor="ctr" tIns="36576" bIns="36576">
            <a:spAutoFit/>
          </a:bodyPr>
          <a:lstStyle/>
          <a:p>
            <a:pPr algn="ctr"/>
            <a:r>
              <a:rPr sz="2400" b="1">
                <a:solidFill>
                  <a:srgbClr val="FFFFFF"/>
                </a:solidFill>
                <a:latin typeface="Calibri"/>
              </a:rPr>
              <a:t>Murmelphase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Icon_Hintergrund"/>
          <p:cNvSpPr/>
          <p:nvPr/>
        </p:nvSpPr>
        <p:spPr>
          <a:xfrm>
            <a:off x="5257800" y="731520"/>
            <a:ext cx="1645920" cy="16459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Zwei Personen im Gespräch"/>
          <p:cNvPicPr>
            <a:picLocks noChangeAspect="1"/>
          </p:cNvPicPr>
          <p:nvPr/>
        </p:nvPicPr>
        <p:blipFill>
          <a:blip r:embed="rId3"/>
          <a:stretch>
            <a:fillRect/>
          </a:stretch>
        </p:blipFill>
        <p:spPr>
          <a:xfrm>
            <a:off x="5532120" y="1005840"/>
            <a:ext cx="1097280" cy="1097280"/>
          </a:xfrm>
          <a:prstGeom prst="rect">
            <a:avLst/>
          </a:prstGeom>
        </p:spPr>
      </p:pic>
      <p:sp>
        <p:nvSpPr>
          <p:cNvPr id="6" name="Denkpause"/>
          <p:cNvSpPr txBox="1"/>
          <p:nvPr/>
        </p:nvSpPr>
        <p:spPr>
          <a:xfrm>
            <a:off x="914400" y="2286000"/>
            <a:ext cx="10332720" cy="1097280"/>
          </a:xfrm>
          <a:prstGeom prst="rect">
            <a:avLst/>
          </a:prstGeom>
          <a:noFill/>
        </p:spPr>
        <p:txBody>
          <a:bodyPr wrap="square" anchor="t" tIns="36576" bIns="36576">
            <a:spAutoFit/>
          </a:bodyPr>
          <a:lstStyle/>
          <a:p>
            <a:pPr algn="ctr"/>
            <a:r>
              <a:rPr sz="6600" b="1">
                <a:solidFill>
                  <a:srgbClr val="FFFFFF"/>
                </a:solidFill>
                <a:latin typeface="Calibri"/>
              </a:rPr>
              <a:t>Denkpause</a:t>
            </a:r>
          </a:p>
        </p:txBody>
      </p:sp>
      <p:sp>
        <p:nvSpPr>
          <p:cNvPr id="7" name="TextBox 6"/>
          <p:cNvSpPr txBox="1"/>
          <p:nvPr/>
        </p:nvSpPr>
        <p:spPr>
          <a:xfrm>
            <a:off x="914400" y="3383280"/>
            <a:ext cx="10332720" cy="914400"/>
          </a:xfrm>
          <a:prstGeom prst="rect">
            <a:avLst/>
          </a:prstGeom>
          <a:noFill/>
        </p:spPr>
        <p:txBody>
          <a:bodyPr wrap="square" anchor="t" tIns="36576" bIns="36576">
            <a:spAutoFit/>
          </a:bodyPr>
          <a:lstStyle/>
          <a:p>
            <a:pPr algn="ctr"/>
            <a:r>
              <a:rPr sz="3000" b="0">
                <a:solidFill>
                  <a:srgbClr val="DCE3F2"/>
                </a:solidFill>
                <a:latin typeface="Calibri"/>
              </a:rPr>
              <a:t>20 Sekunden – sprecht kurz mit eurer Sitznachbarin / eurem Sitznachbarn.</a:t>
            </a:r>
          </a:p>
        </p:txBody>
      </p:sp>
      <p:sp>
        <p:nvSpPr>
          <p:cNvPr id="8" name="Countdown_1"/>
          <p:cNvSpPr/>
          <p:nvPr/>
        </p:nvSpPr>
        <p:spPr>
          <a:xfrm>
            <a:off x="1051560" y="4754880"/>
            <a:ext cx="914400" cy="5029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ountdown_2"/>
          <p:cNvSpPr/>
          <p:nvPr/>
        </p:nvSpPr>
        <p:spPr>
          <a:xfrm>
            <a:off x="2057400" y="4754880"/>
            <a:ext cx="914400" cy="5029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ountdown_3"/>
          <p:cNvSpPr/>
          <p:nvPr/>
        </p:nvSpPr>
        <p:spPr>
          <a:xfrm>
            <a:off x="3063240" y="4754880"/>
            <a:ext cx="914400" cy="5029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ountdown_4"/>
          <p:cNvSpPr/>
          <p:nvPr/>
        </p:nvSpPr>
        <p:spPr>
          <a:xfrm>
            <a:off x="4069080" y="4754880"/>
            <a:ext cx="914400" cy="5029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Countdown_5"/>
          <p:cNvSpPr/>
          <p:nvPr/>
        </p:nvSpPr>
        <p:spPr>
          <a:xfrm>
            <a:off x="5074920" y="4754880"/>
            <a:ext cx="914400" cy="5029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ountdown_6"/>
          <p:cNvSpPr/>
          <p:nvPr/>
        </p:nvSpPr>
        <p:spPr>
          <a:xfrm>
            <a:off x="6080760" y="4754880"/>
            <a:ext cx="914400" cy="5029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Countdown_7"/>
          <p:cNvSpPr/>
          <p:nvPr/>
        </p:nvSpPr>
        <p:spPr>
          <a:xfrm>
            <a:off x="7086600" y="4754880"/>
            <a:ext cx="914400" cy="5029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ountdown_8"/>
          <p:cNvSpPr/>
          <p:nvPr/>
        </p:nvSpPr>
        <p:spPr>
          <a:xfrm>
            <a:off x="8092440" y="4754880"/>
            <a:ext cx="914400" cy="5029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ountdown_9"/>
          <p:cNvSpPr/>
          <p:nvPr/>
        </p:nvSpPr>
        <p:spPr>
          <a:xfrm>
            <a:off x="9098280" y="4754880"/>
            <a:ext cx="914400" cy="5029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ountdown_10"/>
          <p:cNvSpPr/>
          <p:nvPr/>
        </p:nvSpPr>
        <p:spPr>
          <a:xfrm>
            <a:off x="10104120" y="4754880"/>
            <a:ext cx="914400" cy="5029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5394960"/>
            <a:ext cx="10332720" cy="731520"/>
          </a:xfrm>
          <a:prstGeom prst="rect">
            <a:avLst/>
          </a:prstGeom>
          <a:noFill/>
        </p:spPr>
        <p:txBody>
          <a:bodyPr wrap="square" anchor="t" tIns="36576" bIns="36576">
            <a:spAutoFit/>
          </a:bodyPr>
          <a:lstStyle/>
          <a:p>
            <a:pPr algn="ctr"/>
            <a:r>
              <a:rPr sz="2800" b="1">
                <a:solidFill>
                  <a:srgbClr val="F5A623"/>
                </a:solidFill>
                <a:latin typeface="Calibri"/>
              </a:rPr>
              <a:t>Countdown: 20 Sekunden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par>
                          <p:cTn id="7" fill="hold">
                            <p:stCondLst>
                              <p:cond delay="2000"/>
                            </p:stCondLst>
                            <p:childTnLst>
                              <p:par>
                                <p:cTn id="8" presetID="1"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childTnLst>
                                </p:cTn>
                              </p:par>
                            </p:childTnLst>
                          </p:cTn>
                        </p:par>
                        <p:par>
                          <p:cTn id="10" fill="hold">
                            <p:stCondLst>
                              <p:cond delay="4000"/>
                            </p:stCondLst>
                            <p:childTnLst>
                              <p:par>
                                <p:cTn id="11" presetID="1" presetClass="entr" presetSubtype="0" fill="hold" grpId="0" nodeType="after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par>
                          <p:cTn id="13" fill="hold">
                            <p:stCondLst>
                              <p:cond delay="6000"/>
                            </p:stCondLst>
                            <p:childTnLst>
                              <p:par>
                                <p:cTn id="14" presetID="1"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childTnLst>
                                </p:cTn>
                              </p:par>
                            </p:childTnLst>
                          </p:cTn>
                        </p:par>
                        <p:par>
                          <p:cTn id="16" fill="hold">
                            <p:stCondLst>
                              <p:cond delay="8000"/>
                            </p:stCondLst>
                            <p:childTnLst>
                              <p:par>
                                <p:cTn id="17" presetID="1" presetClass="entr" presetSubtype="0"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par>
                          <p:cTn id="19" fill="hold">
                            <p:stCondLst>
                              <p:cond delay="10000"/>
                            </p:stCondLst>
                            <p:childTnLst>
                              <p:par>
                                <p:cTn id="20" presetID="1" presetClass="entr" presetSubtype="0" fill="hold" grpId="0" nodeType="afterEffect">
                                  <p:stCondLst>
                                    <p:cond delay="0"/>
                                  </p:stCondLst>
                                  <p:childTnLst>
                                    <p:set>
                                      <p:cBhvr>
                                        <p:cTn id="21" dur="1" fill="hold">
                                          <p:stCondLst>
                                            <p:cond delay="0"/>
                                          </p:stCondLst>
                                        </p:cTn>
                                        <p:tgtEl>
                                          <p:spTgt spid="13"/>
                                        </p:tgtEl>
                                        <p:attrNameLst>
                                          <p:attrName>style.visibility</p:attrName>
                                        </p:attrNameLst>
                                      </p:cBhvr>
                                      <p:to>
                                        <p:strVal val="visible"/>
                                      </p:to>
                                    </p:set>
                                  </p:childTnLst>
                                </p:cTn>
                              </p:par>
                            </p:childTnLst>
                          </p:cTn>
                        </p:par>
                        <p:par>
                          <p:cTn id="22" fill="hold">
                            <p:stCondLst>
                              <p:cond delay="12000"/>
                            </p:stCondLst>
                            <p:childTnLst>
                              <p:par>
                                <p:cTn id="23" presetID="1" presetClass="entr" presetSubtype="0" fill="hold" grpId="0" nodeType="after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par>
                          <p:cTn id="25" fill="hold">
                            <p:stCondLst>
                              <p:cond delay="14000"/>
                            </p:stCondLst>
                            <p:childTnLst>
                              <p:par>
                                <p:cTn id="26" presetID="1" presetClass="entr" presetSubtype="0" fill="hold" grpId="0" nodeType="afterEffect">
                                  <p:stCondLst>
                                    <p:cond delay="0"/>
                                  </p:stCondLst>
                                  <p:childTnLst>
                                    <p:set>
                                      <p:cBhvr>
                                        <p:cTn id="27" dur="1" fill="hold">
                                          <p:stCondLst>
                                            <p:cond delay="0"/>
                                          </p:stCondLst>
                                        </p:cTn>
                                        <p:tgtEl>
                                          <p:spTgt spid="15"/>
                                        </p:tgtEl>
                                        <p:attrNameLst>
                                          <p:attrName>style.visibility</p:attrName>
                                        </p:attrNameLst>
                                      </p:cBhvr>
                                      <p:to>
                                        <p:strVal val="visible"/>
                                      </p:to>
                                    </p:set>
                                  </p:childTnLst>
                                </p:cTn>
                              </p:par>
                            </p:childTnLst>
                          </p:cTn>
                        </p:par>
                        <p:par>
                          <p:cTn id="28" fill="hold">
                            <p:stCondLst>
                              <p:cond delay="16000"/>
                            </p:stCondLst>
                            <p:childTnLst>
                              <p:par>
                                <p:cTn id="29" presetID="1" presetClass="entr" presetSubtype="0" fill="hold" grpId="0" nodeType="after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par>
                          <p:cTn id="31" fill="hold">
                            <p:stCondLst>
                              <p:cond delay="18000"/>
                            </p:stCondLst>
                            <p:childTnLst>
                              <p:par>
                                <p:cTn id="32" presetID="1" presetClass="entr" presetSubtype="0" fill="hold" grpId="0" nodeType="afterEffect">
                                  <p:stCondLst>
                                    <p:cond delay="0"/>
                                  </p:stCondLst>
                                  <p:childTnLst>
                                    <p:set>
                                      <p:cBhvr>
                                        <p:cTn id="33"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square" anchor="ctr" tIns="36576" bIns="36576">
            <a:spAutoFit/>
          </a:bodyPr>
          <a:lstStyle/>
          <a:p>
            <a:pPr algn="ctr"/>
            <a:r>
              <a:rPr sz="2400" b="0">
                <a:solidFill>
                  <a:srgbClr val="FFFFFF"/>
                </a:solidFill>
                <a:latin typeface="Calibri"/>
              </a:rPr>
              <a:t>Einstieg</a:t>
            </a:r>
          </a:p>
        </p:txBody>
      </p:sp>
      <p:sp>
        <p:nvSpPr>
          <p:cNvPr id="5" name="Rectangle 4"/>
          <p:cNvSpPr/>
          <p:nvPr/>
        </p:nvSpPr>
        <p:spPr>
          <a:xfrm>
            <a:off x="174167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1</a:t>
            </a:r>
          </a:p>
        </p:txBody>
      </p:sp>
      <p:sp>
        <p:nvSpPr>
          <p:cNvPr id="7" name="Rectangle 6"/>
          <p:cNvSpPr/>
          <p:nvPr/>
        </p:nvSpPr>
        <p:spPr>
          <a:xfrm>
            <a:off x="3483341"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3341"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2</a:t>
            </a:r>
          </a:p>
        </p:txBody>
      </p:sp>
      <p:sp>
        <p:nvSpPr>
          <p:cNvPr id="9" name="Rectangle 8"/>
          <p:cNvSpPr/>
          <p:nvPr/>
        </p:nvSpPr>
        <p:spPr>
          <a:xfrm>
            <a:off x="5225012"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25012" y="0"/>
            <a:ext cx="1741670" cy="457200"/>
          </a:xfrm>
          <a:prstGeom prst="rect">
            <a:avLst/>
          </a:prstGeom>
          <a:noFill/>
        </p:spPr>
        <p:txBody>
          <a:bodyPr wrap="square" anchor="ctr" tIns="36576" bIns="36576">
            <a:spAutoFit/>
          </a:bodyPr>
          <a:lstStyle/>
          <a:p>
            <a:pPr algn="ctr"/>
            <a:r>
              <a:rPr sz="2400" b="1">
                <a:solidFill>
                  <a:srgbClr val="1F2A44"/>
                </a:solidFill>
                <a:latin typeface="Calibri"/>
              </a:rPr>
              <a:t>Block 3</a:t>
            </a:r>
          </a:p>
        </p:txBody>
      </p:sp>
      <p:sp>
        <p:nvSpPr>
          <p:cNvPr id="11" name="Rectangle 10"/>
          <p:cNvSpPr/>
          <p:nvPr/>
        </p:nvSpPr>
        <p:spPr>
          <a:xfrm>
            <a:off x="6966682"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66682" y="0"/>
            <a:ext cx="1741670" cy="457200"/>
          </a:xfrm>
          <a:prstGeom prst="rect">
            <a:avLst/>
          </a:prstGeom>
          <a:noFill/>
        </p:spPr>
        <p:txBody>
          <a:bodyPr wrap="square" anchor="ctr" tIns="36576" bIns="36576">
            <a:spAutoFit/>
          </a:bodyPr>
          <a:lstStyle/>
          <a:p>
            <a:pPr algn="ctr"/>
            <a:r>
              <a:rPr sz="2400" b="0">
                <a:solidFill>
                  <a:srgbClr val="FFFFFF"/>
                </a:solidFill>
                <a:latin typeface="Calibri"/>
              </a:rPr>
              <a:t>Üben</a:t>
            </a:r>
          </a:p>
        </p:txBody>
      </p:sp>
      <p:sp>
        <p:nvSpPr>
          <p:cNvPr id="13" name="Rectangle 12"/>
          <p:cNvSpPr/>
          <p:nvPr/>
        </p:nvSpPr>
        <p:spPr>
          <a:xfrm>
            <a:off x="8708353"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8353" y="0"/>
            <a:ext cx="1741670" cy="457200"/>
          </a:xfrm>
          <a:prstGeom prst="rect">
            <a:avLst/>
          </a:prstGeom>
          <a:noFill/>
        </p:spPr>
        <p:txBody>
          <a:bodyPr wrap="square" anchor="ctr" tIns="36576" bIns="36576">
            <a:spAutoFit/>
          </a:bodyPr>
          <a:lstStyle/>
          <a:p>
            <a:pPr algn="ctr"/>
            <a:r>
              <a:rPr sz="2400" b="0">
                <a:solidFill>
                  <a:srgbClr val="FFFFFF"/>
                </a:solidFill>
                <a:latin typeface="Calibri"/>
              </a:rPr>
              <a:t>Besprechen</a:t>
            </a:r>
          </a:p>
        </p:txBody>
      </p:sp>
      <p:sp>
        <p:nvSpPr>
          <p:cNvPr id="15" name="Rectangle 14"/>
          <p:cNvSpPr/>
          <p:nvPr/>
        </p:nvSpPr>
        <p:spPr>
          <a:xfrm>
            <a:off x="10450024"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50024" y="0"/>
            <a:ext cx="1741670" cy="457200"/>
          </a:xfrm>
          <a:prstGeom prst="rect">
            <a:avLst/>
          </a:prstGeom>
          <a:noFill/>
        </p:spPr>
        <p:txBody>
          <a:bodyPr wrap="square" anchor="ctr" tIns="36576" bIns="36576">
            <a:spAutoFit/>
          </a:bodyPr>
          <a:lstStyle/>
          <a:p>
            <a:pPr algn="ctr"/>
            <a:r>
              <a:rPr sz="2400" b="0">
                <a:solidFill>
                  <a:srgbClr val="FFFFFF"/>
                </a:solidFill>
                <a:latin typeface="Calibri"/>
              </a:rPr>
              <a:t>Abschluss</a:t>
            </a:r>
          </a:p>
        </p:txBody>
      </p:sp>
      <p:sp>
        <p:nvSpPr>
          <p:cNvPr id="17" name="Titel"/>
          <p:cNvSpPr txBox="1"/>
          <p:nvPr/>
        </p:nvSpPr>
        <p:spPr>
          <a:xfrm>
            <a:off x="548640" y="530352"/>
            <a:ext cx="11155680" cy="868680"/>
          </a:xfrm>
          <a:prstGeom prst="rect">
            <a:avLst/>
          </a:prstGeom>
          <a:noFill/>
        </p:spPr>
        <p:txBody>
          <a:bodyPr wrap="square" anchor="ctr" tIns="36576" bIns="36576">
            <a:spAutoFit/>
          </a:bodyPr>
          <a:lstStyle/>
          <a:p>
            <a:pPr algn="l"/>
            <a:r>
              <a:rPr sz="4000" b="1">
                <a:solidFill>
                  <a:srgbClr val="1F2A44"/>
                </a:solidFill>
                <a:latin typeface="Calibri"/>
              </a:rPr>
              <a:t>Kündigung: Entscheidungsbaum</a:t>
            </a:r>
          </a:p>
        </p:txBody>
      </p:sp>
      <p:sp>
        <p:nvSpPr>
          <p:cNvPr id="18" name="Rectangle 17"/>
          <p:cNvSpPr/>
          <p:nvPr/>
        </p:nvSpPr>
        <p:spPr>
          <a:xfrm>
            <a:off x="640080" y="1371600"/>
            <a:ext cx="1463040" cy="6400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89520" y="6327648"/>
            <a:ext cx="4114800" cy="420624"/>
          </a:xfrm>
          <a:prstGeom prst="rect">
            <a:avLst/>
          </a:prstGeom>
          <a:noFill/>
        </p:spPr>
        <p:txBody>
          <a:bodyPr wrap="square" anchor="ctr" tIns="36576" bIns="36576">
            <a:spAutoFit/>
          </a:bodyPr>
          <a:lstStyle/>
          <a:p>
            <a:pPr algn="r"/>
            <a:r>
              <a:rPr sz="2400" b="0">
                <a:solidFill>
                  <a:srgbClr val="4A5568"/>
                </a:solidFill>
                <a:latin typeface="Calibri"/>
              </a:rPr>
              <a:t>§ 22 Abs. 1 und 2 BBiG</a:t>
            </a:r>
          </a:p>
        </p:txBody>
      </p:sp>
      <p:sp>
        <p:nvSpPr>
          <p:cNvPr id="20" name="Baum_Wurzel"/>
          <p:cNvSpPr/>
          <p:nvPr/>
        </p:nvSpPr>
        <p:spPr>
          <a:xfrm>
            <a:off x="4023360" y="1600200"/>
            <a:ext cx="4114800" cy="77724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2800" b="1">
                <a:solidFill>
                  <a:srgbClr val="FFFFFF"/>
                </a:solidFill>
                <a:latin typeface="Calibri"/>
              </a:rPr>
              <a:t>Kündigung durch …?</a:t>
            </a:r>
          </a:p>
        </p:txBody>
      </p:sp>
      <p:sp>
        <p:nvSpPr>
          <p:cNvPr id="21" name="Linie_Stamm"/>
          <p:cNvSpPr/>
          <p:nvPr/>
        </p:nvSpPr>
        <p:spPr>
          <a:xfrm>
            <a:off x="6035040" y="2377440"/>
            <a:ext cx="73152" cy="182880"/>
          </a:xfrm>
          <a:prstGeom prst="rect">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Linie_Quer"/>
          <p:cNvSpPr/>
          <p:nvPr/>
        </p:nvSpPr>
        <p:spPr>
          <a:xfrm>
            <a:off x="2286000" y="2560320"/>
            <a:ext cx="3822191" cy="73152"/>
          </a:xfrm>
          <a:prstGeom prst="rect">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Linie_Probezeit"/>
          <p:cNvSpPr/>
          <p:nvPr/>
        </p:nvSpPr>
        <p:spPr>
          <a:xfrm>
            <a:off x="2286000" y="2560320"/>
            <a:ext cx="73152" cy="182880"/>
          </a:xfrm>
          <a:prstGeom prst="rect">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Linie_Nach"/>
          <p:cNvSpPr/>
          <p:nvPr/>
        </p:nvSpPr>
        <p:spPr>
          <a:xfrm>
            <a:off x="6035040" y="2560320"/>
            <a:ext cx="73152" cy="182880"/>
          </a:xfrm>
          <a:prstGeom prst="rect">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aum_Probezeit"/>
          <p:cNvSpPr/>
          <p:nvPr/>
        </p:nvSpPr>
        <p:spPr>
          <a:xfrm>
            <a:off x="640080" y="2743200"/>
            <a:ext cx="3383280" cy="731520"/>
          </a:xfrm>
          <a:prstGeom prst="rect">
            <a:avLst/>
          </a:prstGeom>
          <a:solidFill>
            <a:srgbClr val="344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2800" b="1">
                <a:solidFill>
                  <a:srgbClr val="FFFFFF"/>
                </a:solidFill>
                <a:latin typeface="Calibri"/>
              </a:rPr>
              <a:t>in der Probezeit</a:t>
            </a:r>
          </a:p>
        </p:txBody>
      </p:sp>
      <p:sp>
        <p:nvSpPr>
          <p:cNvPr id="26" name="Baum_Nach"/>
          <p:cNvSpPr/>
          <p:nvPr/>
        </p:nvSpPr>
        <p:spPr>
          <a:xfrm>
            <a:off x="4480560" y="2743200"/>
            <a:ext cx="3383280" cy="731520"/>
          </a:xfrm>
          <a:prstGeom prst="rect">
            <a:avLst/>
          </a:prstGeom>
          <a:solidFill>
            <a:srgbClr val="344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2800" b="1">
                <a:solidFill>
                  <a:srgbClr val="FFFFFF"/>
                </a:solidFill>
                <a:latin typeface="Calibri"/>
              </a:rPr>
              <a:t>nach der Probezeit</a:t>
            </a:r>
          </a:p>
        </p:txBody>
      </p:sp>
      <p:sp>
        <p:nvSpPr>
          <p:cNvPr id="27" name="Linie_Ergebnis_1"/>
          <p:cNvSpPr/>
          <p:nvPr/>
        </p:nvSpPr>
        <p:spPr>
          <a:xfrm>
            <a:off x="2286000" y="3474720"/>
            <a:ext cx="73152" cy="457200"/>
          </a:xfrm>
          <a:prstGeom prst="rect">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inie_Ergebnis_2"/>
          <p:cNvSpPr/>
          <p:nvPr/>
        </p:nvSpPr>
        <p:spPr>
          <a:xfrm>
            <a:off x="6035040" y="3474720"/>
            <a:ext cx="73152" cy="457200"/>
          </a:xfrm>
          <a:prstGeom prst="rect">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inie_Ergebnis_3"/>
          <p:cNvSpPr/>
          <p:nvPr/>
        </p:nvSpPr>
        <p:spPr>
          <a:xfrm>
            <a:off x="7863840" y="3072384"/>
            <a:ext cx="274320" cy="73152"/>
          </a:xfrm>
          <a:prstGeom prst="rect">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Ergebnis_1"/>
          <p:cNvSpPr/>
          <p:nvPr/>
        </p:nvSpPr>
        <p:spPr>
          <a:xfrm>
            <a:off x="640080" y="3931920"/>
            <a:ext cx="3383280" cy="2103120"/>
          </a:xfrm>
          <a:prstGeom prst="rect">
            <a:avLst/>
          </a:prstGeom>
          <a:solidFill>
            <a:srgbClr val="E3F3EA"/>
          </a:solidFill>
          <a:ln w="38100">
            <a:solidFill>
              <a:srgbClr val="1E7B4F"/>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2800" b="1">
                <a:solidFill>
                  <a:srgbClr val="1F2A44"/>
                </a:solidFill>
                <a:latin typeface="Calibri"/>
              </a:rPr>
              <a:t>jederzeit ohne Frist</a:t>
            </a:r>
          </a:p>
          <a:p>
            <a:pPr algn="ctr">
              <a:spcBef>
                <a:spcPts val="840"/>
              </a:spcBef>
            </a:pPr>
            <a:r>
              <a:rPr sz="2800" b="0">
                <a:solidFill>
                  <a:srgbClr val="1F2A44"/>
                </a:solidFill>
                <a:latin typeface="Calibri"/>
              </a:rPr>
              <a:t>von beiden Seiten</a:t>
            </a:r>
          </a:p>
        </p:txBody>
      </p:sp>
      <p:sp>
        <p:nvSpPr>
          <p:cNvPr id="31" name="Ergebnis_2"/>
          <p:cNvSpPr/>
          <p:nvPr/>
        </p:nvSpPr>
        <p:spPr>
          <a:xfrm>
            <a:off x="4480560" y="3931920"/>
            <a:ext cx="3383280" cy="2103120"/>
          </a:xfrm>
          <a:prstGeom prst="rect">
            <a:avLst/>
          </a:prstGeom>
          <a:solidFill>
            <a:srgbClr val="FCEBDD"/>
          </a:solidFill>
          <a:ln w="38100">
            <a:solidFill>
              <a:srgbClr val="B85C00"/>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2800" b="1">
                <a:solidFill>
                  <a:srgbClr val="1F2A44"/>
                </a:solidFill>
                <a:latin typeface="Calibri"/>
              </a:rPr>
              <a:t>fristlos aus wichtigem Grund</a:t>
            </a:r>
          </a:p>
          <a:p>
            <a:pPr algn="ctr">
              <a:spcBef>
                <a:spcPts val="840"/>
              </a:spcBef>
            </a:pPr>
            <a:r>
              <a:rPr sz="2800" b="0">
                <a:solidFill>
                  <a:srgbClr val="1F2A44"/>
                </a:solidFill>
                <a:latin typeface="Calibri"/>
              </a:rPr>
              <a:t>beide Seiten</a:t>
            </a:r>
          </a:p>
        </p:txBody>
      </p:sp>
      <p:sp>
        <p:nvSpPr>
          <p:cNvPr id="32" name="Ergebnis_3"/>
          <p:cNvSpPr/>
          <p:nvPr/>
        </p:nvSpPr>
        <p:spPr>
          <a:xfrm>
            <a:off x="8138160" y="2514600"/>
            <a:ext cx="3383280" cy="3520440"/>
          </a:xfrm>
          <a:prstGeom prst="rect">
            <a:avLst/>
          </a:prstGeom>
          <a:solidFill>
            <a:srgbClr val="FFF0D1"/>
          </a:solidFill>
          <a:ln w="38100">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2800" b="1">
                <a:solidFill>
                  <a:srgbClr val="1F2A44"/>
                </a:solidFill>
                <a:latin typeface="Calibri"/>
              </a:rPr>
              <a:t>Azubi: vier Wochen Frist</a:t>
            </a:r>
          </a:p>
          <a:p>
            <a:pPr algn="ctr">
              <a:spcBef>
                <a:spcPts val="840"/>
              </a:spcBef>
            </a:pPr>
            <a:r>
              <a:rPr sz="2800" b="0">
                <a:solidFill>
                  <a:srgbClr val="1F2A44"/>
                </a:solidFill>
                <a:latin typeface="Calibri"/>
              </a:rPr>
              <a:t>bei Aufgabe der Ausbildung oder Berufswechsel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5" grpId="0" animBg="1"/>
      <p:bldP spid="27" grpId="0" animBg="1"/>
      <p:bldP spid="30" grpId="0" animBg="1"/>
      <p:bldP spid="24" grpId="0" animBg="1"/>
      <p:bldP spid="26" grpId="0" animBg="1"/>
      <p:bldP spid="28" grpId="0" animBg="1"/>
      <p:bldP spid="31" grpId="0" animBg="1"/>
      <p:bldP spid="29" grpId="0" animBg="1"/>
      <p:bldP spid="32" grpId="0" animBg="1"/>
    </p:bldLst>
  </p:timing>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square" anchor="ctr" tIns="36576" bIns="36576">
            <a:spAutoFit/>
          </a:bodyPr>
          <a:lstStyle/>
          <a:p>
            <a:pPr algn="ctr"/>
            <a:r>
              <a:rPr sz="2400" b="0">
                <a:solidFill>
                  <a:srgbClr val="FFFFFF"/>
                </a:solidFill>
                <a:latin typeface="Calibri"/>
              </a:rPr>
              <a:t>Einstieg</a:t>
            </a:r>
          </a:p>
        </p:txBody>
      </p:sp>
      <p:sp>
        <p:nvSpPr>
          <p:cNvPr id="5" name="Rectangle 4"/>
          <p:cNvSpPr/>
          <p:nvPr/>
        </p:nvSpPr>
        <p:spPr>
          <a:xfrm>
            <a:off x="174167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1</a:t>
            </a:r>
          </a:p>
        </p:txBody>
      </p:sp>
      <p:sp>
        <p:nvSpPr>
          <p:cNvPr id="7" name="Rectangle 6"/>
          <p:cNvSpPr/>
          <p:nvPr/>
        </p:nvSpPr>
        <p:spPr>
          <a:xfrm>
            <a:off x="3483341"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3341"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2</a:t>
            </a:r>
          </a:p>
        </p:txBody>
      </p:sp>
      <p:sp>
        <p:nvSpPr>
          <p:cNvPr id="9" name="Rectangle 8"/>
          <p:cNvSpPr/>
          <p:nvPr/>
        </p:nvSpPr>
        <p:spPr>
          <a:xfrm>
            <a:off x="5225012"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25012" y="0"/>
            <a:ext cx="1741670" cy="457200"/>
          </a:xfrm>
          <a:prstGeom prst="rect">
            <a:avLst/>
          </a:prstGeom>
          <a:noFill/>
        </p:spPr>
        <p:txBody>
          <a:bodyPr wrap="square" anchor="ctr" tIns="36576" bIns="36576">
            <a:spAutoFit/>
          </a:bodyPr>
          <a:lstStyle/>
          <a:p>
            <a:pPr algn="ctr"/>
            <a:r>
              <a:rPr sz="2400" b="1">
                <a:solidFill>
                  <a:srgbClr val="1F2A44"/>
                </a:solidFill>
                <a:latin typeface="Calibri"/>
              </a:rPr>
              <a:t>Block 3</a:t>
            </a:r>
          </a:p>
        </p:txBody>
      </p:sp>
      <p:sp>
        <p:nvSpPr>
          <p:cNvPr id="11" name="Rectangle 10"/>
          <p:cNvSpPr/>
          <p:nvPr/>
        </p:nvSpPr>
        <p:spPr>
          <a:xfrm>
            <a:off x="6966682"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66682" y="0"/>
            <a:ext cx="1741670" cy="457200"/>
          </a:xfrm>
          <a:prstGeom prst="rect">
            <a:avLst/>
          </a:prstGeom>
          <a:noFill/>
        </p:spPr>
        <p:txBody>
          <a:bodyPr wrap="square" anchor="ctr" tIns="36576" bIns="36576">
            <a:spAutoFit/>
          </a:bodyPr>
          <a:lstStyle/>
          <a:p>
            <a:pPr algn="ctr"/>
            <a:r>
              <a:rPr sz="2400" b="0">
                <a:solidFill>
                  <a:srgbClr val="FFFFFF"/>
                </a:solidFill>
                <a:latin typeface="Calibri"/>
              </a:rPr>
              <a:t>Üben</a:t>
            </a:r>
          </a:p>
        </p:txBody>
      </p:sp>
      <p:sp>
        <p:nvSpPr>
          <p:cNvPr id="13" name="Rectangle 12"/>
          <p:cNvSpPr/>
          <p:nvPr/>
        </p:nvSpPr>
        <p:spPr>
          <a:xfrm>
            <a:off x="8708353"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8353" y="0"/>
            <a:ext cx="1741670" cy="457200"/>
          </a:xfrm>
          <a:prstGeom prst="rect">
            <a:avLst/>
          </a:prstGeom>
          <a:noFill/>
        </p:spPr>
        <p:txBody>
          <a:bodyPr wrap="square" anchor="ctr" tIns="36576" bIns="36576">
            <a:spAutoFit/>
          </a:bodyPr>
          <a:lstStyle/>
          <a:p>
            <a:pPr algn="ctr"/>
            <a:r>
              <a:rPr sz="2400" b="0">
                <a:solidFill>
                  <a:srgbClr val="FFFFFF"/>
                </a:solidFill>
                <a:latin typeface="Calibri"/>
              </a:rPr>
              <a:t>Besprechen</a:t>
            </a:r>
          </a:p>
        </p:txBody>
      </p:sp>
      <p:sp>
        <p:nvSpPr>
          <p:cNvPr id="15" name="Rectangle 14"/>
          <p:cNvSpPr/>
          <p:nvPr/>
        </p:nvSpPr>
        <p:spPr>
          <a:xfrm>
            <a:off x="10450024"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50024" y="0"/>
            <a:ext cx="1741670" cy="457200"/>
          </a:xfrm>
          <a:prstGeom prst="rect">
            <a:avLst/>
          </a:prstGeom>
          <a:noFill/>
        </p:spPr>
        <p:txBody>
          <a:bodyPr wrap="square" anchor="ctr" tIns="36576" bIns="36576">
            <a:spAutoFit/>
          </a:bodyPr>
          <a:lstStyle/>
          <a:p>
            <a:pPr algn="ctr"/>
            <a:r>
              <a:rPr sz="2400" b="0">
                <a:solidFill>
                  <a:srgbClr val="FFFFFF"/>
                </a:solidFill>
                <a:latin typeface="Calibri"/>
              </a:rPr>
              <a:t>Abschluss</a:t>
            </a:r>
          </a:p>
        </p:txBody>
      </p:sp>
      <p:sp>
        <p:nvSpPr>
          <p:cNvPr id="17" name="Titel"/>
          <p:cNvSpPr txBox="1"/>
          <p:nvPr/>
        </p:nvSpPr>
        <p:spPr>
          <a:xfrm>
            <a:off x="548640" y="530352"/>
            <a:ext cx="11155680" cy="868680"/>
          </a:xfrm>
          <a:prstGeom prst="rect">
            <a:avLst/>
          </a:prstGeom>
          <a:noFill/>
        </p:spPr>
        <p:txBody>
          <a:bodyPr wrap="square" anchor="ctr" tIns="36576" bIns="36576">
            <a:spAutoFit/>
          </a:bodyPr>
          <a:lstStyle/>
          <a:p>
            <a:pPr algn="l"/>
            <a:r>
              <a:rPr sz="4000" b="1">
                <a:solidFill>
                  <a:srgbClr val="1F2A44"/>
                </a:solidFill>
                <a:latin typeface="Calibri"/>
              </a:rPr>
              <a:t>Form und Frist der Kündigung</a:t>
            </a:r>
          </a:p>
        </p:txBody>
      </p:sp>
      <p:sp>
        <p:nvSpPr>
          <p:cNvPr id="18" name="Rectangle 17"/>
          <p:cNvSpPr/>
          <p:nvPr/>
        </p:nvSpPr>
        <p:spPr>
          <a:xfrm>
            <a:off x="640080" y="1371600"/>
            <a:ext cx="1463040" cy="6400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89520" y="6327648"/>
            <a:ext cx="4114800" cy="420624"/>
          </a:xfrm>
          <a:prstGeom prst="rect">
            <a:avLst/>
          </a:prstGeom>
          <a:noFill/>
        </p:spPr>
        <p:txBody>
          <a:bodyPr wrap="square" anchor="ctr" tIns="36576" bIns="36576">
            <a:spAutoFit/>
          </a:bodyPr>
          <a:lstStyle/>
          <a:p>
            <a:pPr algn="r"/>
            <a:r>
              <a:rPr sz="2400" b="0">
                <a:solidFill>
                  <a:srgbClr val="4A5568"/>
                </a:solidFill>
                <a:latin typeface="Calibri"/>
              </a:rPr>
              <a:t>§ 22 Abs. 3 und 4 BBiG</a:t>
            </a:r>
          </a:p>
        </p:txBody>
      </p:sp>
      <p:sp>
        <p:nvSpPr>
          <p:cNvPr id="20" name="Rectangle 19"/>
          <p:cNvSpPr/>
          <p:nvPr/>
        </p:nvSpPr>
        <p:spPr>
          <a:xfrm>
            <a:off x="640080" y="1737360"/>
            <a:ext cx="3520440" cy="42976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40080" y="1737360"/>
            <a:ext cx="3520440" cy="10972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Symbol Immer schriftlich"/>
          <p:cNvPicPr>
            <a:picLocks noChangeAspect="1"/>
          </p:cNvPicPr>
          <p:nvPr/>
        </p:nvPicPr>
        <p:blipFill>
          <a:blip r:embed="rId3"/>
          <a:stretch>
            <a:fillRect/>
          </a:stretch>
        </p:blipFill>
        <p:spPr>
          <a:xfrm>
            <a:off x="1828800" y="2011680"/>
            <a:ext cx="1143000" cy="1143000"/>
          </a:xfrm>
          <a:prstGeom prst="rect">
            <a:avLst/>
          </a:prstGeom>
        </p:spPr>
      </p:pic>
      <p:sp>
        <p:nvSpPr>
          <p:cNvPr id="23" name="TextBox 22"/>
          <p:cNvSpPr txBox="1"/>
          <p:nvPr/>
        </p:nvSpPr>
        <p:spPr>
          <a:xfrm>
            <a:off x="731519" y="3383280"/>
            <a:ext cx="3337560" cy="731520"/>
          </a:xfrm>
          <a:prstGeom prst="rect">
            <a:avLst/>
          </a:prstGeom>
          <a:noFill/>
        </p:spPr>
        <p:txBody>
          <a:bodyPr wrap="square" anchor="t" tIns="36576" bIns="36576">
            <a:spAutoFit/>
          </a:bodyPr>
          <a:lstStyle/>
          <a:p>
            <a:pPr algn="ctr"/>
            <a:r>
              <a:rPr sz="3200" b="1">
                <a:solidFill>
                  <a:srgbClr val="1F2A44"/>
                </a:solidFill>
                <a:latin typeface="Calibri"/>
              </a:rPr>
              <a:t>Immer schriftlich</a:t>
            </a:r>
          </a:p>
        </p:txBody>
      </p:sp>
      <p:sp>
        <p:nvSpPr>
          <p:cNvPr id="24" name="TextBox 23"/>
          <p:cNvSpPr txBox="1"/>
          <p:nvPr/>
        </p:nvSpPr>
        <p:spPr>
          <a:xfrm>
            <a:off x="731519" y="4206240"/>
            <a:ext cx="3337560" cy="1645920"/>
          </a:xfrm>
          <a:prstGeom prst="rect">
            <a:avLst/>
          </a:prstGeom>
          <a:noFill/>
        </p:spPr>
        <p:txBody>
          <a:bodyPr wrap="square" anchor="t" tIns="36576" bIns="36576">
            <a:spAutoFit/>
          </a:bodyPr>
          <a:lstStyle/>
          <a:p>
            <a:pPr algn="ctr"/>
            <a:r>
              <a:rPr sz="2800" b="0">
                <a:solidFill>
                  <a:srgbClr val="1F2A44"/>
                </a:solidFill>
                <a:latin typeface="Calibri"/>
              </a:rPr>
              <a:t>E-Mail ist ausgeschlossen</a:t>
            </a:r>
          </a:p>
        </p:txBody>
      </p:sp>
      <p:sp>
        <p:nvSpPr>
          <p:cNvPr id="25" name="Rectangle 24"/>
          <p:cNvSpPr/>
          <p:nvPr/>
        </p:nvSpPr>
        <p:spPr>
          <a:xfrm>
            <a:off x="4343400" y="1737360"/>
            <a:ext cx="3520440" cy="42976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343400" y="1737360"/>
            <a:ext cx="3520440" cy="109728"/>
          </a:xfrm>
          <a:prstGeom prst="rect">
            <a:avLst/>
          </a:prstGeom>
          <a:solidFill>
            <a:srgbClr val="34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Symbol Mit Gründen"/>
          <p:cNvPicPr>
            <a:picLocks noChangeAspect="1"/>
          </p:cNvPicPr>
          <p:nvPr/>
        </p:nvPicPr>
        <p:blipFill>
          <a:blip r:embed="rId4"/>
          <a:stretch>
            <a:fillRect/>
          </a:stretch>
        </p:blipFill>
        <p:spPr>
          <a:xfrm>
            <a:off x="5532120" y="2011680"/>
            <a:ext cx="1143000" cy="1143000"/>
          </a:xfrm>
          <a:prstGeom prst="rect">
            <a:avLst/>
          </a:prstGeom>
        </p:spPr>
      </p:pic>
      <p:sp>
        <p:nvSpPr>
          <p:cNvPr id="28" name="TextBox 27"/>
          <p:cNvSpPr txBox="1"/>
          <p:nvPr/>
        </p:nvSpPr>
        <p:spPr>
          <a:xfrm>
            <a:off x="4434840" y="3383280"/>
            <a:ext cx="3337560" cy="731520"/>
          </a:xfrm>
          <a:prstGeom prst="rect">
            <a:avLst/>
          </a:prstGeom>
          <a:noFill/>
        </p:spPr>
        <p:txBody>
          <a:bodyPr wrap="square" anchor="t" tIns="36576" bIns="36576">
            <a:spAutoFit/>
          </a:bodyPr>
          <a:lstStyle/>
          <a:p>
            <a:pPr algn="ctr"/>
            <a:r>
              <a:rPr sz="3200" b="1">
                <a:solidFill>
                  <a:srgbClr val="1F2A44"/>
                </a:solidFill>
                <a:latin typeface="Calibri"/>
              </a:rPr>
              <a:t>Mit Gründen</a:t>
            </a:r>
          </a:p>
        </p:txBody>
      </p:sp>
      <p:sp>
        <p:nvSpPr>
          <p:cNvPr id="29" name="TextBox 28"/>
          <p:cNvSpPr txBox="1"/>
          <p:nvPr/>
        </p:nvSpPr>
        <p:spPr>
          <a:xfrm>
            <a:off x="4434840" y="4206240"/>
            <a:ext cx="3337560" cy="1645920"/>
          </a:xfrm>
          <a:prstGeom prst="rect">
            <a:avLst/>
          </a:prstGeom>
          <a:noFill/>
        </p:spPr>
        <p:txBody>
          <a:bodyPr wrap="square" anchor="t" tIns="36576" bIns="36576">
            <a:spAutoFit/>
          </a:bodyPr>
          <a:lstStyle/>
          <a:p>
            <a:pPr algn="ctr"/>
            <a:r>
              <a:rPr sz="2800" b="0">
                <a:solidFill>
                  <a:srgbClr val="1F2A44"/>
                </a:solidFill>
                <a:latin typeface="Calibri"/>
              </a:rPr>
              <a:t>nach der Probezeit</a:t>
            </a:r>
          </a:p>
        </p:txBody>
      </p:sp>
      <p:sp>
        <p:nvSpPr>
          <p:cNvPr id="30" name="Rectangle 29"/>
          <p:cNvSpPr/>
          <p:nvPr/>
        </p:nvSpPr>
        <p:spPr>
          <a:xfrm>
            <a:off x="8046719" y="1737360"/>
            <a:ext cx="3520440" cy="42976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46719" y="1737360"/>
            <a:ext cx="3520440" cy="109728"/>
          </a:xfrm>
          <a:prstGeom prst="rect">
            <a:avLst/>
          </a:prstGeom>
          <a:solidFill>
            <a:srgbClr val="34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Symbol Zwei Wochen"/>
          <p:cNvPicPr>
            <a:picLocks noChangeAspect="1"/>
          </p:cNvPicPr>
          <p:nvPr/>
        </p:nvPicPr>
        <p:blipFill>
          <a:blip r:embed="rId5"/>
          <a:stretch>
            <a:fillRect/>
          </a:stretch>
        </p:blipFill>
        <p:spPr>
          <a:xfrm>
            <a:off x="9235440" y="2011680"/>
            <a:ext cx="1143000" cy="1143000"/>
          </a:xfrm>
          <a:prstGeom prst="rect">
            <a:avLst/>
          </a:prstGeom>
        </p:spPr>
      </p:pic>
      <p:sp>
        <p:nvSpPr>
          <p:cNvPr id="33" name="TextBox 32"/>
          <p:cNvSpPr txBox="1"/>
          <p:nvPr/>
        </p:nvSpPr>
        <p:spPr>
          <a:xfrm>
            <a:off x="8138159" y="3383280"/>
            <a:ext cx="3337560" cy="731520"/>
          </a:xfrm>
          <a:prstGeom prst="rect">
            <a:avLst/>
          </a:prstGeom>
          <a:noFill/>
        </p:spPr>
        <p:txBody>
          <a:bodyPr wrap="square" anchor="t" tIns="36576" bIns="36576">
            <a:spAutoFit/>
          </a:bodyPr>
          <a:lstStyle/>
          <a:p>
            <a:pPr algn="ctr"/>
            <a:r>
              <a:rPr sz="3200" b="1">
                <a:solidFill>
                  <a:srgbClr val="1F2A44"/>
                </a:solidFill>
                <a:latin typeface="Calibri"/>
              </a:rPr>
              <a:t>Zwei Wochen</a:t>
            </a:r>
          </a:p>
        </p:txBody>
      </p:sp>
      <p:sp>
        <p:nvSpPr>
          <p:cNvPr id="34" name="TextBox 33"/>
          <p:cNvSpPr txBox="1"/>
          <p:nvPr/>
        </p:nvSpPr>
        <p:spPr>
          <a:xfrm>
            <a:off x="8138159" y="4206240"/>
            <a:ext cx="3337560" cy="1645920"/>
          </a:xfrm>
          <a:prstGeom prst="rect">
            <a:avLst/>
          </a:prstGeom>
          <a:noFill/>
        </p:spPr>
        <p:txBody>
          <a:bodyPr wrap="square" anchor="t" tIns="36576" bIns="36576">
            <a:spAutoFit/>
          </a:bodyPr>
          <a:lstStyle/>
          <a:p>
            <a:pPr algn="ctr"/>
            <a:r>
              <a:rPr sz="2800" b="0">
                <a:solidFill>
                  <a:srgbClr val="1F2A44"/>
                </a:solidFill>
                <a:latin typeface="Calibri"/>
              </a:rPr>
              <a:t>nach Kenntnis der Gründe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square" anchor="ctr" tIns="36576" bIns="36576">
            <a:spAutoFit/>
          </a:bodyPr>
          <a:lstStyle/>
          <a:p>
            <a:pPr algn="ctr"/>
            <a:r>
              <a:rPr sz="2400" b="0">
                <a:solidFill>
                  <a:srgbClr val="FFFFFF"/>
                </a:solidFill>
                <a:latin typeface="Calibri"/>
              </a:rPr>
              <a:t>Einstieg</a:t>
            </a:r>
          </a:p>
        </p:txBody>
      </p:sp>
      <p:sp>
        <p:nvSpPr>
          <p:cNvPr id="5" name="Rectangle 4"/>
          <p:cNvSpPr/>
          <p:nvPr/>
        </p:nvSpPr>
        <p:spPr>
          <a:xfrm>
            <a:off x="174167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1</a:t>
            </a:r>
          </a:p>
        </p:txBody>
      </p:sp>
      <p:sp>
        <p:nvSpPr>
          <p:cNvPr id="7" name="Rectangle 6"/>
          <p:cNvSpPr/>
          <p:nvPr/>
        </p:nvSpPr>
        <p:spPr>
          <a:xfrm>
            <a:off x="3483341"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3341"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2</a:t>
            </a:r>
          </a:p>
        </p:txBody>
      </p:sp>
      <p:sp>
        <p:nvSpPr>
          <p:cNvPr id="9" name="Rectangle 8"/>
          <p:cNvSpPr/>
          <p:nvPr/>
        </p:nvSpPr>
        <p:spPr>
          <a:xfrm>
            <a:off x="5225012"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25012" y="0"/>
            <a:ext cx="1741670" cy="457200"/>
          </a:xfrm>
          <a:prstGeom prst="rect">
            <a:avLst/>
          </a:prstGeom>
          <a:noFill/>
        </p:spPr>
        <p:txBody>
          <a:bodyPr wrap="square" anchor="ctr" tIns="36576" bIns="36576">
            <a:spAutoFit/>
          </a:bodyPr>
          <a:lstStyle/>
          <a:p>
            <a:pPr algn="ctr"/>
            <a:r>
              <a:rPr sz="2400" b="1">
                <a:solidFill>
                  <a:srgbClr val="1F2A44"/>
                </a:solidFill>
                <a:latin typeface="Calibri"/>
              </a:rPr>
              <a:t>Block 3</a:t>
            </a:r>
          </a:p>
        </p:txBody>
      </p:sp>
      <p:sp>
        <p:nvSpPr>
          <p:cNvPr id="11" name="Rectangle 10"/>
          <p:cNvSpPr/>
          <p:nvPr/>
        </p:nvSpPr>
        <p:spPr>
          <a:xfrm>
            <a:off x="6966682"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66682" y="0"/>
            <a:ext cx="1741670" cy="457200"/>
          </a:xfrm>
          <a:prstGeom prst="rect">
            <a:avLst/>
          </a:prstGeom>
          <a:noFill/>
        </p:spPr>
        <p:txBody>
          <a:bodyPr wrap="square" anchor="ctr" tIns="36576" bIns="36576">
            <a:spAutoFit/>
          </a:bodyPr>
          <a:lstStyle/>
          <a:p>
            <a:pPr algn="ctr"/>
            <a:r>
              <a:rPr sz="2400" b="0">
                <a:solidFill>
                  <a:srgbClr val="FFFFFF"/>
                </a:solidFill>
                <a:latin typeface="Calibri"/>
              </a:rPr>
              <a:t>Üben</a:t>
            </a:r>
          </a:p>
        </p:txBody>
      </p:sp>
      <p:sp>
        <p:nvSpPr>
          <p:cNvPr id="13" name="Rectangle 12"/>
          <p:cNvSpPr/>
          <p:nvPr/>
        </p:nvSpPr>
        <p:spPr>
          <a:xfrm>
            <a:off x="8708353"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8353" y="0"/>
            <a:ext cx="1741670" cy="457200"/>
          </a:xfrm>
          <a:prstGeom prst="rect">
            <a:avLst/>
          </a:prstGeom>
          <a:noFill/>
        </p:spPr>
        <p:txBody>
          <a:bodyPr wrap="square" anchor="ctr" tIns="36576" bIns="36576">
            <a:spAutoFit/>
          </a:bodyPr>
          <a:lstStyle/>
          <a:p>
            <a:pPr algn="ctr"/>
            <a:r>
              <a:rPr sz="2400" b="0">
                <a:solidFill>
                  <a:srgbClr val="FFFFFF"/>
                </a:solidFill>
                <a:latin typeface="Calibri"/>
              </a:rPr>
              <a:t>Besprechen</a:t>
            </a:r>
          </a:p>
        </p:txBody>
      </p:sp>
      <p:sp>
        <p:nvSpPr>
          <p:cNvPr id="15" name="Rectangle 14"/>
          <p:cNvSpPr/>
          <p:nvPr/>
        </p:nvSpPr>
        <p:spPr>
          <a:xfrm>
            <a:off x="10450024"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50024" y="0"/>
            <a:ext cx="1741670" cy="457200"/>
          </a:xfrm>
          <a:prstGeom prst="rect">
            <a:avLst/>
          </a:prstGeom>
          <a:noFill/>
        </p:spPr>
        <p:txBody>
          <a:bodyPr wrap="square" anchor="ctr" tIns="36576" bIns="36576">
            <a:spAutoFit/>
          </a:bodyPr>
          <a:lstStyle/>
          <a:p>
            <a:pPr algn="ctr"/>
            <a:r>
              <a:rPr sz="2400" b="0">
                <a:solidFill>
                  <a:srgbClr val="FFFFFF"/>
                </a:solidFill>
                <a:latin typeface="Calibri"/>
              </a:rPr>
              <a:t>Abschluss</a:t>
            </a:r>
          </a:p>
        </p:txBody>
      </p:sp>
      <p:pic>
        <p:nvPicPr>
          <p:cNvPr id="17" name="Picture 16" descr="Fragezeichen-Symbol"/>
          <p:cNvPicPr>
            <a:picLocks noChangeAspect="1"/>
          </p:cNvPicPr>
          <p:nvPr/>
        </p:nvPicPr>
        <p:blipFill>
          <a:blip r:embed="rId3"/>
          <a:stretch>
            <a:fillRect/>
          </a:stretch>
        </p:blipFill>
        <p:spPr>
          <a:xfrm>
            <a:off x="640080" y="914400"/>
            <a:ext cx="1234440" cy="1234440"/>
          </a:xfrm>
          <a:prstGeom prst="rect">
            <a:avLst/>
          </a:prstGeom>
        </p:spPr>
      </p:pic>
      <p:sp>
        <p:nvSpPr>
          <p:cNvPr id="18" name="Frage"/>
          <p:cNvSpPr txBox="1"/>
          <p:nvPr/>
        </p:nvSpPr>
        <p:spPr>
          <a:xfrm>
            <a:off x="2103120" y="914400"/>
            <a:ext cx="9601200" cy="3566160"/>
          </a:xfrm>
          <a:prstGeom prst="rect">
            <a:avLst/>
          </a:prstGeom>
          <a:noFill/>
        </p:spPr>
        <p:txBody>
          <a:bodyPr wrap="square" anchor="ctr" tIns="36576" bIns="36576">
            <a:spAutoFit/>
          </a:bodyPr>
          <a:lstStyle/>
          <a:p>
            <a:pPr algn="l"/>
            <a:r>
              <a:rPr sz="3800" b="1">
                <a:solidFill>
                  <a:srgbClr val="1F2A44"/>
                </a:solidFill>
                <a:latin typeface="Calibri"/>
              </a:rPr>
              <a:t>Stimmt oder stimmt nicht?
Eine Kündigung per E-Mail ist wirksam, wenn sie rechtzeitig ankommt.</a:t>
            </a:r>
          </a:p>
        </p:txBody>
      </p:sp>
      <p:sp>
        <p:nvSpPr>
          <p:cNvPr id="19" name="Rounded Rectangle 18"/>
          <p:cNvSpPr/>
          <p:nvPr/>
        </p:nvSpPr>
        <p:spPr>
          <a:xfrm>
            <a:off x="502920" y="6327648"/>
            <a:ext cx="1965960" cy="420624"/>
          </a:xfrm>
          <a:prstGeom prst="roundRect">
            <a:avLst>
              <a:gd name="adj" fmla="val 4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6327648"/>
            <a:ext cx="1965960" cy="420624"/>
          </a:xfrm>
          <a:prstGeom prst="rect">
            <a:avLst/>
          </a:prstGeom>
          <a:noFill/>
        </p:spPr>
        <p:txBody>
          <a:bodyPr wrap="square" anchor="ctr" tIns="36576" bIns="36576">
            <a:spAutoFit/>
          </a:bodyPr>
          <a:lstStyle/>
          <a:p>
            <a:pPr algn="ctr"/>
            <a:r>
              <a:rPr sz="2400" b="1">
                <a:solidFill>
                  <a:srgbClr val="FFFFFF"/>
                </a:solidFill>
                <a:latin typeface="Calibri"/>
              </a:rPr>
              <a:t>Aufstellen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square" anchor="ctr" tIns="36576" bIns="36576">
            <a:spAutoFit/>
          </a:bodyPr>
          <a:lstStyle/>
          <a:p>
            <a:pPr algn="ctr"/>
            <a:r>
              <a:rPr sz="2400" b="0">
                <a:solidFill>
                  <a:srgbClr val="FFFFFF"/>
                </a:solidFill>
                <a:latin typeface="Calibri"/>
              </a:rPr>
              <a:t>Einstieg</a:t>
            </a:r>
          </a:p>
        </p:txBody>
      </p:sp>
      <p:sp>
        <p:nvSpPr>
          <p:cNvPr id="5" name="Rectangle 4"/>
          <p:cNvSpPr/>
          <p:nvPr/>
        </p:nvSpPr>
        <p:spPr>
          <a:xfrm>
            <a:off x="174167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1</a:t>
            </a:r>
          </a:p>
        </p:txBody>
      </p:sp>
      <p:sp>
        <p:nvSpPr>
          <p:cNvPr id="7" name="Rectangle 6"/>
          <p:cNvSpPr/>
          <p:nvPr/>
        </p:nvSpPr>
        <p:spPr>
          <a:xfrm>
            <a:off x="3483341"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3341"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2</a:t>
            </a:r>
          </a:p>
        </p:txBody>
      </p:sp>
      <p:sp>
        <p:nvSpPr>
          <p:cNvPr id="9" name="Rectangle 8"/>
          <p:cNvSpPr/>
          <p:nvPr/>
        </p:nvSpPr>
        <p:spPr>
          <a:xfrm>
            <a:off x="5225012"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25012" y="0"/>
            <a:ext cx="1741670" cy="457200"/>
          </a:xfrm>
          <a:prstGeom prst="rect">
            <a:avLst/>
          </a:prstGeom>
          <a:noFill/>
        </p:spPr>
        <p:txBody>
          <a:bodyPr wrap="square" anchor="ctr" tIns="36576" bIns="36576">
            <a:spAutoFit/>
          </a:bodyPr>
          <a:lstStyle/>
          <a:p>
            <a:pPr algn="ctr"/>
            <a:r>
              <a:rPr sz="2400" b="1">
                <a:solidFill>
                  <a:srgbClr val="1F2A44"/>
                </a:solidFill>
                <a:latin typeface="Calibri"/>
              </a:rPr>
              <a:t>Block 3</a:t>
            </a:r>
          </a:p>
        </p:txBody>
      </p:sp>
      <p:sp>
        <p:nvSpPr>
          <p:cNvPr id="11" name="Rectangle 10"/>
          <p:cNvSpPr/>
          <p:nvPr/>
        </p:nvSpPr>
        <p:spPr>
          <a:xfrm>
            <a:off x="6966682"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66682" y="0"/>
            <a:ext cx="1741670" cy="457200"/>
          </a:xfrm>
          <a:prstGeom prst="rect">
            <a:avLst/>
          </a:prstGeom>
          <a:noFill/>
        </p:spPr>
        <p:txBody>
          <a:bodyPr wrap="square" anchor="ctr" tIns="36576" bIns="36576">
            <a:spAutoFit/>
          </a:bodyPr>
          <a:lstStyle/>
          <a:p>
            <a:pPr algn="ctr"/>
            <a:r>
              <a:rPr sz="2400" b="0">
                <a:solidFill>
                  <a:srgbClr val="FFFFFF"/>
                </a:solidFill>
                <a:latin typeface="Calibri"/>
              </a:rPr>
              <a:t>Üben</a:t>
            </a:r>
          </a:p>
        </p:txBody>
      </p:sp>
      <p:sp>
        <p:nvSpPr>
          <p:cNvPr id="13" name="Rectangle 12"/>
          <p:cNvSpPr/>
          <p:nvPr/>
        </p:nvSpPr>
        <p:spPr>
          <a:xfrm>
            <a:off x="8708353"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8353" y="0"/>
            <a:ext cx="1741670" cy="457200"/>
          </a:xfrm>
          <a:prstGeom prst="rect">
            <a:avLst/>
          </a:prstGeom>
          <a:noFill/>
        </p:spPr>
        <p:txBody>
          <a:bodyPr wrap="square" anchor="ctr" tIns="36576" bIns="36576">
            <a:spAutoFit/>
          </a:bodyPr>
          <a:lstStyle/>
          <a:p>
            <a:pPr algn="ctr"/>
            <a:r>
              <a:rPr sz="2400" b="0">
                <a:solidFill>
                  <a:srgbClr val="FFFFFF"/>
                </a:solidFill>
                <a:latin typeface="Calibri"/>
              </a:rPr>
              <a:t>Besprechen</a:t>
            </a:r>
          </a:p>
        </p:txBody>
      </p:sp>
      <p:sp>
        <p:nvSpPr>
          <p:cNvPr id="15" name="Rectangle 14"/>
          <p:cNvSpPr/>
          <p:nvPr/>
        </p:nvSpPr>
        <p:spPr>
          <a:xfrm>
            <a:off x="10450024"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50024" y="0"/>
            <a:ext cx="1741670" cy="457200"/>
          </a:xfrm>
          <a:prstGeom prst="rect">
            <a:avLst/>
          </a:prstGeom>
          <a:noFill/>
        </p:spPr>
        <p:txBody>
          <a:bodyPr wrap="square" anchor="ctr" tIns="36576" bIns="36576">
            <a:spAutoFit/>
          </a:bodyPr>
          <a:lstStyle/>
          <a:p>
            <a:pPr algn="ctr"/>
            <a:r>
              <a:rPr sz="2400" b="0">
                <a:solidFill>
                  <a:srgbClr val="FFFFFF"/>
                </a:solidFill>
                <a:latin typeface="Calibri"/>
              </a:rPr>
              <a:t>Abschluss</a:t>
            </a:r>
          </a:p>
        </p:txBody>
      </p:sp>
      <p:sp>
        <p:nvSpPr>
          <p:cNvPr id="17" name="Antwortrahmen"/>
          <p:cNvSpPr/>
          <p:nvPr/>
        </p:nvSpPr>
        <p:spPr>
          <a:xfrm>
            <a:off x="411480" y="566928"/>
            <a:ext cx="11365992" cy="5669280"/>
          </a:xfrm>
          <a:prstGeom prst="rect">
            <a:avLst/>
          </a:prstGeom>
          <a:noFill/>
          <a:ln w="76200">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Haken: Antwortfolie"/>
          <p:cNvPicPr>
            <a:picLocks noChangeAspect="1"/>
          </p:cNvPicPr>
          <p:nvPr/>
        </p:nvPicPr>
        <p:blipFill>
          <a:blip r:embed="rId3"/>
          <a:stretch>
            <a:fillRect/>
          </a:stretch>
        </p:blipFill>
        <p:spPr>
          <a:xfrm>
            <a:off x="10972800" y="640080"/>
            <a:ext cx="685800" cy="685800"/>
          </a:xfrm>
          <a:prstGeom prst="rect">
            <a:avLst/>
          </a:prstGeom>
        </p:spPr>
      </p:pic>
      <p:sp>
        <p:nvSpPr>
          <p:cNvPr id="19" name="Titel"/>
          <p:cNvSpPr txBox="1"/>
          <p:nvPr/>
        </p:nvSpPr>
        <p:spPr>
          <a:xfrm>
            <a:off x="640080" y="594360"/>
            <a:ext cx="10241280" cy="822960"/>
          </a:xfrm>
          <a:prstGeom prst="rect">
            <a:avLst/>
          </a:prstGeom>
          <a:noFill/>
        </p:spPr>
        <p:txBody>
          <a:bodyPr wrap="square" anchor="ctr" tIns="36576" bIns="36576">
            <a:spAutoFit/>
          </a:bodyPr>
          <a:lstStyle/>
          <a:p>
            <a:pPr algn="l"/>
            <a:r>
              <a:rPr sz="4000" b="1">
                <a:solidFill>
                  <a:srgbClr val="1F2A44"/>
                </a:solidFill>
                <a:latin typeface="Calibri"/>
              </a:rPr>
              <a:t>Stimmt nicht: schriftlich</a:t>
            </a:r>
          </a:p>
        </p:txBody>
      </p:sp>
      <p:sp>
        <p:nvSpPr>
          <p:cNvPr id="20" name="Antwort_1"/>
          <p:cNvSpPr/>
          <p:nvPr/>
        </p:nvSpPr>
        <p:spPr>
          <a:xfrm>
            <a:off x="822960" y="1737360"/>
            <a:ext cx="10515600" cy="2377440"/>
          </a:xfrm>
          <a:prstGeom prst="roundRect">
            <a:avLst/>
          </a:prstGeom>
          <a:solidFill>
            <a:srgbClr val="FFF0D1"/>
          </a:solidFill>
          <a:ln w="38100">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3400" b="1">
                <a:solidFill>
                  <a:srgbClr val="1F2A44"/>
                </a:solidFill>
                <a:latin typeface="Calibri"/>
              </a:rPr>
              <a:t>Sie muss schriftlich erfolgen, die elektronische Form ist ausgeschlossen.</a:t>
            </a:r>
          </a:p>
        </p:txBody>
      </p:sp>
      <p:sp>
        <p:nvSpPr>
          <p:cNvPr id="21" name="TextBox 20"/>
          <p:cNvSpPr txBox="1"/>
          <p:nvPr/>
        </p:nvSpPr>
        <p:spPr>
          <a:xfrm>
            <a:off x="7589520" y="6327648"/>
            <a:ext cx="4114800" cy="420624"/>
          </a:xfrm>
          <a:prstGeom prst="rect">
            <a:avLst/>
          </a:prstGeom>
          <a:noFill/>
        </p:spPr>
        <p:txBody>
          <a:bodyPr wrap="square" anchor="ctr" tIns="36576" bIns="36576">
            <a:spAutoFit/>
          </a:bodyPr>
          <a:lstStyle/>
          <a:p>
            <a:pPr algn="r"/>
            <a:r>
              <a:rPr sz="2400" b="0">
                <a:solidFill>
                  <a:srgbClr val="4A5568"/>
                </a:solidFill>
                <a:latin typeface="Calibri"/>
              </a:rPr>
              <a:t>§ 22 Abs. 3 BBiG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square" anchor="ctr" tIns="36576" bIns="36576">
            <a:spAutoFit/>
          </a:bodyPr>
          <a:lstStyle/>
          <a:p>
            <a:pPr algn="ctr"/>
            <a:r>
              <a:rPr sz="2400" b="0">
                <a:solidFill>
                  <a:srgbClr val="FFFFFF"/>
                </a:solidFill>
                <a:latin typeface="Calibri"/>
              </a:rPr>
              <a:t>Einstieg</a:t>
            </a:r>
          </a:p>
        </p:txBody>
      </p:sp>
      <p:sp>
        <p:nvSpPr>
          <p:cNvPr id="5" name="Rectangle 4"/>
          <p:cNvSpPr/>
          <p:nvPr/>
        </p:nvSpPr>
        <p:spPr>
          <a:xfrm>
            <a:off x="174167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1</a:t>
            </a:r>
          </a:p>
        </p:txBody>
      </p:sp>
      <p:sp>
        <p:nvSpPr>
          <p:cNvPr id="7" name="Rectangle 6"/>
          <p:cNvSpPr/>
          <p:nvPr/>
        </p:nvSpPr>
        <p:spPr>
          <a:xfrm>
            <a:off x="3483341"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3341"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2</a:t>
            </a:r>
          </a:p>
        </p:txBody>
      </p:sp>
      <p:sp>
        <p:nvSpPr>
          <p:cNvPr id="9" name="Rectangle 8"/>
          <p:cNvSpPr/>
          <p:nvPr/>
        </p:nvSpPr>
        <p:spPr>
          <a:xfrm>
            <a:off x="5225012"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25012" y="0"/>
            <a:ext cx="1741670" cy="457200"/>
          </a:xfrm>
          <a:prstGeom prst="rect">
            <a:avLst/>
          </a:prstGeom>
          <a:noFill/>
        </p:spPr>
        <p:txBody>
          <a:bodyPr wrap="square" anchor="ctr" tIns="36576" bIns="36576">
            <a:spAutoFit/>
          </a:bodyPr>
          <a:lstStyle/>
          <a:p>
            <a:pPr algn="ctr"/>
            <a:r>
              <a:rPr sz="2400" b="1">
                <a:solidFill>
                  <a:srgbClr val="1F2A44"/>
                </a:solidFill>
                <a:latin typeface="Calibri"/>
              </a:rPr>
              <a:t>Block 3</a:t>
            </a:r>
          </a:p>
        </p:txBody>
      </p:sp>
      <p:sp>
        <p:nvSpPr>
          <p:cNvPr id="11" name="Rectangle 10"/>
          <p:cNvSpPr/>
          <p:nvPr/>
        </p:nvSpPr>
        <p:spPr>
          <a:xfrm>
            <a:off x="6966682"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66682" y="0"/>
            <a:ext cx="1741670" cy="457200"/>
          </a:xfrm>
          <a:prstGeom prst="rect">
            <a:avLst/>
          </a:prstGeom>
          <a:noFill/>
        </p:spPr>
        <p:txBody>
          <a:bodyPr wrap="square" anchor="ctr" tIns="36576" bIns="36576">
            <a:spAutoFit/>
          </a:bodyPr>
          <a:lstStyle/>
          <a:p>
            <a:pPr algn="ctr"/>
            <a:r>
              <a:rPr sz="2400" b="0">
                <a:solidFill>
                  <a:srgbClr val="FFFFFF"/>
                </a:solidFill>
                <a:latin typeface="Calibri"/>
              </a:rPr>
              <a:t>Üben</a:t>
            </a:r>
          </a:p>
        </p:txBody>
      </p:sp>
      <p:sp>
        <p:nvSpPr>
          <p:cNvPr id="13" name="Rectangle 12"/>
          <p:cNvSpPr/>
          <p:nvPr/>
        </p:nvSpPr>
        <p:spPr>
          <a:xfrm>
            <a:off x="8708353"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8353" y="0"/>
            <a:ext cx="1741670" cy="457200"/>
          </a:xfrm>
          <a:prstGeom prst="rect">
            <a:avLst/>
          </a:prstGeom>
          <a:noFill/>
        </p:spPr>
        <p:txBody>
          <a:bodyPr wrap="square" anchor="ctr" tIns="36576" bIns="36576">
            <a:spAutoFit/>
          </a:bodyPr>
          <a:lstStyle/>
          <a:p>
            <a:pPr algn="ctr"/>
            <a:r>
              <a:rPr sz="2400" b="0">
                <a:solidFill>
                  <a:srgbClr val="FFFFFF"/>
                </a:solidFill>
                <a:latin typeface="Calibri"/>
              </a:rPr>
              <a:t>Besprechen</a:t>
            </a:r>
          </a:p>
        </p:txBody>
      </p:sp>
      <p:sp>
        <p:nvSpPr>
          <p:cNvPr id="15" name="Rectangle 14"/>
          <p:cNvSpPr/>
          <p:nvPr/>
        </p:nvSpPr>
        <p:spPr>
          <a:xfrm>
            <a:off x="10450024"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50024" y="0"/>
            <a:ext cx="1741670" cy="457200"/>
          </a:xfrm>
          <a:prstGeom prst="rect">
            <a:avLst/>
          </a:prstGeom>
          <a:noFill/>
        </p:spPr>
        <p:txBody>
          <a:bodyPr wrap="square" anchor="ctr" tIns="36576" bIns="36576">
            <a:spAutoFit/>
          </a:bodyPr>
          <a:lstStyle/>
          <a:p>
            <a:pPr algn="ctr"/>
            <a:r>
              <a:rPr sz="2400" b="0">
                <a:solidFill>
                  <a:srgbClr val="FFFFFF"/>
                </a:solidFill>
                <a:latin typeface="Calibri"/>
              </a:rPr>
              <a:t>Abschluss</a:t>
            </a:r>
          </a:p>
        </p:txBody>
      </p:sp>
      <p:pic>
        <p:nvPicPr>
          <p:cNvPr id="17" name="Picture 16" descr="Fragezeichen-Symbol"/>
          <p:cNvPicPr>
            <a:picLocks noChangeAspect="1"/>
          </p:cNvPicPr>
          <p:nvPr/>
        </p:nvPicPr>
        <p:blipFill>
          <a:blip r:embed="rId3"/>
          <a:stretch>
            <a:fillRect/>
          </a:stretch>
        </p:blipFill>
        <p:spPr>
          <a:xfrm>
            <a:off x="640080" y="731520"/>
            <a:ext cx="1234440" cy="1234440"/>
          </a:xfrm>
          <a:prstGeom prst="rect">
            <a:avLst/>
          </a:prstGeom>
        </p:spPr>
      </p:pic>
      <p:sp>
        <p:nvSpPr>
          <p:cNvPr id="18" name="Frage"/>
          <p:cNvSpPr txBox="1"/>
          <p:nvPr/>
        </p:nvSpPr>
        <p:spPr>
          <a:xfrm>
            <a:off x="2103120" y="685800"/>
            <a:ext cx="9601200" cy="1737360"/>
          </a:xfrm>
          <a:prstGeom prst="rect">
            <a:avLst/>
          </a:prstGeom>
          <a:noFill/>
        </p:spPr>
        <p:txBody>
          <a:bodyPr wrap="square" anchor="ctr" tIns="36576" bIns="36576">
            <a:spAutoFit/>
          </a:bodyPr>
          <a:lstStyle/>
          <a:p>
            <a:pPr algn="l"/>
            <a:r>
              <a:rPr sz="3600" b="1">
                <a:solidFill>
                  <a:srgbClr val="1F2A44"/>
                </a:solidFill>
                <a:latin typeface="Calibri"/>
              </a:rPr>
              <a:t>Wann muss eine Kündigung aus wichtigem Grund ausgesprochen werden?</a:t>
            </a:r>
          </a:p>
        </p:txBody>
      </p:sp>
      <p:sp>
        <p:nvSpPr>
          <p:cNvPr id="19" name="Rounded Rectangle 18"/>
          <p:cNvSpPr/>
          <p:nvPr/>
        </p:nvSpPr>
        <p:spPr>
          <a:xfrm>
            <a:off x="640080" y="2743200"/>
            <a:ext cx="5486400" cy="1188720"/>
          </a:xfrm>
          <a:prstGeom prst="roundRect">
            <a:avLst>
              <a:gd name="adj" fmla="val 12000"/>
            </a:avLst>
          </a:prstGeom>
          <a:solidFill>
            <a:srgbClr val="FFFFFF"/>
          </a:solidFill>
          <a:ln w="3175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22959" y="2994660"/>
            <a:ext cx="685800" cy="6858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800" b="1">
                <a:solidFill>
                  <a:srgbClr val="FFFFFF"/>
                </a:solidFill>
                <a:latin typeface="Calibri"/>
              </a:rPr>
              <a:t>A</a:t>
            </a:r>
          </a:p>
        </p:txBody>
      </p:sp>
      <p:sp>
        <p:nvSpPr>
          <p:cNvPr id="21" name="Option_A"/>
          <p:cNvSpPr txBox="1"/>
          <p:nvPr/>
        </p:nvSpPr>
        <p:spPr>
          <a:xfrm>
            <a:off x="1691639" y="2743200"/>
            <a:ext cx="4297680" cy="1188720"/>
          </a:xfrm>
          <a:prstGeom prst="rect">
            <a:avLst/>
          </a:prstGeom>
          <a:noFill/>
        </p:spPr>
        <p:txBody>
          <a:bodyPr wrap="square" anchor="ctr" tIns="36576" bIns="36576">
            <a:spAutoFit/>
          </a:bodyPr>
          <a:lstStyle/>
          <a:p>
            <a:pPr algn="l"/>
            <a:r>
              <a:rPr sz="2600" b="0">
                <a:solidFill>
                  <a:srgbClr val="1F2A44"/>
                </a:solidFill>
                <a:latin typeface="Calibri"/>
              </a:rPr>
              <a:t>Innerhalb von vier Wochen nach Kenntnis</a:t>
            </a:r>
          </a:p>
        </p:txBody>
      </p:sp>
      <p:sp>
        <p:nvSpPr>
          <p:cNvPr id="22" name="Rounded Rectangle 21"/>
          <p:cNvSpPr/>
          <p:nvPr/>
        </p:nvSpPr>
        <p:spPr>
          <a:xfrm>
            <a:off x="6309360" y="2743200"/>
            <a:ext cx="5486400" cy="1188720"/>
          </a:xfrm>
          <a:prstGeom prst="roundRect">
            <a:avLst>
              <a:gd name="adj" fmla="val 12000"/>
            </a:avLst>
          </a:prstGeom>
          <a:solidFill>
            <a:srgbClr val="FFFFFF"/>
          </a:solidFill>
          <a:ln w="3175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92240" y="2994660"/>
            <a:ext cx="685800" cy="6858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800" b="1">
                <a:solidFill>
                  <a:srgbClr val="FFFFFF"/>
                </a:solidFill>
                <a:latin typeface="Calibri"/>
              </a:rPr>
              <a:t>B</a:t>
            </a:r>
          </a:p>
        </p:txBody>
      </p:sp>
      <p:sp>
        <p:nvSpPr>
          <p:cNvPr id="24" name="Option_B"/>
          <p:cNvSpPr txBox="1"/>
          <p:nvPr/>
        </p:nvSpPr>
        <p:spPr>
          <a:xfrm>
            <a:off x="7360920" y="2743200"/>
            <a:ext cx="4297680" cy="1188720"/>
          </a:xfrm>
          <a:prstGeom prst="rect">
            <a:avLst/>
          </a:prstGeom>
          <a:noFill/>
        </p:spPr>
        <p:txBody>
          <a:bodyPr wrap="square" anchor="ctr" tIns="36576" bIns="36576">
            <a:spAutoFit/>
          </a:bodyPr>
          <a:lstStyle/>
          <a:p>
            <a:pPr algn="l"/>
            <a:r>
              <a:rPr sz="2600" b="0">
                <a:solidFill>
                  <a:srgbClr val="1F2A44"/>
                </a:solidFill>
                <a:latin typeface="Calibri"/>
              </a:rPr>
              <a:t>Innerhalb von zwei Wochen nach Kenntnis</a:t>
            </a:r>
          </a:p>
        </p:txBody>
      </p:sp>
      <p:sp>
        <p:nvSpPr>
          <p:cNvPr id="25" name="Rounded Rectangle 24"/>
          <p:cNvSpPr/>
          <p:nvPr/>
        </p:nvSpPr>
        <p:spPr>
          <a:xfrm>
            <a:off x="640080" y="4114800"/>
            <a:ext cx="5486400" cy="1188720"/>
          </a:xfrm>
          <a:prstGeom prst="roundRect">
            <a:avLst>
              <a:gd name="adj" fmla="val 12000"/>
            </a:avLst>
          </a:prstGeom>
          <a:solidFill>
            <a:srgbClr val="FFFFFF"/>
          </a:solidFill>
          <a:ln w="3175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22959" y="4366260"/>
            <a:ext cx="685800" cy="6858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800" b="1">
                <a:solidFill>
                  <a:srgbClr val="FFFFFF"/>
                </a:solidFill>
                <a:latin typeface="Calibri"/>
              </a:rPr>
              <a:t>C</a:t>
            </a:r>
          </a:p>
        </p:txBody>
      </p:sp>
      <p:sp>
        <p:nvSpPr>
          <p:cNvPr id="27" name="Option_C"/>
          <p:cNvSpPr txBox="1"/>
          <p:nvPr/>
        </p:nvSpPr>
        <p:spPr>
          <a:xfrm>
            <a:off x="1691639" y="4114800"/>
            <a:ext cx="4297680" cy="1188720"/>
          </a:xfrm>
          <a:prstGeom prst="rect">
            <a:avLst/>
          </a:prstGeom>
          <a:noFill/>
        </p:spPr>
        <p:txBody>
          <a:bodyPr wrap="square" anchor="ctr" tIns="36576" bIns="36576">
            <a:spAutoFit/>
          </a:bodyPr>
          <a:lstStyle/>
          <a:p>
            <a:pPr algn="l"/>
            <a:r>
              <a:rPr sz="2600" b="0">
                <a:solidFill>
                  <a:srgbClr val="1F2A44"/>
                </a:solidFill>
                <a:latin typeface="Calibri"/>
              </a:rPr>
              <a:t>Immer zum Monatsende</a:t>
            </a:r>
          </a:p>
        </p:txBody>
      </p:sp>
      <p:sp>
        <p:nvSpPr>
          <p:cNvPr id="28" name="Rounded Rectangle 27"/>
          <p:cNvSpPr/>
          <p:nvPr/>
        </p:nvSpPr>
        <p:spPr>
          <a:xfrm>
            <a:off x="6309360" y="4114800"/>
            <a:ext cx="5486400" cy="1188720"/>
          </a:xfrm>
          <a:prstGeom prst="roundRect">
            <a:avLst>
              <a:gd name="adj" fmla="val 12000"/>
            </a:avLst>
          </a:prstGeom>
          <a:solidFill>
            <a:srgbClr val="FFFFFF"/>
          </a:solidFill>
          <a:ln w="3175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492240" y="4366260"/>
            <a:ext cx="685800" cy="6858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800" b="1">
                <a:solidFill>
                  <a:srgbClr val="FFFFFF"/>
                </a:solidFill>
                <a:latin typeface="Calibri"/>
              </a:rPr>
              <a:t>D</a:t>
            </a:r>
          </a:p>
        </p:txBody>
      </p:sp>
      <p:sp>
        <p:nvSpPr>
          <p:cNvPr id="30" name="Option_D"/>
          <p:cNvSpPr txBox="1"/>
          <p:nvPr/>
        </p:nvSpPr>
        <p:spPr>
          <a:xfrm>
            <a:off x="7360920" y="4114800"/>
            <a:ext cx="4297680" cy="1188720"/>
          </a:xfrm>
          <a:prstGeom prst="rect">
            <a:avLst/>
          </a:prstGeom>
          <a:noFill/>
        </p:spPr>
        <p:txBody>
          <a:bodyPr wrap="square" anchor="ctr" tIns="36576" bIns="36576">
            <a:spAutoFit/>
          </a:bodyPr>
          <a:lstStyle/>
          <a:p>
            <a:pPr algn="l"/>
            <a:r>
              <a:rPr sz="2600" b="0">
                <a:solidFill>
                  <a:srgbClr val="1F2A44"/>
                </a:solidFill>
                <a:latin typeface="Calibri"/>
              </a:rPr>
              <a:t>Jederzeit</a:t>
            </a:r>
          </a:p>
        </p:txBody>
      </p:sp>
      <p:sp>
        <p:nvSpPr>
          <p:cNvPr id="31" name="Rounded Rectangle 30"/>
          <p:cNvSpPr/>
          <p:nvPr/>
        </p:nvSpPr>
        <p:spPr>
          <a:xfrm>
            <a:off x="502920" y="6327648"/>
            <a:ext cx="1344168" cy="420624"/>
          </a:xfrm>
          <a:prstGeom prst="roundRect">
            <a:avLst>
              <a:gd name="adj" fmla="val 4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2920" y="6327648"/>
            <a:ext cx="1344168" cy="420624"/>
          </a:xfrm>
          <a:prstGeom prst="rect">
            <a:avLst/>
          </a:prstGeom>
          <a:noFill/>
        </p:spPr>
        <p:txBody>
          <a:bodyPr wrap="square" anchor="ctr" tIns="36576" bIns="36576">
            <a:spAutoFit/>
          </a:bodyPr>
          <a:lstStyle/>
          <a:p>
            <a:pPr algn="ctr"/>
            <a:r>
              <a:rPr sz="2400" b="1">
                <a:solidFill>
                  <a:srgbClr val="FFFFFF"/>
                </a:solidFill>
                <a:latin typeface="Calibri"/>
              </a:rPr>
              <a:t>Plenum</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square" anchor="ctr" tIns="36576" bIns="36576">
            <a:spAutoFit/>
          </a:bodyPr>
          <a:lstStyle/>
          <a:p>
            <a:pPr algn="ctr"/>
            <a:r>
              <a:rPr sz="2400" b="0">
                <a:solidFill>
                  <a:srgbClr val="FFFFFF"/>
                </a:solidFill>
                <a:latin typeface="Calibri"/>
              </a:rPr>
              <a:t>Einstieg</a:t>
            </a:r>
          </a:p>
        </p:txBody>
      </p:sp>
      <p:sp>
        <p:nvSpPr>
          <p:cNvPr id="5" name="Rectangle 4"/>
          <p:cNvSpPr/>
          <p:nvPr/>
        </p:nvSpPr>
        <p:spPr>
          <a:xfrm>
            <a:off x="174167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1</a:t>
            </a:r>
          </a:p>
        </p:txBody>
      </p:sp>
      <p:sp>
        <p:nvSpPr>
          <p:cNvPr id="7" name="Rectangle 6"/>
          <p:cNvSpPr/>
          <p:nvPr/>
        </p:nvSpPr>
        <p:spPr>
          <a:xfrm>
            <a:off x="3483341"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3341"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2</a:t>
            </a:r>
          </a:p>
        </p:txBody>
      </p:sp>
      <p:sp>
        <p:nvSpPr>
          <p:cNvPr id="9" name="Rectangle 8"/>
          <p:cNvSpPr/>
          <p:nvPr/>
        </p:nvSpPr>
        <p:spPr>
          <a:xfrm>
            <a:off x="5225012"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25012" y="0"/>
            <a:ext cx="1741670" cy="457200"/>
          </a:xfrm>
          <a:prstGeom prst="rect">
            <a:avLst/>
          </a:prstGeom>
          <a:noFill/>
        </p:spPr>
        <p:txBody>
          <a:bodyPr wrap="square" anchor="ctr" tIns="36576" bIns="36576">
            <a:spAutoFit/>
          </a:bodyPr>
          <a:lstStyle/>
          <a:p>
            <a:pPr algn="ctr"/>
            <a:r>
              <a:rPr sz="2400" b="1">
                <a:solidFill>
                  <a:srgbClr val="1F2A44"/>
                </a:solidFill>
                <a:latin typeface="Calibri"/>
              </a:rPr>
              <a:t>Block 3</a:t>
            </a:r>
          </a:p>
        </p:txBody>
      </p:sp>
      <p:sp>
        <p:nvSpPr>
          <p:cNvPr id="11" name="Rectangle 10"/>
          <p:cNvSpPr/>
          <p:nvPr/>
        </p:nvSpPr>
        <p:spPr>
          <a:xfrm>
            <a:off x="6966682"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66682" y="0"/>
            <a:ext cx="1741670" cy="457200"/>
          </a:xfrm>
          <a:prstGeom prst="rect">
            <a:avLst/>
          </a:prstGeom>
          <a:noFill/>
        </p:spPr>
        <p:txBody>
          <a:bodyPr wrap="square" anchor="ctr" tIns="36576" bIns="36576">
            <a:spAutoFit/>
          </a:bodyPr>
          <a:lstStyle/>
          <a:p>
            <a:pPr algn="ctr"/>
            <a:r>
              <a:rPr sz="2400" b="0">
                <a:solidFill>
                  <a:srgbClr val="FFFFFF"/>
                </a:solidFill>
                <a:latin typeface="Calibri"/>
              </a:rPr>
              <a:t>Üben</a:t>
            </a:r>
          </a:p>
        </p:txBody>
      </p:sp>
      <p:sp>
        <p:nvSpPr>
          <p:cNvPr id="13" name="Rectangle 12"/>
          <p:cNvSpPr/>
          <p:nvPr/>
        </p:nvSpPr>
        <p:spPr>
          <a:xfrm>
            <a:off x="8708353"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8353" y="0"/>
            <a:ext cx="1741670" cy="457200"/>
          </a:xfrm>
          <a:prstGeom prst="rect">
            <a:avLst/>
          </a:prstGeom>
          <a:noFill/>
        </p:spPr>
        <p:txBody>
          <a:bodyPr wrap="square" anchor="ctr" tIns="36576" bIns="36576">
            <a:spAutoFit/>
          </a:bodyPr>
          <a:lstStyle/>
          <a:p>
            <a:pPr algn="ctr"/>
            <a:r>
              <a:rPr sz="2400" b="0">
                <a:solidFill>
                  <a:srgbClr val="FFFFFF"/>
                </a:solidFill>
                <a:latin typeface="Calibri"/>
              </a:rPr>
              <a:t>Besprechen</a:t>
            </a:r>
          </a:p>
        </p:txBody>
      </p:sp>
      <p:sp>
        <p:nvSpPr>
          <p:cNvPr id="15" name="Rectangle 14"/>
          <p:cNvSpPr/>
          <p:nvPr/>
        </p:nvSpPr>
        <p:spPr>
          <a:xfrm>
            <a:off x="10450024"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50024" y="0"/>
            <a:ext cx="1741670" cy="457200"/>
          </a:xfrm>
          <a:prstGeom prst="rect">
            <a:avLst/>
          </a:prstGeom>
          <a:noFill/>
        </p:spPr>
        <p:txBody>
          <a:bodyPr wrap="square" anchor="ctr" tIns="36576" bIns="36576">
            <a:spAutoFit/>
          </a:bodyPr>
          <a:lstStyle/>
          <a:p>
            <a:pPr algn="ctr"/>
            <a:r>
              <a:rPr sz="2400" b="0">
                <a:solidFill>
                  <a:srgbClr val="FFFFFF"/>
                </a:solidFill>
                <a:latin typeface="Calibri"/>
              </a:rPr>
              <a:t>Abschluss</a:t>
            </a:r>
          </a:p>
        </p:txBody>
      </p:sp>
      <p:sp>
        <p:nvSpPr>
          <p:cNvPr id="17" name="Antwortrahmen"/>
          <p:cNvSpPr/>
          <p:nvPr/>
        </p:nvSpPr>
        <p:spPr>
          <a:xfrm>
            <a:off x="411480" y="566928"/>
            <a:ext cx="11365992" cy="5669280"/>
          </a:xfrm>
          <a:prstGeom prst="rect">
            <a:avLst/>
          </a:prstGeom>
          <a:noFill/>
          <a:ln w="76200">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Haken: Antwortfolie"/>
          <p:cNvPicPr>
            <a:picLocks noChangeAspect="1"/>
          </p:cNvPicPr>
          <p:nvPr/>
        </p:nvPicPr>
        <p:blipFill>
          <a:blip r:embed="rId3"/>
          <a:stretch>
            <a:fillRect/>
          </a:stretch>
        </p:blipFill>
        <p:spPr>
          <a:xfrm>
            <a:off x="10972800" y="640080"/>
            <a:ext cx="685800" cy="685800"/>
          </a:xfrm>
          <a:prstGeom prst="rect">
            <a:avLst/>
          </a:prstGeom>
        </p:spPr>
      </p:pic>
      <p:sp>
        <p:nvSpPr>
          <p:cNvPr id="19" name="Titel"/>
          <p:cNvSpPr txBox="1"/>
          <p:nvPr/>
        </p:nvSpPr>
        <p:spPr>
          <a:xfrm>
            <a:off x="640080" y="594360"/>
            <a:ext cx="10241280" cy="822960"/>
          </a:xfrm>
          <a:prstGeom prst="rect">
            <a:avLst/>
          </a:prstGeom>
          <a:noFill/>
        </p:spPr>
        <p:txBody>
          <a:bodyPr wrap="square" anchor="ctr" tIns="36576" bIns="36576">
            <a:spAutoFit/>
          </a:bodyPr>
          <a:lstStyle/>
          <a:p>
            <a:pPr algn="l"/>
            <a:r>
              <a:rPr sz="4000" b="1">
                <a:solidFill>
                  <a:srgbClr val="1F2A44"/>
                </a:solidFill>
                <a:latin typeface="Calibri"/>
              </a:rPr>
              <a:t>Antwort B: zwei Wochen nach Kenntnis</a:t>
            </a:r>
          </a:p>
        </p:txBody>
      </p:sp>
      <p:sp>
        <p:nvSpPr>
          <p:cNvPr id="20" name="Antwort_1"/>
          <p:cNvSpPr/>
          <p:nvPr/>
        </p:nvSpPr>
        <p:spPr>
          <a:xfrm>
            <a:off x="822960" y="1737360"/>
            <a:ext cx="10515600" cy="2377440"/>
          </a:xfrm>
          <a:prstGeom prst="roundRect">
            <a:avLst/>
          </a:prstGeom>
          <a:solidFill>
            <a:srgbClr val="FFF0D1"/>
          </a:solidFill>
          <a:ln w="38100">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3400" b="1">
                <a:solidFill>
                  <a:srgbClr val="1F2A44"/>
                </a:solidFill>
                <a:latin typeface="Calibri"/>
              </a:rPr>
              <a:t>B</a:t>
            </a:r>
          </a:p>
          <a:p>
            <a:pPr algn="ctr">
              <a:spcBef>
                <a:spcPts val="1019"/>
              </a:spcBef>
            </a:pPr>
            <a:r>
              <a:rPr sz="3400" b="0">
                <a:solidFill>
                  <a:srgbClr val="1F2A44"/>
                </a:solidFill>
                <a:latin typeface="Calibri"/>
              </a:rPr>
              <a:t>Innerhalb von zwei Wochen, nachdem die Gründe bekannt wurden.</a:t>
            </a:r>
          </a:p>
        </p:txBody>
      </p:sp>
      <p:sp>
        <p:nvSpPr>
          <p:cNvPr id="21" name="TextBox 20"/>
          <p:cNvSpPr txBox="1"/>
          <p:nvPr/>
        </p:nvSpPr>
        <p:spPr>
          <a:xfrm>
            <a:off x="7589520" y="6327648"/>
            <a:ext cx="4114800" cy="420624"/>
          </a:xfrm>
          <a:prstGeom prst="rect">
            <a:avLst/>
          </a:prstGeom>
          <a:noFill/>
        </p:spPr>
        <p:txBody>
          <a:bodyPr wrap="square" anchor="ctr" tIns="36576" bIns="36576">
            <a:spAutoFit/>
          </a:bodyPr>
          <a:lstStyle/>
          <a:p>
            <a:pPr algn="r"/>
            <a:r>
              <a:rPr sz="2400" b="0">
                <a:solidFill>
                  <a:srgbClr val="4A5568"/>
                </a:solidFill>
                <a:latin typeface="Calibri"/>
              </a:rPr>
              <a:t>§ 22 Abs. 4 BBiG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square" anchor="ctr" tIns="36576" bIns="36576">
            <a:spAutoFit/>
          </a:bodyPr>
          <a:lstStyle/>
          <a:p>
            <a:pPr algn="ctr"/>
            <a:r>
              <a:rPr sz="2400" b="0">
                <a:solidFill>
                  <a:srgbClr val="FFFFFF"/>
                </a:solidFill>
                <a:latin typeface="Calibri"/>
              </a:rPr>
              <a:t>Einstieg</a:t>
            </a:r>
          </a:p>
        </p:txBody>
      </p:sp>
      <p:sp>
        <p:nvSpPr>
          <p:cNvPr id="5" name="Rectangle 4"/>
          <p:cNvSpPr/>
          <p:nvPr/>
        </p:nvSpPr>
        <p:spPr>
          <a:xfrm>
            <a:off x="174167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1</a:t>
            </a:r>
          </a:p>
        </p:txBody>
      </p:sp>
      <p:sp>
        <p:nvSpPr>
          <p:cNvPr id="7" name="Rectangle 6"/>
          <p:cNvSpPr/>
          <p:nvPr/>
        </p:nvSpPr>
        <p:spPr>
          <a:xfrm>
            <a:off x="3483341"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3341"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2</a:t>
            </a:r>
          </a:p>
        </p:txBody>
      </p:sp>
      <p:sp>
        <p:nvSpPr>
          <p:cNvPr id="9" name="Rectangle 8"/>
          <p:cNvSpPr/>
          <p:nvPr/>
        </p:nvSpPr>
        <p:spPr>
          <a:xfrm>
            <a:off x="5225012"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25012" y="0"/>
            <a:ext cx="1741670" cy="457200"/>
          </a:xfrm>
          <a:prstGeom prst="rect">
            <a:avLst/>
          </a:prstGeom>
          <a:noFill/>
        </p:spPr>
        <p:txBody>
          <a:bodyPr wrap="square" anchor="ctr" tIns="36576" bIns="36576">
            <a:spAutoFit/>
          </a:bodyPr>
          <a:lstStyle/>
          <a:p>
            <a:pPr algn="ctr"/>
            <a:r>
              <a:rPr sz="2400" b="1">
                <a:solidFill>
                  <a:srgbClr val="1F2A44"/>
                </a:solidFill>
                <a:latin typeface="Calibri"/>
              </a:rPr>
              <a:t>Block 3</a:t>
            </a:r>
          </a:p>
        </p:txBody>
      </p:sp>
      <p:sp>
        <p:nvSpPr>
          <p:cNvPr id="11" name="Rectangle 10"/>
          <p:cNvSpPr/>
          <p:nvPr/>
        </p:nvSpPr>
        <p:spPr>
          <a:xfrm>
            <a:off x="6966682"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66682" y="0"/>
            <a:ext cx="1741670" cy="457200"/>
          </a:xfrm>
          <a:prstGeom prst="rect">
            <a:avLst/>
          </a:prstGeom>
          <a:noFill/>
        </p:spPr>
        <p:txBody>
          <a:bodyPr wrap="square" anchor="ctr" tIns="36576" bIns="36576">
            <a:spAutoFit/>
          </a:bodyPr>
          <a:lstStyle/>
          <a:p>
            <a:pPr algn="ctr"/>
            <a:r>
              <a:rPr sz="2400" b="0">
                <a:solidFill>
                  <a:srgbClr val="FFFFFF"/>
                </a:solidFill>
                <a:latin typeface="Calibri"/>
              </a:rPr>
              <a:t>Üben</a:t>
            </a:r>
          </a:p>
        </p:txBody>
      </p:sp>
      <p:sp>
        <p:nvSpPr>
          <p:cNvPr id="13" name="Rectangle 12"/>
          <p:cNvSpPr/>
          <p:nvPr/>
        </p:nvSpPr>
        <p:spPr>
          <a:xfrm>
            <a:off x="8708353"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8353" y="0"/>
            <a:ext cx="1741670" cy="457200"/>
          </a:xfrm>
          <a:prstGeom prst="rect">
            <a:avLst/>
          </a:prstGeom>
          <a:noFill/>
        </p:spPr>
        <p:txBody>
          <a:bodyPr wrap="square" anchor="ctr" tIns="36576" bIns="36576">
            <a:spAutoFit/>
          </a:bodyPr>
          <a:lstStyle/>
          <a:p>
            <a:pPr algn="ctr"/>
            <a:r>
              <a:rPr sz="2400" b="0">
                <a:solidFill>
                  <a:srgbClr val="FFFFFF"/>
                </a:solidFill>
                <a:latin typeface="Calibri"/>
              </a:rPr>
              <a:t>Besprechen</a:t>
            </a:r>
          </a:p>
        </p:txBody>
      </p:sp>
      <p:sp>
        <p:nvSpPr>
          <p:cNvPr id="15" name="Rectangle 14"/>
          <p:cNvSpPr/>
          <p:nvPr/>
        </p:nvSpPr>
        <p:spPr>
          <a:xfrm>
            <a:off x="10450024"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50024" y="0"/>
            <a:ext cx="1741670" cy="457200"/>
          </a:xfrm>
          <a:prstGeom prst="rect">
            <a:avLst/>
          </a:prstGeom>
          <a:noFill/>
        </p:spPr>
        <p:txBody>
          <a:bodyPr wrap="square" anchor="ctr" tIns="36576" bIns="36576">
            <a:spAutoFit/>
          </a:bodyPr>
          <a:lstStyle/>
          <a:p>
            <a:pPr algn="ctr"/>
            <a:r>
              <a:rPr sz="2400" b="0">
                <a:solidFill>
                  <a:srgbClr val="FFFFFF"/>
                </a:solidFill>
                <a:latin typeface="Calibri"/>
              </a:rPr>
              <a:t>Abschluss</a:t>
            </a:r>
          </a:p>
        </p:txBody>
      </p:sp>
      <p:pic>
        <p:nvPicPr>
          <p:cNvPr id="17" name="Picture 16" descr="Fragezeichen-Symbol"/>
          <p:cNvPicPr>
            <a:picLocks noChangeAspect="1"/>
          </p:cNvPicPr>
          <p:nvPr/>
        </p:nvPicPr>
        <p:blipFill>
          <a:blip r:embed="rId3"/>
          <a:stretch>
            <a:fillRect/>
          </a:stretch>
        </p:blipFill>
        <p:spPr>
          <a:xfrm>
            <a:off x="640080" y="914400"/>
            <a:ext cx="1234440" cy="1234440"/>
          </a:xfrm>
          <a:prstGeom prst="rect">
            <a:avLst/>
          </a:prstGeom>
        </p:spPr>
      </p:pic>
      <p:sp>
        <p:nvSpPr>
          <p:cNvPr id="18" name="Frage"/>
          <p:cNvSpPr txBox="1"/>
          <p:nvPr/>
        </p:nvSpPr>
        <p:spPr>
          <a:xfrm>
            <a:off x="2103120" y="914400"/>
            <a:ext cx="9601200" cy="3566160"/>
          </a:xfrm>
          <a:prstGeom prst="rect">
            <a:avLst/>
          </a:prstGeom>
          <a:noFill/>
        </p:spPr>
        <p:txBody>
          <a:bodyPr wrap="square" anchor="ctr" tIns="36576" bIns="36576">
            <a:spAutoFit/>
          </a:bodyPr>
          <a:lstStyle/>
          <a:p>
            <a:pPr algn="l"/>
            <a:r>
              <a:rPr sz="4000" b="1">
                <a:solidFill>
                  <a:srgbClr val="1F2A44"/>
                </a:solidFill>
                <a:latin typeface="Calibri"/>
              </a:rPr>
              <a:t>Wer muss die Ausbildungsmittel stellen – und was darf das den Azubi kosten?</a:t>
            </a:r>
          </a:p>
        </p:txBody>
      </p:sp>
      <p:sp>
        <p:nvSpPr>
          <p:cNvPr id="19" name="Rounded Rectangle 18"/>
          <p:cNvSpPr/>
          <p:nvPr/>
        </p:nvSpPr>
        <p:spPr>
          <a:xfrm>
            <a:off x="502920" y="6327648"/>
            <a:ext cx="1188720" cy="420624"/>
          </a:xfrm>
          <a:prstGeom prst="roundRect">
            <a:avLst>
              <a:gd name="adj" fmla="val 4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6327648"/>
            <a:ext cx="1188720" cy="420624"/>
          </a:xfrm>
          <a:prstGeom prst="rect">
            <a:avLst/>
          </a:prstGeom>
          <a:noFill/>
        </p:spPr>
        <p:txBody>
          <a:bodyPr wrap="square" anchor="ctr" tIns="36576" bIns="36576">
            <a:spAutoFit/>
          </a:bodyPr>
          <a:lstStyle/>
          <a:p>
            <a:pPr algn="ctr"/>
            <a:r>
              <a:rPr sz="2400" b="1">
                <a:solidFill>
                  <a:srgbClr val="FFFFFF"/>
                </a:solidFill>
                <a:latin typeface="Calibri"/>
              </a:rPr>
              <a:t>Zuruf</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square" anchor="ctr" tIns="36576" bIns="36576">
            <a:spAutoFit/>
          </a:bodyPr>
          <a:lstStyle/>
          <a:p>
            <a:pPr algn="ctr"/>
            <a:r>
              <a:rPr sz="2400" b="0">
                <a:solidFill>
                  <a:srgbClr val="FFFFFF"/>
                </a:solidFill>
                <a:latin typeface="Calibri"/>
              </a:rPr>
              <a:t>Einstieg</a:t>
            </a:r>
          </a:p>
        </p:txBody>
      </p:sp>
      <p:sp>
        <p:nvSpPr>
          <p:cNvPr id="5" name="Rectangle 4"/>
          <p:cNvSpPr/>
          <p:nvPr/>
        </p:nvSpPr>
        <p:spPr>
          <a:xfrm>
            <a:off x="174167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1</a:t>
            </a:r>
          </a:p>
        </p:txBody>
      </p:sp>
      <p:sp>
        <p:nvSpPr>
          <p:cNvPr id="7" name="Rectangle 6"/>
          <p:cNvSpPr/>
          <p:nvPr/>
        </p:nvSpPr>
        <p:spPr>
          <a:xfrm>
            <a:off x="3483341"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3341"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2</a:t>
            </a:r>
          </a:p>
        </p:txBody>
      </p:sp>
      <p:sp>
        <p:nvSpPr>
          <p:cNvPr id="9" name="Rectangle 8"/>
          <p:cNvSpPr/>
          <p:nvPr/>
        </p:nvSpPr>
        <p:spPr>
          <a:xfrm>
            <a:off x="5225012"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25012" y="0"/>
            <a:ext cx="1741670" cy="457200"/>
          </a:xfrm>
          <a:prstGeom prst="rect">
            <a:avLst/>
          </a:prstGeom>
          <a:noFill/>
        </p:spPr>
        <p:txBody>
          <a:bodyPr wrap="square" anchor="ctr" tIns="36576" bIns="36576">
            <a:spAutoFit/>
          </a:bodyPr>
          <a:lstStyle/>
          <a:p>
            <a:pPr algn="ctr"/>
            <a:r>
              <a:rPr sz="2400" b="1">
                <a:solidFill>
                  <a:srgbClr val="1F2A44"/>
                </a:solidFill>
                <a:latin typeface="Calibri"/>
              </a:rPr>
              <a:t>Block 3</a:t>
            </a:r>
          </a:p>
        </p:txBody>
      </p:sp>
      <p:sp>
        <p:nvSpPr>
          <p:cNvPr id="11" name="Rectangle 10"/>
          <p:cNvSpPr/>
          <p:nvPr/>
        </p:nvSpPr>
        <p:spPr>
          <a:xfrm>
            <a:off x="6966682"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66682" y="0"/>
            <a:ext cx="1741670" cy="457200"/>
          </a:xfrm>
          <a:prstGeom prst="rect">
            <a:avLst/>
          </a:prstGeom>
          <a:noFill/>
        </p:spPr>
        <p:txBody>
          <a:bodyPr wrap="square" anchor="ctr" tIns="36576" bIns="36576">
            <a:spAutoFit/>
          </a:bodyPr>
          <a:lstStyle/>
          <a:p>
            <a:pPr algn="ctr"/>
            <a:r>
              <a:rPr sz="2400" b="0">
                <a:solidFill>
                  <a:srgbClr val="FFFFFF"/>
                </a:solidFill>
                <a:latin typeface="Calibri"/>
              </a:rPr>
              <a:t>Üben</a:t>
            </a:r>
          </a:p>
        </p:txBody>
      </p:sp>
      <p:sp>
        <p:nvSpPr>
          <p:cNvPr id="13" name="Rectangle 12"/>
          <p:cNvSpPr/>
          <p:nvPr/>
        </p:nvSpPr>
        <p:spPr>
          <a:xfrm>
            <a:off x="8708353"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8353" y="0"/>
            <a:ext cx="1741670" cy="457200"/>
          </a:xfrm>
          <a:prstGeom prst="rect">
            <a:avLst/>
          </a:prstGeom>
          <a:noFill/>
        </p:spPr>
        <p:txBody>
          <a:bodyPr wrap="square" anchor="ctr" tIns="36576" bIns="36576">
            <a:spAutoFit/>
          </a:bodyPr>
          <a:lstStyle/>
          <a:p>
            <a:pPr algn="ctr"/>
            <a:r>
              <a:rPr sz="2400" b="0">
                <a:solidFill>
                  <a:srgbClr val="FFFFFF"/>
                </a:solidFill>
                <a:latin typeface="Calibri"/>
              </a:rPr>
              <a:t>Besprechen</a:t>
            </a:r>
          </a:p>
        </p:txBody>
      </p:sp>
      <p:sp>
        <p:nvSpPr>
          <p:cNvPr id="15" name="Rectangle 14"/>
          <p:cNvSpPr/>
          <p:nvPr/>
        </p:nvSpPr>
        <p:spPr>
          <a:xfrm>
            <a:off x="10450024"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50024" y="0"/>
            <a:ext cx="1741670" cy="457200"/>
          </a:xfrm>
          <a:prstGeom prst="rect">
            <a:avLst/>
          </a:prstGeom>
          <a:noFill/>
        </p:spPr>
        <p:txBody>
          <a:bodyPr wrap="square" anchor="ctr" tIns="36576" bIns="36576">
            <a:spAutoFit/>
          </a:bodyPr>
          <a:lstStyle/>
          <a:p>
            <a:pPr algn="ctr"/>
            <a:r>
              <a:rPr sz="2400" b="0">
                <a:solidFill>
                  <a:srgbClr val="FFFFFF"/>
                </a:solidFill>
                <a:latin typeface="Calibri"/>
              </a:rPr>
              <a:t>Abschluss</a:t>
            </a:r>
          </a:p>
        </p:txBody>
      </p:sp>
      <p:sp>
        <p:nvSpPr>
          <p:cNvPr id="17" name="Antwortrahmen"/>
          <p:cNvSpPr/>
          <p:nvPr/>
        </p:nvSpPr>
        <p:spPr>
          <a:xfrm>
            <a:off x="411480" y="566928"/>
            <a:ext cx="11365992" cy="5669280"/>
          </a:xfrm>
          <a:prstGeom prst="rect">
            <a:avLst/>
          </a:prstGeom>
          <a:noFill/>
          <a:ln w="76200">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Haken: Antwortfolie"/>
          <p:cNvPicPr>
            <a:picLocks noChangeAspect="1"/>
          </p:cNvPicPr>
          <p:nvPr/>
        </p:nvPicPr>
        <p:blipFill>
          <a:blip r:embed="rId3"/>
          <a:stretch>
            <a:fillRect/>
          </a:stretch>
        </p:blipFill>
        <p:spPr>
          <a:xfrm>
            <a:off x="10972800" y="640080"/>
            <a:ext cx="685800" cy="685800"/>
          </a:xfrm>
          <a:prstGeom prst="rect">
            <a:avLst/>
          </a:prstGeom>
        </p:spPr>
      </p:pic>
      <p:sp>
        <p:nvSpPr>
          <p:cNvPr id="19" name="Titel"/>
          <p:cNvSpPr txBox="1"/>
          <p:nvPr/>
        </p:nvSpPr>
        <p:spPr>
          <a:xfrm>
            <a:off x="640080" y="594360"/>
            <a:ext cx="10241280" cy="822960"/>
          </a:xfrm>
          <a:prstGeom prst="rect">
            <a:avLst/>
          </a:prstGeom>
          <a:noFill/>
        </p:spPr>
        <p:txBody>
          <a:bodyPr wrap="square" anchor="ctr" tIns="36576" bIns="36576">
            <a:spAutoFit/>
          </a:bodyPr>
          <a:lstStyle/>
          <a:p>
            <a:pPr algn="l"/>
            <a:r>
              <a:rPr sz="4000" b="1">
                <a:solidFill>
                  <a:srgbClr val="1F2A44"/>
                </a:solidFill>
                <a:latin typeface="Calibri"/>
              </a:rPr>
              <a:t>Pflichten: Azubi und Ausbildende</a:t>
            </a:r>
          </a:p>
        </p:txBody>
      </p:sp>
      <p:sp>
        <p:nvSpPr>
          <p:cNvPr id="20" name="Azubi_Kopf"/>
          <p:cNvSpPr/>
          <p:nvPr/>
        </p:nvSpPr>
        <p:spPr>
          <a:xfrm>
            <a:off x="640080" y="1600200"/>
            <a:ext cx="5349240" cy="7315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r>
              <a:rPr sz="3200" b="1">
                <a:solidFill>
                  <a:srgbClr val="FFFFFF"/>
                </a:solidFill>
                <a:latin typeface="Calibri"/>
              </a:rPr>
              <a:t>Azubi (§ 13)</a:t>
            </a:r>
          </a:p>
        </p:txBody>
      </p:sp>
      <p:sp>
        <p:nvSpPr>
          <p:cNvPr id="21" name="Azubi_Liste"/>
          <p:cNvSpPr txBox="1"/>
          <p:nvPr/>
        </p:nvSpPr>
        <p:spPr>
          <a:xfrm>
            <a:off x="640080" y="2468880"/>
            <a:ext cx="5349240" cy="4114800"/>
          </a:xfrm>
          <a:prstGeom prst="rect">
            <a:avLst/>
          </a:prstGeom>
          <a:noFill/>
        </p:spPr>
        <p:txBody>
          <a:bodyPr wrap="square" anchor="t" tIns="36576" bIns="36576">
            <a:spAutoFit/>
          </a:bodyPr>
          <a:lstStyle/>
          <a:p>
            <a:pPr algn="l"/>
            <a:r>
              <a:rPr sz="2800" b="1">
                <a:solidFill>
                  <a:srgbClr val="F5A623"/>
                </a:solidFill>
                <a:latin typeface="Calibri"/>
              </a:rPr>
              <a:t>•  </a:t>
            </a:r>
            <a:r>
              <a:rPr sz="2800" b="0">
                <a:solidFill>
                  <a:srgbClr val="1F2A44"/>
                </a:solidFill>
                <a:latin typeface="Calibri"/>
              </a:rPr>
              <a:t>lernen, sorgfältig arbeiten</a:t>
            </a:r>
          </a:p>
          <a:p>
            <a:pPr algn="l">
              <a:spcBef>
                <a:spcPts val="979"/>
              </a:spcBef>
            </a:pPr>
            <a:r>
              <a:rPr sz="2800" b="1">
                <a:solidFill>
                  <a:srgbClr val="F5A623"/>
                </a:solidFill>
                <a:latin typeface="Calibri"/>
              </a:rPr>
              <a:t>•  </a:t>
            </a:r>
            <a:r>
              <a:rPr sz="2800" b="0">
                <a:solidFill>
                  <a:srgbClr val="1F2A44"/>
                </a:solidFill>
                <a:latin typeface="Calibri"/>
              </a:rPr>
              <a:t>Weisungen befolgen, Ordnung beachten</a:t>
            </a:r>
          </a:p>
          <a:p>
            <a:pPr algn="l">
              <a:spcBef>
                <a:spcPts val="979"/>
              </a:spcBef>
            </a:pPr>
            <a:r>
              <a:rPr sz="2800" b="1">
                <a:solidFill>
                  <a:srgbClr val="F5A623"/>
                </a:solidFill>
                <a:latin typeface="Calibri"/>
              </a:rPr>
              <a:t>•  </a:t>
            </a:r>
            <a:r>
              <a:rPr sz="2800" b="0">
                <a:solidFill>
                  <a:srgbClr val="1F2A44"/>
                </a:solidFill>
                <a:latin typeface="Calibri"/>
              </a:rPr>
              <a:t>Geheimnisse wahren</a:t>
            </a:r>
          </a:p>
          <a:p>
            <a:pPr algn="l">
              <a:spcBef>
                <a:spcPts val="979"/>
              </a:spcBef>
            </a:pPr>
            <a:r>
              <a:rPr sz="2800" b="1">
                <a:solidFill>
                  <a:srgbClr val="F5A623"/>
                </a:solidFill>
                <a:latin typeface="Calibri"/>
              </a:rPr>
              <a:t>•  </a:t>
            </a:r>
            <a:r>
              <a:rPr sz="2800" b="0">
                <a:solidFill>
                  <a:srgbClr val="1F2A44"/>
                </a:solidFill>
                <a:latin typeface="Calibri"/>
              </a:rPr>
              <a:t>Ausbildungsnachweis führen</a:t>
            </a:r>
          </a:p>
        </p:txBody>
      </p:sp>
      <p:sp>
        <p:nvSpPr>
          <p:cNvPr id="22" name="Ausbildende_Kopf"/>
          <p:cNvSpPr/>
          <p:nvPr/>
        </p:nvSpPr>
        <p:spPr>
          <a:xfrm>
            <a:off x="6172200" y="1600200"/>
            <a:ext cx="5349240" cy="7315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r>
              <a:rPr sz="3200" b="1">
                <a:solidFill>
                  <a:srgbClr val="1F2A44"/>
                </a:solidFill>
                <a:latin typeface="Calibri"/>
              </a:rPr>
              <a:t>Ausbildende (§§ 14–17)</a:t>
            </a:r>
          </a:p>
        </p:txBody>
      </p:sp>
      <p:sp>
        <p:nvSpPr>
          <p:cNvPr id="23" name="Ausbildende_Liste"/>
          <p:cNvSpPr txBox="1"/>
          <p:nvPr/>
        </p:nvSpPr>
        <p:spPr>
          <a:xfrm>
            <a:off x="6172200" y="2468880"/>
            <a:ext cx="5349240" cy="4114800"/>
          </a:xfrm>
          <a:prstGeom prst="rect">
            <a:avLst/>
          </a:prstGeom>
          <a:noFill/>
        </p:spPr>
        <p:txBody>
          <a:bodyPr wrap="square" anchor="t" tIns="36576" bIns="36576">
            <a:spAutoFit/>
          </a:bodyPr>
          <a:lstStyle/>
          <a:p>
            <a:pPr algn="l"/>
            <a:r>
              <a:rPr sz="2800" b="1">
                <a:solidFill>
                  <a:srgbClr val="F5A623"/>
                </a:solidFill>
                <a:latin typeface="Calibri"/>
              </a:rPr>
              <a:t>•  </a:t>
            </a:r>
            <a:r>
              <a:rPr sz="2800" b="0">
                <a:solidFill>
                  <a:srgbClr val="1F2A44"/>
                </a:solidFill>
                <a:latin typeface="Calibri"/>
              </a:rPr>
              <a:t>Ausbildungsziel vermitteln</a:t>
            </a:r>
          </a:p>
          <a:p>
            <a:pPr algn="l">
              <a:spcBef>
                <a:spcPts val="979"/>
              </a:spcBef>
            </a:pPr>
            <a:r>
              <a:rPr sz="2800" b="1">
                <a:solidFill>
                  <a:srgbClr val="F5A623"/>
                </a:solidFill>
                <a:latin typeface="Calibri"/>
              </a:rPr>
              <a:t>•  </a:t>
            </a:r>
            <a:r>
              <a:rPr sz="2800" b="0">
                <a:solidFill>
                  <a:srgbClr val="1F2A44"/>
                </a:solidFill>
                <a:latin typeface="Calibri"/>
              </a:rPr>
              <a:t>Ausbildungsmittel kostenlos stellen</a:t>
            </a:r>
          </a:p>
          <a:p>
            <a:pPr algn="l">
              <a:spcBef>
                <a:spcPts val="979"/>
              </a:spcBef>
            </a:pPr>
            <a:r>
              <a:rPr sz="2800" b="1">
                <a:solidFill>
                  <a:srgbClr val="F5A623"/>
                </a:solidFill>
                <a:latin typeface="Calibri"/>
              </a:rPr>
              <a:t>•  </a:t>
            </a:r>
            <a:r>
              <a:rPr sz="2800" b="0">
                <a:solidFill>
                  <a:srgbClr val="1F2A44"/>
                </a:solidFill>
                <a:latin typeface="Calibri"/>
              </a:rPr>
              <a:t>freistellen (Schule, Prüfungen)</a:t>
            </a:r>
          </a:p>
          <a:p>
            <a:pPr algn="l">
              <a:spcBef>
                <a:spcPts val="979"/>
              </a:spcBef>
            </a:pPr>
            <a:r>
              <a:rPr sz="2800" b="1">
                <a:solidFill>
                  <a:srgbClr val="F5A623"/>
                </a:solidFill>
                <a:latin typeface="Calibri"/>
              </a:rPr>
              <a:t>•  </a:t>
            </a:r>
            <a:r>
              <a:rPr sz="2800" b="0">
                <a:solidFill>
                  <a:srgbClr val="1F2A44"/>
                </a:solidFill>
                <a:latin typeface="Calibri"/>
              </a:rPr>
              <a:t>Zeugnis ausstellen, Vergütung zahlen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23" grpId="0" animBg="1"/>
    </p:bldLst>
  </p:timing>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square" anchor="ctr" tIns="36576" bIns="36576">
            <a:spAutoFit/>
          </a:bodyPr>
          <a:lstStyle/>
          <a:p>
            <a:pPr algn="ctr"/>
            <a:r>
              <a:rPr sz="2400" b="0">
                <a:solidFill>
                  <a:srgbClr val="FFFFFF"/>
                </a:solidFill>
                <a:latin typeface="Calibri"/>
              </a:rPr>
              <a:t>Einstieg</a:t>
            </a:r>
          </a:p>
        </p:txBody>
      </p:sp>
      <p:sp>
        <p:nvSpPr>
          <p:cNvPr id="5" name="Rectangle 4"/>
          <p:cNvSpPr/>
          <p:nvPr/>
        </p:nvSpPr>
        <p:spPr>
          <a:xfrm>
            <a:off x="174167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1</a:t>
            </a:r>
          </a:p>
        </p:txBody>
      </p:sp>
      <p:sp>
        <p:nvSpPr>
          <p:cNvPr id="7" name="Rectangle 6"/>
          <p:cNvSpPr/>
          <p:nvPr/>
        </p:nvSpPr>
        <p:spPr>
          <a:xfrm>
            <a:off x="3483341"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3341"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2</a:t>
            </a:r>
          </a:p>
        </p:txBody>
      </p:sp>
      <p:sp>
        <p:nvSpPr>
          <p:cNvPr id="9" name="Rectangle 8"/>
          <p:cNvSpPr/>
          <p:nvPr/>
        </p:nvSpPr>
        <p:spPr>
          <a:xfrm>
            <a:off x="5225012"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25012"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3</a:t>
            </a:r>
          </a:p>
        </p:txBody>
      </p:sp>
      <p:sp>
        <p:nvSpPr>
          <p:cNvPr id="11" name="Rectangle 10"/>
          <p:cNvSpPr/>
          <p:nvPr/>
        </p:nvSpPr>
        <p:spPr>
          <a:xfrm>
            <a:off x="6966682"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66682" y="0"/>
            <a:ext cx="1741670" cy="457200"/>
          </a:xfrm>
          <a:prstGeom prst="rect">
            <a:avLst/>
          </a:prstGeom>
          <a:noFill/>
        </p:spPr>
        <p:txBody>
          <a:bodyPr wrap="square" anchor="ctr" tIns="36576" bIns="36576">
            <a:spAutoFit/>
          </a:bodyPr>
          <a:lstStyle/>
          <a:p>
            <a:pPr algn="ctr"/>
            <a:r>
              <a:rPr sz="2400" b="1">
                <a:solidFill>
                  <a:srgbClr val="1F2A44"/>
                </a:solidFill>
                <a:latin typeface="Calibri"/>
              </a:rPr>
              <a:t>Üben</a:t>
            </a:r>
          </a:p>
        </p:txBody>
      </p:sp>
      <p:sp>
        <p:nvSpPr>
          <p:cNvPr id="13" name="Rectangle 12"/>
          <p:cNvSpPr/>
          <p:nvPr/>
        </p:nvSpPr>
        <p:spPr>
          <a:xfrm>
            <a:off x="8708353"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8353" y="0"/>
            <a:ext cx="1741670" cy="457200"/>
          </a:xfrm>
          <a:prstGeom prst="rect">
            <a:avLst/>
          </a:prstGeom>
          <a:noFill/>
        </p:spPr>
        <p:txBody>
          <a:bodyPr wrap="square" anchor="ctr" tIns="36576" bIns="36576">
            <a:spAutoFit/>
          </a:bodyPr>
          <a:lstStyle/>
          <a:p>
            <a:pPr algn="ctr"/>
            <a:r>
              <a:rPr sz="2400" b="0">
                <a:solidFill>
                  <a:srgbClr val="FFFFFF"/>
                </a:solidFill>
                <a:latin typeface="Calibri"/>
              </a:rPr>
              <a:t>Besprechen</a:t>
            </a:r>
          </a:p>
        </p:txBody>
      </p:sp>
      <p:sp>
        <p:nvSpPr>
          <p:cNvPr id="15" name="Rectangle 14"/>
          <p:cNvSpPr/>
          <p:nvPr/>
        </p:nvSpPr>
        <p:spPr>
          <a:xfrm>
            <a:off x="10450024"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50024" y="0"/>
            <a:ext cx="1741670" cy="457200"/>
          </a:xfrm>
          <a:prstGeom prst="rect">
            <a:avLst/>
          </a:prstGeom>
          <a:noFill/>
        </p:spPr>
        <p:txBody>
          <a:bodyPr wrap="square" anchor="ctr" tIns="36576" bIns="36576">
            <a:spAutoFit/>
          </a:bodyPr>
          <a:lstStyle/>
          <a:p>
            <a:pPr algn="ctr"/>
            <a:r>
              <a:rPr sz="2400" b="0">
                <a:solidFill>
                  <a:srgbClr val="FFFFFF"/>
                </a:solidFill>
                <a:latin typeface="Calibri"/>
              </a:rPr>
              <a:t>Abschluss</a:t>
            </a:r>
          </a:p>
        </p:txBody>
      </p:sp>
      <p:sp>
        <p:nvSpPr>
          <p:cNvPr id="17" name="Titel"/>
          <p:cNvSpPr txBox="1"/>
          <p:nvPr/>
        </p:nvSpPr>
        <p:spPr>
          <a:xfrm>
            <a:off x="548640" y="530352"/>
            <a:ext cx="11155680" cy="868680"/>
          </a:xfrm>
          <a:prstGeom prst="rect">
            <a:avLst/>
          </a:prstGeom>
          <a:noFill/>
        </p:spPr>
        <p:txBody>
          <a:bodyPr wrap="square" anchor="ctr" tIns="36576" bIns="36576">
            <a:spAutoFit/>
          </a:bodyPr>
          <a:lstStyle/>
          <a:p>
            <a:pPr algn="l"/>
            <a:r>
              <a:rPr sz="4000" b="1">
                <a:solidFill>
                  <a:srgbClr val="1F2A44"/>
                </a:solidFill>
                <a:latin typeface="Calibri"/>
              </a:rPr>
              <a:t>Jetzt seid ihr dran</a:t>
            </a:r>
          </a:p>
        </p:txBody>
      </p:sp>
      <p:sp>
        <p:nvSpPr>
          <p:cNvPr id="18" name="Rectangle 17"/>
          <p:cNvSpPr/>
          <p:nvPr/>
        </p:nvSpPr>
        <p:spPr>
          <a:xfrm>
            <a:off x="640080" y="1371600"/>
            <a:ext cx="1463040" cy="6400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 y="1600200"/>
            <a:ext cx="4626864" cy="4626864"/>
          </a:xfrm>
          <a:prstGeom prst="rect">
            <a:avLst/>
          </a:prstGeom>
          <a:solidFill>
            <a:srgbClr val="FFFFFF"/>
          </a:solidFill>
          <a:ln w="19050">
            <a:solidFill>
              <a:srgbClr val="B8C0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QR-Code zur Übungsseite der Klasse"/>
          <p:cNvPicPr>
            <a:picLocks noChangeAspect="1"/>
          </p:cNvPicPr>
          <p:nvPr/>
        </p:nvPicPr>
        <p:blipFill>
          <a:blip r:embed="rId3"/>
          <a:stretch>
            <a:fillRect/>
          </a:stretch>
        </p:blipFill>
        <p:spPr>
          <a:xfrm>
            <a:off x="850392" y="1810512"/>
            <a:ext cx="4206240" cy="4206240"/>
          </a:xfrm>
          <a:prstGeom prst="rect">
            <a:avLst/>
          </a:prstGeom>
        </p:spPr>
      </p:pic>
      <p:sp>
        <p:nvSpPr>
          <p:cNvPr id="21" name="Rectangle 20"/>
          <p:cNvSpPr/>
          <p:nvPr/>
        </p:nvSpPr>
        <p:spPr>
          <a:xfrm>
            <a:off x="5394960" y="1600200"/>
            <a:ext cx="6126480" cy="77724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394960" y="1600200"/>
            <a:ext cx="109728" cy="77724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URL"/>
          <p:cNvSpPr txBox="1"/>
          <p:nvPr/>
        </p:nvSpPr>
        <p:spPr>
          <a:xfrm>
            <a:off x="5623560" y="1600200"/>
            <a:ext cx="5852160" cy="777240"/>
          </a:xfrm>
          <a:prstGeom prst="rect">
            <a:avLst/>
          </a:prstGeom>
          <a:noFill/>
        </p:spPr>
        <p:txBody>
          <a:bodyPr wrap="square" anchor="ctr" tIns="36576" bIns="36576">
            <a:spAutoFit/>
          </a:bodyPr>
          <a:lstStyle/>
          <a:p>
            <a:pPr algn="l"/>
            <a:r>
              <a:rPr sz="2800" b="1">
                <a:solidFill>
                  <a:srgbClr val="FFFFFF"/>
                </a:solidFill>
                <a:latin typeface="Calibri"/>
              </a:rPr>
              <a:t>yasinbenx.github.io/azubi-vertrag</a:t>
            </a:r>
          </a:p>
        </p:txBody>
      </p:sp>
      <p:sp>
        <p:nvSpPr>
          <p:cNvPr id="24" name="Rectangle 23"/>
          <p:cNvSpPr/>
          <p:nvPr/>
        </p:nvSpPr>
        <p:spPr>
          <a:xfrm>
            <a:off x="5394960" y="2606040"/>
            <a:ext cx="6126480" cy="91440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394960" y="2606040"/>
            <a:ext cx="109728" cy="914400"/>
          </a:xfrm>
          <a:prstGeom prst="rect">
            <a:avLst/>
          </a:prstGeom>
          <a:solidFill>
            <a:srgbClr val="34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23560" y="2606040"/>
            <a:ext cx="4023360" cy="914400"/>
          </a:xfrm>
          <a:prstGeom prst="rect">
            <a:avLst/>
          </a:prstGeom>
          <a:noFill/>
        </p:spPr>
        <p:txBody>
          <a:bodyPr wrap="square" anchor="ctr" tIns="36576" bIns="36576">
            <a:spAutoFit/>
          </a:bodyPr>
          <a:lstStyle/>
          <a:p>
            <a:pPr algn="l"/>
            <a:r>
              <a:rPr sz="2800" b="1">
                <a:solidFill>
                  <a:srgbClr val="1F2A44"/>
                </a:solidFill>
                <a:latin typeface="Calibri"/>
              </a:rPr>
              <a:t>1  Rote/Grüne Karte</a:t>
            </a:r>
          </a:p>
        </p:txBody>
      </p:sp>
      <p:sp>
        <p:nvSpPr>
          <p:cNvPr id="27" name="TextBox 26"/>
          <p:cNvSpPr txBox="1"/>
          <p:nvPr/>
        </p:nvSpPr>
        <p:spPr>
          <a:xfrm>
            <a:off x="9509760" y="2606040"/>
            <a:ext cx="1965960" cy="914400"/>
          </a:xfrm>
          <a:prstGeom prst="rect">
            <a:avLst/>
          </a:prstGeom>
          <a:noFill/>
        </p:spPr>
        <p:txBody>
          <a:bodyPr wrap="square" anchor="ctr" tIns="36576" bIns="36576">
            <a:spAutoFit/>
          </a:bodyPr>
          <a:lstStyle/>
          <a:p>
            <a:pPr algn="r"/>
            <a:r>
              <a:rPr sz="2800" b="0">
                <a:solidFill>
                  <a:srgbClr val="1F2A44"/>
                </a:solidFill>
                <a:latin typeface="Calibri"/>
              </a:rPr>
              <a:t>allein</a:t>
            </a:r>
          </a:p>
        </p:txBody>
      </p:sp>
      <p:sp>
        <p:nvSpPr>
          <p:cNvPr id="28" name="Rectangle 27"/>
          <p:cNvSpPr/>
          <p:nvPr/>
        </p:nvSpPr>
        <p:spPr>
          <a:xfrm>
            <a:off x="5394960" y="3630168"/>
            <a:ext cx="6126480" cy="91440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394960" y="3630168"/>
            <a:ext cx="109728" cy="914400"/>
          </a:xfrm>
          <a:prstGeom prst="rect">
            <a:avLst/>
          </a:prstGeom>
          <a:solidFill>
            <a:srgbClr val="34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623560" y="3630168"/>
            <a:ext cx="4023360" cy="914400"/>
          </a:xfrm>
          <a:prstGeom prst="rect">
            <a:avLst/>
          </a:prstGeom>
          <a:noFill/>
        </p:spPr>
        <p:txBody>
          <a:bodyPr wrap="square" anchor="ctr" tIns="36576" bIns="36576">
            <a:spAutoFit/>
          </a:bodyPr>
          <a:lstStyle/>
          <a:p>
            <a:pPr algn="l"/>
            <a:r>
              <a:rPr sz="2800" b="1">
                <a:solidFill>
                  <a:srgbClr val="1F2A44"/>
                </a:solidFill>
                <a:latin typeface="Calibri"/>
              </a:rPr>
              <a:t>2  Vertrags-Detektiv</a:t>
            </a:r>
          </a:p>
        </p:txBody>
      </p:sp>
      <p:sp>
        <p:nvSpPr>
          <p:cNvPr id="31" name="TextBox 30"/>
          <p:cNvSpPr txBox="1"/>
          <p:nvPr/>
        </p:nvSpPr>
        <p:spPr>
          <a:xfrm>
            <a:off x="9509760" y="3630168"/>
            <a:ext cx="1965960" cy="914400"/>
          </a:xfrm>
          <a:prstGeom prst="rect">
            <a:avLst/>
          </a:prstGeom>
          <a:noFill/>
        </p:spPr>
        <p:txBody>
          <a:bodyPr wrap="square" anchor="ctr" tIns="36576" bIns="36576">
            <a:spAutoFit/>
          </a:bodyPr>
          <a:lstStyle/>
          <a:p>
            <a:pPr algn="r"/>
            <a:r>
              <a:rPr sz="2800" b="0">
                <a:solidFill>
                  <a:srgbClr val="1F2A44"/>
                </a:solidFill>
                <a:latin typeface="Calibri"/>
              </a:rPr>
              <a:t>zu zweit</a:t>
            </a:r>
          </a:p>
        </p:txBody>
      </p:sp>
      <p:sp>
        <p:nvSpPr>
          <p:cNvPr id="32" name="Rectangle 31"/>
          <p:cNvSpPr/>
          <p:nvPr/>
        </p:nvSpPr>
        <p:spPr>
          <a:xfrm>
            <a:off x="5394960" y="4654296"/>
            <a:ext cx="6126480" cy="91440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394960" y="4654296"/>
            <a:ext cx="109728" cy="914400"/>
          </a:xfrm>
          <a:prstGeom prst="rect">
            <a:avLst/>
          </a:prstGeom>
          <a:solidFill>
            <a:srgbClr val="34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623560" y="4654296"/>
            <a:ext cx="4023360" cy="914400"/>
          </a:xfrm>
          <a:prstGeom prst="rect">
            <a:avLst/>
          </a:prstGeom>
          <a:noFill/>
        </p:spPr>
        <p:txBody>
          <a:bodyPr wrap="square" anchor="ctr" tIns="36576" bIns="36576">
            <a:spAutoFit/>
          </a:bodyPr>
          <a:lstStyle/>
          <a:p>
            <a:pPr algn="l"/>
            <a:r>
              <a:rPr sz="2800" b="1">
                <a:solidFill>
                  <a:srgbClr val="1F2A44"/>
                </a:solidFill>
                <a:latin typeface="Calibri"/>
              </a:rPr>
              <a:t>3  IHK-Fälle A bis C</a:t>
            </a:r>
          </a:p>
        </p:txBody>
      </p:sp>
      <p:sp>
        <p:nvSpPr>
          <p:cNvPr id="35" name="TextBox 34"/>
          <p:cNvSpPr txBox="1"/>
          <p:nvPr/>
        </p:nvSpPr>
        <p:spPr>
          <a:xfrm>
            <a:off x="9509760" y="4654296"/>
            <a:ext cx="1965960" cy="914400"/>
          </a:xfrm>
          <a:prstGeom prst="rect">
            <a:avLst/>
          </a:prstGeom>
          <a:noFill/>
        </p:spPr>
        <p:txBody>
          <a:bodyPr wrap="square" anchor="ctr" tIns="36576" bIns="36576">
            <a:spAutoFit/>
          </a:bodyPr>
          <a:lstStyle/>
          <a:p>
            <a:pPr algn="r"/>
            <a:r>
              <a:rPr sz="2800" b="0">
                <a:solidFill>
                  <a:srgbClr val="1F2A44"/>
                </a:solidFill>
                <a:latin typeface="Calibri"/>
              </a:rPr>
              <a:t>in Gruppen</a:t>
            </a:r>
          </a:p>
        </p:txBody>
      </p:sp>
      <p:sp>
        <p:nvSpPr>
          <p:cNvPr id="36" name="Rectangle 35"/>
          <p:cNvSpPr/>
          <p:nvPr/>
        </p:nvSpPr>
        <p:spPr>
          <a:xfrm>
            <a:off x="5394960" y="5669280"/>
            <a:ext cx="6126480" cy="594360"/>
          </a:xfrm>
          <a:prstGeom prst="rect">
            <a:avLst/>
          </a:prstGeom>
          <a:solidFill>
            <a:srgbClr val="FFF0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623560" y="5669280"/>
            <a:ext cx="5852160" cy="594360"/>
          </a:xfrm>
          <a:prstGeom prst="rect">
            <a:avLst/>
          </a:prstGeom>
          <a:noFill/>
        </p:spPr>
        <p:txBody>
          <a:bodyPr wrap="square" anchor="ctr" tIns="36576" bIns="36576">
            <a:spAutoFit/>
          </a:bodyPr>
          <a:lstStyle/>
          <a:p>
            <a:pPr algn="l"/>
            <a:r>
              <a:rPr sz="2800" b="1">
                <a:solidFill>
                  <a:srgbClr val="1F2A44"/>
                </a:solidFill>
                <a:latin typeface="Calibri"/>
              </a:rPr>
              <a:t>Kein Handy? Schaut zu zweit mit.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square" anchor="ctr" tIns="36576" bIns="36576">
            <a:spAutoFit/>
          </a:bodyPr>
          <a:lstStyle/>
          <a:p>
            <a:pPr algn="ctr"/>
            <a:r>
              <a:rPr sz="2400" b="0">
                <a:solidFill>
                  <a:srgbClr val="FFFFFF"/>
                </a:solidFill>
                <a:latin typeface="Calibri"/>
              </a:rPr>
              <a:t>Einstieg</a:t>
            </a:r>
          </a:p>
        </p:txBody>
      </p:sp>
      <p:sp>
        <p:nvSpPr>
          <p:cNvPr id="5" name="Rectangle 4"/>
          <p:cNvSpPr/>
          <p:nvPr/>
        </p:nvSpPr>
        <p:spPr>
          <a:xfrm>
            <a:off x="174167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1</a:t>
            </a:r>
          </a:p>
        </p:txBody>
      </p:sp>
      <p:sp>
        <p:nvSpPr>
          <p:cNvPr id="7" name="Rectangle 6"/>
          <p:cNvSpPr/>
          <p:nvPr/>
        </p:nvSpPr>
        <p:spPr>
          <a:xfrm>
            <a:off x="3483341"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3341"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2</a:t>
            </a:r>
          </a:p>
        </p:txBody>
      </p:sp>
      <p:sp>
        <p:nvSpPr>
          <p:cNvPr id="9" name="Rectangle 8"/>
          <p:cNvSpPr/>
          <p:nvPr/>
        </p:nvSpPr>
        <p:spPr>
          <a:xfrm>
            <a:off x="5225012"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25012"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3</a:t>
            </a:r>
          </a:p>
        </p:txBody>
      </p:sp>
      <p:sp>
        <p:nvSpPr>
          <p:cNvPr id="11" name="Rectangle 10"/>
          <p:cNvSpPr/>
          <p:nvPr/>
        </p:nvSpPr>
        <p:spPr>
          <a:xfrm>
            <a:off x="6966682"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66682" y="0"/>
            <a:ext cx="1741670" cy="457200"/>
          </a:xfrm>
          <a:prstGeom prst="rect">
            <a:avLst/>
          </a:prstGeom>
          <a:noFill/>
        </p:spPr>
        <p:txBody>
          <a:bodyPr wrap="square" anchor="ctr" tIns="36576" bIns="36576">
            <a:spAutoFit/>
          </a:bodyPr>
          <a:lstStyle/>
          <a:p>
            <a:pPr algn="ctr"/>
            <a:r>
              <a:rPr sz="2400" b="1">
                <a:solidFill>
                  <a:srgbClr val="1F2A44"/>
                </a:solidFill>
                <a:latin typeface="Calibri"/>
              </a:rPr>
              <a:t>Üben</a:t>
            </a:r>
          </a:p>
        </p:txBody>
      </p:sp>
      <p:sp>
        <p:nvSpPr>
          <p:cNvPr id="13" name="Rectangle 12"/>
          <p:cNvSpPr/>
          <p:nvPr/>
        </p:nvSpPr>
        <p:spPr>
          <a:xfrm>
            <a:off x="8708353"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8353" y="0"/>
            <a:ext cx="1741670" cy="457200"/>
          </a:xfrm>
          <a:prstGeom prst="rect">
            <a:avLst/>
          </a:prstGeom>
          <a:noFill/>
        </p:spPr>
        <p:txBody>
          <a:bodyPr wrap="square" anchor="ctr" tIns="36576" bIns="36576">
            <a:spAutoFit/>
          </a:bodyPr>
          <a:lstStyle/>
          <a:p>
            <a:pPr algn="ctr"/>
            <a:r>
              <a:rPr sz="2400" b="0">
                <a:solidFill>
                  <a:srgbClr val="FFFFFF"/>
                </a:solidFill>
                <a:latin typeface="Calibri"/>
              </a:rPr>
              <a:t>Besprechen</a:t>
            </a:r>
          </a:p>
        </p:txBody>
      </p:sp>
      <p:sp>
        <p:nvSpPr>
          <p:cNvPr id="15" name="Rectangle 14"/>
          <p:cNvSpPr/>
          <p:nvPr/>
        </p:nvSpPr>
        <p:spPr>
          <a:xfrm>
            <a:off x="10450024"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50024" y="0"/>
            <a:ext cx="1741670" cy="457200"/>
          </a:xfrm>
          <a:prstGeom prst="rect">
            <a:avLst/>
          </a:prstGeom>
          <a:noFill/>
        </p:spPr>
        <p:txBody>
          <a:bodyPr wrap="square" anchor="ctr" tIns="36576" bIns="36576">
            <a:spAutoFit/>
          </a:bodyPr>
          <a:lstStyle/>
          <a:p>
            <a:pPr algn="ctr"/>
            <a:r>
              <a:rPr sz="2400" b="0">
                <a:solidFill>
                  <a:srgbClr val="FFFFFF"/>
                </a:solidFill>
                <a:latin typeface="Calibri"/>
              </a:rPr>
              <a:t>Abschluss</a:t>
            </a:r>
          </a:p>
        </p:txBody>
      </p:sp>
      <p:sp>
        <p:nvSpPr>
          <p:cNvPr id="17" name="Titel"/>
          <p:cNvSpPr txBox="1"/>
          <p:nvPr/>
        </p:nvSpPr>
        <p:spPr>
          <a:xfrm>
            <a:off x="548640" y="530352"/>
            <a:ext cx="11155680" cy="868680"/>
          </a:xfrm>
          <a:prstGeom prst="rect">
            <a:avLst/>
          </a:prstGeom>
          <a:noFill/>
        </p:spPr>
        <p:txBody>
          <a:bodyPr wrap="square" anchor="ctr" tIns="36576" bIns="36576">
            <a:spAutoFit/>
          </a:bodyPr>
          <a:lstStyle/>
          <a:p>
            <a:pPr algn="l"/>
            <a:r>
              <a:rPr sz="4000" b="1">
                <a:solidFill>
                  <a:srgbClr val="1F2A44"/>
                </a:solidFill>
                <a:latin typeface="Calibri"/>
              </a:rPr>
              <a:t>Aufgabe 1: Rote/Grüne Karte</a:t>
            </a:r>
          </a:p>
        </p:txBody>
      </p:sp>
      <p:sp>
        <p:nvSpPr>
          <p:cNvPr id="18" name="Rectangle 17"/>
          <p:cNvSpPr/>
          <p:nvPr/>
        </p:nvSpPr>
        <p:spPr>
          <a:xfrm>
            <a:off x="640080" y="1371600"/>
            <a:ext cx="1463040" cy="6400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1691640"/>
            <a:ext cx="10881360" cy="1737360"/>
          </a:xfrm>
          <a:prstGeom prst="rect">
            <a:avLst/>
          </a:prstGeom>
          <a:noFill/>
        </p:spPr>
        <p:txBody>
          <a:bodyPr wrap="square" anchor="t" tIns="36576" bIns="36576">
            <a:spAutoFit/>
          </a:bodyPr>
          <a:lstStyle/>
          <a:p>
            <a:pPr algn="l"/>
            <a:r>
              <a:rPr sz="3000" b="0">
                <a:solidFill>
                  <a:srgbClr val="1F2A44"/>
                </a:solidFill>
                <a:latin typeface="Calibri"/>
              </a:rPr>
              <a:t>10 Aussagen, eine pro Bildschirm: „Stimmt“ oder „Stimmt nicht“ tippen, danach die Lösung lesen.</a:t>
            </a:r>
          </a:p>
        </p:txBody>
      </p:sp>
      <p:sp>
        <p:nvSpPr>
          <p:cNvPr id="20" name="Rounded Rectangle 19"/>
          <p:cNvSpPr/>
          <p:nvPr/>
        </p:nvSpPr>
        <p:spPr>
          <a:xfrm>
            <a:off x="640080" y="3520440"/>
            <a:ext cx="3520440" cy="1554480"/>
          </a:xfrm>
          <a:prstGeom prst="roundRect">
            <a:avLst>
              <a:gd name="adj" fmla="val 1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3566160"/>
            <a:ext cx="3520440" cy="457200"/>
          </a:xfrm>
          <a:prstGeom prst="rect">
            <a:avLst/>
          </a:prstGeom>
          <a:noFill/>
        </p:spPr>
        <p:txBody>
          <a:bodyPr wrap="square" anchor="t" tIns="36576" bIns="36576">
            <a:spAutoFit/>
          </a:bodyPr>
          <a:lstStyle/>
          <a:p>
            <a:pPr algn="ctr"/>
            <a:r>
              <a:rPr sz="2400" b="1">
                <a:solidFill>
                  <a:srgbClr val="FFFFFF"/>
                </a:solidFill>
                <a:latin typeface="Calibri"/>
              </a:rPr>
              <a:t>Sozialform</a:t>
            </a:r>
          </a:p>
        </p:txBody>
      </p:sp>
      <p:sp>
        <p:nvSpPr>
          <p:cNvPr id="22" name="TextBox 21"/>
          <p:cNvSpPr txBox="1"/>
          <p:nvPr/>
        </p:nvSpPr>
        <p:spPr>
          <a:xfrm>
            <a:off x="640080" y="4023360"/>
            <a:ext cx="3520440" cy="1005840"/>
          </a:xfrm>
          <a:prstGeom prst="rect">
            <a:avLst/>
          </a:prstGeom>
          <a:noFill/>
        </p:spPr>
        <p:txBody>
          <a:bodyPr wrap="square" anchor="ctr" tIns="36576" bIns="36576">
            <a:spAutoFit/>
          </a:bodyPr>
          <a:lstStyle/>
          <a:p>
            <a:pPr algn="ctr"/>
            <a:r>
              <a:rPr sz="3200" b="1">
                <a:solidFill>
                  <a:srgbClr val="FFFFFF"/>
                </a:solidFill>
                <a:latin typeface="Calibri"/>
              </a:rPr>
              <a:t>Einzelarbeit</a:t>
            </a:r>
          </a:p>
        </p:txBody>
      </p:sp>
      <p:sp>
        <p:nvSpPr>
          <p:cNvPr id="23" name="Rounded Rectangle 22"/>
          <p:cNvSpPr/>
          <p:nvPr/>
        </p:nvSpPr>
        <p:spPr>
          <a:xfrm>
            <a:off x="4343400" y="3520440"/>
            <a:ext cx="3520440" cy="1554480"/>
          </a:xfrm>
          <a:prstGeom prst="roundRect">
            <a:avLst>
              <a:gd name="adj" fmla="val 10000"/>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43400" y="3566160"/>
            <a:ext cx="3520440" cy="457200"/>
          </a:xfrm>
          <a:prstGeom prst="rect">
            <a:avLst/>
          </a:prstGeom>
          <a:noFill/>
        </p:spPr>
        <p:txBody>
          <a:bodyPr wrap="square" anchor="t" tIns="36576" bIns="36576">
            <a:spAutoFit/>
          </a:bodyPr>
          <a:lstStyle/>
          <a:p>
            <a:pPr algn="ctr"/>
            <a:r>
              <a:rPr sz="2400" b="1">
                <a:solidFill>
                  <a:srgbClr val="1F2A44"/>
                </a:solidFill>
                <a:latin typeface="Calibri"/>
              </a:rPr>
              <a:t>Zeit</a:t>
            </a:r>
          </a:p>
        </p:txBody>
      </p:sp>
      <p:sp>
        <p:nvSpPr>
          <p:cNvPr id="25" name="TextBox 24"/>
          <p:cNvSpPr txBox="1"/>
          <p:nvPr/>
        </p:nvSpPr>
        <p:spPr>
          <a:xfrm>
            <a:off x="4343400" y="4023360"/>
            <a:ext cx="3520440" cy="1005840"/>
          </a:xfrm>
          <a:prstGeom prst="rect">
            <a:avLst/>
          </a:prstGeom>
          <a:noFill/>
        </p:spPr>
        <p:txBody>
          <a:bodyPr wrap="square" anchor="ctr" tIns="36576" bIns="36576">
            <a:spAutoFit/>
          </a:bodyPr>
          <a:lstStyle/>
          <a:p>
            <a:pPr algn="ctr"/>
            <a:r>
              <a:rPr sz="3200" b="1">
                <a:solidFill>
                  <a:srgbClr val="1F2A44"/>
                </a:solidFill>
                <a:latin typeface="Calibri"/>
              </a:rPr>
              <a:t>3 Minuten</a:t>
            </a:r>
          </a:p>
        </p:txBody>
      </p:sp>
      <p:sp>
        <p:nvSpPr>
          <p:cNvPr id="26" name="Rounded Rectangle 25"/>
          <p:cNvSpPr/>
          <p:nvPr/>
        </p:nvSpPr>
        <p:spPr>
          <a:xfrm>
            <a:off x="8046719" y="3520440"/>
            <a:ext cx="3520440" cy="1554480"/>
          </a:xfrm>
          <a:prstGeom prst="roundRect">
            <a:avLst>
              <a:gd name="adj" fmla="val 10000"/>
            </a:avLst>
          </a:prstGeom>
          <a:solidFill>
            <a:srgbClr val="34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6719" y="3566160"/>
            <a:ext cx="3520440" cy="457200"/>
          </a:xfrm>
          <a:prstGeom prst="rect">
            <a:avLst/>
          </a:prstGeom>
          <a:noFill/>
        </p:spPr>
        <p:txBody>
          <a:bodyPr wrap="square" anchor="t" tIns="36576" bIns="36576">
            <a:spAutoFit/>
          </a:bodyPr>
          <a:lstStyle/>
          <a:p>
            <a:pPr algn="ctr"/>
            <a:r>
              <a:rPr sz="2400" b="1">
                <a:solidFill>
                  <a:srgbClr val="FFFFFF"/>
                </a:solidFill>
                <a:latin typeface="Calibri"/>
              </a:rPr>
              <a:t>Hilfsmittel</a:t>
            </a:r>
          </a:p>
        </p:txBody>
      </p:sp>
      <p:sp>
        <p:nvSpPr>
          <p:cNvPr id="28" name="TextBox 27"/>
          <p:cNvSpPr txBox="1"/>
          <p:nvPr/>
        </p:nvSpPr>
        <p:spPr>
          <a:xfrm>
            <a:off x="8046719" y="4023360"/>
            <a:ext cx="3520440" cy="1005840"/>
          </a:xfrm>
          <a:prstGeom prst="rect">
            <a:avLst/>
          </a:prstGeom>
          <a:noFill/>
        </p:spPr>
        <p:txBody>
          <a:bodyPr wrap="square" anchor="ctr" tIns="36576" bIns="36576">
            <a:spAutoFit/>
          </a:bodyPr>
          <a:lstStyle/>
          <a:p>
            <a:pPr algn="ctr"/>
            <a:r>
              <a:rPr sz="3200" b="1">
                <a:solidFill>
                  <a:srgbClr val="FFFFFF"/>
                </a:solidFill>
                <a:latin typeface="Calibri"/>
              </a:rPr>
              <a:t>Merkblatt</a:t>
            </a:r>
          </a:p>
        </p:txBody>
      </p:sp>
      <p:sp>
        <p:nvSpPr>
          <p:cNvPr id="29" name="Rectangle 28"/>
          <p:cNvSpPr/>
          <p:nvPr/>
        </p:nvSpPr>
        <p:spPr>
          <a:xfrm>
            <a:off x="640080" y="5257800"/>
            <a:ext cx="10881360" cy="914400"/>
          </a:xfrm>
          <a:prstGeom prst="rect">
            <a:avLst/>
          </a:prstGeom>
          <a:solidFill>
            <a:srgbClr val="FFF0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40080" y="5257800"/>
            <a:ext cx="109728" cy="9144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5257800"/>
            <a:ext cx="10515600" cy="914400"/>
          </a:xfrm>
          <a:prstGeom prst="rect">
            <a:avLst/>
          </a:prstGeom>
          <a:noFill/>
        </p:spPr>
        <p:txBody>
          <a:bodyPr wrap="square" anchor="ctr" tIns="36576" bIns="36576">
            <a:spAutoFit/>
          </a:bodyPr>
          <a:lstStyle/>
          <a:p>
            <a:pPr algn="l"/>
            <a:r>
              <a:rPr sz="2600" b="1">
                <a:solidFill>
                  <a:srgbClr val="1F2A44"/>
                </a:solidFill>
                <a:latin typeface="Calibri"/>
              </a:rPr>
              <a:t>Fertig? </a:t>
            </a:r>
            <a:r>
              <a:rPr sz="2600" b="0">
                <a:solidFill>
                  <a:srgbClr val="1F2A44"/>
                </a:solidFill>
                <a:latin typeface="Calibri"/>
              </a:rPr>
              <a:t>Aufgabe 2 beginnen.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square" anchor="ctr" tIns="36576" bIns="36576">
            <a:spAutoFit/>
          </a:bodyPr>
          <a:lstStyle/>
          <a:p>
            <a:pPr algn="ctr"/>
            <a:r>
              <a:rPr sz="2400" b="0">
                <a:solidFill>
                  <a:srgbClr val="FFFFFF"/>
                </a:solidFill>
                <a:latin typeface="Calibri"/>
              </a:rPr>
              <a:t>Einstieg</a:t>
            </a:r>
          </a:p>
        </p:txBody>
      </p:sp>
      <p:sp>
        <p:nvSpPr>
          <p:cNvPr id="5" name="Rectangle 4"/>
          <p:cNvSpPr/>
          <p:nvPr/>
        </p:nvSpPr>
        <p:spPr>
          <a:xfrm>
            <a:off x="174167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1</a:t>
            </a:r>
          </a:p>
        </p:txBody>
      </p:sp>
      <p:sp>
        <p:nvSpPr>
          <p:cNvPr id="7" name="Rectangle 6"/>
          <p:cNvSpPr/>
          <p:nvPr/>
        </p:nvSpPr>
        <p:spPr>
          <a:xfrm>
            <a:off x="3483341"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3341"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2</a:t>
            </a:r>
          </a:p>
        </p:txBody>
      </p:sp>
      <p:sp>
        <p:nvSpPr>
          <p:cNvPr id="9" name="Rectangle 8"/>
          <p:cNvSpPr/>
          <p:nvPr/>
        </p:nvSpPr>
        <p:spPr>
          <a:xfrm>
            <a:off x="5225012"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25012"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3</a:t>
            </a:r>
          </a:p>
        </p:txBody>
      </p:sp>
      <p:sp>
        <p:nvSpPr>
          <p:cNvPr id="11" name="Rectangle 10"/>
          <p:cNvSpPr/>
          <p:nvPr/>
        </p:nvSpPr>
        <p:spPr>
          <a:xfrm>
            <a:off x="6966682"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66682" y="0"/>
            <a:ext cx="1741670" cy="457200"/>
          </a:xfrm>
          <a:prstGeom prst="rect">
            <a:avLst/>
          </a:prstGeom>
          <a:noFill/>
        </p:spPr>
        <p:txBody>
          <a:bodyPr wrap="square" anchor="ctr" tIns="36576" bIns="36576">
            <a:spAutoFit/>
          </a:bodyPr>
          <a:lstStyle/>
          <a:p>
            <a:pPr algn="ctr"/>
            <a:r>
              <a:rPr sz="2400" b="1">
                <a:solidFill>
                  <a:srgbClr val="1F2A44"/>
                </a:solidFill>
                <a:latin typeface="Calibri"/>
              </a:rPr>
              <a:t>Üben</a:t>
            </a:r>
          </a:p>
        </p:txBody>
      </p:sp>
      <p:sp>
        <p:nvSpPr>
          <p:cNvPr id="13" name="Rectangle 12"/>
          <p:cNvSpPr/>
          <p:nvPr/>
        </p:nvSpPr>
        <p:spPr>
          <a:xfrm>
            <a:off x="8708353"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8353" y="0"/>
            <a:ext cx="1741670" cy="457200"/>
          </a:xfrm>
          <a:prstGeom prst="rect">
            <a:avLst/>
          </a:prstGeom>
          <a:noFill/>
        </p:spPr>
        <p:txBody>
          <a:bodyPr wrap="square" anchor="ctr" tIns="36576" bIns="36576">
            <a:spAutoFit/>
          </a:bodyPr>
          <a:lstStyle/>
          <a:p>
            <a:pPr algn="ctr"/>
            <a:r>
              <a:rPr sz="2400" b="0">
                <a:solidFill>
                  <a:srgbClr val="FFFFFF"/>
                </a:solidFill>
                <a:latin typeface="Calibri"/>
              </a:rPr>
              <a:t>Besprechen</a:t>
            </a:r>
          </a:p>
        </p:txBody>
      </p:sp>
      <p:sp>
        <p:nvSpPr>
          <p:cNvPr id="15" name="Rectangle 14"/>
          <p:cNvSpPr/>
          <p:nvPr/>
        </p:nvSpPr>
        <p:spPr>
          <a:xfrm>
            <a:off x="10450024"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50024" y="0"/>
            <a:ext cx="1741670" cy="457200"/>
          </a:xfrm>
          <a:prstGeom prst="rect">
            <a:avLst/>
          </a:prstGeom>
          <a:noFill/>
        </p:spPr>
        <p:txBody>
          <a:bodyPr wrap="square" anchor="ctr" tIns="36576" bIns="36576">
            <a:spAutoFit/>
          </a:bodyPr>
          <a:lstStyle/>
          <a:p>
            <a:pPr algn="ctr"/>
            <a:r>
              <a:rPr sz="2400" b="0">
                <a:solidFill>
                  <a:srgbClr val="FFFFFF"/>
                </a:solidFill>
                <a:latin typeface="Calibri"/>
              </a:rPr>
              <a:t>Abschluss</a:t>
            </a:r>
          </a:p>
        </p:txBody>
      </p:sp>
      <p:sp>
        <p:nvSpPr>
          <p:cNvPr id="17" name="Titel"/>
          <p:cNvSpPr txBox="1"/>
          <p:nvPr/>
        </p:nvSpPr>
        <p:spPr>
          <a:xfrm>
            <a:off x="548640" y="530352"/>
            <a:ext cx="11155680" cy="868680"/>
          </a:xfrm>
          <a:prstGeom prst="rect">
            <a:avLst/>
          </a:prstGeom>
          <a:noFill/>
        </p:spPr>
        <p:txBody>
          <a:bodyPr wrap="square" anchor="ctr" tIns="36576" bIns="36576">
            <a:spAutoFit/>
          </a:bodyPr>
          <a:lstStyle/>
          <a:p>
            <a:pPr algn="l"/>
            <a:r>
              <a:rPr sz="4000" b="1">
                <a:solidFill>
                  <a:srgbClr val="1F2A44"/>
                </a:solidFill>
                <a:latin typeface="Calibri"/>
              </a:rPr>
              <a:t>Aufgabe 2: Vertrags-Detektiv</a:t>
            </a:r>
          </a:p>
        </p:txBody>
      </p:sp>
      <p:sp>
        <p:nvSpPr>
          <p:cNvPr id="18" name="Rectangle 17"/>
          <p:cNvSpPr/>
          <p:nvPr/>
        </p:nvSpPr>
        <p:spPr>
          <a:xfrm>
            <a:off x="640080" y="1371600"/>
            <a:ext cx="1463040" cy="6400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1691640"/>
            <a:ext cx="10881360" cy="1737360"/>
          </a:xfrm>
          <a:prstGeom prst="rect">
            <a:avLst/>
          </a:prstGeom>
          <a:noFill/>
        </p:spPr>
        <p:txBody>
          <a:bodyPr wrap="square" anchor="t" tIns="36576" bIns="36576">
            <a:spAutoFit/>
          </a:bodyPr>
          <a:lstStyle/>
          <a:p>
            <a:pPr algn="l"/>
            <a:r>
              <a:rPr sz="3000" b="0">
                <a:solidFill>
                  <a:srgbClr val="1F2A44"/>
                </a:solidFill>
                <a:latin typeface="Calibri"/>
              </a:rPr>
              <a:t>Lest den Vertragsauszug. Tippt bis zu 5 Zeilen mit Fehlern an, prüft und begründet jeden Fehler mit der passenden Regel.</a:t>
            </a:r>
          </a:p>
        </p:txBody>
      </p:sp>
      <p:sp>
        <p:nvSpPr>
          <p:cNvPr id="20" name="Rounded Rectangle 19"/>
          <p:cNvSpPr/>
          <p:nvPr/>
        </p:nvSpPr>
        <p:spPr>
          <a:xfrm>
            <a:off x="640080" y="3520440"/>
            <a:ext cx="3520440" cy="1554480"/>
          </a:xfrm>
          <a:prstGeom prst="roundRect">
            <a:avLst>
              <a:gd name="adj" fmla="val 1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3566160"/>
            <a:ext cx="3520440" cy="457200"/>
          </a:xfrm>
          <a:prstGeom prst="rect">
            <a:avLst/>
          </a:prstGeom>
          <a:noFill/>
        </p:spPr>
        <p:txBody>
          <a:bodyPr wrap="square" anchor="t" tIns="36576" bIns="36576">
            <a:spAutoFit/>
          </a:bodyPr>
          <a:lstStyle/>
          <a:p>
            <a:pPr algn="ctr"/>
            <a:r>
              <a:rPr sz="2400" b="1">
                <a:solidFill>
                  <a:srgbClr val="FFFFFF"/>
                </a:solidFill>
                <a:latin typeface="Calibri"/>
              </a:rPr>
              <a:t>Sozialform</a:t>
            </a:r>
          </a:p>
        </p:txBody>
      </p:sp>
      <p:sp>
        <p:nvSpPr>
          <p:cNvPr id="22" name="TextBox 21"/>
          <p:cNvSpPr txBox="1"/>
          <p:nvPr/>
        </p:nvSpPr>
        <p:spPr>
          <a:xfrm>
            <a:off x="640080" y="4023360"/>
            <a:ext cx="3520440" cy="1005840"/>
          </a:xfrm>
          <a:prstGeom prst="rect">
            <a:avLst/>
          </a:prstGeom>
          <a:noFill/>
        </p:spPr>
        <p:txBody>
          <a:bodyPr wrap="square" anchor="ctr" tIns="36576" bIns="36576">
            <a:spAutoFit/>
          </a:bodyPr>
          <a:lstStyle/>
          <a:p>
            <a:pPr algn="ctr"/>
            <a:r>
              <a:rPr sz="3200" b="1">
                <a:solidFill>
                  <a:srgbClr val="FFFFFF"/>
                </a:solidFill>
                <a:latin typeface="Calibri"/>
              </a:rPr>
              <a:t>Partnerarbeit</a:t>
            </a:r>
          </a:p>
        </p:txBody>
      </p:sp>
      <p:sp>
        <p:nvSpPr>
          <p:cNvPr id="23" name="Rounded Rectangle 22"/>
          <p:cNvSpPr/>
          <p:nvPr/>
        </p:nvSpPr>
        <p:spPr>
          <a:xfrm>
            <a:off x="4343400" y="3520440"/>
            <a:ext cx="3520440" cy="1554480"/>
          </a:xfrm>
          <a:prstGeom prst="roundRect">
            <a:avLst>
              <a:gd name="adj" fmla="val 10000"/>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43400" y="3566160"/>
            <a:ext cx="3520440" cy="457200"/>
          </a:xfrm>
          <a:prstGeom prst="rect">
            <a:avLst/>
          </a:prstGeom>
          <a:noFill/>
        </p:spPr>
        <p:txBody>
          <a:bodyPr wrap="square" anchor="t" tIns="36576" bIns="36576">
            <a:spAutoFit/>
          </a:bodyPr>
          <a:lstStyle/>
          <a:p>
            <a:pPr algn="ctr"/>
            <a:r>
              <a:rPr sz="2400" b="1">
                <a:solidFill>
                  <a:srgbClr val="1F2A44"/>
                </a:solidFill>
                <a:latin typeface="Calibri"/>
              </a:rPr>
              <a:t>Zeit</a:t>
            </a:r>
          </a:p>
        </p:txBody>
      </p:sp>
      <p:sp>
        <p:nvSpPr>
          <p:cNvPr id="25" name="TextBox 24"/>
          <p:cNvSpPr txBox="1"/>
          <p:nvPr/>
        </p:nvSpPr>
        <p:spPr>
          <a:xfrm>
            <a:off x="4343400" y="4023360"/>
            <a:ext cx="3520440" cy="1005840"/>
          </a:xfrm>
          <a:prstGeom prst="rect">
            <a:avLst/>
          </a:prstGeom>
          <a:noFill/>
        </p:spPr>
        <p:txBody>
          <a:bodyPr wrap="square" anchor="ctr" tIns="36576" bIns="36576">
            <a:spAutoFit/>
          </a:bodyPr>
          <a:lstStyle/>
          <a:p>
            <a:pPr algn="ctr"/>
            <a:r>
              <a:rPr sz="3200" b="1">
                <a:solidFill>
                  <a:srgbClr val="1F2A44"/>
                </a:solidFill>
                <a:latin typeface="Calibri"/>
              </a:rPr>
              <a:t>5 Minuten</a:t>
            </a:r>
          </a:p>
        </p:txBody>
      </p:sp>
      <p:sp>
        <p:nvSpPr>
          <p:cNvPr id="26" name="Rounded Rectangle 25"/>
          <p:cNvSpPr/>
          <p:nvPr/>
        </p:nvSpPr>
        <p:spPr>
          <a:xfrm>
            <a:off x="8046719" y="3520440"/>
            <a:ext cx="3520440" cy="1554480"/>
          </a:xfrm>
          <a:prstGeom prst="roundRect">
            <a:avLst>
              <a:gd name="adj" fmla="val 10000"/>
            </a:avLst>
          </a:prstGeom>
          <a:solidFill>
            <a:srgbClr val="34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6719" y="3566160"/>
            <a:ext cx="3520440" cy="457200"/>
          </a:xfrm>
          <a:prstGeom prst="rect">
            <a:avLst/>
          </a:prstGeom>
          <a:noFill/>
        </p:spPr>
        <p:txBody>
          <a:bodyPr wrap="square" anchor="t" tIns="36576" bIns="36576">
            <a:spAutoFit/>
          </a:bodyPr>
          <a:lstStyle/>
          <a:p>
            <a:pPr algn="ctr"/>
            <a:r>
              <a:rPr sz="2400" b="1">
                <a:solidFill>
                  <a:srgbClr val="FFFFFF"/>
                </a:solidFill>
                <a:latin typeface="Calibri"/>
              </a:rPr>
              <a:t>Hilfsmittel</a:t>
            </a:r>
          </a:p>
        </p:txBody>
      </p:sp>
      <p:sp>
        <p:nvSpPr>
          <p:cNvPr id="28" name="TextBox 27"/>
          <p:cNvSpPr txBox="1"/>
          <p:nvPr/>
        </p:nvSpPr>
        <p:spPr>
          <a:xfrm>
            <a:off x="8046719" y="4023360"/>
            <a:ext cx="3520440" cy="1005840"/>
          </a:xfrm>
          <a:prstGeom prst="rect">
            <a:avLst/>
          </a:prstGeom>
          <a:noFill/>
        </p:spPr>
        <p:txBody>
          <a:bodyPr wrap="square" anchor="ctr" tIns="36576" bIns="36576">
            <a:spAutoFit/>
          </a:bodyPr>
          <a:lstStyle/>
          <a:p>
            <a:pPr algn="ctr"/>
            <a:r>
              <a:rPr sz="3200" b="1">
                <a:solidFill>
                  <a:srgbClr val="FFFFFF"/>
                </a:solidFill>
                <a:latin typeface="Calibri"/>
              </a:rPr>
              <a:t>Merkblatt, Notizen</a:t>
            </a:r>
          </a:p>
        </p:txBody>
      </p:sp>
      <p:sp>
        <p:nvSpPr>
          <p:cNvPr id="29" name="Rectangle 28"/>
          <p:cNvSpPr/>
          <p:nvPr/>
        </p:nvSpPr>
        <p:spPr>
          <a:xfrm>
            <a:off x="640080" y="5257800"/>
            <a:ext cx="10881360" cy="914400"/>
          </a:xfrm>
          <a:prstGeom prst="rect">
            <a:avLst/>
          </a:prstGeom>
          <a:solidFill>
            <a:srgbClr val="FFF0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40080" y="5257800"/>
            <a:ext cx="109728" cy="9144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5257800"/>
            <a:ext cx="10515600" cy="914400"/>
          </a:xfrm>
          <a:prstGeom prst="rect">
            <a:avLst/>
          </a:prstGeom>
          <a:noFill/>
        </p:spPr>
        <p:txBody>
          <a:bodyPr wrap="square" anchor="ctr" tIns="36576" bIns="36576">
            <a:spAutoFit/>
          </a:bodyPr>
          <a:lstStyle/>
          <a:p>
            <a:pPr algn="l"/>
            <a:r>
              <a:rPr sz="2600" b="1">
                <a:solidFill>
                  <a:srgbClr val="1F2A44"/>
                </a:solidFill>
                <a:latin typeface="Calibri"/>
              </a:rPr>
              <a:t>Fertig? </a:t>
            </a:r>
            <a:r>
              <a:rPr sz="2600" b="0">
                <a:solidFill>
                  <a:srgbClr val="1F2A44"/>
                </a:solidFill>
                <a:latin typeface="Calibri"/>
              </a:rPr>
              <a:t>Aufgabe 3 oder die Reserve (Fälle D, E, Experten-Karten).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square" anchor="ctr" tIns="36576" bIns="36576">
            <a:spAutoFit/>
          </a:bodyPr>
          <a:lstStyle/>
          <a:p>
            <a:pPr algn="ctr"/>
            <a:r>
              <a:rPr sz="2400" b="0">
                <a:solidFill>
                  <a:srgbClr val="FFFFFF"/>
                </a:solidFill>
                <a:latin typeface="Calibri"/>
              </a:rPr>
              <a:t>Einstieg</a:t>
            </a:r>
          </a:p>
        </p:txBody>
      </p:sp>
      <p:sp>
        <p:nvSpPr>
          <p:cNvPr id="5" name="Rectangle 4"/>
          <p:cNvSpPr/>
          <p:nvPr/>
        </p:nvSpPr>
        <p:spPr>
          <a:xfrm>
            <a:off x="174167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1</a:t>
            </a:r>
          </a:p>
        </p:txBody>
      </p:sp>
      <p:sp>
        <p:nvSpPr>
          <p:cNvPr id="7" name="Rectangle 6"/>
          <p:cNvSpPr/>
          <p:nvPr/>
        </p:nvSpPr>
        <p:spPr>
          <a:xfrm>
            <a:off x="3483341"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3341"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2</a:t>
            </a:r>
          </a:p>
        </p:txBody>
      </p:sp>
      <p:sp>
        <p:nvSpPr>
          <p:cNvPr id="9" name="Rectangle 8"/>
          <p:cNvSpPr/>
          <p:nvPr/>
        </p:nvSpPr>
        <p:spPr>
          <a:xfrm>
            <a:off x="5225012"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25012"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3</a:t>
            </a:r>
          </a:p>
        </p:txBody>
      </p:sp>
      <p:sp>
        <p:nvSpPr>
          <p:cNvPr id="11" name="Rectangle 10"/>
          <p:cNvSpPr/>
          <p:nvPr/>
        </p:nvSpPr>
        <p:spPr>
          <a:xfrm>
            <a:off x="6966682"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66682" y="0"/>
            <a:ext cx="1741670" cy="457200"/>
          </a:xfrm>
          <a:prstGeom prst="rect">
            <a:avLst/>
          </a:prstGeom>
          <a:noFill/>
        </p:spPr>
        <p:txBody>
          <a:bodyPr wrap="square" anchor="ctr" tIns="36576" bIns="36576">
            <a:spAutoFit/>
          </a:bodyPr>
          <a:lstStyle/>
          <a:p>
            <a:pPr algn="ctr"/>
            <a:r>
              <a:rPr sz="2400" b="1">
                <a:solidFill>
                  <a:srgbClr val="1F2A44"/>
                </a:solidFill>
                <a:latin typeface="Calibri"/>
              </a:rPr>
              <a:t>Üben</a:t>
            </a:r>
          </a:p>
        </p:txBody>
      </p:sp>
      <p:sp>
        <p:nvSpPr>
          <p:cNvPr id="13" name="Rectangle 12"/>
          <p:cNvSpPr/>
          <p:nvPr/>
        </p:nvSpPr>
        <p:spPr>
          <a:xfrm>
            <a:off x="8708353"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8353" y="0"/>
            <a:ext cx="1741670" cy="457200"/>
          </a:xfrm>
          <a:prstGeom prst="rect">
            <a:avLst/>
          </a:prstGeom>
          <a:noFill/>
        </p:spPr>
        <p:txBody>
          <a:bodyPr wrap="square" anchor="ctr" tIns="36576" bIns="36576">
            <a:spAutoFit/>
          </a:bodyPr>
          <a:lstStyle/>
          <a:p>
            <a:pPr algn="ctr"/>
            <a:r>
              <a:rPr sz="2400" b="0">
                <a:solidFill>
                  <a:srgbClr val="FFFFFF"/>
                </a:solidFill>
                <a:latin typeface="Calibri"/>
              </a:rPr>
              <a:t>Besprechen</a:t>
            </a:r>
          </a:p>
        </p:txBody>
      </p:sp>
      <p:sp>
        <p:nvSpPr>
          <p:cNvPr id="15" name="Rectangle 14"/>
          <p:cNvSpPr/>
          <p:nvPr/>
        </p:nvSpPr>
        <p:spPr>
          <a:xfrm>
            <a:off x="10450024"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50024" y="0"/>
            <a:ext cx="1741670" cy="457200"/>
          </a:xfrm>
          <a:prstGeom prst="rect">
            <a:avLst/>
          </a:prstGeom>
          <a:noFill/>
        </p:spPr>
        <p:txBody>
          <a:bodyPr wrap="square" anchor="ctr" tIns="36576" bIns="36576">
            <a:spAutoFit/>
          </a:bodyPr>
          <a:lstStyle/>
          <a:p>
            <a:pPr algn="ctr"/>
            <a:r>
              <a:rPr sz="2400" b="0">
                <a:solidFill>
                  <a:srgbClr val="FFFFFF"/>
                </a:solidFill>
                <a:latin typeface="Calibri"/>
              </a:rPr>
              <a:t>Abschluss</a:t>
            </a:r>
          </a:p>
        </p:txBody>
      </p:sp>
      <p:sp>
        <p:nvSpPr>
          <p:cNvPr id="17" name="Titel"/>
          <p:cNvSpPr txBox="1"/>
          <p:nvPr/>
        </p:nvSpPr>
        <p:spPr>
          <a:xfrm>
            <a:off x="548640" y="530352"/>
            <a:ext cx="11155680" cy="868680"/>
          </a:xfrm>
          <a:prstGeom prst="rect">
            <a:avLst/>
          </a:prstGeom>
          <a:noFill/>
        </p:spPr>
        <p:txBody>
          <a:bodyPr wrap="square" anchor="ctr" tIns="36576" bIns="36576">
            <a:spAutoFit/>
          </a:bodyPr>
          <a:lstStyle/>
          <a:p>
            <a:pPr algn="l"/>
            <a:r>
              <a:rPr sz="4000" b="1">
                <a:solidFill>
                  <a:srgbClr val="1F2A44"/>
                </a:solidFill>
                <a:latin typeface="Calibri"/>
              </a:rPr>
              <a:t>Aufgabe 3: IHK-Fälle A bis C</a:t>
            </a:r>
          </a:p>
        </p:txBody>
      </p:sp>
      <p:sp>
        <p:nvSpPr>
          <p:cNvPr id="18" name="Rectangle 17"/>
          <p:cNvSpPr/>
          <p:nvPr/>
        </p:nvSpPr>
        <p:spPr>
          <a:xfrm>
            <a:off x="640080" y="1371600"/>
            <a:ext cx="1463040" cy="6400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1691640"/>
            <a:ext cx="10881360" cy="1737360"/>
          </a:xfrm>
          <a:prstGeom prst="rect">
            <a:avLst/>
          </a:prstGeom>
          <a:noFill/>
        </p:spPr>
        <p:txBody>
          <a:bodyPr wrap="square" anchor="t" tIns="36576" bIns="36576">
            <a:spAutoFit/>
          </a:bodyPr>
          <a:lstStyle/>
          <a:p>
            <a:pPr algn="l"/>
            <a:r>
              <a:rPr sz="3000" b="0">
                <a:solidFill>
                  <a:srgbClr val="1F2A44"/>
                </a:solidFill>
                <a:latin typeface="Calibri"/>
              </a:rPr>
              <a:t>Fall lesen, Antwort A bis D wählen und mit einer Regel begründen. Merkt euch eine Frage für die Besprechung.</a:t>
            </a:r>
          </a:p>
        </p:txBody>
      </p:sp>
      <p:sp>
        <p:nvSpPr>
          <p:cNvPr id="20" name="Rounded Rectangle 19"/>
          <p:cNvSpPr/>
          <p:nvPr/>
        </p:nvSpPr>
        <p:spPr>
          <a:xfrm>
            <a:off x="640080" y="3520440"/>
            <a:ext cx="3520440" cy="1554480"/>
          </a:xfrm>
          <a:prstGeom prst="roundRect">
            <a:avLst>
              <a:gd name="adj" fmla="val 1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3566160"/>
            <a:ext cx="3520440" cy="457200"/>
          </a:xfrm>
          <a:prstGeom prst="rect">
            <a:avLst/>
          </a:prstGeom>
          <a:noFill/>
        </p:spPr>
        <p:txBody>
          <a:bodyPr wrap="square" anchor="t" tIns="36576" bIns="36576">
            <a:spAutoFit/>
          </a:bodyPr>
          <a:lstStyle/>
          <a:p>
            <a:pPr algn="ctr"/>
            <a:r>
              <a:rPr sz="2400" b="1">
                <a:solidFill>
                  <a:srgbClr val="FFFFFF"/>
                </a:solidFill>
                <a:latin typeface="Calibri"/>
              </a:rPr>
              <a:t>Sozialform</a:t>
            </a:r>
          </a:p>
        </p:txBody>
      </p:sp>
      <p:sp>
        <p:nvSpPr>
          <p:cNvPr id="22" name="TextBox 21"/>
          <p:cNvSpPr txBox="1"/>
          <p:nvPr/>
        </p:nvSpPr>
        <p:spPr>
          <a:xfrm>
            <a:off x="640080" y="4023360"/>
            <a:ext cx="3520440" cy="1005840"/>
          </a:xfrm>
          <a:prstGeom prst="rect">
            <a:avLst/>
          </a:prstGeom>
          <a:noFill/>
        </p:spPr>
        <p:txBody>
          <a:bodyPr wrap="square" anchor="ctr" tIns="36576" bIns="36576">
            <a:spAutoFit/>
          </a:bodyPr>
          <a:lstStyle/>
          <a:p>
            <a:pPr algn="ctr"/>
            <a:r>
              <a:rPr sz="3200" b="1">
                <a:solidFill>
                  <a:srgbClr val="FFFFFF"/>
                </a:solidFill>
                <a:latin typeface="Calibri"/>
              </a:rPr>
              <a:t>Gruppenarbeit</a:t>
            </a:r>
          </a:p>
        </p:txBody>
      </p:sp>
      <p:sp>
        <p:nvSpPr>
          <p:cNvPr id="23" name="Rounded Rectangle 22"/>
          <p:cNvSpPr/>
          <p:nvPr/>
        </p:nvSpPr>
        <p:spPr>
          <a:xfrm>
            <a:off x="4343400" y="3520440"/>
            <a:ext cx="3520440" cy="1554480"/>
          </a:xfrm>
          <a:prstGeom prst="roundRect">
            <a:avLst>
              <a:gd name="adj" fmla="val 10000"/>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43400" y="3566160"/>
            <a:ext cx="3520440" cy="457200"/>
          </a:xfrm>
          <a:prstGeom prst="rect">
            <a:avLst/>
          </a:prstGeom>
          <a:noFill/>
        </p:spPr>
        <p:txBody>
          <a:bodyPr wrap="square" anchor="t" tIns="36576" bIns="36576">
            <a:spAutoFit/>
          </a:bodyPr>
          <a:lstStyle/>
          <a:p>
            <a:pPr algn="ctr"/>
            <a:r>
              <a:rPr sz="2400" b="1">
                <a:solidFill>
                  <a:srgbClr val="1F2A44"/>
                </a:solidFill>
                <a:latin typeface="Calibri"/>
              </a:rPr>
              <a:t>Zeit</a:t>
            </a:r>
          </a:p>
        </p:txBody>
      </p:sp>
      <p:sp>
        <p:nvSpPr>
          <p:cNvPr id="25" name="TextBox 24"/>
          <p:cNvSpPr txBox="1"/>
          <p:nvPr/>
        </p:nvSpPr>
        <p:spPr>
          <a:xfrm>
            <a:off x="4343400" y="4023360"/>
            <a:ext cx="3520440" cy="1005840"/>
          </a:xfrm>
          <a:prstGeom prst="rect">
            <a:avLst/>
          </a:prstGeom>
          <a:noFill/>
        </p:spPr>
        <p:txBody>
          <a:bodyPr wrap="square" anchor="ctr" tIns="36576" bIns="36576">
            <a:spAutoFit/>
          </a:bodyPr>
          <a:lstStyle/>
          <a:p>
            <a:pPr algn="ctr"/>
            <a:r>
              <a:rPr sz="3200" b="1">
                <a:solidFill>
                  <a:srgbClr val="1F2A44"/>
                </a:solidFill>
                <a:latin typeface="Calibri"/>
              </a:rPr>
              <a:t>4 Minuten</a:t>
            </a:r>
          </a:p>
        </p:txBody>
      </p:sp>
      <p:sp>
        <p:nvSpPr>
          <p:cNvPr id="26" name="Rounded Rectangle 25"/>
          <p:cNvSpPr/>
          <p:nvPr/>
        </p:nvSpPr>
        <p:spPr>
          <a:xfrm>
            <a:off x="8046719" y="3520440"/>
            <a:ext cx="3520440" cy="1554480"/>
          </a:xfrm>
          <a:prstGeom prst="roundRect">
            <a:avLst>
              <a:gd name="adj" fmla="val 10000"/>
            </a:avLst>
          </a:prstGeom>
          <a:solidFill>
            <a:srgbClr val="34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6719" y="3566160"/>
            <a:ext cx="3520440" cy="457200"/>
          </a:xfrm>
          <a:prstGeom prst="rect">
            <a:avLst/>
          </a:prstGeom>
          <a:noFill/>
        </p:spPr>
        <p:txBody>
          <a:bodyPr wrap="square" anchor="t" tIns="36576" bIns="36576">
            <a:spAutoFit/>
          </a:bodyPr>
          <a:lstStyle/>
          <a:p>
            <a:pPr algn="ctr"/>
            <a:r>
              <a:rPr sz="2400" b="1">
                <a:solidFill>
                  <a:srgbClr val="FFFFFF"/>
                </a:solidFill>
                <a:latin typeface="Calibri"/>
              </a:rPr>
              <a:t>Hilfsmittel</a:t>
            </a:r>
          </a:p>
        </p:txBody>
      </p:sp>
      <p:sp>
        <p:nvSpPr>
          <p:cNvPr id="28" name="TextBox 27"/>
          <p:cNvSpPr txBox="1"/>
          <p:nvPr/>
        </p:nvSpPr>
        <p:spPr>
          <a:xfrm>
            <a:off x="8046719" y="4023360"/>
            <a:ext cx="3520440" cy="1005840"/>
          </a:xfrm>
          <a:prstGeom prst="rect">
            <a:avLst/>
          </a:prstGeom>
          <a:noFill/>
        </p:spPr>
        <p:txBody>
          <a:bodyPr wrap="square" anchor="ctr" tIns="36576" bIns="36576">
            <a:spAutoFit/>
          </a:bodyPr>
          <a:lstStyle/>
          <a:p>
            <a:pPr algn="ctr"/>
            <a:r>
              <a:rPr sz="3200" b="1">
                <a:solidFill>
                  <a:srgbClr val="FFFFFF"/>
                </a:solidFill>
                <a:latin typeface="Calibri"/>
              </a:rPr>
              <a:t>Merkblatt</a:t>
            </a:r>
          </a:p>
        </p:txBody>
      </p:sp>
      <p:sp>
        <p:nvSpPr>
          <p:cNvPr id="29" name="Rectangle 28"/>
          <p:cNvSpPr/>
          <p:nvPr/>
        </p:nvSpPr>
        <p:spPr>
          <a:xfrm>
            <a:off x="640080" y="5257800"/>
            <a:ext cx="10881360" cy="914400"/>
          </a:xfrm>
          <a:prstGeom prst="rect">
            <a:avLst/>
          </a:prstGeom>
          <a:solidFill>
            <a:srgbClr val="FFF0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40080" y="5257800"/>
            <a:ext cx="109728" cy="9144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5257800"/>
            <a:ext cx="10515600" cy="914400"/>
          </a:xfrm>
          <a:prstGeom prst="rect">
            <a:avLst/>
          </a:prstGeom>
          <a:noFill/>
        </p:spPr>
        <p:txBody>
          <a:bodyPr wrap="square" anchor="ctr" tIns="36576" bIns="36576">
            <a:spAutoFit/>
          </a:bodyPr>
          <a:lstStyle/>
          <a:p>
            <a:pPr algn="l"/>
            <a:r>
              <a:rPr sz="2600" b="1">
                <a:solidFill>
                  <a:srgbClr val="1F2A44"/>
                </a:solidFill>
                <a:latin typeface="Calibri"/>
              </a:rPr>
              <a:t>Fertig? </a:t>
            </a:r>
            <a:r>
              <a:rPr sz="2600" b="0">
                <a:solidFill>
                  <a:srgbClr val="1F2A44"/>
                </a:solidFill>
                <a:latin typeface="Calibri"/>
              </a:rPr>
              <a:t>Fälle D und E oder Experten-Karten auf der Website.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square" anchor="ctr" tIns="36576" bIns="36576">
            <a:spAutoFit/>
          </a:bodyPr>
          <a:lstStyle/>
          <a:p>
            <a:pPr algn="ctr"/>
            <a:r>
              <a:rPr sz="2400" b="0">
                <a:solidFill>
                  <a:srgbClr val="FFFFFF"/>
                </a:solidFill>
                <a:latin typeface="Calibri"/>
              </a:rPr>
              <a:t>Einstieg</a:t>
            </a:r>
          </a:p>
        </p:txBody>
      </p:sp>
      <p:sp>
        <p:nvSpPr>
          <p:cNvPr id="5" name="Rectangle 4"/>
          <p:cNvSpPr/>
          <p:nvPr/>
        </p:nvSpPr>
        <p:spPr>
          <a:xfrm>
            <a:off x="174167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1</a:t>
            </a:r>
          </a:p>
        </p:txBody>
      </p:sp>
      <p:sp>
        <p:nvSpPr>
          <p:cNvPr id="7" name="Rectangle 6"/>
          <p:cNvSpPr/>
          <p:nvPr/>
        </p:nvSpPr>
        <p:spPr>
          <a:xfrm>
            <a:off x="3483341"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3341"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2</a:t>
            </a:r>
          </a:p>
        </p:txBody>
      </p:sp>
      <p:sp>
        <p:nvSpPr>
          <p:cNvPr id="9" name="Rectangle 8"/>
          <p:cNvSpPr/>
          <p:nvPr/>
        </p:nvSpPr>
        <p:spPr>
          <a:xfrm>
            <a:off x="5225012"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25012"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3</a:t>
            </a:r>
          </a:p>
        </p:txBody>
      </p:sp>
      <p:sp>
        <p:nvSpPr>
          <p:cNvPr id="11" name="Rectangle 10"/>
          <p:cNvSpPr/>
          <p:nvPr/>
        </p:nvSpPr>
        <p:spPr>
          <a:xfrm>
            <a:off x="6966682"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66682" y="0"/>
            <a:ext cx="1741670" cy="457200"/>
          </a:xfrm>
          <a:prstGeom prst="rect">
            <a:avLst/>
          </a:prstGeom>
          <a:noFill/>
        </p:spPr>
        <p:txBody>
          <a:bodyPr wrap="square" anchor="ctr" tIns="36576" bIns="36576">
            <a:spAutoFit/>
          </a:bodyPr>
          <a:lstStyle/>
          <a:p>
            <a:pPr algn="ctr"/>
            <a:r>
              <a:rPr sz="2400" b="1">
                <a:solidFill>
                  <a:srgbClr val="1F2A44"/>
                </a:solidFill>
                <a:latin typeface="Calibri"/>
              </a:rPr>
              <a:t>Üben</a:t>
            </a:r>
          </a:p>
        </p:txBody>
      </p:sp>
      <p:sp>
        <p:nvSpPr>
          <p:cNvPr id="13" name="Rectangle 12"/>
          <p:cNvSpPr/>
          <p:nvPr/>
        </p:nvSpPr>
        <p:spPr>
          <a:xfrm>
            <a:off x="8708353"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8353" y="0"/>
            <a:ext cx="1741670" cy="457200"/>
          </a:xfrm>
          <a:prstGeom prst="rect">
            <a:avLst/>
          </a:prstGeom>
          <a:noFill/>
        </p:spPr>
        <p:txBody>
          <a:bodyPr wrap="square" anchor="ctr" tIns="36576" bIns="36576">
            <a:spAutoFit/>
          </a:bodyPr>
          <a:lstStyle/>
          <a:p>
            <a:pPr algn="ctr"/>
            <a:r>
              <a:rPr sz="2400" b="0">
                <a:solidFill>
                  <a:srgbClr val="FFFFFF"/>
                </a:solidFill>
                <a:latin typeface="Calibri"/>
              </a:rPr>
              <a:t>Besprechen</a:t>
            </a:r>
          </a:p>
        </p:txBody>
      </p:sp>
      <p:sp>
        <p:nvSpPr>
          <p:cNvPr id="15" name="Rectangle 14"/>
          <p:cNvSpPr/>
          <p:nvPr/>
        </p:nvSpPr>
        <p:spPr>
          <a:xfrm>
            <a:off x="10450024"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50024" y="0"/>
            <a:ext cx="1741670" cy="457200"/>
          </a:xfrm>
          <a:prstGeom prst="rect">
            <a:avLst/>
          </a:prstGeom>
          <a:noFill/>
        </p:spPr>
        <p:txBody>
          <a:bodyPr wrap="square" anchor="ctr" tIns="36576" bIns="36576">
            <a:spAutoFit/>
          </a:bodyPr>
          <a:lstStyle/>
          <a:p>
            <a:pPr algn="ctr"/>
            <a:r>
              <a:rPr sz="2400" b="0">
                <a:solidFill>
                  <a:srgbClr val="FFFFFF"/>
                </a:solidFill>
                <a:latin typeface="Calibri"/>
              </a:rPr>
              <a:t>Abschluss</a:t>
            </a:r>
          </a:p>
        </p:txBody>
      </p:sp>
      <p:sp>
        <p:nvSpPr>
          <p:cNvPr id="17" name="Titel"/>
          <p:cNvSpPr txBox="1"/>
          <p:nvPr/>
        </p:nvSpPr>
        <p:spPr>
          <a:xfrm>
            <a:off x="548640" y="530352"/>
            <a:ext cx="11155680" cy="868680"/>
          </a:xfrm>
          <a:prstGeom prst="rect">
            <a:avLst/>
          </a:prstGeom>
          <a:noFill/>
        </p:spPr>
        <p:txBody>
          <a:bodyPr wrap="square" anchor="ctr" tIns="36576" bIns="36576">
            <a:spAutoFit/>
          </a:bodyPr>
          <a:lstStyle/>
          <a:p>
            <a:pPr algn="l"/>
            <a:r>
              <a:rPr sz="4000" b="1">
                <a:solidFill>
                  <a:srgbClr val="1F2A44"/>
                </a:solidFill>
                <a:latin typeface="Calibri"/>
              </a:rPr>
              <a:t>Arbeitsphase</a:t>
            </a:r>
          </a:p>
        </p:txBody>
      </p:sp>
      <p:sp>
        <p:nvSpPr>
          <p:cNvPr id="18" name="Rectangle 17"/>
          <p:cNvSpPr/>
          <p:nvPr/>
        </p:nvSpPr>
        <p:spPr>
          <a:xfrm>
            <a:off x="640080" y="1371600"/>
            <a:ext cx="1463040" cy="6400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 y="1554480"/>
            <a:ext cx="3922776" cy="3922776"/>
          </a:xfrm>
          <a:prstGeom prst="rect">
            <a:avLst/>
          </a:prstGeom>
          <a:solidFill>
            <a:srgbClr val="FFFFFF"/>
          </a:solidFill>
          <a:ln w="19050">
            <a:solidFill>
              <a:srgbClr val="B8C0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QR-Code zur Übungsseite der Klasse"/>
          <p:cNvPicPr>
            <a:picLocks noChangeAspect="1"/>
          </p:cNvPicPr>
          <p:nvPr/>
        </p:nvPicPr>
        <p:blipFill>
          <a:blip r:embed="rId3"/>
          <a:stretch>
            <a:fillRect/>
          </a:stretch>
        </p:blipFill>
        <p:spPr>
          <a:xfrm>
            <a:off x="818388" y="1732788"/>
            <a:ext cx="3566160" cy="3566160"/>
          </a:xfrm>
          <a:prstGeom prst="rect">
            <a:avLst/>
          </a:prstGeom>
        </p:spPr>
      </p:pic>
      <p:sp>
        <p:nvSpPr>
          <p:cNvPr id="21" name="Rectangle 20"/>
          <p:cNvSpPr/>
          <p:nvPr/>
        </p:nvSpPr>
        <p:spPr>
          <a:xfrm>
            <a:off x="4754880" y="1554480"/>
            <a:ext cx="6766560" cy="77724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983480" y="1554480"/>
            <a:ext cx="6492240" cy="777240"/>
          </a:xfrm>
          <a:prstGeom prst="rect">
            <a:avLst/>
          </a:prstGeom>
          <a:noFill/>
        </p:spPr>
        <p:txBody>
          <a:bodyPr wrap="square" anchor="ctr" tIns="36576" bIns="36576">
            <a:spAutoFit/>
          </a:bodyPr>
          <a:lstStyle/>
          <a:p>
            <a:pPr algn="l"/>
            <a:r>
              <a:rPr sz="2800" b="1">
                <a:solidFill>
                  <a:srgbClr val="FFFFFF"/>
                </a:solidFill>
                <a:latin typeface="Calibri"/>
              </a:rPr>
              <a:t>yasinbenx.github.io/azubi-vertrag</a:t>
            </a:r>
          </a:p>
        </p:txBody>
      </p:sp>
      <p:sp>
        <p:nvSpPr>
          <p:cNvPr id="23" name="TextBox 22"/>
          <p:cNvSpPr txBox="1"/>
          <p:nvPr/>
        </p:nvSpPr>
        <p:spPr>
          <a:xfrm>
            <a:off x="4754880" y="2468880"/>
            <a:ext cx="6766560" cy="731520"/>
          </a:xfrm>
          <a:prstGeom prst="rect">
            <a:avLst/>
          </a:prstGeom>
          <a:noFill/>
        </p:spPr>
        <p:txBody>
          <a:bodyPr wrap="square" anchor="t" tIns="36576" bIns="36576">
            <a:spAutoFit/>
          </a:bodyPr>
          <a:lstStyle/>
          <a:p>
            <a:pPr algn="l"/>
            <a:r>
              <a:rPr sz="2800" b="0">
                <a:solidFill>
                  <a:srgbClr val="4A5568"/>
                </a:solidFill>
                <a:latin typeface="Calibri"/>
              </a:rPr>
              <a:t>Countdown</a:t>
            </a:r>
          </a:p>
        </p:txBody>
      </p:sp>
      <p:sp>
        <p:nvSpPr>
          <p:cNvPr id="24" name="Countdown_Zeit"/>
          <p:cNvSpPr txBox="1"/>
          <p:nvPr/>
        </p:nvSpPr>
        <p:spPr>
          <a:xfrm>
            <a:off x="4754880" y="2926080"/>
            <a:ext cx="6766560" cy="1280160"/>
          </a:xfrm>
          <a:prstGeom prst="rect">
            <a:avLst/>
          </a:prstGeom>
          <a:noFill/>
        </p:spPr>
        <p:txBody>
          <a:bodyPr wrap="square" anchor="t" tIns="36576" bIns="36576">
            <a:spAutoFit/>
          </a:bodyPr>
          <a:lstStyle/>
          <a:p>
            <a:pPr algn="l"/>
            <a:r>
              <a:rPr sz="7200" b="1">
                <a:solidFill>
                  <a:srgbClr val="1F2A44"/>
                </a:solidFill>
                <a:latin typeface="Calibri"/>
              </a:rPr>
              <a:t>10 Min.</a:t>
            </a:r>
          </a:p>
        </p:txBody>
      </p:sp>
      <p:sp>
        <p:nvSpPr>
          <p:cNvPr id="25" name="Countdown_1"/>
          <p:cNvSpPr/>
          <p:nvPr/>
        </p:nvSpPr>
        <p:spPr>
          <a:xfrm>
            <a:off x="4800600" y="4251960"/>
            <a:ext cx="621792"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Countdown_2"/>
          <p:cNvSpPr/>
          <p:nvPr/>
        </p:nvSpPr>
        <p:spPr>
          <a:xfrm>
            <a:off x="5472684" y="4251960"/>
            <a:ext cx="621792"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Countdown_3"/>
          <p:cNvSpPr/>
          <p:nvPr/>
        </p:nvSpPr>
        <p:spPr>
          <a:xfrm>
            <a:off x="6144768" y="4251960"/>
            <a:ext cx="621792"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Countdown_4"/>
          <p:cNvSpPr/>
          <p:nvPr/>
        </p:nvSpPr>
        <p:spPr>
          <a:xfrm>
            <a:off x="6816852" y="4251960"/>
            <a:ext cx="621792"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ountdown_5"/>
          <p:cNvSpPr/>
          <p:nvPr/>
        </p:nvSpPr>
        <p:spPr>
          <a:xfrm>
            <a:off x="7488936" y="4251960"/>
            <a:ext cx="621792"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Countdown_6"/>
          <p:cNvSpPr/>
          <p:nvPr/>
        </p:nvSpPr>
        <p:spPr>
          <a:xfrm>
            <a:off x="8161020" y="4251960"/>
            <a:ext cx="621792"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Countdown_7"/>
          <p:cNvSpPr/>
          <p:nvPr/>
        </p:nvSpPr>
        <p:spPr>
          <a:xfrm>
            <a:off x="8833104" y="4251960"/>
            <a:ext cx="621792"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Countdown_8"/>
          <p:cNvSpPr/>
          <p:nvPr/>
        </p:nvSpPr>
        <p:spPr>
          <a:xfrm>
            <a:off x="9505188" y="4251960"/>
            <a:ext cx="621792"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Countdown_9"/>
          <p:cNvSpPr/>
          <p:nvPr/>
        </p:nvSpPr>
        <p:spPr>
          <a:xfrm>
            <a:off x="10177272" y="4251960"/>
            <a:ext cx="621792"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Countdown_10"/>
          <p:cNvSpPr/>
          <p:nvPr/>
        </p:nvSpPr>
        <p:spPr>
          <a:xfrm>
            <a:off x="10849356" y="4251960"/>
            <a:ext cx="621792"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754880" y="4846320"/>
            <a:ext cx="6766560" cy="548640"/>
          </a:xfrm>
          <a:prstGeom prst="rect">
            <a:avLst/>
          </a:prstGeom>
          <a:noFill/>
        </p:spPr>
        <p:txBody>
          <a:bodyPr wrap="square" anchor="t" tIns="36576" bIns="36576">
            <a:spAutoFit/>
          </a:bodyPr>
          <a:lstStyle/>
          <a:p>
            <a:pPr algn="l"/>
            <a:r>
              <a:rPr sz="2400" b="0">
                <a:solidFill>
                  <a:srgbClr val="4A5568"/>
                </a:solidFill>
                <a:latin typeface="Calibri"/>
              </a:rPr>
              <a:t>Jedes Segment = 1 Minute</a:t>
            </a:r>
          </a:p>
        </p:txBody>
      </p:sp>
      <p:sp>
        <p:nvSpPr>
          <p:cNvPr id="36" name="Rectangle 35"/>
          <p:cNvSpPr/>
          <p:nvPr/>
        </p:nvSpPr>
        <p:spPr>
          <a:xfrm>
            <a:off x="4754880" y="5486400"/>
            <a:ext cx="6766560" cy="731520"/>
          </a:xfrm>
          <a:prstGeom prst="rect">
            <a:avLst/>
          </a:prstGeom>
          <a:solidFill>
            <a:srgbClr val="FFF0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983480" y="5486400"/>
            <a:ext cx="6492240" cy="731520"/>
          </a:xfrm>
          <a:prstGeom prst="rect">
            <a:avLst/>
          </a:prstGeom>
          <a:noFill/>
        </p:spPr>
        <p:txBody>
          <a:bodyPr wrap="square" anchor="ctr" tIns="36576" bIns="36576">
            <a:spAutoFit/>
          </a:bodyPr>
          <a:lstStyle/>
          <a:p>
            <a:pPr algn="l"/>
            <a:r>
              <a:rPr sz="2800" b="1">
                <a:solidFill>
                  <a:srgbClr val="1F2A44"/>
                </a:solidFill>
                <a:latin typeface="Calibri"/>
              </a:rPr>
              <a:t>Fertig? Reserve auf der Website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par>
                          <p:cTn id="7" fill="hold">
                            <p:stCondLst>
                              <p:cond delay="60000"/>
                            </p:stCondLst>
                            <p:childTnLst>
                              <p:par>
                                <p:cTn id="8" presetID="1" presetClass="entr" presetSubtype="0" fill="hold" grpId="0" nodeType="afterEffect">
                                  <p:stCondLst>
                                    <p:cond delay="0"/>
                                  </p:stCondLst>
                                  <p:childTnLst>
                                    <p:set>
                                      <p:cBhvr>
                                        <p:cTn id="9" dur="1" fill="hold">
                                          <p:stCondLst>
                                            <p:cond delay="0"/>
                                          </p:stCondLst>
                                        </p:cTn>
                                        <p:tgtEl>
                                          <p:spTgt spid="26"/>
                                        </p:tgtEl>
                                        <p:attrNameLst>
                                          <p:attrName>style.visibility</p:attrName>
                                        </p:attrNameLst>
                                      </p:cBhvr>
                                      <p:to>
                                        <p:strVal val="visible"/>
                                      </p:to>
                                    </p:set>
                                  </p:childTnLst>
                                </p:cTn>
                              </p:par>
                            </p:childTnLst>
                          </p:cTn>
                        </p:par>
                        <p:par>
                          <p:cTn id="10" fill="hold">
                            <p:stCondLst>
                              <p:cond delay="120000"/>
                            </p:stCondLst>
                            <p:childTnLst>
                              <p:par>
                                <p:cTn id="11" presetID="1" presetClass="entr" presetSubtype="0" fill="hold" grpId="0" nodeType="after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childTnLst>
                          </p:cTn>
                        </p:par>
                        <p:par>
                          <p:cTn id="13" fill="hold">
                            <p:stCondLst>
                              <p:cond delay="180000"/>
                            </p:stCondLst>
                            <p:childTnLst>
                              <p:par>
                                <p:cTn id="14" presetID="1" presetClass="entr" presetSubtype="0" fill="hold" grpId="0" nodeType="afterEffect">
                                  <p:stCondLst>
                                    <p:cond delay="0"/>
                                  </p:stCondLst>
                                  <p:childTnLst>
                                    <p:set>
                                      <p:cBhvr>
                                        <p:cTn id="15" dur="1" fill="hold">
                                          <p:stCondLst>
                                            <p:cond delay="0"/>
                                          </p:stCondLst>
                                        </p:cTn>
                                        <p:tgtEl>
                                          <p:spTgt spid="28"/>
                                        </p:tgtEl>
                                        <p:attrNameLst>
                                          <p:attrName>style.visibility</p:attrName>
                                        </p:attrNameLst>
                                      </p:cBhvr>
                                      <p:to>
                                        <p:strVal val="visible"/>
                                      </p:to>
                                    </p:set>
                                  </p:childTnLst>
                                </p:cTn>
                              </p:par>
                            </p:childTnLst>
                          </p:cTn>
                        </p:par>
                        <p:par>
                          <p:cTn id="16" fill="hold">
                            <p:stCondLst>
                              <p:cond delay="240000"/>
                            </p:stCondLst>
                            <p:childTnLst>
                              <p:par>
                                <p:cTn id="17" presetID="1" presetClass="entr" presetSubtype="0" fill="hold" grpId="0" nodeType="after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par>
                          <p:cTn id="19" fill="hold">
                            <p:stCondLst>
                              <p:cond delay="300000"/>
                            </p:stCondLst>
                            <p:childTnLst>
                              <p:par>
                                <p:cTn id="20" presetID="1" presetClass="entr" presetSubtype="0" fill="hold" grpId="0" nodeType="afterEffect">
                                  <p:stCondLst>
                                    <p:cond delay="0"/>
                                  </p:stCondLst>
                                  <p:childTnLst>
                                    <p:set>
                                      <p:cBhvr>
                                        <p:cTn id="21" dur="1" fill="hold">
                                          <p:stCondLst>
                                            <p:cond delay="0"/>
                                          </p:stCondLst>
                                        </p:cTn>
                                        <p:tgtEl>
                                          <p:spTgt spid="30"/>
                                        </p:tgtEl>
                                        <p:attrNameLst>
                                          <p:attrName>style.visibility</p:attrName>
                                        </p:attrNameLst>
                                      </p:cBhvr>
                                      <p:to>
                                        <p:strVal val="visible"/>
                                      </p:to>
                                    </p:set>
                                  </p:childTnLst>
                                </p:cTn>
                              </p:par>
                            </p:childTnLst>
                          </p:cTn>
                        </p:par>
                        <p:par>
                          <p:cTn id="22" fill="hold">
                            <p:stCondLst>
                              <p:cond delay="360000"/>
                            </p:stCondLst>
                            <p:childTnLst>
                              <p:par>
                                <p:cTn id="23" presetID="1" presetClass="entr" presetSubtype="0" fill="hold" grpId="0" nodeType="afterEffect">
                                  <p:stCondLst>
                                    <p:cond delay="0"/>
                                  </p:stCondLst>
                                  <p:childTnLst>
                                    <p:set>
                                      <p:cBhvr>
                                        <p:cTn id="24" dur="1" fill="hold">
                                          <p:stCondLst>
                                            <p:cond delay="0"/>
                                          </p:stCondLst>
                                        </p:cTn>
                                        <p:tgtEl>
                                          <p:spTgt spid="31"/>
                                        </p:tgtEl>
                                        <p:attrNameLst>
                                          <p:attrName>style.visibility</p:attrName>
                                        </p:attrNameLst>
                                      </p:cBhvr>
                                      <p:to>
                                        <p:strVal val="visible"/>
                                      </p:to>
                                    </p:set>
                                  </p:childTnLst>
                                </p:cTn>
                              </p:par>
                            </p:childTnLst>
                          </p:cTn>
                        </p:par>
                        <p:par>
                          <p:cTn id="25" fill="hold">
                            <p:stCondLst>
                              <p:cond delay="420000"/>
                            </p:stCondLst>
                            <p:childTnLst>
                              <p:par>
                                <p:cTn id="26" presetID="1" presetClass="entr" presetSubtype="0" fill="hold" grpId="0" nodeType="afterEffect">
                                  <p:stCondLst>
                                    <p:cond delay="0"/>
                                  </p:stCondLst>
                                  <p:childTnLst>
                                    <p:set>
                                      <p:cBhvr>
                                        <p:cTn id="27" dur="1" fill="hold">
                                          <p:stCondLst>
                                            <p:cond delay="0"/>
                                          </p:stCondLst>
                                        </p:cTn>
                                        <p:tgtEl>
                                          <p:spTgt spid="32"/>
                                        </p:tgtEl>
                                        <p:attrNameLst>
                                          <p:attrName>style.visibility</p:attrName>
                                        </p:attrNameLst>
                                      </p:cBhvr>
                                      <p:to>
                                        <p:strVal val="visible"/>
                                      </p:to>
                                    </p:set>
                                  </p:childTnLst>
                                </p:cTn>
                              </p:par>
                            </p:childTnLst>
                          </p:cTn>
                        </p:par>
                        <p:par>
                          <p:cTn id="28" fill="hold">
                            <p:stCondLst>
                              <p:cond delay="480000"/>
                            </p:stCondLst>
                            <p:childTnLst>
                              <p:par>
                                <p:cTn id="29" presetID="1" presetClass="entr" presetSubtype="0" fill="hold" grpId="0" nodeType="after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childTnLst>
                          </p:cTn>
                        </p:par>
                        <p:par>
                          <p:cTn id="31" fill="hold">
                            <p:stCondLst>
                              <p:cond delay="540000"/>
                            </p:stCondLst>
                            <p:childTnLst>
                              <p:par>
                                <p:cTn id="32" presetID="1" presetClass="entr" presetSubtype="0" fill="hold" grpId="0" nodeType="afterEffect">
                                  <p:stCondLst>
                                    <p:cond delay="0"/>
                                  </p:stCondLst>
                                  <p:childTnLst>
                                    <p:set>
                                      <p:cBhvr>
                                        <p:cTn id="33"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square" anchor="ctr" tIns="36576" bIns="36576">
            <a:spAutoFit/>
          </a:bodyPr>
          <a:lstStyle/>
          <a:p>
            <a:pPr algn="ctr"/>
            <a:r>
              <a:rPr sz="2400" b="0">
                <a:solidFill>
                  <a:srgbClr val="FFFFFF"/>
                </a:solidFill>
                <a:latin typeface="Calibri"/>
              </a:rPr>
              <a:t>Einstieg</a:t>
            </a:r>
          </a:p>
        </p:txBody>
      </p:sp>
      <p:sp>
        <p:nvSpPr>
          <p:cNvPr id="5" name="Rectangle 4"/>
          <p:cNvSpPr/>
          <p:nvPr/>
        </p:nvSpPr>
        <p:spPr>
          <a:xfrm>
            <a:off x="174167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1</a:t>
            </a:r>
          </a:p>
        </p:txBody>
      </p:sp>
      <p:sp>
        <p:nvSpPr>
          <p:cNvPr id="7" name="Rectangle 6"/>
          <p:cNvSpPr/>
          <p:nvPr/>
        </p:nvSpPr>
        <p:spPr>
          <a:xfrm>
            <a:off x="3483341"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3341"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2</a:t>
            </a:r>
          </a:p>
        </p:txBody>
      </p:sp>
      <p:sp>
        <p:nvSpPr>
          <p:cNvPr id="9" name="Rectangle 8"/>
          <p:cNvSpPr/>
          <p:nvPr/>
        </p:nvSpPr>
        <p:spPr>
          <a:xfrm>
            <a:off x="5225012"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25012"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3</a:t>
            </a:r>
          </a:p>
        </p:txBody>
      </p:sp>
      <p:sp>
        <p:nvSpPr>
          <p:cNvPr id="11" name="Rectangle 10"/>
          <p:cNvSpPr/>
          <p:nvPr/>
        </p:nvSpPr>
        <p:spPr>
          <a:xfrm>
            <a:off x="6966682"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66682" y="0"/>
            <a:ext cx="1741670" cy="457200"/>
          </a:xfrm>
          <a:prstGeom prst="rect">
            <a:avLst/>
          </a:prstGeom>
          <a:noFill/>
        </p:spPr>
        <p:txBody>
          <a:bodyPr wrap="square" anchor="ctr" tIns="36576" bIns="36576">
            <a:spAutoFit/>
          </a:bodyPr>
          <a:lstStyle/>
          <a:p>
            <a:pPr algn="ctr"/>
            <a:r>
              <a:rPr sz="2400" b="0">
                <a:solidFill>
                  <a:srgbClr val="FFFFFF"/>
                </a:solidFill>
                <a:latin typeface="Calibri"/>
              </a:rPr>
              <a:t>Üben</a:t>
            </a:r>
          </a:p>
        </p:txBody>
      </p:sp>
      <p:sp>
        <p:nvSpPr>
          <p:cNvPr id="13" name="Rectangle 12"/>
          <p:cNvSpPr/>
          <p:nvPr/>
        </p:nvSpPr>
        <p:spPr>
          <a:xfrm>
            <a:off x="8708353"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8353" y="0"/>
            <a:ext cx="1741670" cy="457200"/>
          </a:xfrm>
          <a:prstGeom prst="rect">
            <a:avLst/>
          </a:prstGeom>
          <a:noFill/>
        </p:spPr>
        <p:txBody>
          <a:bodyPr wrap="square" anchor="ctr" tIns="36576" bIns="36576">
            <a:spAutoFit/>
          </a:bodyPr>
          <a:lstStyle/>
          <a:p>
            <a:pPr algn="ctr"/>
            <a:r>
              <a:rPr sz="2400" b="1">
                <a:solidFill>
                  <a:srgbClr val="1F2A44"/>
                </a:solidFill>
                <a:latin typeface="Calibri"/>
              </a:rPr>
              <a:t>Besprechen</a:t>
            </a:r>
          </a:p>
        </p:txBody>
      </p:sp>
      <p:sp>
        <p:nvSpPr>
          <p:cNvPr id="15" name="Rectangle 14"/>
          <p:cNvSpPr/>
          <p:nvPr/>
        </p:nvSpPr>
        <p:spPr>
          <a:xfrm>
            <a:off x="10450024"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50024" y="0"/>
            <a:ext cx="1741670" cy="457200"/>
          </a:xfrm>
          <a:prstGeom prst="rect">
            <a:avLst/>
          </a:prstGeom>
          <a:noFill/>
        </p:spPr>
        <p:txBody>
          <a:bodyPr wrap="square" anchor="ctr" tIns="36576" bIns="36576">
            <a:spAutoFit/>
          </a:bodyPr>
          <a:lstStyle/>
          <a:p>
            <a:pPr algn="ctr"/>
            <a:r>
              <a:rPr sz="2400" b="0">
                <a:solidFill>
                  <a:srgbClr val="FFFFFF"/>
                </a:solidFill>
                <a:latin typeface="Calibri"/>
              </a:rPr>
              <a:t>Abschluss</a:t>
            </a:r>
          </a:p>
        </p:txBody>
      </p:sp>
      <p:sp>
        <p:nvSpPr>
          <p:cNvPr id="17" name="Titel"/>
          <p:cNvSpPr txBox="1"/>
          <p:nvPr/>
        </p:nvSpPr>
        <p:spPr>
          <a:xfrm>
            <a:off x="548640" y="530352"/>
            <a:ext cx="11155680" cy="868680"/>
          </a:xfrm>
          <a:prstGeom prst="rect">
            <a:avLst/>
          </a:prstGeom>
          <a:noFill/>
        </p:spPr>
        <p:txBody>
          <a:bodyPr wrap="square" anchor="ctr" tIns="36576" bIns="36576">
            <a:spAutoFit/>
          </a:bodyPr>
          <a:lstStyle/>
          <a:p>
            <a:pPr algn="l"/>
            <a:r>
              <a:rPr sz="4000" b="1">
                <a:solidFill>
                  <a:srgbClr val="1F2A44"/>
                </a:solidFill>
                <a:latin typeface="Calibri"/>
              </a:rPr>
              <a:t>Wir besprechen gemeinsam</a:t>
            </a:r>
          </a:p>
        </p:txBody>
      </p:sp>
      <p:sp>
        <p:nvSpPr>
          <p:cNvPr id="18" name="Rectangle 17"/>
          <p:cNvSpPr/>
          <p:nvPr/>
        </p:nvSpPr>
        <p:spPr>
          <a:xfrm>
            <a:off x="640080" y="1371600"/>
            <a:ext cx="1463040" cy="6400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 y="1828800"/>
            <a:ext cx="10881360" cy="123444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0080" y="1828800"/>
            <a:ext cx="109728" cy="123444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14400" y="2103120"/>
            <a:ext cx="685800" cy="6858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3000" b="1">
                <a:solidFill>
                  <a:srgbClr val="FFFFFF"/>
                </a:solidFill>
                <a:latin typeface="Calibri"/>
              </a:rPr>
              <a:t>1</a:t>
            </a:r>
          </a:p>
        </p:txBody>
      </p:sp>
      <p:sp>
        <p:nvSpPr>
          <p:cNvPr id="22" name="TextBox 21"/>
          <p:cNvSpPr txBox="1"/>
          <p:nvPr/>
        </p:nvSpPr>
        <p:spPr>
          <a:xfrm>
            <a:off x="1920240" y="1828800"/>
            <a:ext cx="9418320" cy="1234440"/>
          </a:xfrm>
          <a:prstGeom prst="rect">
            <a:avLst/>
          </a:prstGeom>
          <a:noFill/>
        </p:spPr>
        <p:txBody>
          <a:bodyPr wrap="square" anchor="ctr" tIns="36576" bIns="36576">
            <a:spAutoFit/>
          </a:bodyPr>
          <a:lstStyle/>
          <a:p>
            <a:pPr algn="l"/>
            <a:r>
              <a:rPr sz="3200" b="0">
                <a:solidFill>
                  <a:srgbClr val="1F2A44"/>
                </a:solidFill>
                <a:latin typeface="Calibri"/>
              </a:rPr>
              <a:t>Vertrags-Detektiv: Wer findet die Fehler?</a:t>
            </a:r>
          </a:p>
        </p:txBody>
      </p:sp>
      <p:sp>
        <p:nvSpPr>
          <p:cNvPr id="23" name="Rectangle 22"/>
          <p:cNvSpPr/>
          <p:nvPr/>
        </p:nvSpPr>
        <p:spPr>
          <a:xfrm>
            <a:off x="640080" y="3291840"/>
            <a:ext cx="10881360" cy="123444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0080" y="3291840"/>
            <a:ext cx="109728" cy="123444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14400" y="3566160"/>
            <a:ext cx="685800" cy="6858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3000" b="1">
                <a:solidFill>
                  <a:srgbClr val="FFFFFF"/>
                </a:solidFill>
                <a:latin typeface="Calibri"/>
              </a:rPr>
              <a:t>2</a:t>
            </a:r>
          </a:p>
        </p:txBody>
      </p:sp>
      <p:sp>
        <p:nvSpPr>
          <p:cNvPr id="26" name="TextBox 25"/>
          <p:cNvSpPr txBox="1"/>
          <p:nvPr/>
        </p:nvSpPr>
        <p:spPr>
          <a:xfrm>
            <a:off x="1920240" y="3291840"/>
            <a:ext cx="9418320" cy="1234440"/>
          </a:xfrm>
          <a:prstGeom prst="rect">
            <a:avLst/>
          </a:prstGeom>
          <a:noFill/>
        </p:spPr>
        <p:txBody>
          <a:bodyPr wrap="square" anchor="ctr" tIns="36576" bIns="36576">
            <a:spAutoFit/>
          </a:bodyPr>
          <a:lstStyle/>
          <a:p>
            <a:pPr algn="l"/>
            <a:r>
              <a:rPr sz="3200" b="0">
                <a:solidFill>
                  <a:srgbClr val="1F2A44"/>
                </a:solidFill>
                <a:latin typeface="Calibri"/>
              </a:rPr>
              <a:t>IHK-Fälle A bis C: abstimmen und begründen</a:t>
            </a:r>
          </a:p>
        </p:txBody>
      </p:sp>
      <p:sp>
        <p:nvSpPr>
          <p:cNvPr id="27" name="Rounded Rectangle 26"/>
          <p:cNvSpPr/>
          <p:nvPr/>
        </p:nvSpPr>
        <p:spPr>
          <a:xfrm>
            <a:off x="502920" y="6327648"/>
            <a:ext cx="1344168" cy="420624"/>
          </a:xfrm>
          <a:prstGeom prst="roundRect">
            <a:avLst>
              <a:gd name="adj" fmla="val 4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2920" y="6327648"/>
            <a:ext cx="1344168" cy="420624"/>
          </a:xfrm>
          <a:prstGeom prst="rect">
            <a:avLst/>
          </a:prstGeom>
          <a:noFill/>
        </p:spPr>
        <p:txBody>
          <a:bodyPr wrap="square" anchor="ctr" tIns="36576" bIns="36576">
            <a:spAutoFit/>
          </a:bodyPr>
          <a:lstStyle/>
          <a:p>
            <a:pPr algn="ctr"/>
            <a:r>
              <a:rPr sz="2400" b="1">
                <a:solidFill>
                  <a:srgbClr val="FFFFFF"/>
                </a:solidFill>
                <a:latin typeface="Calibri"/>
              </a:rPr>
              <a:t>Plenum</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square" anchor="ctr" tIns="36576" bIns="36576">
            <a:spAutoFit/>
          </a:bodyPr>
          <a:lstStyle/>
          <a:p>
            <a:pPr algn="ctr"/>
            <a:r>
              <a:rPr sz="2400" b="0">
                <a:solidFill>
                  <a:srgbClr val="FFFFFF"/>
                </a:solidFill>
                <a:latin typeface="Calibri"/>
              </a:rPr>
              <a:t>Einstieg</a:t>
            </a:r>
          </a:p>
        </p:txBody>
      </p:sp>
      <p:sp>
        <p:nvSpPr>
          <p:cNvPr id="5" name="Rectangle 4"/>
          <p:cNvSpPr/>
          <p:nvPr/>
        </p:nvSpPr>
        <p:spPr>
          <a:xfrm>
            <a:off x="174167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1</a:t>
            </a:r>
          </a:p>
        </p:txBody>
      </p:sp>
      <p:sp>
        <p:nvSpPr>
          <p:cNvPr id="7" name="Rectangle 6"/>
          <p:cNvSpPr/>
          <p:nvPr/>
        </p:nvSpPr>
        <p:spPr>
          <a:xfrm>
            <a:off x="3483341"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3341"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2</a:t>
            </a:r>
          </a:p>
        </p:txBody>
      </p:sp>
      <p:sp>
        <p:nvSpPr>
          <p:cNvPr id="9" name="Rectangle 8"/>
          <p:cNvSpPr/>
          <p:nvPr/>
        </p:nvSpPr>
        <p:spPr>
          <a:xfrm>
            <a:off x="5225012"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25012"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3</a:t>
            </a:r>
          </a:p>
        </p:txBody>
      </p:sp>
      <p:sp>
        <p:nvSpPr>
          <p:cNvPr id="11" name="Rectangle 10"/>
          <p:cNvSpPr/>
          <p:nvPr/>
        </p:nvSpPr>
        <p:spPr>
          <a:xfrm>
            <a:off x="6966682"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66682" y="0"/>
            <a:ext cx="1741670" cy="457200"/>
          </a:xfrm>
          <a:prstGeom prst="rect">
            <a:avLst/>
          </a:prstGeom>
          <a:noFill/>
        </p:spPr>
        <p:txBody>
          <a:bodyPr wrap="square" anchor="ctr" tIns="36576" bIns="36576">
            <a:spAutoFit/>
          </a:bodyPr>
          <a:lstStyle/>
          <a:p>
            <a:pPr algn="ctr"/>
            <a:r>
              <a:rPr sz="2400" b="0">
                <a:solidFill>
                  <a:srgbClr val="FFFFFF"/>
                </a:solidFill>
                <a:latin typeface="Calibri"/>
              </a:rPr>
              <a:t>Üben</a:t>
            </a:r>
          </a:p>
        </p:txBody>
      </p:sp>
      <p:sp>
        <p:nvSpPr>
          <p:cNvPr id="13" name="Rectangle 12"/>
          <p:cNvSpPr/>
          <p:nvPr/>
        </p:nvSpPr>
        <p:spPr>
          <a:xfrm>
            <a:off x="8708353"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8353" y="0"/>
            <a:ext cx="1741670" cy="457200"/>
          </a:xfrm>
          <a:prstGeom prst="rect">
            <a:avLst/>
          </a:prstGeom>
          <a:noFill/>
        </p:spPr>
        <p:txBody>
          <a:bodyPr wrap="square" anchor="ctr" tIns="36576" bIns="36576">
            <a:spAutoFit/>
          </a:bodyPr>
          <a:lstStyle/>
          <a:p>
            <a:pPr algn="ctr"/>
            <a:r>
              <a:rPr sz="2400" b="1">
                <a:solidFill>
                  <a:srgbClr val="1F2A44"/>
                </a:solidFill>
                <a:latin typeface="Calibri"/>
              </a:rPr>
              <a:t>Besprechen</a:t>
            </a:r>
          </a:p>
        </p:txBody>
      </p:sp>
      <p:sp>
        <p:nvSpPr>
          <p:cNvPr id="15" name="Rectangle 14"/>
          <p:cNvSpPr/>
          <p:nvPr/>
        </p:nvSpPr>
        <p:spPr>
          <a:xfrm>
            <a:off x="10450024"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50024" y="0"/>
            <a:ext cx="1741670" cy="457200"/>
          </a:xfrm>
          <a:prstGeom prst="rect">
            <a:avLst/>
          </a:prstGeom>
          <a:noFill/>
        </p:spPr>
        <p:txBody>
          <a:bodyPr wrap="square" anchor="ctr" tIns="36576" bIns="36576">
            <a:spAutoFit/>
          </a:bodyPr>
          <a:lstStyle/>
          <a:p>
            <a:pPr algn="ctr"/>
            <a:r>
              <a:rPr sz="2400" b="0">
                <a:solidFill>
                  <a:srgbClr val="FFFFFF"/>
                </a:solidFill>
                <a:latin typeface="Calibri"/>
              </a:rPr>
              <a:t>Abschluss</a:t>
            </a:r>
          </a:p>
        </p:txBody>
      </p:sp>
      <p:sp>
        <p:nvSpPr>
          <p:cNvPr id="17" name="Auftrag"/>
          <p:cNvSpPr txBox="1"/>
          <p:nvPr/>
        </p:nvSpPr>
        <p:spPr>
          <a:xfrm>
            <a:off x="548640" y="502920"/>
            <a:ext cx="11155680" cy="548640"/>
          </a:xfrm>
          <a:prstGeom prst="rect">
            <a:avLst/>
          </a:prstGeom>
          <a:noFill/>
        </p:spPr>
        <p:txBody>
          <a:bodyPr wrap="square" anchor="t" tIns="36576" bIns="36576">
            <a:spAutoFit/>
          </a:bodyPr>
          <a:lstStyle/>
          <a:p>
            <a:pPr algn="l"/>
            <a:r>
              <a:rPr sz="2800" b="1">
                <a:solidFill>
                  <a:srgbClr val="7A4B00"/>
                </a:solidFill>
                <a:latin typeface="Calibri"/>
              </a:rPr>
              <a:t>Vertragsauszug – welche Zeilen enthalten einen Fehler?</a:t>
            </a:r>
          </a:p>
        </p:txBody>
      </p:sp>
      <p:sp>
        <p:nvSpPr>
          <p:cNvPr id="18" name="Vertragsauszug"/>
          <p:cNvSpPr/>
          <p:nvPr/>
        </p:nvSpPr>
        <p:spPr>
          <a:xfrm>
            <a:off x="640080" y="1097280"/>
            <a:ext cx="10881360" cy="5120640"/>
          </a:xfrm>
          <a:prstGeom prst="rect">
            <a:avLst/>
          </a:prstGeom>
          <a:solidFill>
            <a:srgbClr val="F6F8FC"/>
          </a:solidFill>
          <a:ln w="19050">
            <a:solidFill>
              <a:srgbClr val="B8C0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 y="1097280"/>
            <a:ext cx="10881360" cy="91440"/>
          </a:xfrm>
          <a:prstGeom prst="rect">
            <a:avLst/>
          </a:prstGeom>
          <a:solidFill>
            <a:srgbClr val="34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Vertragskopf"/>
          <p:cNvSpPr txBox="1"/>
          <p:nvPr/>
        </p:nvSpPr>
        <p:spPr>
          <a:xfrm>
            <a:off x="731519" y="1234439"/>
            <a:ext cx="10698480" cy="1371600"/>
          </a:xfrm>
          <a:prstGeom prst="rect">
            <a:avLst/>
          </a:prstGeom>
          <a:noFill/>
        </p:spPr>
        <p:txBody>
          <a:bodyPr wrap="square" anchor="t" tIns="36576" bIns="36576">
            <a:spAutoFit/>
          </a:bodyPr>
          <a:lstStyle/>
          <a:p>
            <a:pPr algn="l"/>
            <a:r>
              <a:rPr sz="1700" b="1">
                <a:solidFill>
                  <a:srgbClr val="1F2A44"/>
                </a:solidFill>
                <a:latin typeface="Times New Roman"/>
              </a:rPr>
              <a:t>Berufsausbildungsvertrag (Auszug, fiktiv)</a:t>
            </a:r>
          </a:p>
          <a:p>
            <a:pPr algn="l">
              <a:spcBef>
                <a:spcPts val="170"/>
              </a:spcBef>
            </a:pPr>
            <a:r>
              <a:rPr sz="1700" b="0">
                <a:solidFill>
                  <a:srgbClr val="1F2A44"/>
                </a:solidFill>
                <a:latin typeface="Times New Roman"/>
              </a:rPr>
              <a:t>Ausbildende: Muster GmbH (nicht tarifgebunden)</a:t>
            </a:r>
          </a:p>
          <a:p>
            <a:pPr algn="l">
              <a:spcBef>
                <a:spcPts val="170"/>
              </a:spcBef>
            </a:pPr>
            <a:r>
              <a:rPr sz="1700" b="0">
                <a:solidFill>
                  <a:srgbClr val="1F2A44"/>
                </a:solidFill>
                <a:latin typeface="Times New Roman"/>
              </a:rPr>
              <a:t>Auszubildender: Jonas Muster, geboren am 20.11.2009</a:t>
            </a:r>
          </a:p>
          <a:p>
            <a:pPr algn="l">
              <a:spcBef>
                <a:spcPts val="170"/>
              </a:spcBef>
            </a:pPr>
            <a:r>
              <a:rPr sz="1700" b="0">
                <a:solidFill>
                  <a:srgbClr val="1F2A44"/>
                </a:solidFill>
                <a:latin typeface="Times New Roman"/>
              </a:rPr>
              <a:t>Beruf: Kaufmann für Büromanagement</a:t>
            </a:r>
          </a:p>
        </p:txBody>
      </p:sp>
      <p:sp>
        <p:nvSpPr>
          <p:cNvPr id="21" name="Zeilennummer_1"/>
          <p:cNvSpPr/>
          <p:nvPr/>
        </p:nvSpPr>
        <p:spPr>
          <a:xfrm>
            <a:off x="777240" y="2364821"/>
            <a:ext cx="329184" cy="329184"/>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1800" b="1">
                <a:solidFill>
                  <a:srgbClr val="FFFFFF"/>
                </a:solidFill>
                <a:latin typeface="Calibri"/>
              </a:rPr>
              <a:t>1</a:t>
            </a:r>
          </a:p>
        </p:txBody>
      </p:sp>
      <p:sp>
        <p:nvSpPr>
          <p:cNvPr id="22" name="Zeile_1"/>
          <p:cNvSpPr txBox="1"/>
          <p:nvPr/>
        </p:nvSpPr>
        <p:spPr>
          <a:xfrm>
            <a:off x="1234440" y="2331720"/>
            <a:ext cx="10149840" cy="395386"/>
          </a:xfrm>
          <a:prstGeom prst="rect">
            <a:avLst/>
          </a:prstGeom>
          <a:noFill/>
        </p:spPr>
        <p:txBody>
          <a:bodyPr wrap="square" anchor="t" tIns="36576" bIns="36576">
            <a:spAutoFit/>
          </a:bodyPr>
          <a:lstStyle/>
          <a:p>
            <a:pPr algn="l"/>
            <a:r>
              <a:rPr sz="1700" b="0">
                <a:solidFill>
                  <a:srgbClr val="1F2A44"/>
                </a:solidFill>
                <a:latin typeface="Times New Roman"/>
              </a:rPr>
              <a:t>§ 1 Beginn und Dauer: Die Ausbildung beginnt am 01.09.2026 und dauert drei Jahre.</a:t>
            </a:r>
          </a:p>
        </p:txBody>
      </p:sp>
      <p:sp>
        <p:nvSpPr>
          <p:cNvPr id="23" name="Zeilennummer_2"/>
          <p:cNvSpPr/>
          <p:nvPr/>
        </p:nvSpPr>
        <p:spPr>
          <a:xfrm>
            <a:off x="777240" y="2796783"/>
            <a:ext cx="329184" cy="329184"/>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1800" b="1">
                <a:solidFill>
                  <a:srgbClr val="FFFFFF"/>
                </a:solidFill>
                <a:latin typeface="Calibri"/>
              </a:rPr>
              <a:t>2</a:t>
            </a:r>
          </a:p>
        </p:txBody>
      </p:sp>
      <p:sp>
        <p:nvSpPr>
          <p:cNvPr id="24" name="Zeile_2"/>
          <p:cNvSpPr txBox="1"/>
          <p:nvPr/>
        </p:nvSpPr>
        <p:spPr>
          <a:xfrm>
            <a:off x="1234440" y="2763682"/>
            <a:ext cx="10149840" cy="395386"/>
          </a:xfrm>
          <a:prstGeom prst="rect">
            <a:avLst/>
          </a:prstGeom>
          <a:noFill/>
        </p:spPr>
        <p:txBody>
          <a:bodyPr wrap="square" anchor="t" tIns="36576" bIns="36576">
            <a:spAutoFit/>
          </a:bodyPr>
          <a:lstStyle/>
          <a:p>
            <a:pPr algn="l"/>
            <a:r>
              <a:rPr sz="1700" b="0">
                <a:solidFill>
                  <a:srgbClr val="1F2A44"/>
                </a:solidFill>
                <a:latin typeface="Times New Roman"/>
              </a:rPr>
              <a:t>§ 2 Probezeit: Die Probezeit beträgt sechs Monate.</a:t>
            </a:r>
          </a:p>
        </p:txBody>
      </p:sp>
      <p:sp>
        <p:nvSpPr>
          <p:cNvPr id="25" name="Zeilennummer_3"/>
          <p:cNvSpPr/>
          <p:nvPr/>
        </p:nvSpPr>
        <p:spPr>
          <a:xfrm>
            <a:off x="777240" y="3362431"/>
            <a:ext cx="329184" cy="329184"/>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1800" b="1">
                <a:solidFill>
                  <a:srgbClr val="FFFFFF"/>
                </a:solidFill>
                <a:latin typeface="Calibri"/>
              </a:rPr>
              <a:t>3</a:t>
            </a:r>
          </a:p>
        </p:txBody>
      </p:sp>
      <p:sp>
        <p:nvSpPr>
          <p:cNvPr id="26" name="Zeile_3"/>
          <p:cNvSpPr txBox="1"/>
          <p:nvPr/>
        </p:nvSpPr>
        <p:spPr>
          <a:xfrm>
            <a:off x="1234440" y="3195645"/>
            <a:ext cx="10149840" cy="662757"/>
          </a:xfrm>
          <a:prstGeom prst="rect">
            <a:avLst/>
          </a:prstGeom>
          <a:noFill/>
        </p:spPr>
        <p:txBody>
          <a:bodyPr wrap="square" anchor="t" tIns="36576" bIns="36576">
            <a:spAutoFit/>
          </a:bodyPr>
          <a:lstStyle/>
          <a:p>
            <a:pPr algn="l"/>
            <a:r>
              <a:rPr sz="1700" b="0">
                <a:solidFill>
                  <a:srgbClr val="1F2A44"/>
                </a:solidFill>
                <a:latin typeface="Times New Roman"/>
              </a:rPr>
              <a:t>§ 3 Vergütung: Die monatliche Ausbildungsvergütung beträgt im 1. Ausbildungsjahr 650 € brutto.</a:t>
            </a:r>
          </a:p>
        </p:txBody>
      </p:sp>
      <p:sp>
        <p:nvSpPr>
          <p:cNvPr id="27" name="Zeilennummer_4"/>
          <p:cNvSpPr/>
          <p:nvPr/>
        </p:nvSpPr>
        <p:spPr>
          <a:xfrm>
            <a:off x="777240" y="3928079"/>
            <a:ext cx="329184" cy="329184"/>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1800" b="1">
                <a:solidFill>
                  <a:srgbClr val="FFFFFF"/>
                </a:solidFill>
                <a:latin typeface="Calibri"/>
              </a:rPr>
              <a:t>4</a:t>
            </a:r>
          </a:p>
        </p:txBody>
      </p:sp>
      <p:sp>
        <p:nvSpPr>
          <p:cNvPr id="28" name="Zeile_4"/>
          <p:cNvSpPr txBox="1"/>
          <p:nvPr/>
        </p:nvSpPr>
        <p:spPr>
          <a:xfrm>
            <a:off x="1234440" y="3894978"/>
            <a:ext cx="10149840" cy="395386"/>
          </a:xfrm>
          <a:prstGeom prst="rect">
            <a:avLst/>
          </a:prstGeom>
          <a:noFill/>
        </p:spPr>
        <p:txBody>
          <a:bodyPr wrap="square" anchor="t" tIns="36576" bIns="36576">
            <a:spAutoFit/>
          </a:bodyPr>
          <a:lstStyle/>
          <a:p>
            <a:pPr algn="l"/>
            <a:r>
              <a:rPr sz="1700" b="0">
                <a:solidFill>
                  <a:srgbClr val="1F2A44"/>
                </a:solidFill>
                <a:latin typeface="Times New Roman"/>
              </a:rPr>
              <a:t>§ 4 Ausbildungszeit: Die tägliche Ausbildungszeit beträgt 9 Stunden.</a:t>
            </a:r>
          </a:p>
        </p:txBody>
      </p:sp>
      <p:sp>
        <p:nvSpPr>
          <p:cNvPr id="29" name="Zeilennummer_5"/>
          <p:cNvSpPr/>
          <p:nvPr/>
        </p:nvSpPr>
        <p:spPr>
          <a:xfrm>
            <a:off x="777240" y="4360042"/>
            <a:ext cx="329184" cy="329184"/>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1800" b="1">
                <a:solidFill>
                  <a:srgbClr val="FFFFFF"/>
                </a:solidFill>
                <a:latin typeface="Calibri"/>
              </a:rPr>
              <a:t>5</a:t>
            </a:r>
          </a:p>
        </p:txBody>
      </p:sp>
      <p:sp>
        <p:nvSpPr>
          <p:cNvPr id="30" name="Zeile_5"/>
          <p:cNvSpPr txBox="1"/>
          <p:nvPr/>
        </p:nvSpPr>
        <p:spPr>
          <a:xfrm>
            <a:off x="1234440" y="4326940"/>
            <a:ext cx="10149840" cy="395386"/>
          </a:xfrm>
          <a:prstGeom prst="rect">
            <a:avLst/>
          </a:prstGeom>
          <a:noFill/>
        </p:spPr>
        <p:txBody>
          <a:bodyPr wrap="square" anchor="t" tIns="36576" bIns="36576">
            <a:spAutoFit/>
          </a:bodyPr>
          <a:lstStyle/>
          <a:p>
            <a:pPr algn="l"/>
            <a:r>
              <a:rPr sz="1700" b="0">
                <a:solidFill>
                  <a:srgbClr val="1F2A44"/>
                </a:solidFill>
                <a:latin typeface="Times New Roman"/>
              </a:rPr>
              <a:t>§ 5 Urlaub: Der Urlaubsanspruch beträgt 20 Werktage pro Kalenderjahr.</a:t>
            </a:r>
          </a:p>
        </p:txBody>
      </p:sp>
      <p:sp>
        <p:nvSpPr>
          <p:cNvPr id="31" name="Zeilennummer_6"/>
          <p:cNvSpPr/>
          <p:nvPr/>
        </p:nvSpPr>
        <p:spPr>
          <a:xfrm>
            <a:off x="777240" y="4925689"/>
            <a:ext cx="329184" cy="329184"/>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1800" b="1">
                <a:solidFill>
                  <a:srgbClr val="FFFFFF"/>
                </a:solidFill>
                <a:latin typeface="Calibri"/>
              </a:rPr>
              <a:t>6</a:t>
            </a:r>
          </a:p>
        </p:txBody>
      </p:sp>
      <p:sp>
        <p:nvSpPr>
          <p:cNvPr id="32" name="Zeile_6"/>
          <p:cNvSpPr txBox="1"/>
          <p:nvPr/>
        </p:nvSpPr>
        <p:spPr>
          <a:xfrm>
            <a:off x="1234440" y="4758903"/>
            <a:ext cx="10149840" cy="662757"/>
          </a:xfrm>
          <a:prstGeom prst="rect">
            <a:avLst/>
          </a:prstGeom>
          <a:noFill/>
        </p:spPr>
        <p:txBody>
          <a:bodyPr wrap="square" anchor="t" tIns="36576" bIns="36576">
            <a:spAutoFit/>
          </a:bodyPr>
          <a:lstStyle/>
          <a:p>
            <a:pPr algn="l"/>
            <a:r>
              <a:rPr sz="1700" b="0">
                <a:solidFill>
                  <a:srgbClr val="1F2A44"/>
                </a:solidFill>
                <a:latin typeface="Times New Roman"/>
              </a:rPr>
              <a:t>§ 6 Kündigung: Während der Probezeit kann das Ausbildungsverhältnis nur mit einer Frist von vier Wochen gekündigt werden.</a:t>
            </a:r>
          </a:p>
        </p:txBody>
      </p:sp>
      <p:sp>
        <p:nvSpPr>
          <p:cNvPr id="33" name="Zeilennummer_7"/>
          <p:cNvSpPr/>
          <p:nvPr/>
        </p:nvSpPr>
        <p:spPr>
          <a:xfrm>
            <a:off x="777240" y="5625023"/>
            <a:ext cx="329184" cy="329184"/>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1800" b="1">
                <a:solidFill>
                  <a:srgbClr val="FFFFFF"/>
                </a:solidFill>
                <a:latin typeface="Calibri"/>
              </a:rPr>
              <a:t>7</a:t>
            </a:r>
          </a:p>
        </p:txBody>
      </p:sp>
      <p:sp>
        <p:nvSpPr>
          <p:cNvPr id="34" name="Zeile_7"/>
          <p:cNvSpPr txBox="1"/>
          <p:nvPr/>
        </p:nvSpPr>
        <p:spPr>
          <a:xfrm>
            <a:off x="1234440" y="5458236"/>
            <a:ext cx="10149840" cy="662757"/>
          </a:xfrm>
          <a:prstGeom prst="rect">
            <a:avLst/>
          </a:prstGeom>
          <a:noFill/>
        </p:spPr>
        <p:txBody>
          <a:bodyPr wrap="square" anchor="t" tIns="36576" bIns="36576">
            <a:spAutoFit/>
          </a:bodyPr>
          <a:lstStyle/>
          <a:p>
            <a:pPr algn="l"/>
            <a:r>
              <a:rPr sz="1700" b="0">
                <a:solidFill>
                  <a:srgbClr val="1F2A44"/>
                </a:solidFill>
                <a:latin typeface="Times New Roman"/>
              </a:rPr>
              <a:t>§ 7 Pflichten: Die Ausbildungsmittel stellt der Betrieb kostenlos zur Verfügung. Der Auszubildende führt einen Ausbildungsnachweis.</a:t>
            </a:r>
          </a:p>
        </p:txBody>
      </p:sp>
      <p:sp>
        <p:nvSpPr>
          <p:cNvPr id="35" name="Rounded Rectangle 34"/>
          <p:cNvSpPr/>
          <p:nvPr/>
        </p:nvSpPr>
        <p:spPr>
          <a:xfrm>
            <a:off x="502920" y="6327648"/>
            <a:ext cx="2432304" cy="420624"/>
          </a:xfrm>
          <a:prstGeom prst="roundRect">
            <a:avLst>
              <a:gd name="adj" fmla="val 4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02920" y="6327648"/>
            <a:ext cx="2432304" cy="420624"/>
          </a:xfrm>
          <a:prstGeom prst="rect">
            <a:avLst/>
          </a:prstGeom>
          <a:noFill/>
        </p:spPr>
        <p:txBody>
          <a:bodyPr wrap="square" anchor="ctr" tIns="36576" bIns="36576">
            <a:spAutoFit/>
          </a:bodyPr>
          <a:lstStyle/>
          <a:p>
            <a:pPr algn="ctr"/>
            <a:r>
              <a:rPr sz="2400" b="1">
                <a:solidFill>
                  <a:srgbClr val="FFFFFF"/>
                </a:solidFill>
                <a:latin typeface="Calibri"/>
              </a:rPr>
              <a:t>Fehler nennen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square" anchor="ctr" tIns="36576" bIns="36576">
            <a:spAutoFit/>
          </a:bodyPr>
          <a:lstStyle/>
          <a:p>
            <a:pPr algn="ctr"/>
            <a:r>
              <a:rPr sz="2400" b="0">
                <a:solidFill>
                  <a:srgbClr val="FFFFFF"/>
                </a:solidFill>
                <a:latin typeface="Calibri"/>
              </a:rPr>
              <a:t>Einstieg</a:t>
            </a:r>
          </a:p>
        </p:txBody>
      </p:sp>
      <p:sp>
        <p:nvSpPr>
          <p:cNvPr id="5" name="Rectangle 4"/>
          <p:cNvSpPr/>
          <p:nvPr/>
        </p:nvSpPr>
        <p:spPr>
          <a:xfrm>
            <a:off x="174167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1</a:t>
            </a:r>
          </a:p>
        </p:txBody>
      </p:sp>
      <p:sp>
        <p:nvSpPr>
          <p:cNvPr id="7" name="Rectangle 6"/>
          <p:cNvSpPr/>
          <p:nvPr/>
        </p:nvSpPr>
        <p:spPr>
          <a:xfrm>
            <a:off x="3483341"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3341"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2</a:t>
            </a:r>
          </a:p>
        </p:txBody>
      </p:sp>
      <p:sp>
        <p:nvSpPr>
          <p:cNvPr id="9" name="Rectangle 8"/>
          <p:cNvSpPr/>
          <p:nvPr/>
        </p:nvSpPr>
        <p:spPr>
          <a:xfrm>
            <a:off x="5225012"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25012"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3</a:t>
            </a:r>
          </a:p>
        </p:txBody>
      </p:sp>
      <p:sp>
        <p:nvSpPr>
          <p:cNvPr id="11" name="Rectangle 10"/>
          <p:cNvSpPr/>
          <p:nvPr/>
        </p:nvSpPr>
        <p:spPr>
          <a:xfrm>
            <a:off x="6966682"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66682" y="0"/>
            <a:ext cx="1741670" cy="457200"/>
          </a:xfrm>
          <a:prstGeom prst="rect">
            <a:avLst/>
          </a:prstGeom>
          <a:noFill/>
        </p:spPr>
        <p:txBody>
          <a:bodyPr wrap="square" anchor="ctr" tIns="36576" bIns="36576">
            <a:spAutoFit/>
          </a:bodyPr>
          <a:lstStyle/>
          <a:p>
            <a:pPr algn="ctr"/>
            <a:r>
              <a:rPr sz="2400" b="0">
                <a:solidFill>
                  <a:srgbClr val="FFFFFF"/>
                </a:solidFill>
                <a:latin typeface="Calibri"/>
              </a:rPr>
              <a:t>Üben</a:t>
            </a:r>
          </a:p>
        </p:txBody>
      </p:sp>
      <p:sp>
        <p:nvSpPr>
          <p:cNvPr id="13" name="Rectangle 12"/>
          <p:cNvSpPr/>
          <p:nvPr/>
        </p:nvSpPr>
        <p:spPr>
          <a:xfrm>
            <a:off x="8708353"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8353" y="0"/>
            <a:ext cx="1741670" cy="457200"/>
          </a:xfrm>
          <a:prstGeom prst="rect">
            <a:avLst/>
          </a:prstGeom>
          <a:noFill/>
        </p:spPr>
        <p:txBody>
          <a:bodyPr wrap="square" anchor="ctr" tIns="36576" bIns="36576">
            <a:spAutoFit/>
          </a:bodyPr>
          <a:lstStyle/>
          <a:p>
            <a:pPr algn="ctr"/>
            <a:r>
              <a:rPr sz="2400" b="1">
                <a:solidFill>
                  <a:srgbClr val="1F2A44"/>
                </a:solidFill>
                <a:latin typeface="Calibri"/>
              </a:rPr>
              <a:t>Besprechen</a:t>
            </a:r>
          </a:p>
        </p:txBody>
      </p:sp>
      <p:sp>
        <p:nvSpPr>
          <p:cNvPr id="15" name="Rectangle 14"/>
          <p:cNvSpPr/>
          <p:nvPr/>
        </p:nvSpPr>
        <p:spPr>
          <a:xfrm>
            <a:off x="10450024"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50024" y="0"/>
            <a:ext cx="1741670" cy="457200"/>
          </a:xfrm>
          <a:prstGeom prst="rect">
            <a:avLst/>
          </a:prstGeom>
          <a:noFill/>
        </p:spPr>
        <p:txBody>
          <a:bodyPr wrap="square" anchor="ctr" tIns="36576" bIns="36576">
            <a:spAutoFit/>
          </a:bodyPr>
          <a:lstStyle/>
          <a:p>
            <a:pPr algn="ctr"/>
            <a:r>
              <a:rPr sz="2400" b="0">
                <a:solidFill>
                  <a:srgbClr val="FFFFFF"/>
                </a:solidFill>
                <a:latin typeface="Calibri"/>
              </a:rPr>
              <a:t>Abschluss</a:t>
            </a:r>
          </a:p>
        </p:txBody>
      </p:sp>
      <p:sp>
        <p:nvSpPr>
          <p:cNvPr id="17" name="Antwortrahmen"/>
          <p:cNvSpPr/>
          <p:nvPr/>
        </p:nvSpPr>
        <p:spPr>
          <a:xfrm>
            <a:off x="411480" y="566928"/>
            <a:ext cx="11365992" cy="5669280"/>
          </a:xfrm>
          <a:prstGeom prst="rect">
            <a:avLst/>
          </a:prstGeom>
          <a:noFill/>
          <a:ln w="76200">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Haken: Antwortfolie"/>
          <p:cNvPicPr>
            <a:picLocks noChangeAspect="1"/>
          </p:cNvPicPr>
          <p:nvPr/>
        </p:nvPicPr>
        <p:blipFill>
          <a:blip r:embed="rId3"/>
          <a:stretch>
            <a:fillRect/>
          </a:stretch>
        </p:blipFill>
        <p:spPr>
          <a:xfrm>
            <a:off x="10972800" y="640080"/>
            <a:ext cx="685800" cy="685800"/>
          </a:xfrm>
          <a:prstGeom prst="rect">
            <a:avLst/>
          </a:prstGeom>
        </p:spPr>
      </p:pic>
      <p:sp>
        <p:nvSpPr>
          <p:cNvPr id="19" name="Titel"/>
          <p:cNvSpPr txBox="1"/>
          <p:nvPr/>
        </p:nvSpPr>
        <p:spPr>
          <a:xfrm>
            <a:off x="640080" y="594360"/>
            <a:ext cx="10241280" cy="822960"/>
          </a:xfrm>
          <a:prstGeom prst="rect">
            <a:avLst/>
          </a:prstGeom>
          <a:noFill/>
        </p:spPr>
        <p:txBody>
          <a:bodyPr wrap="square" anchor="ctr" tIns="36576" bIns="36576">
            <a:spAutoFit/>
          </a:bodyPr>
          <a:lstStyle/>
          <a:p>
            <a:pPr algn="l"/>
            <a:r>
              <a:rPr sz="4000" b="1">
                <a:solidFill>
                  <a:srgbClr val="1F2A44"/>
                </a:solidFill>
                <a:latin typeface="Calibri"/>
              </a:rPr>
              <a:t>Auflösung Vertrags-Detektiv (1 von 3)</a:t>
            </a:r>
          </a:p>
        </p:txBody>
      </p:sp>
      <p:sp>
        <p:nvSpPr>
          <p:cNvPr id="20" name="Fehlerzeile_1"/>
          <p:cNvSpPr/>
          <p:nvPr/>
        </p:nvSpPr>
        <p:spPr>
          <a:xfrm>
            <a:off x="731520" y="1645920"/>
            <a:ext cx="10698480" cy="1097280"/>
          </a:xfrm>
          <a:prstGeom prst="rect">
            <a:avLst/>
          </a:prstGeom>
          <a:solidFill>
            <a:srgbClr val="FDE3E1"/>
          </a:solidFill>
          <a:ln w="38100">
            <a:solidFill>
              <a:srgbClr val="B3261E"/>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r>
              <a:rPr sz="2400" b="1">
                <a:solidFill>
                  <a:srgbClr val="B3261E"/>
                </a:solidFill>
                <a:latin typeface="Times New Roman"/>
              </a:rPr>
              <a:t>Fehler 1  </a:t>
            </a:r>
            <a:r>
              <a:rPr sz="2400" b="0">
                <a:solidFill>
                  <a:srgbClr val="1F2A44"/>
                </a:solidFill>
                <a:latin typeface="Times New Roman"/>
              </a:rPr>
              <a:t>§ 2 Probezeit: Die Probezeit beträgt sechs Monate.</a:t>
            </a:r>
          </a:p>
        </p:txBody>
      </p:sp>
      <p:sp>
        <p:nvSpPr>
          <p:cNvPr id="21" name="Regel_Fehler_1"/>
          <p:cNvSpPr/>
          <p:nvPr/>
        </p:nvSpPr>
        <p:spPr>
          <a:xfrm>
            <a:off x="731520" y="2834640"/>
            <a:ext cx="10698480" cy="914400"/>
          </a:xfrm>
          <a:prstGeom prst="rect">
            <a:avLst/>
          </a:prstGeom>
          <a:solidFill>
            <a:srgbClr val="FFF0D1"/>
          </a:solidFill>
          <a:ln w="38100">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r>
              <a:rPr sz="2800" b="1">
                <a:solidFill>
                  <a:srgbClr val="7A4B00"/>
                </a:solidFill>
                <a:latin typeface="Calibri"/>
              </a:rPr>
              <a:t>Regel: </a:t>
            </a:r>
            <a:r>
              <a:rPr sz="2800" b="1">
                <a:solidFill>
                  <a:srgbClr val="1F2A44"/>
                </a:solidFill>
                <a:latin typeface="Calibri"/>
              </a:rPr>
              <a:t>höchstens vier Monate (§ 20 BBiG)</a:t>
            </a:r>
          </a:p>
        </p:txBody>
      </p:sp>
      <p:sp>
        <p:nvSpPr>
          <p:cNvPr id="22" name="Fehlerzeile_2"/>
          <p:cNvSpPr/>
          <p:nvPr/>
        </p:nvSpPr>
        <p:spPr>
          <a:xfrm>
            <a:off x="731520" y="3977639"/>
            <a:ext cx="10698480" cy="1097280"/>
          </a:xfrm>
          <a:prstGeom prst="rect">
            <a:avLst/>
          </a:prstGeom>
          <a:solidFill>
            <a:srgbClr val="FDE3E1"/>
          </a:solidFill>
          <a:ln w="38100">
            <a:solidFill>
              <a:srgbClr val="B3261E"/>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r>
              <a:rPr sz="2400" b="1">
                <a:solidFill>
                  <a:srgbClr val="B3261E"/>
                </a:solidFill>
                <a:latin typeface="Times New Roman"/>
              </a:rPr>
              <a:t>Fehler 2  </a:t>
            </a:r>
            <a:r>
              <a:rPr sz="2400" b="0">
                <a:solidFill>
                  <a:srgbClr val="1F2A44"/>
                </a:solidFill>
                <a:latin typeface="Times New Roman"/>
              </a:rPr>
              <a:t>§ 3 Vergütung: Die monatliche Ausbildungsvergütung beträgt im 1. Ausbildungsjahr 650 € brutto.</a:t>
            </a:r>
          </a:p>
        </p:txBody>
      </p:sp>
      <p:sp>
        <p:nvSpPr>
          <p:cNvPr id="23" name="Regel_Fehler_2"/>
          <p:cNvSpPr/>
          <p:nvPr/>
        </p:nvSpPr>
        <p:spPr>
          <a:xfrm>
            <a:off x="731520" y="5166359"/>
            <a:ext cx="10698480" cy="914400"/>
          </a:xfrm>
          <a:prstGeom prst="rect">
            <a:avLst/>
          </a:prstGeom>
          <a:solidFill>
            <a:srgbClr val="FFF0D1"/>
          </a:solidFill>
          <a:ln w="38100">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r>
              <a:rPr sz="2800" b="1">
                <a:solidFill>
                  <a:srgbClr val="7A4B00"/>
                </a:solidFill>
                <a:latin typeface="Calibri"/>
              </a:rPr>
              <a:t>Regel: </a:t>
            </a:r>
            <a:r>
              <a:rPr sz="2800" b="1">
                <a:solidFill>
                  <a:srgbClr val="1F2A44"/>
                </a:solidFill>
                <a:latin typeface="Calibri"/>
              </a:rPr>
              <a:t>mindestens 724 € im 1. Jahr (§ 17 BBiG)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23" grpId="0" animBg="1"/>
    </p:bldLst>
  </p:timing>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square" anchor="ctr" tIns="36576" bIns="36576">
            <a:spAutoFit/>
          </a:bodyPr>
          <a:lstStyle/>
          <a:p>
            <a:pPr algn="ctr"/>
            <a:r>
              <a:rPr sz="2400" b="0">
                <a:solidFill>
                  <a:srgbClr val="FFFFFF"/>
                </a:solidFill>
                <a:latin typeface="Calibri"/>
              </a:rPr>
              <a:t>Einstieg</a:t>
            </a:r>
          </a:p>
        </p:txBody>
      </p:sp>
      <p:sp>
        <p:nvSpPr>
          <p:cNvPr id="5" name="Rectangle 4"/>
          <p:cNvSpPr/>
          <p:nvPr/>
        </p:nvSpPr>
        <p:spPr>
          <a:xfrm>
            <a:off x="174167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1</a:t>
            </a:r>
          </a:p>
        </p:txBody>
      </p:sp>
      <p:sp>
        <p:nvSpPr>
          <p:cNvPr id="7" name="Rectangle 6"/>
          <p:cNvSpPr/>
          <p:nvPr/>
        </p:nvSpPr>
        <p:spPr>
          <a:xfrm>
            <a:off x="3483341"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3341"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2</a:t>
            </a:r>
          </a:p>
        </p:txBody>
      </p:sp>
      <p:sp>
        <p:nvSpPr>
          <p:cNvPr id="9" name="Rectangle 8"/>
          <p:cNvSpPr/>
          <p:nvPr/>
        </p:nvSpPr>
        <p:spPr>
          <a:xfrm>
            <a:off x="5225012"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25012"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3</a:t>
            </a:r>
          </a:p>
        </p:txBody>
      </p:sp>
      <p:sp>
        <p:nvSpPr>
          <p:cNvPr id="11" name="Rectangle 10"/>
          <p:cNvSpPr/>
          <p:nvPr/>
        </p:nvSpPr>
        <p:spPr>
          <a:xfrm>
            <a:off x="6966682"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66682" y="0"/>
            <a:ext cx="1741670" cy="457200"/>
          </a:xfrm>
          <a:prstGeom prst="rect">
            <a:avLst/>
          </a:prstGeom>
          <a:noFill/>
        </p:spPr>
        <p:txBody>
          <a:bodyPr wrap="square" anchor="ctr" tIns="36576" bIns="36576">
            <a:spAutoFit/>
          </a:bodyPr>
          <a:lstStyle/>
          <a:p>
            <a:pPr algn="ctr"/>
            <a:r>
              <a:rPr sz="2400" b="0">
                <a:solidFill>
                  <a:srgbClr val="FFFFFF"/>
                </a:solidFill>
                <a:latin typeface="Calibri"/>
              </a:rPr>
              <a:t>Üben</a:t>
            </a:r>
          </a:p>
        </p:txBody>
      </p:sp>
      <p:sp>
        <p:nvSpPr>
          <p:cNvPr id="13" name="Rectangle 12"/>
          <p:cNvSpPr/>
          <p:nvPr/>
        </p:nvSpPr>
        <p:spPr>
          <a:xfrm>
            <a:off x="8708353"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8353" y="0"/>
            <a:ext cx="1741670" cy="457200"/>
          </a:xfrm>
          <a:prstGeom prst="rect">
            <a:avLst/>
          </a:prstGeom>
          <a:noFill/>
        </p:spPr>
        <p:txBody>
          <a:bodyPr wrap="square" anchor="ctr" tIns="36576" bIns="36576">
            <a:spAutoFit/>
          </a:bodyPr>
          <a:lstStyle/>
          <a:p>
            <a:pPr algn="ctr"/>
            <a:r>
              <a:rPr sz="2400" b="1">
                <a:solidFill>
                  <a:srgbClr val="1F2A44"/>
                </a:solidFill>
                <a:latin typeface="Calibri"/>
              </a:rPr>
              <a:t>Besprechen</a:t>
            </a:r>
          </a:p>
        </p:txBody>
      </p:sp>
      <p:sp>
        <p:nvSpPr>
          <p:cNvPr id="15" name="Rectangle 14"/>
          <p:cNvSpPr/>
          <p:nvPr/>
        </p:nvSpPr>
        <p:spPr>
          <a:xfrm>
            <a:off x="10450024"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50024" y="0"/>
            <a:ext cx="1741670" cy="457200"/>
          </a:xfrm>
          <a:prstGeom prst="rect">
            <a:avLst/>
          </a:prstGeom>
          <a:noFill/>
        </p:spPr>
        <p:txBody>
          <a:bodyPr wrap="square" anchor="ctr" tIns="36576" bIns="36576">
            <a:spAutoFit/>
          </a:bodyPr>
          <a:lstStyle/>
          <a:p>
            <a:pPr algn="ctr"/>
            <a:r>
              <a:rPr sz="2400" b="0">
                <a:solidFill>
                  <a:srgbClr val="FFFFFF"/>
                </a:solidFill>
                <a:latin typeface="Calibri"/>
              </a:rPr>
              <a:t>Abschluss</a:t>
            </a:r>
          </a:p>
        </p:txBody>
      </p:sp>
      <p:sp>
        <p:nvSpPr>
          <p:cNvPr id="17" name="Antwortrahmen"/>
          <p:cNvSpPr/>
          <p:nvPr/>
        </p:nvSpPr>
        <p:spPr>
          <a:xfrm>
            <a:off x="411480" y="566928"/>
            <a:ext cx="11365992" cy="5669280"/>
          </a:xfrm>
          <a:prstGeom prst="rect">
            <a:avLst/>
          </a:prstGeom>
          <a:noFill/>
          <a:ln w="76200">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Haken: Antwortfolie"/>
          <p:cNvPicPr>
            <a:picLocks noChangeAspect="1"/>
          </p:cNvPicPr>
          <p:nvPr/>
        </p:nvPicPr>
        <p:blipFill>
          <a:blip r:embed="rId3"/>
          <a:stretch>
            <a:fillRect/>
          </a:stretch>
        </p:blipFill>
        <p:spPr>
          <a:xfrm>
            <a:off x="10972800" y="640080"/>
            <a:ext cx="685800" cy="685800"/>
          </a:xfrm>
          <a:prstGeom prst="rect">
            <a:avLst/>
          </a:prstGeom>
        </p:spPr>
      </p:pic>
      <p:sp>
        <p:nvSpPr>
          <p:cNvPr id="19" name="Titel"/>
          <p:cNvSpPr txBox="1"/>
          <p:nvPr/>
        </p:nvSpPr>
        <p:spPr>
          <a:xfrm>
            <a:off x="640080" y="594360"/>
            <a:ext cx="10241280" cy="822960"/>
          </a:xfrm>
          <a:prstGeom prst="rect">
            <a:avLst/>
          </a:prstGeom>
          <a:noFill/>
        </p:spPr>
        <p:txBody>
          <a:bodyPr wrap="square" anchor="ctr" tIns="36576" bIns="36576">
            <a:spAutoFit/>
          </a:bodyPr>
          <a:lstStyle/>
          <a:p>
            <a:pPr algn="l"/>
            <a:r>
              <a:rPr sz="4000" b="1">
                <a:solidFill>
                  <a:srgbClr val="1F2A44"/>
                </a:solidFill>
                <a:latin typeface="Calibri"/>
              </a:rPr>
              <a:t>Auflösung Vertrags-Detektiv (2 von 3)</a:t>
            </a:r>
          </a:p>
        </p:txBody>
      </p:sp>
      <p:sp>
        <p:nvSpPr>
          <p:cNvPr id="20" name="Fehlerzeile_3"/>
          <p:cNvSpPr/>
          <p:nvPr/>
        </p:nvSpPr>
        <p:spPr>
          <a:xfrm>
            <a:off x="731520" y="1645920"/>
            <a:ext cx="10698480" cy="1097280"/>
          </a:xfrm>
          <a:prstGeom prst="rect">
            <a:avLst/>
          </a:prstGeom>
          <a:solidFill>
            <a:srgbClr val="FDE3E1"/>
          </a:solidFill>
          <a:ln w="38100">
            <a:solidFill>
              <a:srgbClr val="B3261E"/>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r>
              <a:rPr sz="2400" b="1">
                <a:solidFill>
                  <a:srgbClr val="B3261E"/>
                </a:solidFill>
                <a:latin typeface="Times New Roman"/>
              </a:rPr>
              <a:t>Fehler 3  </a:t>
            </a:r>
            <a:r>
              <a:rPr sz="2400" b="0">
                <a:solidFill>
                  <a:srgbClr val="1F2A44"/>
                </a:solidFill>
                <a:latin typeface="Times New Roman"/>
              </a:rPr>
              <a:t>§ 4 Ausbildungszeit: Die tägliche Ausbildungszeit beträgt 9 Stunden.</a:t>
            </a:r>
          </a:p>
        </p:txBody>
      </p:sp>
      <p:sp>
        <p:nvSpPr>
          <p:cNvPr id="21" name="Regel_Fehler_3"/>
          <p:cNvSpPr/>
          <p:nvPr/>
        </p:nvSpPr>
        <p:spPr>
          <a:xfrm>
            <a:off x="731520" y="2834640"/>
            <a:ext cx="10698480" cy="914400"/>
          </a:xfrm>
          <a:prstGeom prst="rect">
            <a:avLst/>
          </a:prstGeom>
          <a:solidFill>
            <a:srgbClr val="FFF0D1"/>
          </a:solidFill>
          <a:ln w="38100">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r>
              <a:rPr sz="2800" b="1">
                <a:solidFill>
                  <a:srgbClr val="7A4B00"/>
                </a:solidFill>
                <a:latin typeface="Calibri"/>
              </a:rPr>
              <a:t>Regel: </a:t>
            </a:r>
            <a:r>
              <a:rPr sz="2800" b="1">
                <a:solidFill>
                  <a:srgbClr val="1F2A44"/>
                </a:solidFill>
                <a:latin typeface="Calibri"/>
              </a:rPr>
              <a:t>Jugendliche höchstens 8 Stunden täglich und 40 pro Woche (§ 8 JArbSchG)</a:t>
            </a:r>
          </a:p>
        </p:txBody>
      </p:sp>
      <p:sp>
        <p:nvSpPr>
          <p:cNvPr id="22" name="Fehlerzeile_4"/>
          <p:cNvSpPr/>
          <p:nvPr/>
        </p:nvSpPr>
        <p:spPr>
          <a:xfrm>
            <a:off x="731520" y="3977639"/>
            <a:ext cx="10698480" cy="1097280"/>
          </a:xfrm>
          <a:prstGeom prst="rect">
            <a:avLst/>
          </a:prstGeom>
          <a:solidFill>
            <a:srgbClr val="FDE3E1"/>
          </a:solidFill>
          <a:ln w="38100">
            <a:solidFill>
              <a:srgbClr val="B3261E"/>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r>
              <a:rPr sz="2400" b="1">
                <a:solidFill>
                  <a:srgbClr val="B3261E"/>
                </a:solidFill>
                <a:latin typeface="Times New Roman"/>
              </a:rPr>
              <a:t>Fehler 4  </a:t>
            </a:r>
            <a:r>
              <a:rPr sz="2400" b="0">
                <a:solidFill>
                  <a:srgbClr val="1F2A44"/>
                </a:solidFill>
                <a:latin typeface="Times New Roman"/>
              </a:rPr>
              <a:t>§ 5 Urlaub: Der Urlaubsanspruch beträgt 20 Werktage pro Kalenderjahr.</a:t>
            </a:r>
          </a:p>
        </p:txBody>
      </p:sp>
      <p:sp>
        <p:nvSpPr>
          <p:cNvPr id="23" name="Regel_Fehler_4"/>
          <p:cNvSpPr/>
          <p:nvPr/>
        </p:nvSpPr>
        <p:spPr>
          <a:xfrm>
            <a:off x="731520" y="5166359"/>
            <a:ext cx="10698480" cy="914400"/>
          </a:xfrm>
          <a:prstGeom prst="rect">
            <a:avLst/>
          </a:prstGeom>
          <a:solidFill>
            <a:srgbClr val="FFF0D1"/>
          </a:solidFill>
          <a:ln w="38100">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r>
              <a:rPr sz="2800" b="1">
                <a:solidFill>
                  <a:srgbClr val="7A4B00"/>
                </a:solidFill>
                <a:latin typeface="Calibri"/>
              </a:rPr>
              <a:t>Regel: </a:t>
            </a:r>
            <a:r>
              <a:rPr sz="2800" b="1">
                <a:solidFill>
                  <a:srgbClr val="1F2A44"/>
                </a:solidFill>
                <a:latin typeface="Calibri"/>
              </a:rPr>
              <a:t>mindestens 24 Werktage, Jugendliche je nach Alter 25 bis 30 (§ 3 BUrlG, § 19 JArbSchG)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23" grpId="0" animBg="1"/>
    </p:bldLst>
  </p:timing>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square" anchor="ctr" tIns="36576" bIns="36576">
            <a:spAutoFit/>
          </a:bodyPr>
          <a:lstStyle/>
          <a:p>
            <a:pPr algn="ctr"/>
            <a:r>
              <a:rPr sz="2400" b="0">
                <a:solidFill>
                  <a:srgbClr val="FFFFFF"/>
                </a:solidFill>
                <a:latin typeface="Calibri"/>
              </a:rPr>
              <a:t>Einstieg</a:t>
            </a:r>
          </a:p>
        </p:txBody>
      </p:sp>
      <p:sp>
        <p:nvSpPr>
          <p:cNvPr id="5" name="Rectangle 4"/>
          <p:cNvSpPr/>
          <p:nvPr/>
        </p:nvSpPr>
        <p:spPr>
          <a:xfrm>
            <a:off x="174167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1</a:t>
            </a:r>
          </a:p>
        </p:txBody>
      </p:sp>
      <p:sp>
        <p:nvSpPr>
          <p:cNvPr id="7" name="Rectangle 6"/>
          <p:cNvSpPr/>
          <p:nvPr/>
        </p:nvSpPr>
        <p:spPr>
          <a:xfrm>
            <a:off x="3483341"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3341"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2</a:t>
            </a:r>
          </a:p>
        </p:txBody>
      </p:sp>
      <p:sp>
        <p:nvSpPr>
          <p:cNvPr id="9" name="Rectangle 8"/>
          <p:cNvSpPr/>
          <p:nvPr/>
        </p:nvSpPr>
        <p:spPr>
          <a:xfrm>
            <a:off x="5225012"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25012"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3</a:t>
            </a:r>
          </a:p>
        </p:txBody>
      </p:sp>
      <p:sp>
        <p:nvSpPr>
          <p:cNvPr id="11" name="Rectangle 10"/>
          <p:cNvSpPr/>
          <p:nvPr/>
        </p:nvSpPr>
        <p:spPr>
          <a:xfrm>
            <a:off x="6966682"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66682" y="0"/>
            <a:ext cx="1741670" cy="457200"/>
          </a:xfrm>
          <a:prstGeom prst="rect">
            <a:avLst/>
          </a:prstGeom>
          <a:noFill/>
        </p:spPr>
        <p:txBody>
          <a:bodyPr wrap="square" anchor="ctr" tIns="36576" bIns="36576">
            <a:spAutoFit/>
          </a:bodyPr>
          <a:lstStyle/>
          <a:p>
            <a:pPr algn="ctr"/>
            <a:r>
              <a:rPr sz="2400" b="0">
                <a:solidFill>
                  <a:srgbClr val="FFFFFF"/>
                </a:solidFill>
                <a:latin typeface="Calibri"/>
              </a:rPr>
              <a:t>Üben</a:t>
            </a:r>
          </a:p>
        </p:txBody>
      </p:sp>
      <p:sp>
        <p:nvSpPr>
          <p:cNvPr id="13" name="Rectangle 12"/>
          <p:cNvSpPr/>
          <p:nvPr/>
        </p:nvSpPr>
        <p:spPr>
          <a:xfrm>
            <a:off x="8708353"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8353" y="0"/>
            <a:ext cx="1741670" cy="457200"/>
          </a:xfrm>
          <a:prstGeom prst="rect">
            <a:avLst/>
          </a:prstGeom>
          <a:noFill/>
        </p:spPr>
        <p:txBody>
          <a:bodyPr wrap="square" anchor="ctr" tIns="36576" bIns="36576">
            <a:spAutoFit/>
          </a:bodyPr>
          <a:lstStyle/>
          <a:p>
            <a:pPr algn="ctr"/>
            <a:r>
              <a:rPr sz="2400" b="1">
                <a:solidFill>
                  <a:srgbClr val="1F2A44"/>
                </a:solidFill>
                <a:latin typeface="Calibri"/>
              </a:rPr>
              <a:t>Besprechen</a:t>
            </a:r>
          </a:p>
        </p:txBody>
      </p:sp>
      <p:sp>
        <p:nvSpPr>
          <p:cNvPr id="15" name="Rectangle 14"/>
          <p:cNvSpPr/>
          <p:nvPr/>
        </p:nvSpPr>
        <p:spPr>
          <a:xfrm>
            <a:off x="10450024"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50024" y="0"/>
            <a:ext cx="1741670" cy="457200"/>
          </a:xfrm>
          <a:prstGeom prst="rect">
            <a:avLst/>
          </a:prstGeom>
          <a:noFill/>
        </p:spPr>
        <p:txBody>
          <a:bodyPr wrap="square" anchor="ctr" tIns="36576" bIns="36576">
            <a:spAutoFit/>
          </a:bodyPr>
          <a:lstStyle/>
          <a:p>
            <a:pPr algn="ctr"/>
            <a:r>
              <a:rPr sz="2400" b="0">
                <a:solidFill>
                  <a:srgbClr val="FFFFFF"/>
                </a:solidFill>
                <a:latin typeface="Calibri"/>
              </a:rPr>
              <a:t>Abschluss</a:t>
            </a:r>
          </a:p>
        </p:txBody>
      </p:sp>
      <p:sp>
        <p:nvSpPr>
          <p:cNvPr id="17" name="Antwortrahmen"/>
          <p:cNvSpPr/>
          <p:nvPr/>
        </p:nvSpPr>
        <p:spPr>
          <a:xfrm>
            <a:off x="411480" y="566928"/>
            <a:ext cx="11365992" cy="5669280"/>
          </a:xfrm>
          <a:prstGeom prst="rect">
            <a:avLst/>
          </a:prstGeom>
          <a:noFill/>
          <a:ln w="76200">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Haken: Antwortfolie"/>
          <p:cNvPicPr>
            <a:picLocks noChangeAspect="1"/>
          </p:cNvPicPr>
          <p:nvPr/>
        </p:nvPicPr>
        <p:blipFill>
          <a:blip r:embed="rId3"/>
          <a:stretch>
            <a:fillRect/>
          </a:stretch>
        </p:blipFill>
        <p:spPr>
          <a:xfrm>
            <a:off x="10972800" y="640080"/>
            <a:ext cx="685800" cy="685800"/>
          </a:xfrm>
          <a:prstGeom prst="rect">
            <a:avLst/>
          </a:prstGeom>
        </p:spPr>
      </p:pic>
      <p:sp>
        <p:nvSpPr>
          <p:cNvPr id="19" name="Titel"/>
          <p:cNvSpPr txBox="1"/>
          <p:nvPr/>
        </p:nvSpPr>
        <p:spPr>
          <a:xfrm>
            <a:off x="640080" y="594360"/>
            <a:ext cx="10241280" cy="822960"/>
          </a:xfrm>
          <a:prstGeom prst="rect">
            <a:avLst/>
          </a:prstGeom>
          <a:noFill/>
        </p:spPr>
        <p:txBody>
          <a:bodyPr wrap="square" anchor="ctr" tIns="36576" bIns="36576">
            <a:spAutoFit/>
          </a:bodyPr>
          <a:lstStyle/>
          <a:p>
            <a:pPr algn="l"/>
            <a:r>
              <a:rPr sz="4000" b="1">
                <a:solidFill>
                  <a:srgbClr val="1F2A44"/>
                </a:solidFill>
                <a:latin typeface="Calibri"/>
              </a:rPr>
              <a:t>Auflösung Vertrags-Detektiv (3 von 3)</a:t>
            </a:r>
          </a:p>
        </p:txBody>
      </p:sp>
      <p:sp>
        <p:nvSpPr>
          <p:cNvPr id="20" name="Fehlerzeile_5"/>
          <p:cNvSpPr/>
          <p:nvPr/>
        </p:nvSpPr>
        <p:spPr>
          <a:xfrm>
            <a:off x="731520" y="1645920"/>
            <a:ext cx="10698480" cy="1097280"/>
          </a:xfrm>
          <a:prstGeom prst="rect">
            <a:avLst/>
          </a:prstGeom>
          <a:solidFill>
            <a:srgbClr val="FDE3E1"/>
          </a:solidFill>
          <a:ln w="38100">
            <a:solidFill>
              <a:srgbClr val="B3261E"/>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r>
              <a:rPr sz="2400" b="1">
                <a:solidFill>
                  <a:srgbClr val="B3261E"/>
                </a:solidFill>
                <a:latin typeface="Times New Roman"/>
              </a:rPr>
              <a:t>Fehler 5  </a:t>
            </a:r>
            <a:r>
              <a:rPr sz="2400" b="0">
                <a:solidFill>
                  <a:srgbClr val="1F2A44"/>
                </a:solidFill>
                <a:latin typeface="Times New Roman"/>
              </a:rPr>
              <a:t>§ 6 Kündigung: Während der Probezeit kann das Ausbildungsverhältnis nur mit einer Frist von vier Wochen gekündigt werden.</a:t>
            </a:r>
          </a:p>
        </p:txBody>
      </p:sp>
      <p:sp>
        <p:nvSpPr>
          <p:cNvPr id="21" name="Regel_Fehler_5"/>
          <p:cNvSpPr/>
          <p:nvPr/>
        </p:nvSpPr>
        <p:spPr>
          <a:xfrm>
            <a:off x="731520" y="2834640"/>
            <a:ext cx="10698480" cy="914400"/>
          </a:xfrm>
          <a:prstGeom prst="rect">
            <a:avLst/>
          </a:prstGeom>
          <a:solidFill>
            <a:srgbClr val="FFF0D1"/>
          </a:solidFill>
          <a:ln w="38100">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r>
              <a:rPr sz="2800" b="1">
                <a:solidFill>
                  <a:srgbClr val="7A4B00"/>
                </a:solidFill>
                <a:latin typeface="Calibri"/>
              </a:rPr>
              <a:t>Regel: </a:t>
            </a:r>
            <a:r>
              <a:rPr sz="2800" b="1">
                <a:solidFill>
                  <a:srgbClr val="1F2A44"/>
                </a:solidFill>
                <a:latin typeface="Calibri"/>
              </a:rPr>
              <a:t>in der Probezeit jederzeit ohne Frist, schriftlich (§ 22 Abs. 1 und 3 BBiG)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Lst>
  </p:timing>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square" anchor="ctr" tIns="36576" bIns="36576">
            <a:spAutoFit/>
          </a:bodyPr>
          <a:lstStyle/>
          <a:p>
            <a:pPr algn="ctr"/>
            <a:r>
              <a:rPr sz="2400" b="0">
                <a:solidFill>
                  <a:srgbClr val="FFFFFF"/>
                </a:solidFill>
                <a:latin typeface="Calibri"/>
              </a:rPr>
              <a:t>Einstieg</a:t>
            </a:r>
          </a:p>
        </p:txBody>
      </p:sp>
      <p:sp>
        <p:nvSpPr>
          <p:cNvPr id="5" name="Rectangle 4"/>
          <p:cNvSpPr/>
          <p:nvPr/>
        </p:nvSpPr>
        <p:spPr>
          <a:xfrm>
            <a:off x="174167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1</a:t>
            </a:r>
          </a:p>
        </p:txBody>
      </p:sp>
      <p:sp>
        <p:nvSpPr>
          <p:cNvPr id="7" name="Rectangle 6"/>
          <p:cNvSpPr/>
          <p:nvPr/>
        </p:nvSpPr>
        <p:spPr>
          <a:xfrm>
            <a:off x="3483341"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3341"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2</a:t>
            </a:r>
          </a:p>
        </p:txBody>
      </p:sp>
      <p:sp>
        <p:nvSpPr>
          <p:cNvPr id="9" name="Rectangle 8"/>
          <p:cNvSpPr/>
          <p:nvPr/>
        </p:nvSpPr>
        <p:spPr>
          <a:xfrm>
            <a:off x="5225012"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25012"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3</a:t>
            </a:r>
          </a:p>
        </p:txBody>
      </p:sp>
      <p:sp>
        <p:nvSpPr>
          <p:cNvPr id="11" name="Rectangle 10"/>
          <p:cNvSpPr/>
          <p:nvPr/>
        </p:nvSpPr>
        <p:spPr>
          <a:xfrm>
            <a:off x="6966682"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66682" y="0"/>
            <a:ext cx="1741670" cy="457200"/>
          </a:xfrm>
          <a:prstGeom prst="rect">
            <a:avLst/>
          </a:prstGeom>
          <a:noFill/>
        </p:spPr>
        <p:txBody>
          <a:bodyPr wrap="square" anchor="ctr" tIns="36576" bIns="36576">
            <a:spAutoFit/>
          </a:bodyPr>
          <a:lstStyle/>
          <a:p>
            <a:pPr algn="ctr"/>
            <a:r>
              <a:rPr sz="2400" b="0">
                <a:solidFill>
                  <a:srgbClr val="FFFFFF"/>
                </a:solidFill>
                <a:latin typeface="Calibri"/>
              </a:rPr>
              <a:t>Üben</a:t>
            </a:r>
          </a:p>
        </p:txBody>
      </p:sp>
      <p:sp>
        <p:nvSpPr>
          <p:cNvPr id="13" name="Rectangle 12"/>
          <p:cNvSpPr/>
          <p:nvPr/>
        </p:nvSpPr>
        <p:spPr>
          <a:xfrm>
            <a:off x="8708353"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8353" y="0"/>
            <a:ext cx="1741670" cy="457200"/>
          </a:xfrm>
          <a:prstGeom prst="rect">
            <a:avLst/>
          </a:prstGeom>
          <a:noFill/>
        </p:spPr>
        <p:txBody>
          <a:bodyPr wrap="square" anchor="ctr" tIns="36576" bIns="36576">
            <a:spAutoFit/>
          </a:bodyPr>
          <a:lstStyle/>
          <a:p>
            <a:pPr algn="ctr"/>
            <a:r>
              <a:rPr sz="2400" b="1">
                <a:solidFill>
                  <a:srgbClr val="1F2A44"/>
                </a:solidFill>
                <a:latin typeface="Calibri"/>
              </a:rPr>
              <a:t>Besprechen</a:t>
            </a:r>
          </a:p>
        </p:txBody>
      </p:sp>
      <p:sp>
        <p:nvSpPr>
          <p:cNvPr id="15" name="Rectangle 14"/>
          <p:cNvSpPr/>
          <p:nvPr/>
        </p:nvSpPr>
        <p:spPr>
          <a:xfrm>
            <a:off x="10450024"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50024" y="0"/>
            <a:ext cx="1741670" cy="457200"/>
          </a:xfrm>
          <a:prstGeom prst="rect">
            <a:avLst/>
          </a:prstGeom>
          <a:noFill/>
        </p:spPr>
        <p:txBody>
          <a:bodyPr wrap="square" anchor="ctr" tIns="36576" bIns="36576">
            <a:spAutoFit/>
          </a:bodyPr>
          <a:lstStyle/>
          <a:p>
            <a:pPr algn="ctr"/>
            <a:r>
              <a:rPr sz="2400" b="0">
                <a:solidFill>
                  <a:srgbClr val="FFFFFF"/>
                </a:solidFill>
                <a:latin typeface="Calibri"/>
              </a:rPr>
              <a:t>Abschluss</a:t>
            </a:r>
          </a:p>
        </p:txBody>
      </p:sp>
      <p:sp>
        <p:nvSpPr>
          <p:cNvPr id="17" name="Fallbezeichnung"/>
          <p:cNvSpPr txBox="1"/>
          <p:nvPr/>
        </p:nvSpPr>
        <p:spPr>
          <a:xfrm>
            <a:off x="548640" y="548640"/>
            <a:ext cx="11155680" cy="548640"/>
          </a:xfrm>
          <a:prstGeom prst="rect">
            <a:avLst/>
          </a:prstGeom>
          <a:noFill/>
        </p:spPr>
        <p:txBody>
          <a:bodyPr wrap="square" anchor="t" tIns="36576" bIns="36576">
            <a:spAutoFit/>
          </a:bodyPr>
          <a:lstStyle/>
          <a:p>
            <a:pPr algn="l"/>
            <a:r>
              <a:rPr sz="2800" b="1">
                <a:solidFill>
                  <a:srgbClr val="7A4B00"/>
                </a:solidFill>
                <a:latin typeface="Calibri"/>
              </a:rPr>
              <a:t>Fall A (Probezeit und Kündigung)</a:t>
            </a:r>
          </a:p>
        </p:txBody>
      </p:sp>
      <p:sp>
        <p:nvSpPr>
          <p:cNvPr id="18" name="Rectangle 17"/>
          <p:cNvSpPr/>
          <p:nvPr/>
        </p:nvSpPr>
        <p:spPr>
          <a:xfrm>
            <a:off x="640080" y="1143000"/>
            <a:ext cx="10881360" cy="160020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 y="1143000"/>
            <a:ext cx="109728" cy="1600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all"/>
          <p:cNvSpPr txBox="1"/>
          <p:nvPr/>
        </p:nvSpPr>
        <p:spPr>
          <a:xfrm>
            <a:off x="868680" y="1143000"/>
            <a:ext cx="10561320" cy="1600200"/>
          </a:xfrm>
          <a:prstGeom prst="rect">
            <a:avLst/>
          </a:prstGeom>
          <a:noFill/>
        </p:spPr>
        <p:txBody>
          <a:bodyPr wrap="square" anchor="ctr" tIns="36576" bIns="36576">
            <a:spAutoFit/>
          </a:bodyPr>
          <a:lstStyle/>
          <a:p>
            <a:pPr algn="l"/>
            <a:r>
              <a:rPr sz="2600" b="1">
                <a:solidFill>
                  <a:srgbClr val="1F2A44"/>
                </a:solidFill>
                <a:latin typeface="Calibri"/>
              </a:rPr>
              <a:t>Lena Berg beginnt am 01.09. bei der Muster GmbH eine Ausbildung zur Kauffrau für Büromanagement, vereinbart sind drei Monate Probezeit. Am 10.10. merkt sie, dass der Beruf nicht zu ihr passt. Welche Aussage ist richtig?</a:t>
            </a:r>
          </a:p>
        </p:txBody>
      </p:sp>
      <p:sp>
        <p:nvSpPr>
          <p:cNvPr id="21" name="Rounded Rectangle 20"/>
          <p:cNvSpPr/>
          <p:nvPr/>
        </p:nvSpPr>
        <p:spPr>
          <a:xfrm>
            <a:off x="640080" y="2880360"/>
            <a:ext cx="10881360" cy="749808"/>
          </a:xfrm>
          <a:prstGeom prst="roundRect">
            <a:avLst>
              <a:gd name="adj" fmla="val 15000"/>
            </a:avLst>
          </a:prstGeom>
          <a:solidFill>
            <a:srgbClr val="FFFFFF"/>
          </a:solidFill>
          <a:ln w="254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77240" y="2962656"/>
            <a:ext cx="585216" cy="585216"/>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400" b="1">
                <a:solidFill>
                  <a:srgbClr val="FFFFFF"/>
                </a:solidFill>
                <a:latin typeface="Calibri"/>
              </a:rPr>
              <a:t>A</a:t>
            </a:r>
          </a:p>
        </p:txBody>
      </p:sp>
      <p:sp>
        <p:nvSpPr>
          <p:cNvPr id="23" name="Option_A"/>
          <p:cNvSpPr txBox="1"/>
          <p:nvPr/>
        </p:nvSpPr>
        <p:spPr>
          <a:xfrm>
            <a:off x="1508760" y="2880360"/>
            <a:ext cx="9921240" cy="749808"/>
          </a:xfrm>
          <a:prstGeom prst="rect">
            <a:avLst/>
          </a:prstGeom>
          <a:noFill/>
        </p:spPr>
        <p:txBody>
          <a:bodyPr wrap="square" anchor="ctr" tIns="36576" bIns="36576">
            <a:spAutoFit/>
          </a:bodyPr>
          <a:lstStyle/>
          <a:p>
            <a:pPr algn="l"/>
            <a:r>
              <a:rPr sz="2400" b="0">
                <a:solidFill>
                  <a:srgbClr val="1F2A44"/>
                </a:solidFill>
                <a:latin typeface="Calibri"/>
              </a:rPr>
              <a:t>Lena muss eine Kündigungsfrist von vier Wochen einhalten.</a:t>
            </a:r>
          </a:p>
        </p:txBody>
      </p:sp>
      <p:sp>
        <p:nvSpPr>
          <p:cNvPr id="24" name="Rounded Rectangle 23"/>
          <p:cNvSpPr/>
          <p:nvPr/>
        </p:nvSpPr>
        <p:spPr>
          <a:xfrm>
            <a:off x="640080" y="3721608"/>
            <a:ext cx="10881360" cy="749808"/>
          </a:xfrm>
          <a:prstGeom prst="roundRect">
            <a:avLst>
              <a:gd name="adj" fmla="val 15000"/>
            </a:avLst>
          </a:prstGeom>
          <a:solidFill>
            <a:srgbClr val="FFFFFF"/>
          </a:solidFill>
          <a:ln w="254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77240" y="3803904"/>
            <a:ext cx="585216" cy="585216"/>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400" b="1">
                <a:solidFill>
                  <a:srgbClr val="FFFFFF"/>
                </a:solidFill>
                <a:latin typeface="Calibri"/>
              </a:rPr>
              <a:t>B</a:t>
            </a:r>
          </a:p>
        </p:txBody>
      </p:sp>
      <p:sp>
        <p:nvSpPr>
          <p:cNvPr id="26" name="Option_B"/>
          <p:cNvSpPr txBox="1"/>
          <p:nvPr/>
        </p:nvSpPr>
        <p:spPr>
          <a:xfrm>
            <a:off x="1508760" y="3721608"/>
            <a:ext cx="9921240" cy="749808"/>
          </a:xfrm>
          <a:prstGeom prst="rect">
            <a:avLst/>
          </a:prstGeom>
          <a:noFill/>
        </p:spPr>
        <p:txBody>
          <a:bodyPr wrap="square" anchor="ctr" tIns="36576" bIns="36576">
            <a:spAutoFit/>
          </a:bodyPr>
          <a:lstStyle/>
          <a:p>
            <a:pPr algn="l"/>
            <a:r>
              <a:rPr sz="2400" b="0">
                <a:solidFill>
                  <a:srgbClr val="1F2A44"/>
                </a:solidFill>
                <a:latin typeface="Calibri"/>
              </a:rPr>
              <a:t>Lena kann schriftlich und ohne Einhaltung einer Frist kündigen.</a:t>
            </a:r>
          </a:p>
        </p:txBody>
      </p:sp>
      <p:sp>
        <p:nvSpPr>
          <p:cNvPr id="27" name="Rounded Rectangle 26"/>
          <p:cNvSpPr/>
          <p:nvPr/>
        </p:nvSpPr>
        <p:spPr>
          <a:xfrm>
            <a:off x="640080" y="4562856"/>
            <a:ext cx="10881360" cy="749808"/>
          </a:xfrm>
          <a:prstGeom prst="roundRect">
            <a:avLst>
              <a:gd name="adj" fmla="val 15000"/>
            </a:avLst>
          </a:prstGeom>
          <a:solidFill>
            <a:srgbClr val="FFFFFF"/>
          </a:solidFill>
          <a:ln w="254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77240" y="4645152"/>
            <a:ext cx="585216" cy="585216"/>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400" b="1">
                <a:solidFill>
                  <a:srgbClr val="FFFFFF"/>
                </a:solidFill>
                <a:latin typeface="Calibri"/>
              </a:rPr>
              <a:t>C</a:t>
            </a:r>
          </a:p>
        </p:txBody>
      </p:sp>
      <p:sp>
        <p:nvSpPr>
          <p:cNvPr id="29" name="Option_C"/>
          <p:cNvSpPr txBox="1"/>
          <p:nvPr/>
        </p:nvSpPr>
        <p:spPr>
          <a:xfrm>
            <a:off x="1508760" y="4562856"/>
            <a:ext cx="9921240" cy="749808"/>
          </a:xfrm>
          <a:prstGeom prst="rect">
            <a:avLst/>
          </a:prstGeom>
          <a:noFill/>
        </p:spPr>
        <p:txBody>
          <a:bodyPr wrap="square" anchor="ctr" tIns="36576" bIns="36576">
            <a:spAutoFit/>
          </a:bodyPr>
          <a:lstStyle/>
          <a:p>
            <a:pPr algn="l"/>
            <a:r>
              <a:rPr sz="2400" b="0">
                <a:solidFill>
                  <a:srgbClr val="1F2A44"/>
                </a:solidFill>
                <a:latin typeface="Calibri"/>
              </a:rPr>
              <a:t>Lena kann nur zum Monatsende kündigen.</a:t>
            </a:r>
          </a:p>
        </p:txBody>
      </p:sp>
      <p:sp>
        <p:nvSpPr>
          <p:cNvPr id="30" name="Rounded Rectangle 29"/>
          <p:cNvSpPr/>
          <p:nvPr/>
        </p:nvSpPr>
        <p:spPr>
          <a:xfrm>
            <a:off x="640080" y="5404104"/>
            <a:ext cx="10881360" cy="749808"/>
          </a:xfrm>
          <a:prstGeom prst="roundRect">
            <a:avLst>
              <a:gd name="adj" fmla="val 15000"/>
            </a:avLst>
          </a:prstGeom>
          <a:solidFill>
            <a:srgbClr val="FFFFFF"/>
          </a:solidFill>
          <a:ln w="254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77240" y="5486400"/>
            <a:ext cx="585216" cy="585216"/>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400" b="1">
                <a:solidFill>
                  <a:srgbClr val="FFFFFF"/>
                </a:solidFill>
                <a:latin typeface="Calibri"/>
              </a:rPr>
              <a:t>D</a:t>
            </a:r>
          </a:p>
        </p:txBody>
      </p:sp>
      <p:sp>
        <p:nvSpPr>
          <p:cNvPr id="32" name="Option_D"/>
          <p:cNvSpPr txBox="1"/>
          <p:nvPr/>
        </p:nvSpPr>
        <p:spPr>
          <a:xfrm>
            <a:off x="1508760" y="5404104"/>
            <a:ext cx="9921240" cy="749808"/>
          </a:xfrm>
          <a:prstGeom prst="rect">
            <a:avLst/>
          </a:prstGeom>
          <a:noFill/>
        </p:spPr>
        <p:txBody>
          <a:bodyPr wrap="square" anchor="ctr" tIns="36576" bIns="36576">
            <a:spAutoFit/>
          </a:bodyPr>
          <a:lstStyle/>
          <a:p>
            <a:pPr algn="l"/>
            <a:r>
              <a:rPr sz="2400" b="0">
                <a:solidFill>
                  <a:srgbClr val="1F2A44"/>
                </a:solidFill>
                <a:latin typeface="Calibri"/>
              </a:rPr>
              <a:t>Lena braucht für die Kündigung die Zustimmung der IHK.</a:t>
            </a:r>
          </a:p>
        </p:txBody>
      </p:sp>
      <p:sp>
        <p:nvSpPr>
          <p:cNvPr id="33" name="Rounded Rectangle 32"/>
          <p:cNvSpPr/>
          <p:nvPr/>
        </p:nvSpPr>
        <p:spPr>
          <a:xfrm>
            <a:off x="502920" y="6327648"/>
            <a:ext cx="2587752" cy="420624"/>
          </a:xfrm>
          <a:prstGeom prst="roundRect">
            <a:avLst>
              <a:gd name="adj" fmla="val 4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2920" y="6327648"/>
            <a:ext cx="2587752" cy="420624"/>
          </a:xfrm>
          <a:prstGeom prst="rect">
            <a:avLst/>
          </a:prstGeom>
          <a:noFill/>
        </p:spPr>
        <p:txBody>
          <a:bodyPr wrap="square" anchor="ctr" tIns="36576" bIns="36576">
            <a:spAutoFit/>
          </a:bodyPr>
          <a:lstStyle/>
          <a:p>
            <a:pPr algn="ctr"/>
            <a:r>
              <a:rPr sz="2400" b="1">
                <a:solidFill>
                  <a:srgbClr val="FFFFFF"/>
                </a:solidFill>
                <a:latin typeface="Calibri"/>
              </a:rPr>
              <a:t>Abstimmung A–D</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square" anchor="ctr" tIns="36576" bIns="36576">
            <a:spAutoFit/>
          </a:bodyPr>
          <a:lstStyle/>
          <a:p>
            <a:pPr algn="ctr"/>
            <a:r>
              <a:rPr sz="2400" b="0">
                <a:solidFill>
                  <a:srgbClr val="FFFFFF"/>
                </a:solidFill>
                <a:latin typeface="Calibri"/>
              </a:rPr>
              <a:t>Einstieg</a:t>
            </a:r>
          </a:p>
        </p:txBody>
      </p:sp>
      <p:sp>
        <p:nvSpPr>
          <p:cNvPr id="5" name="Rectangle 4"/>
          <p:cNvSpPr/>
          <p:nvPr/>
        </p:nvSpPr>
        <p:spPr>
          <a:xfrm>
            <a:off x="174167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1</a:t>
            </a:r>
          </a:p>
        </p:txBody>
      </p:sp>
      <p:sp>
        <p:nvSpPr>
          <p:cNvPr id="7" name="Rectangle 6"/>
          <p:cNvSpPr/>
          <p:nvPr/>
        </p:nvSpPr>
        <p:spPr>
          <a:xfrm>
            <a:off x="3483341"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3341"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2</a:t>
            </a:r>
          </a:p>
        </p:txBody>
      </p:sp>
      <p:sp>
        <p:nvSpPr>
          <p:cNvPr id="9" name="Rectangle 8"/>
          <p:cNvSpPr/>
          <p:nvPr/>
        </p:nvSpPr>
        <p:spPr>
          <a:xfrm>
            <a:off x="5225012"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25012"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3</a:t>
            </a:r>
          </a:p>
        </p:txBody>
      </p:sp>
      <p:sp>
        <p:nvSpPr>
          <p:cNvPr id="11" name="Rectangle 10"/>
          <p:cNvSpPr/>
          <p:nvPr/>
        </p:nvSpPr>
        <p:spPr>
          <a:xfrm>
            <a:off x="6966682"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66682" y="0"/>
            <a:ext cx="1741670" cy="457200"/>
          </a:xfrm>
          <a:prstGeom prst="rect">
            <a:avLst/>
          </a:prstGeom>
          <a:noFill/>
        </p:spPr>
        <p:txBody>
          <a:bodyPr wrap="square" anchor="ctr" tIns="36576" bIns="36576">
            <a:spAutoFit/>
          </a:bodyPr>
          <a:lstStyle/>
          <a:p>
            <a:pPr algn="ctr"/>
            <a:r>
              <a:rPr sz="2400" b="0">
                <a:solidFill>
                  <a:srgbClr val="FFFFFF"/>
                </a:solidFill>
                <a:latin typeface="Calibri"/>
              </a:rPr>
              <a:t>Üben</a:t>
            </a:r>
          </a:p>
        </p:txBody>
      </p:sp>
      <p:sp>
        <p:nvSpPr>
          <p:cNvPr id="13" name="Rectangle 12"/>
          <p:cNvSpPr/>
          <p:nvPr/>
        </p:nvSpPr>
        <p:spPr>
          <a:xfrm>
            <a:off x="8708353"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8353" y="0"/>
            <a:ext cx="1741670" cy="457200"/>
          </a:xfrm>
          <a:prstGeom prst="rect">
            <a:avLst/>
          </a:prstGeom>
          <a:noFill/>
        </p:spPr>
        <p:txBody>
          <a:bodyPr wrap="square" anchor="ctr" tIns="36576" bIns="36576">
            <a:spAutoFit/>
          </a:bodyPr>
          <a:lstStyle/>
          <a:p>
            <a:pPr algn="ctr"/>
            <a:r>
              <a:rPr sz="2400" b="1">
                <a:solidFill>
                  <a:srgbClr val="1F2A44"/>
                </a:solidFill>
                <a:latin typeface="Calibri"/>
              </a:rPr>
              <a:t>Besprechen</a:t>
            </a:r>
          </a:p>
        </p:txBody>
      </p:sp>
      <p:sp>
        <p:nvSpPr>
          <p:cNvPr id="15" name="Rectangle 14"/>
          <p:cNvSpPr/>
          <p:nvPr/>
        </p:nvSpPr>
        <p:spPr>
          <a:xfrm>
            <a:off x="10450024"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50024" y="0"/>
            <a:ext cx="1741670" cy="457200"/>
          </a:xfrm>
          <a:prstGeom prst="rect">
            <a:avLst/>
          </a:prstGeom>
          <a:noFill/>
        </p:spPr>
        <p:txBody>
          <a:bodyPr wrap="square" anchor="ctr" tIns="36576" bIns="36576">
            <a:spAutoFit/>
          </a:bodyPr>
          <a:lstStyle/>
          <a:p>
            <a:pPr algn="ctr"/>
            <a:r>
              <a:rPr sz="2400" b="0">
                <a:solidFill>
                  <a:srgbClr val="FFFFFF"/>
                </a:solidFill>
                <a:latin typeface="Calibri"/>
              </a:rPr>
              <a:t>Abschluss</a:t>
            </a:r>
          </a:p>
        </p:txBody>
      </p:sp>
      <p:sp>
        <p:nvSpPr>
          <p:cNvPr id="17" name="Antwortrahmen"/>
          <p:cNvSpPr/>
          <p:nvPr/>
        </p:nvSpPr>
        <p:spPr>
          <a:xfrm>
            <a:off x="411480" y="566928"/>
            <a:ext cx="11365992" cy="5669280"/>
          </a:xfrm>
          <a:prstGeom prst="rect">
            <a:avLst/>
          </a:prstGeom>
          <a:noFill/>
          <a:ln w="76200">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Haken: Antwortfolie"/>
          <p:cNvPicPr>
            <a:picLocks noChangeAspect="1"/>
          </p:cNvPicPr>
          <p:nvPr/>
        </p:nvPicPr>
        <p:blipFill>
          <a:blip r:embed="rId3"/>
          <a:stretch>
            <a:fillRect/>
          </a:stretch>
        </p:blipFill>
        <p:spPr>
          <a:xfrm>
            <a:off x="10972800" y="640080"/>
            <a:ext cx="685800" cy="685800"/>
          </a:xfrm>
          <a:prstGeom prst="rect">
            <a:avLst/>
          </a:prstGeom>
        </p:spPr>
      </p:pic>
      <p:sp>
        <p:nvSpPr>
          <p:cNvPr id="19" name="Titel"/>
          <p:cNvSpPr txBox="1"/>
          <p:nvPr/>
        </p:nvSpPr>
        <p:spPr>
          <a:xfrm>
            <a:off x="640080" y="594360"/>
            <a:ext cx="10241280" cy="822960"/>
          </a:xfrm>
          <a:prstGeom prst="rect">
            <a:avLst/>
          </a:prstGeom>
          <a:noFill/>
        </p:spPr>
        <p:txBody>
          <a:bodyPr wrap="square" anchor="ctr" tIns="36576" bIns="36576">
            <a:spAutoFit/>
          </a:bodyPr>
          <a:lstStyle/>
          <a:p>
            <a:pPr algn="l"/>
            <a:r>
              <a:rPr sz="4000" b="1">
                <a:solidFill>
                  <a:srgbClr val="1F2A44"/>
                </a:solidFill>
                <a:latin typeface="Calibri"/>
              </a:rPr>
              <a:t>Fall A: Lösung B</a:t>
            </a:r>
          </a:p>
        </p:txBody>
      </p:sp>
      <p:sp>
        <p:nvSpPr>
          <p:cNvPr id="20" name="Loesung"/>
          <p:cNvSpPr/>
          <p:nvPr/>
        </p:nvSpPr>
        <p:spPr>
          <a:xfrm>
            <a:off x="822960" y="1737360"/>
            <a:ext cx="10515600" cy="1645920"/>
          </a:xfrm>
          <a:prstGeom prst="roundRect">
            <a:avLst/>
          </a:prstGeom>
          <a:solidFill>
            <a:srgbClr val="FFF0D1"/>
          </a:solidFill>
          <a:ln w="38100">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r>
              <a:rPr sz="3000" b="1">
                <a:solidFill>
                  <a:srgbClr val="1F2A44"/>
                </a:solidFill>
                <a:latin typeface="Calibri"/>
              </a:rPr>
              <a:t>B  </a:t>
            </a:r>
            <a:r>
              <a:rPr sz="3000" b="1">
                <a:solidFill>
                  <a:srgbClr val="1F2A44"/>
                </a:solidFill>
                <a:latin typeface="Calibri"/>
              </a:rPr>
              <a:t>Lena kann schriftlich und ohne Einhaltung einer Frist kündigen.</a:t>
            </a:r>
          </a:p>
        </p:txBody>
      </p:sp>
      <p:sp>
        <p:nvSpPr>
          <p:cNvPr id="21" name="Begruendung"/>
          <p:cNvSpPr/>
          <p:nvPr/>
        </p:nvSpPr>
        <p:spPr>
          <a:xfrm>
            <a:off x="822960" y="3657600"/>
            <a:ext cx="10515600" cy="2286000"/>
          </a:xfrm>
          <a:prstGeom prst="roundRect">
            <a:avLst/>
          </a:prstGeom>
          <a:solidFill>
            <a:srgbClr val="EEF1F8"/>
          </a:solidFill>
          <a:ln w="25400">
            <a:solidFill>
              <a:srgbClr val="34456B"/>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r>
              <a:rPr sz="2800" b="1">
                <a:solidFill>
                  <a:srgbClr val="1F2A44"/>
                </a:solidFill>
                <a:latin typeface="Calibri"/>
              </a:rPr>
              <a:t>Begründung: </a:t>
            </a:r>
            <a:r>
              <a:rPr sz="2800" b="0">
                <a:solidFill>
                  <a:srgbClr val="1F2A44"/>
                </a:solidFill>
                <a:latin typeface="Calibri"/>
              </a:rPr>
              <a:t>In der Probezeit ist die Kündigung jederzeit ohne Frist möglich, aber schriftlich (§ 22 Abs. 1 und 3 BBiG).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Lst>
  </p:timing>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square" anchor="ctr" tIns="36576" bIns="36576">
            <a:spAutoFit/>
          </a:bodyPr>
          <a:lstStyle/>
          <a:p>
            <a:pPr algn="ctr"/>
            <a:r>
              <a:rPr sz="2400" b="0">
                <a:solidFill>
                  <a:srgbClr val="FFFFFF"/>
                </a:solidFill>
                <a:latin typeface="Calibri"/>
              </a:rPr>
              <a:t>Einstieg</a:t>
            </a:r>
          </a:p>
        </p:txBody>
      </p:sp>
      <p:sp>
        <p:nvSpPr>
          <p:cNvPr id="5" name="Rectangle 4"/>
          <p:cNvSpPr/>
          <p:nvPr/>
        </p:nvSpPr>
        <p:spPr>
          <a:xfrm>
            <a:off x="174167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1</a:t>
            </a:r>
          </a:p>
        </p:txBody>
      </p:sp>
      <p:sp>
        <p:nvSpPr>
          <p:cNvPr id="7" name="Rectangle 6"/>
          <p:cNvSpPr/>
          <p:nvPr/>
        </p:nvSpPr>
        <p:spPr>
          <a:xfrm>
            <a:off x="3483341"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3341"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2</a:t>
            </a:r>
          </a:p>
        </p:txBody>
      </p:sp>
      <p:sp>
        <p:nvSpPr>
          <p:cNvPr id="9" name="Rectangle 8"/>
          <p:cNvSpPr/>
          <p:nvPr/>
        </p:nvSpPr>
        <p:spPr>
          <a:xfrm>
            <a:off x="5225012"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25012"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3</a:t>
            </a:r>
          </a:p>
        </p:txBody>
      </p:sp>
      <p:sp>
        <p:nvSpPr>
          <p:cNvPr id="11" name="Rectangle 10"/>
          <p:cNvSpPr/>
          <p:nvPr/>
        </p:nvSpPr>
        <p:spPr>
          <a:xfrm>
            <a:off x="6966682"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66682" y="0"/>
            <a:ext cx="1741670" cy="457200"/>
          </a:xfrm>
          <a:prstGeom prst="rect">
            <a:avLst/>
          </a:prstGeom>
          <a:noFill/>
        </p:spPr>
        <p:txBody>
          <a:bodyPr wrap="square" anchor="ctr" tIns="36576" bIns="36576">
            <a:spAutoFit/>
          </a:bodyPr>
          <a:lstStyle/>
          <a:p>
            <a:pPr algn="ctr"/>
            <a:r>
              <a:rPr sz="2400" b="0">
                <a:solidFill>
                  <a:srgbClr val="FFFFFF"/>
                </a:solidFill>
                <a:latin typeface="Calibri"/>
              </a:rPr>
              <a:t>Üben</a:t>
            </a:r>
          </a:p>
        </p:txBody>
      </p:sp>
      <p:sp>
        <p:nvSpPr>
          <p:cNvPr id="13" name="Rectangle 12"/>
          <p:cNvSpPr/>
          <p:nvPr/>
        </p:nvSpPr>
        <p:spPr>
          <a:xfrm>
            <a:off x="8708353"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8353" y="0"/>
            <a:ext cx="1741670" cy="457200"/>
          </a:xfrm>
          <a:prstGeom prst="rect">
            <a:avLst/>
          </a:prstGeom>
          <a:noFill/>
        </p:spPr>
        <p:txBody>
          <a:bodyPr wrap="square" anchor="ctr" tIns="36576" bIns="36576">
            <a:spAutoFit/>
          </a:bodyPr>
          <a:lstStyle/>
          <a:p>
            <a:pPr algn="ctr"/>
            <a:r>
              <a:rPr sz="2400" b="1">
                <a:solidFill>
                  <a:srgbClr val="1F2A44"/>
                </a:solidFill>
                <a:latin typeface="Calibri"/>
              </a:rPr>
              <a:t>Besprechen</a:t>
            </a:r>
          </a:p>
        </p:txBody>
      </p:sp>
      <p:sp>
        <p:nvSpPr>
          <p:cNvPr id="15" name="Rectangle 14"/>
          <p:cNvSpPr/>
          <p:nvPr/>
        </p:nvSpPr>
        <p:spPr>
          <a:xfrm>
            <a:off x="10450024"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50024" y="0"/>
            <a:ext cx="1741670" cy="457200"/>
          </a:xfrm>
          <a:prstGeom prst="rect">
            <a:avLst/>
          </a:prstGeom>
          <a:noFill/>
        </p:spPr>
        <p:txBody>
          <a:bodyPr wrap="square" anchor="ctr" tIns="36576" bIns="36576">
            <a:spAutoFit/>
          </a:bodyPr>
          <a:lstStyle/>
          <a:p>
            <a:pPr algn="ctr"/>
            <a:r>
              <a:rPr sz="2400" b="0">
                <a:solidFill>
                  <a:srgbClr val="FFFFFF"/>
                </a:solidFill>
                <a:latin typeface="Calibri"/>
              </a:rPr>
              <a:t>Abschluss</a:t>
            </a:r>
          </a:p>
        </p:txBody>
      </p:sp>
      <p:sp>
        <p:nvSpPr>
          <p:cNvPr id="17" name="Fallbezeichnung"/>
          <p:cNvSpPr txBox="1"/>
          <p:nvPr/>
        </p:nvSpPr>
        <p:spPr>
          <a:xfrm>
            <a:off x="548640" y="548640"/>
            <a:ext cx="11155680" cy="548640"/>
          </a:xfrm>
          <a:prstGeom prst="rect">
            <a:avLst/>
          </a:prstGeom>
          <a:noFill/>
        </p:spPr>
        <p:txBody>
          <a:bodyPr wrap="square" anchor="t" tIns="36576" bIns="36576">
            <a:spAutoFit/>
          </a:bodyPr>
          <a:lstStyle/>
          <a:p>
            <a:pPr algn="l"/>
            <a:r>
              <a:rPr sz="2800" b="1">
                <a:solidFill>
                  <a:srgbClr val="7A4B00"/>
                </a:solidFill>
                <a:latin typeface="Calibri"/>
              </a:rPr>
              <a:t>Fall B (Urlaub)</a:t>
            </a:r>
          </a:p>
        </p:txBody>
      </p:sp>
      <p:sp>
        <p:nvSpPr>
          <p:cNvPr id="18" name="Rectangle 17"/>
          <p:cNvSpPr/>
          <p:nvPr/>
        </p:nvSpPr>
        <p:spPr>
          <a:xfrm>
            <a:off x="640080" y="1143000"/>
            <a:ext cx="10881360" cy="160020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 y="1143000"/>
            <a:ext cx="109728" cy="1600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all"/>
          <p:cNvSpPr txBox="1"/>
          <p:nvPr/>
        </p:nvSpPr>
        <p:spPr>
          <a:xfrm>
            <a:off x="868680" y="1143000"/>
            <a:ext cx="10561320" cy="1600200"/>
          </a:xfrm>
          <a:prstGeom prst="rect">
            <a:avLst/>
          </a:prstGeom>
          <a:noFill/>
        </p:spPr>
        <p:txBody>
          <a:bodyPr wrap="square" anchor="ctr" tIns="36576" bIns="36576">
            <a:spAutoFit/>
          </a:bodyPr>
          <a:lstStyle/>
          <a:p>
            <a:pPr algn="l"/>
            <a:r>
              <a:rPr sz="2600" b="1">
                <a:solidFill>
                  <a:srgbClr val="1F2A44"/>
                </a:solidFill>
                <a:latin typeface="Calibri"/>
              </a:rPr>
              <a:t>Tim Roth ist zu Beginn des Kalenderjahres 17 Jahre alt und arbeitet an fünf Tagen pro Woche. Wie viele Werktage Mindesturlaub stehen ihm nach dem Gesetz zu?</a:t>
            </a:r>
          </a:p>
        </p:txBody>
      </p:sp>
      <p:sp>
        <p:nvSpPr>
          <p:cNvPr id="21" name="Rounded Rectangle 20"/>
          <p:cNvSpPr/>
          <p:nvPr/>
        </p:nvSpPr>
        <p:spPr>
          <a:xfrm>
            <a:off x="640080" y="2880360"/>
            <a:ext cx="10881360" cy="749808"/>
          </a:xfrm>
          <a:prstGeom prst="roundRect">
            <a:avLst>
              <a:gd name="adj" fmla="val 15000"/>
            </a:avLst>
          </a:prstGeom>
          <a:solidFill>
            <a:srgbClr val="FFFFFF"/>
          </a:solidFill>
          <a:ln w="254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77240" y="2962656"/>
            <a:ext cx="585216" cy="585216"/>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400" b="1">
                <a:solidFill>
                  <a:srgbClr val="FFFFFF"/>
                </a:solidFill>
                <a:latin typeface="Calibri"/>
              </a:rPr>
              <a:t>A</a:t>
            </a:r>
          </a:p>
        </p:txBody>
      </p:sp>
      <p:sp>
        <p:nvSpPr>
          <p:cNvPr id="23" name="Option_A"/>
          <p:cNvSpPr txBox="1"/>
          <p:nvPr/>
        </p:nvSpPr>
        <p:spPr>
          <a:xfrm>
            <a:off x="1508760" y="2880360"/>
            <a:ext cx="9921240" cy="749808"/>
          </a:xfrm>
          <a:prstGeom prst="rect">
            <a:avLst/>
          </a:prstGeom>
          <a:noFill/>
        </p:spPr>
        <p:txBody>
          <a:bodyPr wrap="square" anchor="ctr" tIns="36576" bIns="36576">
            <a:spAutoFit/>
          </a:bodyPr>
          <a:lstStyle/>
          <a:p>
            <a:pPr algn="l"/>
            <a:r>
              <a:rPr sz="2400" b="0">
                <a:solidFill>
                  <a:srgbClr val="1F2A44"/>
                </a:solidFill>
                <a:latin typeface="Calibri"/>
              </a:rPr>
              <a:t>20 Werktage</a:t>
            </a:r>
          </a:p>
        </p:txBody>
      </p:sp>
      <p:sp>
        <p:nvSpPr>
          <p:cNvPr id="24" name="Rounded Rectangle 23"/>
          <p:cNvSpPr/>
          <p:nvPr/>
        </p:nvSpPr>
        <p:spPr>
          <a:xfrm>
            <a:off x="640080" y="3721608"/>
            <a:ext cx="10881360" cy="749808"/>
          </a:xfrm>
          <a:prstGeom prst="roundRect">
            <a:avLst>
              <a:gd name="adj" fmla="val 15000"/>
            </a:avLst>
          </a:prstGeom>
          <a:solidFill>
            <a:srgbClr val="FFFFFF"/>
          </a:solidFill>
          <a:ln w="254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77240" y="3803904"/>
            <a:ext cx="585216" cy="585216"/>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400" b="1">
                <a:solidFill>
                  <a:srgbClr val="FFFFFF"/>
                </a:solidFill>
                <a:latin typeface="Calibri"/>
              </a:rPr>
              <a:t>B</a:t>
            </a:r>
          </a:p>
        </p:txBody>
      </p:sp>
      <p:sp>
        <p:nvSpPr>
          <p:cNvPr id="26" name="Option_B"/>
          <p:cNvSpPr txBox="1"/>
          <p:nvPr/>
        </p:nvSpPr>
        <p:spPr>
          <a:xfrm>
            <a:off x="1508760" y="3721608"/>
            <a:ext cx="9921240" cy="749808"/>
          </a:xfrm>
          <a:prstGeom prst="rect">
            <a:avLst/>
          </a:prstGeom>
          <a:noFill/>
        </p:spPr>
        <p:txBody>
          <a:bodyPr wrap="square" anchor="ctr" tIns="36576" bIns="36576">
            <a:spAutoFit/>
          </a:bodyPr>
          <a:lstStyle/>
          <a:p>
            <a:pPr algn="l"/>
            <a:r>
              <a:rPr sz="2400" b="0">
                <a:solidFill>
                  <a:srgbClr val="1F2A44"/>
                </a:solidFill>
                <a:latin typeface="Calibri"/>
              </a:rPr>
              <a:t>24 Werktage</a:t>
            </a:r>
          </a:p>
        </p:txBody>
      </p:sp>
      <p:sp>
        <p:nvSpPr>
          <p:cNvPr id="27" name="Rounded Rectangle 26"/>
          <p:cNvSpPr/>
          <p:nvPr/>
        </p:nvSpPr>
        <p:spPr>
          <a:xfrm>
            <a:off x="640080" y="4562856"/>
            <a:ext cx="10881360" cy="749808"/>
          </a:xfrm>
          <a:prstGeom prst="roundRect">
            <a:avLst>
              <a:gd name="adj" fmla="val 15000"/>
            </a:avLst>
          </a:prstGeom>
          <a:solidFill>
            <a:srgbClr val="FFFFFF"/>
          </a:solidFill>
          <a:ln w="254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77240" y="4645152"/>
            <a:ext cx="585216" cy="585216"/>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400" b="1">
                <a:solidFill>
                  <a:srgbClr val="FFFFFF"/>
                </a:solidFill>
                <a:latin typeface="Calibri"/>
              </a:rPr>
              <a:t>C</a:t>
            </a:r>
          </a:p>
        </p:txBody>
      </p:sp>
      <p:sp>
        <p:nvSpPr>
          <p:cNvPr id="29" name="Option_C"/>
          <p:cNvSpPr txBox="1"/>
          <p:nvPr/>
        </p:nvSpPr>
        <p:spPr>
          <a:xfrm>
            <a:off x="1508760" y="4562856"/>
            <a:ext cx="9921240" cy="749808"/>
          </a:xfrm>
          <a:prstGeom prst="rect">
            <a:avLst/>
          </a:prstGeom>
          <a:noFill/>
        </p:spPr>
        <p:txBody>
          <a:bodyPr wrap="square" anchor="ctr" tIns="36576" bIns="36576">
            <a:spAutoFit/>
          </a:bodyPr>
          <a:lstStyle/>
          <a:p>
            <a:pPr algn="l"/>
            <a:r>
              <a:rPr sz="2400" b="0">
                <a:solidFill>
                  <a:srgbClr val="1F2A44"/>
                </a:solidFill>
                <a:latin typeface="Calibri"/>
              </a:rPr>
              <a:t>25 Werktage</a:t>
            </a:r>
          </a:p>
        </p:txBody>
      </p:sp>
      <p:sp>
        <p:nvSpPr>
          <p:cNvPr id="30" name="Rounded Rectangle 29"/>
          <p:cNvSpPr/>
          <p:nvPr/>
        </p:nvSpPr>
        <p:spPr>
          <a:xfrm>
            <a:off x="640080" y="5404104"/>
            <a:ext cx="10881360" cy="749808"/>
          </a:xfrm>
          <a:prstGeom prst="roundRect">
            <a:avLst>
              <a:gd name="adj" fmla="val 15000"/>
            </a:avLst>
          </a:prstGeom>
          <a:solidFill>
            <a:srgbClr val="FFFFFF"/>
          </a:solidFill>
          <a:ln w="254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77240" y="5486400"/>
            <a:ext cx="585216" cy="585216"/>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400" b="1">
                <a:solidFill>
                  <a:srgbClr val="FFFFFF"/>
                </a:solidFill>
                <a:latin typeface="Calibri"/>
              </a:rPr>
              <a:t>D</a:t>
            </a:r>
          </a:p>
        </p:txBody>
      </p:sp>
      <p:sp>
        <p:nvSpPr>
          <p:cNvPr id="32" name="Option_D"/>
          <p:cNvSpPr txBox="1"/>
          <p:nvPr/>
        </p:nvSpPr>
        <p:spPr>
          <a:xfrm>
            <a:off x="1508760" y="5404104"/>
            <a:ext cx="9921240" cy="749808"/>
          </a:xfrm>
          <a:prstGeom prst="rect">
            <a:avLst/>
          </a:prstGeom>
          <a:noFill/>
        </p:spPr>
        <p:txBody>
          <a:bodyPr wrap="square" anchor="ctr" tIns="36576" bIns="36576">
            <a:spAutoFit/>
          </a:bodyPr>
          <a:lstStyle/>
          <a:p>
            <a:pPr algn="l"/>
            <a:r>
              <a:rPr sz="2400" b="0">
                <a:solidFill>
                  <a:srgbClr val="1F2A44"/>
                </a:solidFill>
                <a:latin typeface="Calibri"/>
              </a:rPr>
              <a:t>30 Werktage</a:t>
            </a:r>
          </a:p>
        </p:txBody>
      </p:sp>
      <p:sp>
        <p:nvSpPr>
          <p:cNvPr id="33" name="Rounded Rectangle 32"/>
          <p:cNvSpPr/>
          <p:nvPr/>
        </p:nvSpPr>
        <p:spPr>
          <a:xfrm>
            <a:off x="502920" y="6327648"/>
            <a:ext cx="2587752" cy="420624"/>
          </a:xfrm>
          <a:prstGeom prst="roundRect">
            <a:avLst>
              <a:gd name="adj" fmla="val 4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2920" y="6327648"/>
            <a:ext cx="2587752" cy="420624"/>
          </a:xfrm>
          <a:prstGeom prst="rect">
            <a:avLst/>
          </a:prstGeom>
          <a:noFill/>
        </p:spPr>
        <p:txBody>
          <a:bodyPr wrap="square" anchor="ctr" tIns="36576" bIns="36576">
            <a:spAutoFit/>
          </a:bodyPr>
          <a:lstStyle/>
          <a:p>
            <a:pPr algn="ctr"/>
            <a:r>
              <a:rPr sz="2400" b="1">
                <a:solidFill>
                  <a:srgbClr val="FFFFFF"/>
                </a:solidFill>
                <a:latin typeface="Calibri"/>
              </a:rPr>
              <a:t>Abstimmung A–D</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square" anchor="ctr" tIns="36576" bIns="36576">
            <a:spAutoFit/>
          </a:bodyPr>
          <a:lstStyle/>
          <a:p>
            <a:pPr algn="ctr"/>
            <a:r>
              <a:rPr sz="2400" b="0">
                <a:solidFill>
                  <a:srgbClr val="FFFFFF"/>
                </a:solidFill>
                <a:latin typeface="Calibri"/>
              </a:rPr>
              <a:t>Einstieg</a:t>
            </a:r>
          </a:p>
        </p:txBody>
      </p:sp>
      <p:sp>
        <p:nvSpPr>
          <p:cNvPr id="5" name="Rectangle 4"/>
          <p:cNvSpPr/>
          <p:nvPr/>
        </p:nvSpPr>
        <p:spPr>
          <a:xfrm>
            <a:off x="174167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1</a:t>
            </a:r>
          </a:p>
        </p:txBody>
      </p:sp>
      <p:sp>
        <p:nvSpPr>
          <p:cNvPr id="7" name="Rectangle 6"/>
          <p:cNvSpPr/>
          <p:nvPr/>
        </p:nvSpPr>
        <p:spPr>
          <a:xfrm>
            <a:off x="3483341"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3341"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2</a:t>
            </a:r>
          </a:p>
        </p:txBody>
      </p:sp>
      <p:sp>
        <p:nvSpPr>
          <p:cNvPr id="9" name="Rectangle 8"/>
          <p:cNvSpPr/>
          <p:nvPr/>
        </p:nvSpPr>
        <p:spPr>
          <a:xfrm>
            <a:off x="5225012"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25012"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3</a:t>
            </a:r>
          </a:p>
        </p:txBody>
      </p:sp>
      <p:sp>
        <p:nvSpPr>
          <p:cNvPr id="11" name="Rectangle 10"/>
          <p:cNvSpPr/>
          <p:nvPr/>
        </p:nvSpPr>
        <p:spPr>
          <a:xfrm>
            <a:off x="6966682"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66682" y="0"/>
            <a:ext cx="1741670" cy="457200"/>
          </a:xfrm>
          <a:prstGeom prst="rect">
            <a:avLst/>
          </a:prstGeom>
          <a:noFill/>
        </p:spPr>
        <p:txBody>
          <a:bodyPr wrap="square" anchor="ctr" tIns="36576" bIns="36576">
            <a:spAutoFit/>
          </a:bodyPr>
          <a:lstStyle/>
          <a:p>
            <a:pPr algn="ctr"/>
            <a:r>
              <a:rPr sz="2400" b="0">
                <a:solidFill>
                  <a:srgbClr val="FFFFFF"/>
                </a:solidFill>
                <a:latin typeface="Calibri"/>
              </a:rPr>
              <a:t>Üben</a:t>
            </a:r>
          </a:p>
        </p:txBody>
      </p:sp>
      <p:sp>
        <p:nvSpPr>
          <p:cNvPr id="13" name="Rectangle 12"/>
          <p:cNvSpPr/>
          <p:nvPr/>
        </p:nvSpPr>
        <p:spPr>
          <a:xfrm>
            <a:off x="8708353"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8353" y="0"/>
            <a:ext cx="1741670" cy="457200"/>
          </a:xfrm>
          <a:prstGeom prst="rect">
            <a:avLst/>
          </a:prstGeom>
          <a:noFill/>
        </p:spPr>
        <p:txBody>
          <a:bodyPr wrap="square" anchor="ctr" tIns="36576" bIns="36576">
            <a:spAutoFit/>
          </a:bodyPr>
          <a:lstStyle/>
          <a:p>
            <a:pPr algn="ctr"/>
            <a:r>
              <a:rPr sz="2400" b="1">
                <a:solidFill>
                  <a:srgbClr val="1F2A44"/>
                </a:solidFill>
                <a:latin typeface="Calibri"/>
              </a:rPr>
              <a:t>Besprechen</a:t>
            </a:r>
          </a:p>
        </p:txBody>
      </p:sp>
      <p:sp>
        <p:nvSpPr>
          <p:cNvPr id="15" name="Rectangle 14"/>
          <p:cNvSpPr/>
          <p:nvPr/>
        </p:nvSpPr>
        <p:spPr>
          <a:xfrm>
            <a:off x="10450024"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50024" y="0"/>
            <a:ext cx="1741670" cy="457200"/>
          </a:xfrm>
          <a:prstGeom prst="rect">
            <a:avLst/>
          </a:prstGeom>
          <a:noFill/>
        </p:spPr>
        <p:txBody>
          <a:bodyPr wrap="square" anchor="ctr" tIns="36576" bIns="36576">
            <a:spAutoFit/>
          </a:bodyPr>
          <a:lstStyle/>
          <a:p>
            <a:pPr algn="ctr"/>
            <a:r>
              <a:rPr sz="2400" b="0">
                <a:solidFill>
                  <a:srgbClr val="FFFFFF"/>
                </a:solidFill>
                <a:latin typeface="Calibri"/>
              </a:rPr>
              <a:t>Abschluss</a:t>
            </a:r>
          </a:p>
        </p:txBody>
      </p:sp>
      <p:sp>
        <p:nvSpPr>
          <p:cNvPr id="17" name="Antwortrahmen"/>
          <p:cNvSpPr/>
          <p:nvPr/>
        </p:nvSpPr>
        <p:spPr>
          <a:xfrm>
            <a:off x="411480" y="566928"/>
            <a:ext cx="11365992" cy="5669280"/>
          </a:xfrm>
          <a:prstGeom prst="rect">
            <a:avLst/>
          </a:prstGeom>
          <a:noFill/>
          <a:ln w="76200">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Haken: Antwortfolie"/>
          <p:cNvPicPr>
            <a:picLocks noChangeAspect="1"/>
          </p:cNvPicPr>
          <p:nvPr/>
        </p:nvPicPr>
        <p:blipFill>
          <a:blip r:embed="rId3"/>
          <a:stretch>
            <a:fillRect/>
          </a:stretch>
        </p:blipFill>
        <p:spPr>
          <a:xfrm>
            <a:off x="10972800" y="640080"/>
            <a:ext cx="685800" cy="685800"/>
          </a:xfrm>
          <a:prstGeom prst="rect">
            <a:avLst/>
          </a:prstGeom>
        </p:spPr>
      </p:pic>
      <p:sp>
        <p:nvSpPr>
          <p:cNvPr id="19" name="Titel"/>
          <p:cNvSpPr txBox="1"/>
          <p:nvPr/>
        </p:nvSpPr>
        <p:spPr>
          <a:xfrm>
            <a:off x="640080" y="594360"/>
            <a:ext cx="10241280" cy="822960"/>
          </a:xfrm>
          <a:prstGeom prst="rect">
            <a:avLst/>
          </a:prstGeom>
          <a:noFill/>
        </p:spPr>
        <p:txBody>
          <a:bodyPr wrap="square" anchor="ctr" tIns="36576" bIns="36576">
            <a:spAutoFit/>
          </a:bodyPr>
          <a:lstStyle/>
          <a:p>
            <a:pPr algn="l"/>
            <a:r>
              <a:rPr sz="4000" b="1">
                <a:solidFill>
                  <a:srgbClr val="1F2A44"/>
                </a:solidFill>
                <a:latin typeface="Calibri"/>
              </a:rPr>
              <a:t>Fall B: Lösung C</a:t>
            </a:r>
          </a:p>
        </p:txBody>
      </p:sp>
      <p:sp>
        <p:nvSpPr>
          <p:cNvPr id="20" name="Loesung"/>
          <p:cNvSpPr/>
          <p:nvPr/>
        </p:nvSpPr>
        <p:spPr>
          <a:xfrm>
            <a:off x="822960" y="1737360"/>
            <a:ext cx="10515600" cy="1645920"/>
          </a:xfrm>
          <a:prstGeom prst="roundRect">
            <a:avLst/>
          </a:prstGeom>
          <a:solidFill>
            <a:srgbClr val="FFF0D1"/>
          </a:solidFill>
          <a:ln w="38100">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r>
              <a:rPr sz="3000" b="1">
                <a:solidFill>
                  <a:srgbClr val="1F2A44"/>
                </a:solidFill>
                <a:latin typeface="Calibri"/>
              </a:rPr>
              <a:t>C  </a:t>
            </a:r>
            <a:r>
              <a:rPr sz="3000" b="1">
                <a:solidFill>
                  <a:srgbClr val="1F2A44"/>
                </a:solidFill>
                <a:latin typeface="Calibri"/>
              </a:rPr>
              <a:t>25 Werktage</a:t>
            </a:r>
          </a:p>
        </p:txBody>
      </p:sp>
      <p:sp>
        <p:nvSpPr>
          <p:cNvPr id="21" name="Begruendung"/>
          <p:cNvSpPr/>
          <p:nvPr/>
        </p:nvSpPr>
        <p:spPr>
          <a:xfrm>
            <a:off x="822960" y="3657600"/>
            <a:ext cx="10515600" cy="2286000"/>
          </a:xfrm>
          <a:prstGeom prst="roundRect">
            <a:avLst/>
          </a:prstGeom>
          <a:solidFill>
            <a:srgbClr val="EEF1F8"/>
          </a:solidFill>
          <a:ln w="25400">
            <a:solidFill>
              <a:srgbClr val="34456B"/>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r>
              <a:rPr sz="2800" b="1">
                <a:solidFill>
                  <a:srgbClr val="1F2A44"/>
                </a:solidFill>
                <a:latin typeface="Calibri"/>
              </a:rPr>
              <a:t>Begründung: </a:t>
            </a:r>
            <a:r>
              <a:rPr sz="2800" b="0">
                <a:solidFill>
                  <a:srgbClr val="1F2A44"/>
                </a:solidFill>
                <a:latin typeface="Calibri"/>
              </a:rPr>
              <a:t>Jugendliche unter 18 Jahren haben mindestens 25 Werktage (§ 19 JArbSchG), das entspricht 21 Arbeitstagen bei der Fünf-Tage-Woche.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Lst>
  </p:timing>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square" anchor="ctr" tIns="36576" bIns="36576">
            <a:spAutoFit/>
          </a:bodyPr>
          <a:lstStyle/>
          <a:p>
            <a:pPr algn="ctr"/>
            <a:r>
              <a:rPr sz="2400" b="0">
                <a:solidFill>
                  <a:srgbClr val="FFFFFF"/>
                </a:solidFill>
                <a:latin typeface="Calibri"/>
              </a:rPr>
              <a:t>Einstieg</a:t>
            </a:r>
          </a:p>
        </p:txBody>
      </p:sp>
      <p:sp>
        <p:nvSpPr>
          <p:cNvPr id="5" name="Rectangle 4"/>
          <p:cNvSpPr/>
          <p:nvPr/>
        </p:nvSpPr>
        <p:spPr>
          <a:xfrm>
            <a:off x="174167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1</a:t>
            </a:r>
          </a:p>
        </p:txBody>
      </p:sp>
      <p:sp>
        <p:nvSpPr>
          <p:cNvPr id="7" name="Rectangle 6"/>
          <p:cNvSpPr/>
          <p:nvPr/>
        </p:nvSpPr>
        <p:spPr>
          <a:xfrm>
            <a:off x="3483341"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3341"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2</a:t>
            </a:r>
          </a:p>
        </p:txBody>
      </p:sp>
      <p:sp>
        <p:nvSpPr>
          <p:cNvPr id="9" name="Rectangle 8"/>
          <p:cNvSpPr/>
          <p:nvPr/>
        </p:nvSpPr>
        <p:spPr>
          <a:xfrm>
            <a:off x="5225012"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25012"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3</a:t>
            </a:r>
          </a:p>
        </p:txBody>
      </p:sp>
      <p:sp>
        <p:nvSpPr>
          <p:cNvPr id="11" name="Rectangle 10"/>
          <p:cNvSpPr/>
          <p:nvPr/>
        </p:nvSpPr>
        <p:spPr>
          <a:xfrm>
            <a:off x="6966682"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66682" y="0"/>
            <a:ext cx="1741670" cy="457200"/>
          </a:xfrm>
          <a:prstGeom prst="rect">
            <a:avLst/>
          </a:prstGeom>
          <a:noFill/>
        </p:spPr>
        <p:txBody>
          <a:bodyPr wrap="square" anchor="ctr" tIns="36576" bIns="36576">
            <a:spAutoFit/>
          </a:bodyPr>
          <a:lstStyle/>
          <a:p>
            <a:pPr algn="ctr"/>
            <a:r>
              <a:rPr sz="2400" b="0">
                <a:solidFill>
                  <a:srgbClr val="FFFFFF"/>
                </a:solidFill>
                <a:latin typeface="Calibri"/>
              </a:rPr>
              <a:t>Üben</a:t>
            </a:r>
          </a:p>
        </p:txBody>
      </p:sp>
      <p:sp>
        <p:nvSpPr>
          <p:cNvPr id="13" name="Rectangle 12"/>
          <p:cNvSpPr/>
          <p:nvPr/>
        </p:nvSpPr>
        <p:spPr>
          <a:xfrm>
            <a:off x="8708353"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8353" y="0"/>
            <a:ext cx="1741670" cy="457200"/>
          </a:xfrm>
          <a:prstGeom prst="rect">
            <a:avLst/>
          </a:prstGeom>
          <a:noFill/>
        </p:spPr>
        <p:txBody>
          <a:bodyPr wrap="square" anchor="ctr" tIns="36576" bIns="36576">
            <a:spAutoFit/>
          </a:bodyPr>
          <a:lstStyle/>
          <a:p>
            <a:pPr algn="ctr"/>
            <a:r>
              <a:rPr sz="2400" b="1">
                <a:solidFill>
                  <a:srgbClr val="1F2A44"/>
                </a:solidFill>
                <a:latin typeface="Calibri"/>
              </a:rPr>
              <a:t>Besprechen</a:t>
            </a:r>
          </a:p>
        </p:txBody>
      </p:sp>
      <p:sp>
        <p:nvSpPr>
          <p:cNvPr id="15" name="Rectangle 14"/>
          <p:cNvSpPr/>
          <p:nvPr/>
        </p:nvSpPr>
        <p:spPr>
          <a:xfrm>
            <a:off x="10450024"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50024" y="0"/>
            <a:ext cx="1741670" cy="457200"/>
          </a:xfrm>
          <a:prstGeom prst="rect">
            <a:avLst/>
          </a:prstGeom>
          <a:noFill/>
        </p:spPr>
        <p:txBody>
          <a:bodyPr wrap="square" anchor="ctr" tIns="36576" bIns="36576">
            <a:spAutoFit/>
          </a:bodyPr>
          <a:lstStyle/>
          <a:p>
            <a:pPr algn="ctr"/>
            <a:r>
              <a:rPr sz="2400" b="0">
                <a:solidFill>
                  <a:srgbClr val="FFFFFF"/>
                </a:solidFill>
                <a:latin typeface="Calibri"/>
              </a:rPr>
              <a:t>Abschluss</a:t>
            </a:r>
          </a:p>
        </p:txBody>
      </p:sp>
      <p:sp>
        <p:nvSpPr>
          <p:cNvPr id="17" name="Fallbezeichnung"/>
          <p:cNvSpPr txBox="1"/>
          <p:nvPr/>
        </p:nvSpPr>
        <p:spPr>
          <a:xfrm>
            <a:off x="548640" y="548640"/>
            <a:ext cx="11155680" cy="548640"/>
          </a:xfrm>
          <a:prstGeom prst="rect">
            <a:avLst/>
          </a:prstGeom>
          <a:noFill/>
        </p:spPr>
        <p:txBody>
          <a:bodyPr wrap="square" anchor="t" tIns="36576" bIns="36576">
            <a:spAutoFit/>
          </a:bodyPr>
          <a:lstStyle/>
          <a:p>
            <a:pPr algn="l"/>
            <a:r>
              <a:rPr sz="2800" b="1">
                <a:solidFill>
                  <a:srgbClr val="7A4B00"/>
                </a:solidFill>
                <a:latin typeface="Calibri"/>
              </a:rPr>
              <a:t>Fall C (Vergütung)</a:t>
            </a:r>
          </a:p>
        </p:txBody>
      </p:sp>
      <p:sp>
        <p:nvSpPr>
          <p:cNvPr id="18" name="Rectangle 17"/>
          <p:cNvSpPr/>
          <p:nvPr/>
        </p:nvSpPr>
        <p:spPr>
          <a:xfrm>
            <a:off x="640080" y="1143000"/>
            <a:ext cx="10881360" cy="160020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 y="1143000"/>
            <a:ext cx="109728" cy="1600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all"/>
          <p:cNvSpPr txBox="1"/>
          <p:nvPr/>
        </p:nvSpPr>
        <p:spPr>
          <a:xfrm>
            <a:off x="868680" y="1143000"/>
            <a:ext cx="10561320" cy="1600200"/>
          </a:xfrm>
          <a:prstGeom prst="rect">
            <a:avLst/>
          </a:prstGeom>
          <a:noFill/>
        </p:spPr>
        <p:txBody>
          <a:bodyPr wrap="square" anchor="ctr" tIns="36576" bIns="36576">
            <a:spAutoFit/>
          </a:bodyPr>
          <a:lstStyle/>
          <a:p>
            <a:pPr algn="l"/>
            <a:r>
              <a:rPr sz="2600" b="1">
                <a:solidFill>
                  <a:srgbClr val="1F2A44"/>
                </a:solidFill>
                <a:latin typeface="Calibri"/>
              </a:rPr>
              <a:t>Die Muster GmbH ist nicht tarifgebunden und bietet Jonas für den Ausbildungsbeginn 2026 im ersten Jahr 690 € brutto an. Welche Aussage ist richtig?</a:t>
            </a:r>
          </a:p>
        </p:txBody>
      </p:sp>
      <p:sp>
        <p:nvSpPr>
          <p:cNvPr id="21" name="Rounded Rectangle 20"/>
          <p:cNvSpPr/>
          <p:nvPr/>
        </p:nvSpPr>
        <p:spPr>
          <a:xfrm>
            <a:off x="640080" y="2880360"/>
            <a:ext cx="10881360" cy="749808"/>
          </a:xfrm>
          <a:prstGeom prst="roundRect">
            <a:avLst>
              <a:gd name="adj" fmla="val 15000"/>
            </a:avLst>
          </a:prstGeom>
          <a:solidFill>
            <a:srgbClr val="FFFFFF"/>
          </a:solidFill>
          <a:ln w="254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77240" y="2962656"/>
            <a:ext cx="585216" cy="585216"/>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400" b="1">
                <a:solidFill>
                  <a:srgbClr val="FFFFFF"/>
                </a:solidFill>
                <a:latin typeface="Calibri"/>
              </a:rPr>
              <a:t>A</a:t>
            </a:r>
          </a:p>
        </p:txBody>
      </p:sp>
      <p:sp>
        <p:nvSpPr>
          <p:cNvPr id="23" name="Option_A"/>
          <p:cNvSpPr txBox="1"/>
          <p:nvPr/>
        </p:nvSpPr>
        <p:spPr>
          <a:xfrm>
            <a:off x="1508760" y="2880360"/>
            <a:ext cx="9921240" cy="749808"/>
          </a:xfrm>
          <a:prstGeom prst="rect">
            <a:avLst/>
          </a:prstGeom>
          <a:noFill/>
        </p:spPr>
        <p:txBody>
          <a:bodyPr wrap="square" anchor="ctr" tIns="36576" bIns="36576">
            <a:spAutoFit/>
          </a:bodyPr>
          <a:lstStyle/>
          <a:p>
            <a:pPr algn="l"/>
            <a:r>
              <a:rPr sz="2400" b="0">
                <a:solidFill>
                  <a:srgbClr val="1F2A44"/>
                </a:solidFill>
                <a:latin typeface="Calibri"/>
              </a:rPr>
              <a:t>Zulässig, wenn Jonas zustimmt.</a:t>
            </a:r>
          </a:p>
        </p:txBody>
      </p:sp>
      <p:sp>
        <p:nvSpPr>
          <p:cNvPr id="24" name="Rounded Rectangle 23"/>
          <p:cNvSpPr/>
          <p:nvPr/>
        </p:nvSpPr>
        <p:spPr>
          <a:xfrm>
            <a:off x="640080" y="3721608"/>
            <a:ext cx="10881360" cy="749808"/>
          </a:xfrm>
          <a:prstGeom prst="roundRect">
            <a:avLst>
              <a:gd name="adj" fmla="val 15000"/>
            </a:avLst>
          </a:prstGeom>
          <a:solidFill>
            <a:srgbClr val="FFFFFF"/>
          </a:solidFill>
          <a:ln w="254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77240" y="3803904"/>
            <a:ext cx="585216" cy="585216"/>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400" b="1">
                <a:solidFill>
                  <a:srgbClr val="FFFFFF"/>
                </a:solidFill>
                <a:latin typeface="Calibri"/>
              </a:rPr>
              <a:t>B</a:t>
            </a:r>
          </a:p>
        </p:txBody>
      </p:sp>
      <p:sp>
        <p:nvSpPr>
          <p:cNvPr id="26" name="Option_B"/>
          <p:cNvSpPr txBox="1"/>
          <p:nvPr/>
        </p:nvSpPr>
        <p:spPr>
          <a:xfrm>
            <a:off x="1508760" y="3721608"/>
            <a:ext cx="9921240" cy="749808"/>
          </a:xfrm>
          <a:prstGeom prst="rect">
            <a:avLst/>
          </a:prstGeom>
          <a:noFill/>
        </p:spPr>
        <p:txBody>
          <a:bodyPr wrap="square" anchor="ctr" tIns="36576" bIns="36576">
            <a:spAutoFit/>
          </a:bodyPr>
          <a:lstStyle/>
          <a:p>
            <a:pPr algn="l"/>
            <a:r>
              <a:rPr sz="2400" b="0">
                <a:solidFill>
                  <a:srgbClr val="1F2A44"/>
                </a:solidFill>
                <a:latin typeface="Calibri"/>
              </a:rPr>
              <a:t>Zulässig, weil die Vergütung frei vereinbart werden darf.</a:t>
            </a:r>
          </a:p>
        </p:txBody>
      </p:sp>
      <p:sp>
        <p:nvSpPr>
          <p:cNvPr id="27" name="Rounded Rectangle 26"/>
          <p:cNvSpPr/>
          <p:nvPr/>
        </p:nvSpPr>
        <p:spPr>
          <a:xfrm>
            <a:off x="640080" y="4562856"/>
            <a:ext cx="10881360" cy="749808"/>
          </a:xfrm>
          <a:prstGeom prst="roundRect">
            <a:avLst>
              <a:gd name="adj" fmla="val 15000"/>
            </a:avLst>
          </a:prstGeom>
          <a:solidFill>
            <a:srgbClr val="FFFFFF"/>
          </a:solidFill>
          <a:ln w="254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77240" y="4645152"/>
            <a:ext cx="585216" cy="585216"/>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400" b="1">
                <a:solidFill>
                  <a:srgbClr val="FFFFFF"/>
                </a:solidFill>
                <a:latin typeface="Calibri"/>
              </a:rPr>
              <a:t>C</a:t>
            </a:r>
          </a:p>
        </p:txBody>
      </p:sp>
      <p:sp>
        <p:nvSpPr>
          <p:cNvPr id="29" name="Option_C"/>
          <p:cNvSpPr txBox="1"/>
          <p:nvPr/>
        </p:nvSpPr>
        <p:spPr>
          <a:xfrm>
            <a:off x="1508760" y="4562856"/>
            <a:ext cx="9921240" cy="749808"/>
          </a:xfrm>
          <a:prstGeom prst="rect">
            <a:avLst/>
          </a:prstGeom>
          <a:noFill/>
        </p:spPr>
        <p:txBody>
          <a:bodyPr wrap="square" anchor="ctr" tIns="36576" bIns="36576">
            <a:spAutoFit/>
          </a:bodyPr>
          <a:lstStyle/>
          <a:p>
            <a:pPr algn="l"/>
            <a:r>
              <a:rPr sz="2400" b="0">
                <a:solidFill>
                  <a:srgbClr val="1F2A44"/>
                </a:solidFill>
                <a:latin typeface="Calibri"/>
              </a:rPr>
              <a:t>Unzulässig, im ersten Ausbildungsjahr gelten 2026 mindestens 724 €.</a:t>
            </a:r>
          </a:p>
        </p:txBody>
      </p:sp>
      <p:sp>
        <p:nvSpPr>
          <p:cNvPr id="30" name="Rounded Rectangle 29"/>
          <p:cNvSpPr/>
          <p:nvPr/>
        </p:nvSpPr>
        <p:spPr>
          <a:xfrm>
            <a:off x="640080" y="5404104"/>
            <a:ext cx="10881360" cy="749808"/>
          </a:xfrm>
          <a:prstGeom prst="roundRect">
            <a:avLst>
              <a:gd name="adj" fmla="val 15000"/>
            </a:avLst>
          </a:prstGeom>
          <a:solidFill>
            <a:srgbClr val="FFFFFF"/>
          </a:solidFill>
          <a:ln w="254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77240" y="5486400"/>
            <a:ext cx="585216" cy="585216"/>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400" b="1">
                <a:solidFill>
                  <a:srgbClr val="FFFFFF"/>
                </a:solidFill>
                <a:latin typeface="Calibri"/>
              </a:rPr>
              <a:t>D</a:t>
            </a:r>
          </a:p>
        </p:txBody>
      </p:sp>
      <p:sp>
        <p:nvSpPr>
          <p:cNvPr id="32" name="Option_D"/>
          <p:cNvSpPr txBox="1"/>
          <p:nvPr/>
        </p:nvSpPr>
        <p:spPr>
          <a:xfrm>
            <a:off x="1508760" y="5404104"/>
            <a:ext cx="9921240" cy="749808"/>
          </a:xfrm>
          <a:prstGeom prst="rect">
            <a:avLst/>
          </a:prstGeom>
          <a:noFill/>
        </p:spPr>
        <p:txBody>
          <a:bodyPr wrap="square" anchor="ctr" tIns="36576" bIns="36576">
            <a:spAutoFit/>
          </a:bodyPr>
          <a:lstStyle/>
          <a:p>
            <a:pPr algn="l"/>
            <a:r>
              <a:rPr sz="2400" b="0">
                <a:solidFill>
                  <a:srgbClr val="1F2A44"/>
                </a:solidFill>
                <a:latin typeface="Calibri"/>
              </a:rPr>
              <a:t>Unzulässig, erst ab dem zweiten Jahr gilt eine Mindestvergütung.</a:t>
            </a:r>
          </a:p>
        </p:txBody>
      </p:sp>
      <p:sp>
        <p:nvSpPr>
          <p:cNvPr id="33" name="Rounded Rectangle 32"/>
          <p:cNvSpPr/>
          <p:nvPr/>
        </p:nvSpPr>
        <p:spPr>
          <a:xfrm>
            <a:off x="502920" y="6327648"/>
            <a:ext cx="2587752" cy="420624"/>
          </a:xfrm>
          <a:prstGeom prst="roundRect">
            <a:avLst>
              <a:gd name="adj" fmla="val 4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2920" y="6327648"/>
            <a:ext cx="2587752" cy="420624"/>
          </a:xfrm>
          <a:prstGeom prst="rect">
            <a:avLst/>
          </a:prstGeom>
          <a:noFill/>
        </p:spPr>
        <p:txBody>
          <a:bodyPr wrap="square" anchor="ctr" tIns="36576" bIns="36576">
            <a:spAutoFit/>
          </a:bodyPr>
          <a:lstStyle/>
          <a:p>
            <a:pPr algn="ctr"/>
            <a:r>
              <a:rPr sz="2400" b="1">
                <a:solidFill>
                  <a:srgbClr val="FFFFFF"/>
                </a:solidFill>
                <a:latin typeface="Calibri"/>
              </a:rPr>
              <a:t>Abstimmung A–D</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square" anchor="ctr" tIns="36576" bIns="36576">
            <a:spAutoFit/>
          </a:bodyPr>
          <a:lstStyle/>
          <a:p>
            <a:pPr algn="ctr"/>
            <a:r>
              <a:rPr sz="2400" b="0">
                <a:solidFill>
                  <a:srgbClr val="FFFFFF"/>
                </a:solidFill>
                <a:latin typeface="Calibri"/>
              </a:rPr>
              <a:t>Einstieg</a:t>
            </a:r>
          </a:p>
        </p:txBody>
      </p:sp>
      <p:sp>
        <p:nvSpPr>
          <p:cNvPr id="5" name="Rectangle 4"/>
          <p:cNvSpPr/>
          <p:nvPr/>
        </p:nvSpPr>
        <p:spPr>
          <a:xfrm>
            <a:off x="174167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1</a:t>
            </a:r>
          </a:p>
        </p:txBody>
      </p:sp>
      <p:sp>
        <p:nvSpPr>
          <p:cNvPr id="7" name="Rectangle 6"/>
          <p:cNvSpPr/>
          <p:nvPr/>
        </p:nvSpPr>
        <p:spPr>
          <a:xfrm>
            <a:off x="3483341"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3341"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2</a:t>
            </a:r>
          </a:p>
        </p:txBody>
      </p:sp>
      <p:sp>
        <p:nvSpPr>
          <p:cNvPr id="9" name="Rectangle 8"/>
          <p:cNvSpPr/>
          <p:nvPr/>
        </p:nvSpPr>
        <p:spPr>
          <a:xfrm>
            <a:off x="5225012"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25012"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3</a:t>
            </a:r>
          </a:p>
        </p:txBody>
      </p:sp>
      <p:sp>
        <p:nvSpPr>
          <p:cNvPr id="11" name="Rectangle 10"/>
          <p:cNvSpPr/>
          <p:nvPr/>
        </p:nvSpPr>
        <p:spPr>
          <a:xfrm>
            <a:off x="6966682"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66682" y="0"/>
            <a:ext cx="1741670" cy="457200"/>
          </a:xfrm>
          <a:prstGeom prst="rect">
            <a:avLst/>
          </a:prstGeom>
          <a:noFill/>
        </p:spPr>
        <p:txBody>
          <a:bodyPr wrap="square" anchor="ctr" tIns="36576" bIns="36576">
            <a:spAutoFit/>
          </a:bodyPr>
          <a:lstStyle/>
          <a:p>
            <a:pPr algn="ctr"/>
            <a:r>
              <a:rPr sz="2400" b="0">
                <a:solidFill>
                  <a:srgbClr val="FFFFFF"/>
                </a:solidFill>
                <a:latin typeface="Calibri"/>
              </a:rPr>
              <a:t>Üben</a:t>
            </a:r>
          </a:p>
        </p:txBody>
      </p:sp>
      <p:sp>
        <p:nvSpPr>
          <p:cNvPr id="13" name="Rectangle 12"/>
          <p:cNvSpPr/>
          <p:nvPr/>
        </p:nvSpPr>
        <p:spPr>
          <a:xfrm>
            <a:off x="8708353"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8353" y="0"/>
            <a:ext cx="1741670" cy="457200"/>
          </a:xfrm>
          <a:prstGeom prst="rect">
            <a:avLst/>
          </a:prstGeom>
          <a:noFill/>
        </p:spPr>
        <p:txBody>
          <a:bodyPr wrap="square" anchor="ctr" tIns="36576" bIns="36576">
            <a:spAutoFit/>
          </a:bodyPr>
          <a:lstStyle/>
          <a:p>
            <a:pPr algn="ctr"/>
            <a:r>
              <a:rPr sz="2400" b="1">
                <a:solidFill>
                  <a:srgbClr val="1F2A44"/>
                </a:solidFill>
                <a:latin typeface="Calibri"/>
              </a:rPr>
              <a:t>Besprechen</a:t>
            </a:r>
          </a:p>
        </p:txBody>
      </p:sp>
      <p:sp>
        <p:nvSpPr>
          <p:cNvPr id="15" name="Rectangle 14"/>
          <p:cNvSpPr/>
          <p:nvPr/>
        </p:nvSpPr>
        <p:spPr>
          <a:xfrm>
            <a:off x="10450024"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50024" y="0"/>
            <a:ext cx="1741670" cy="457200"/>
          </a:xfrm>
          <a:prstGeom prst="rect">
            <a:avLst/>
          </a:prstGeom>
          <a:noFill/>
        </p:spPr>
        <p:txBody>
          <a:bodyPr wrap="square" anchor="ctr" tIns="36576" bIns="36576">
            <a:spAutoFit/>
          </a:bodyPr>
          <a:lstStyle/>
          <a:p>
            <a:pPr algn="ctr"/>
            <a:r>
              <a:rPr sz="2400" b="0">
                <a:solidFill>
                  <a:srgbClr val="FFFFFF"/>
                </a:solidFill>
                <a:latin typeface="Calibri"/>
              </a:rPr>
              <a:t>Abschluss</a:t>
            </a:r>
          </a:p>
        </p:txBody>
      </p:sp>
      <p:sp>
        <p:nvSpPr>
          <p:cNvPr id="17" name="Antwortrahmen"/>
          <p:cNvSpPr/>
          <p:nvPr/>
        </p:nvSpPr>
        <p:spPr>
          <a:xfrm>
            <a:off x="411480" y="566928"/>
            <a:ext cx="11365992" cy="5669280"/>
          </a:xfrm>
          <a:prstGeom prst="rect">
            <a:avLst/>
          </a:prstGeom>
          <a:noFill/>
          <a:ln w="76200">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Haken: Antwortfolie"/>
          <p:cNvPicPr>
            <a:picLocks noChangeAspect="1"/>
          </p:cNvPicPr>
          <p:nvPr/>
        </p:nvPicPr>
        <p:blipFill>
          <a:blip r:embed="rId3"/>
          <a:stretch>
            <a:fillRect/>
          </a:stretch>
        </p:blipFill>
        <p:spPr>
          <a:xfrm>
            <a:off x="10972800" y="640080"/>
            <a:ext cx="685800" cy="685800"/>
          </a:xfrm>
          <a:prstGeom prst="rect">
            <a:avLst/>
          </a:prstGeom>
        </p:spPr>
      </p:pic>
      <p:sp>
        <p:nvSpPr>
          <p:cNvPr id="19" name="Titel"/>
          <p:cNvSpPr txBox="1"/>
          <p:nvPr/>
        </p:nvSpPr>
        <p:spPr>
          <a:xfrm>
            <a:off x="640080" y="594360"/>
            <a:ext cx="10241280" cy="822960"/>
          </a:xfrm>
          <a:prstGeom prst="rect">
            <a:avLst/>
          </a:prstGeom>
          <a:noFill/>
        </p:spPr>
        <p:txBody>
          <a:bodyPr wrap="square" anchor="ctr" tIns="36576" bIns="36576">
            <a:spAutoFit/>
          </a:bodyPr>
          <a:lstStyle/>
          <a:p>
            <a:pPr algn="l"/>
            <a:r>
              <a:rPr sz="4000" b="1">
                <a:solidFill>
                  <a:srgbClr val="1F2A44"/>
                </a:solidFill>
                <a:latin typeface="Calibri"/>
              </a:rPr>
              <a:t>Fall C: Lösung C</a:t>
            </a:r>
          </a:p>
        </p:txBody>
      </p:sp>
      <p:sp>
        <p:nvSpPr>
          <p:cNvPr id="20" name="Loesung"/>
          <p:cNvSpPr/>
          <p:nvPr/>
        </p:nvSpPr>
        <p:spPr>
          <a:xfrm>
            <a:off x="822960" y="1737360"/>
            <a:ext cx="10515600" cy="1645920"/>
          </a:xfrm>
          <a:prstGeom prst="roundRect">
            <a:avLst/>
          </a:prstGeom>
          <a:solidFill>
            <a:srgbClr val="FFF0D1"/>
          </a:solidFill>
          <a:ln w="38100">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r>
              <a:rPr sz="3000" b="1">
                <a:solidFill>
                  <a:srgbClr val="1F2A44"/>
                </a:solidFill>
                <a:latin typeface="Calibri"/>
              </a:rPr>
              <a:t>C  </a:t>
            </a:r>
            <a:r>
              <a:rPr sz="3000" b="1">
                <a:solidFill>
                  <a:srgbClr val="1F2A44"/>
                </a:solidFill>
                <a:latin typeface="Calibri"/>
              </a:rPr>
              <a:t>Unzulässig, im ersten Ausbildungsjahr gelten 2026 mindestens 724 €.</a:t>
            </a:r>
          </a:p>
        </p:txBody>
      </p:sp>
      <p:sp>
        <p:nvSpPr>
          <p:cNvPr id="21" name="Begruendung"/>
          <p:cNvSpPr/>
          <p:nvPr/>
        </p:nvSpPr>
        <p:spPr>
          <a:xfrm>
            <a:off x="822960" y="3657600"/>
            <a:ext cx="10515600" cy="2286000"/>
          </a:xfrm>
          <a:prstGeom prst="roundRect">
            <a:avLst/>
          </a:prstGeom>
          <a:solidFill>
            <a:srgbClr val="EEF1F8"/>
          </a:solidFill>
          <a:ln w="25400">
            <a:solidFill>
              <a:srgbClr val="34456B"/>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r>
              <a:rPr sz="2800" b="1">
                <a:solidFill>
                  <a:srgbClr val="1F2A44"/>
                </a:solidFill>
                <a:latin typeface="Calibri"/>
              </a:rPr>
              <a:t>Begründung: </a:t>
            </a:r>
            <a:r>
              <a:rPr sz="2800" b="0">
                <a:solidFill>
                  <a:srgbClr val="1F2A44"/>
                </a:solidFill>
                <a:latin typeface="Calibri"/>
              </a:rPr>
              <a:t>Die Mindestausbildungsvergütung nach § 17 BBiG darf nicht unterschritten werden.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Lst>
  </p:timing>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square" anchor="ctr" tIns="36576" bIns="36576">
            <a:spAutoFit/>
          </a:bodyPr>
          <a:lstStyle/>
          <a:p>
            <a:pPr algn="ctr"/>
            <a:r>
              <a:rPr sz="2400" b="0">
                <a:solidFill>
                  <a:srgbClr val="FFFFFF"/>
                </a:solidFill>
                <a:latin typeface="Calibri"/>
              </a:rPr>
              <a:t>Einstieg</a:t>
            </a:r>
          </a:p>
        </p:txBody>
      </p:sp>
      <p:sp>
        <p:nvSpPr>
          <p:cNvPr id="5" name="Rectangle 4"/>
          <p:cNvSpPr/>
          <p:nvPr/>
        </p:nvSpPr>
        <p:spPr>
          <a:xfrm>
            <a:off x="174167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1</a:t>
            </a:r>
          </a:p>
        </p:txBody>
      </p:sp>
      <p:sp>
        <p:nvSpPr>
          <p:cNvPr id="7" name="Rectangle 6"/>
          <p:cNvSpPr/>
          <p:nvPr/>
        </p:nvSpPr>
        <p:spPr>
          <a:xfrm>
            <a:off x="3483341"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3341"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2</a:t>
            </a:r>
          </a:p>
        </p:txBody>
      </p:sp>
      <p:sp>
        <p:nvSpPr>
          <p:cNvPr id="9" name="Rectangle 8"/>
          <p:cNvSpPr/>
          <p:nvPr/>
        </p:nvSpPr>
        <p:spPr>
          <a:xfrm>
            <a:off x="5225012"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25012"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3</a:t>
            </a:r>
          </a:p>
        </p:txBody>
      </p:sp>
      <p:sp>
        <p:nvSpPr>
          <p:cNvPr id="11" name="Rectangle 10"/>
          <p:cNvSpPr/>
          <p:nvPr/>
        </p:nvSpPr>
        <p:spPr>
          <a:xfrm>
            <a:off x="6966682"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66682" y="0"/>
            <a:ext cx="1741670" cy="457200"/>
          </a:xfrm>
          <a:prstGeom prst="rect">
            <a:avLst/>
          </a:prstGeom>
          <a:noFill/>
        </p:spPr>
        <p:txBody>
          <a:bodyPr wrap="square" anchor="ctr" tIns="36576" bIns="36576">
            <a:spAutoFit/>
          </a:bodyPr>
          <a:lstStyle/>
          <a:p>
            <a:pPr algn="ctr"/>
            <a:r>
              <a:rPr sz="2400" b="0">
                <a:solidFill>
                  <a:srgbClr val="FFFFFF"/>
                </a:solidFill>
                <a:latin typeface="Calibri"/>
              </a:rPr>
              <a:t>Üben</a:t>
            </a:r>
          </a:p>
        </p:txBody>
      </p:sp>
      <p:sp>
        <p:nvSpPr>
          <p:cNvPr id="13" name="Rectangle 12"/>
          <p:cNvSpPr/>
          <p:nvPr/>
        </p:nvSpPr>
        <p:spPr>
          <a:xfrm>
            <a:off x="8708353"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8353" y="0"/>
            <a:ext cx="1741670" cy="457200"/>
          </a:xfrm>
          <a:prstGeom prst="rect">
            <a:avLst/>
          </a:prstGeom>
          <a:noFill/>
        </p:spPr>
        <p:txBody>
          <a:bodyPr wrap="square" anchor="ctr" tIns="36576" bIns="36576">
            <a:spAutoFit/>
          </a:bodyPr>
          <a:lstStyle/>
          <a:p>
            <a:pPr algn="ctr"/>
            <a:r>
              <a:rPr sz="2400" b="0">
                <a:solidFill>
                  <a:srgbClr val="FFFFFF"/>
                </a:solidFill>
                <a:latin typeface="Calibri"/>
              </a:rPr>
              <a:t>Besprechen</a:t>
            </a:r>
          </a:p>
        </p:txBody>
      </p:sp>
      <p:sp>
        <p:nvSpPr>
          <p:cNvPr id="15" name="Rectangle 14"/>
          <p:cNvSpPr/>
          <p:nvPr/>
        </p:nvSpPr>
        <p:spPr>
          <a:xfrm>
            <a:off x="10450024"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50024" y="0"/>
            <a:ext cx="1741670" cy="457200"/>
          </a:xfrm>
          <a:prstGeom prst="rect">
            <a:avLst/>
          </a:prstGeom>
          <a:noFill/>
        </p:spPr>
        <p:txBody>
          <a:bodyPr wrap="square" anchor="ctr" tIns="36576" bIns="36576">
            <a:spAutoFit/>
          </a:bodyPr>
          <a:lstStyle/>
          <a:p>
            <a:pPr algn="ctr"/>
            <a:r>
              <a:rPr sz="2400" b="1">
                <a:solidFill>
                  <a:srgbClr val="1F2A44"/>
                </a:solidFill>
                <a:latin typeface="Calibri"/>
              </a:rPr>
              <a:t>Abschluss</a:t>
            </a:r>
          </a:p>
        </p:txBody>
      </p:sp>
      <p:sp>
        <p:nvSpPr>
          <p:cNvPr id="17" name="Titel"/>
          <p:cNvSpPr txBox="1"/>
          <p:nvPr/>
        </p:nvSpPr>
        <p:spPr>
          <a:xfrm>
            <a:off x="548640" y="530352"/>
            <a:ext cx="11155680" cy="868680"/>
          </a:xfrm>
          <a:prstGeom prst="rect">
            <a:avLst/>
          </a:prstGeom>
          <a:noFill/>
        </p:spPr>
        <p:txBody>
          <a:bodyPr wrap="square" anchor="ctr" tIns="36576" bIns="36576">
            <a:spAutoFit/>
          </a:bodyPr>
          <a:lstStyle/>
          <a:p>
            <a:pPr algn="l"/>
            <a:r>
              <a:rPr sz="4000" b="1">
                <a:solidFill>
                  <a:srgbClr val="1F2A44"/>
                </a:solidFill>
                <a:latin typeface="Calibri"/>
              </a:rPr>
              <a:t>Merke dir diese fünf</a:t>
            </a:r>
          </a:p>
        </p:txBody>
      </p:sp>
      <p:sp>
        <p:nvSpPr>
          <p:cNvPr id="18" name="Rectangle 17"/>
          <p:cNvSpPr/>
          <p:nvPr/>
        </p:nvSpPr>
        <p:spPr>
          <a:xfrm>
            <a:off x="640080" y="1371600"/>
            <a:ext cx="1463040" cy="6400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 y="1691640"/>
            <a:ext cx="3520440" cy="2148840"/>
          </a:xfrm>
          <a:prstGeom prst="rect">
            <a:avLst/>
          </a:prstGeom>
          <a:solidFill>
            <a:srgbClr val="FFF0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0080" y="1691640"/>
            <a:ext cx="3520440" cy="10972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1874520"/>
            <a:ext cx="3520440" cy="914400"/>
          </a:xfrm>
          <a:prstGeom prst="rect">
            <a:avLst/>
          </a:prstGeom>
          <a:noFill/>
        </p:spPr>
        <p:txBody>
          <a:bodyPr wrap="square" anchor="ctr" tIns="36576" bIns="36576">
            <a:spAutoFit/>
          </a:bodyPr>
          <a:lstStyle/>
          <a:p>
            <a:pPr algn="ctr"/>
            <a:r>
              <a:rPr sz="4800" b="1">
                <a:solidFill>
                  <a:srgbClr val="1F2A44"/>
                </a:solidFill>
                <a:latin typeface="Calibri"/>
              </a:rPr>
              <a:t>4 Monate</a:t>
            </a:r>
          </a:p>
        </p:txBody>
      </p:sp>
      <p:sp>
        <p:nvSpPr>
          <p:cNvPr id="22" name="TextBox 21"/>
          <p:cNvSpPr txBox="1"/>
          <p:nvPr/>
        </p:nvSpPr>
        <p:spPr>
          <a:xfrm>
            <a:off x="685800" y="2834640"/>
            <a:ext cx="3429000" cy="457200"/>
          </a:xfrm>
          <a:prstGeom prst="rect">
            <a:avLst/>
          </a:prstGeom>
          <a:noFill/>
        </p:spPr>
        <p:txBody>
          <a:bodyPr wrap="square" anchor="t" tIns="36576" bIns="36576">
            <a:spAutoFit/>
          </a:bodyPr>
          <a:lstStyle/>
          <a:p>
            <a:pPr algn="ctr"/>
            <a:r>
              <a:rPr sz="2400" b="0">
                <a:solidFill>
                  <a:srgbClr val="1F2A44"/>
                </a:solidFill>
                <a:latin typeface="Calibri"/>
              </a:rPr>
              <a:t>Probezeit, höchstens</a:t>
            </a:r>
          </a:p>
        </p:txBody>
      </p:sp>
      <p:sp>
        <p:nvSpPr>
          <p:cNvPr id="23" name="TextBox 22"/>
          <p:cNvSpPr txBox="1"/>
          <p:nvPr/>
        </p:nvSpPr>
        <p:spPr>
          <a:xfrm>
            <a:off x="640080" y="3383280"/>
            <a:ext cx="3520440" cy="365760"/>
          </a:xfrm>
          <a:prstGeom prst="rect">
            <a:avLst/>
          </a:prstGeom>
          <a:noFill/>
        </p:spPr>
        <p:txBody>
          <a:bodyPr wrap="square" anchor="t" tIns="36576" bIns="36576">
            <a:spAutoFit/>
          </a:bodyPr>
          <a:lstStyle/>
          <a:p>
            <a:pPr algn="ctr"/>
            <a:r>
              <a:rPr sz="2400" b="1">
                <a:solidFill>
                  <a:srgbClr val="7A4B00"/>
                </a:solidFill>
                <a:latin typeface="Calibri"/>
              </a:rPr>
              <a:t>§ 20 BBiG</a:t>
            </a:r>
          </a:p>
        </p:txBody>
      </p:sp>
      <p:sp>
        <p:nvSpPr>
          <p:cNvPr id="24" name="Rectangle 23"/>
          <p:cNvSpPr/>
          <p:nvPr/>
        </p:nvSpPr>
        <p:spPr>
          <a:xfrm>
            <a:off x="4343400" y="1691640"/>
            <a:ext cx="3520440" cy="214884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43400" y="1691640"/>
            <a:ext cx="3520440" cy="109728"/>
          </a:xfrm>
          <a:prstGeom prst="rect">
            <a:avLst/>
          </a:prstGeom>
          <a:solidFill>
            <a:srgbClr val="34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43400" y="1874520"/>
            <a:ext cx="3520440" cy="914400"/>
          </a:xfrm>
          <a:prstGeom prst="rect">
            <a:avLst/>
          </a:prstGeom>
          <a:noFill/>
        </p:spPr>
        <p:txBody>
          <a:bodyPr wrap="square" anchor="ctr" tIns="36576" bIns="36576">
            <a:spAutoFit/>
          </a:bodyPr>
          <a:lstStyle/>
          <a:p>
            <a:pPr algn="ctr"/>
            <a:r>
              <a:rPr sz="4800" b="1">
                <a:solidFill>
                  <a:srgbClr val="1F2A44"/>
                </a:solidFill>
                <a:latin typeface="Calibri"/>
              </a:rPr>
              <a:t>724 €</a:t>
            </a:r>
          </a:p>
        </p:txBody>
      </p:sp>
      <p:sp>
        <p:nvSpPr>
          <p:cNvPr id="27" name="TextBox 26"/>
          <p:cNvSpPr txBox="1"/>
          <p:nvPr/>
        </p:nvSpPr>
        <p:spPr>
          <a:xfrm>
            <a:off x="4389120" y="2834640"/>
            <a:ext cx="3429000" cy="457200"/>
          </a:xfrm>
          <a:prstGeom prst="rect">
            <a:avLst/>
          </a:prstGeom>
          <a:noFill/>
        </p:spPr>
        <p:txBody>
          <a:bodyPr wrap="square" anchor="t" tIns="36576" bIns="36576">
            <a:spAutoFit/>
          </a:bodyPr>
          <a:lstStyle/>
          <a:p>
            <a:pPr algn="ctr"/>
            <a:r>
              <a:rPr sz="2400" b="0">
                <a:solidFill>
                  <a:srgbClr val="1F2A44"/>
                </a:solidFill>
                <a:latin typeface="Calibri"/>
              </a:rPr>
              <a:t>im 1. Jahr, Beginn 2026</a:t>
            </a:r>
          </a:p>
        </p:txBody>
      </p:sp>
      <p:sp>
        <p:nvSpPr>
          <p:cNvPr id="28" name="TextBox 27"/>
          <p:cNvSpPr txBox="1"/>
          <p:nvPr/>
        </p:nvSpPr>
        <p:spPr>
          <a:xfrm>
            <a:off x="4343400" y="3383280"/>
            <a:ext cx="3520440" cy="365760"/>
          </a:xfrm>
          <a:prstGeom prst="rect">
            <a:avLst/>
          </a:prstGeom>
          <a:noFill/>
        </p:spPr>
        <p:txBody>
          <a:bodyPr wrap="square" anchor="t" tIns="36576" bIns="36576">
            <a:spAutoFit/>
          </a:bodyPr>
          <a:lstStyle/>
          <a:p>
            <a:pPr algn="ctr"/>
            <a:r>
              <a:rPr sz="2400" b="1">
                <a:solidFill>
                  <a:srgbClr val="7A4B00"/>
                </a:solidFill>
                <a:latin typeface="Calibri"/>
              </a:rPr>
              <a:t>§ 17 BBiG</a:t>
            </a:r>
          </a:p>
        </p:txBody>
      </p:sp>
      <p:sp>
        <p:nvSpPr>
          <p:cNvPr id="29" name="Rectangle 28"/>
          <p:cNvSpPr/>
          <p:nvPr/>
        </p:nvSpPr>
        <p:spPr>
          <a:xfrm>
            <a:off x="8046719" y="1691640"/>
            <a:ext cx="3520440" cy="2148840"/>
          </a:xfrm>
          <a:prstGeom prst="rect">
            <a:avLst/>
          </a:prstGeom>
          <a:solidFill>
            <a:srgbClr val="FFF0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046719" y="1691640"/>
            <a:ext cx="3520440" cy="10972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46719" y="1874520"/>
            <a:ext cx="3520440" cy="914400"/>
          </a:xfrm>
          <a:prstGeom prst="rect">
            <a:avLst/>
          </a:prstGeom>
          <a:noFill/>
        </p:spPr>
        <p:txBody>
          <a:bodyPr wrap="square" anchor="ctr" tIns="36576" bIns="36576">
            <a:spAutoFit/>
          </a:bodyPr>
          <a:lstStyle/>
          <a:p>
            <a:pPr algn="ctr"/>
            <a:r>
              <a:rPr sz="4800" b="1">
                <a:solidFill>
                  <a:srgbClr val="1F2A44"/>
                </a:solidFill>
                <a:latin typeface="Calibri"/>
              </a:rPr>
              <a:t>24</a:t>
            </a:r>
          </a:p>
        </p:txBody>
      </p:sp>
      <p:sp>
        <p:nvSpPr>
          <p:cNvPr id="32" name="TextBox 31"/>
          <p:cNvSpPr txBox="1"/>
          <p:nvPr/>
        </p:nvSpPr>
        <p:spPr>
          <a:xfrm>
            <a:off x="8092440" y="2834640"/>
            <a:ext cx="3429000" cy="457200"/>
          </a:xfrm>
          <a:prstGeom prst="rect">
            <a:avLst/>
          </a:prstGeom>
          <a:noFill/>
        </p:spPr>
        <p:txBody>
          <a:bodyPr wrap="square" anchor="t" tIns="36576" bIns="36576">
            <a:spAutoFit/>
          </a:bodyPr>
          <a:lstStyle/>
          <a:p>
            <a:pPr algn="ctr"/>
            <a:r>
              <a:rPr sz="2400" b="0">
                <a:solidFill>
                  <a:srgbClr val="1F2A44"/>
                </a:solidFill>
                <a:latin typeface="Calibri"/>
              </a:rPr>
              <a:t>Werktage Urlaub ab 18</a:t>
            </a:r>
          </a:p>
        </p:txBody>
      </p:sp>
      <p:sp>
        <p:nvSpPr>
          <p:cNvPr id="33" name="TextBox 32"/>
          <p:cNvSpPr txBox="1"/>
          <p:nvPr/>
        </p:nvSpPr>
        <p:spPr>
          <a:xfrm>
            <a:off x="8046719" y="3383280"/>
            <a:ext cx="3520440" cy="365760"/>
          </a:xfrm>
          <a:prstGeom prst="rect">
            <a:avLst/>
          </a:prstGeom>
          <a:noFill/>
        </p:spPr>
        <p:txBody>
          <a:bodyPr wrap="square" anchor="t" tIns="36576" bIns="36576">
            <a:spAutoFit/>
          </a:bodyPr>
          <a:lstStyle/>
          <a:p>
            <a:pPr algn="ctr"/>
            <a:r>
              <a:rPr sz="2400" b="1">
                <a:solidFill>
                  <a:srgbClr val="7A4B00"/>
                </a:solidFill>
                <a:latin typeface="Calibri"/>
              </a:rPr>
              <a:t>§ 3 BUrlG</a:t>
            </a:r>
          </a:p>
        </p:txBody>
      </p:sp>
      <p:sp>
        <p:nvSpPr>
          <p:cNvPr id="34" name="Rectangle 33"/>
          <p:cNvSpPr/>
          <p:nvPr/>
        </p:nvSpPr>
        <p:spPr>
          <a:xfrm>
            <a:off x="640080" y="4023360"/>
            <a:ext cx="3520440" cy="214884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40080" y="4023360"/>
            <a:ext cx="3520440" cy="109728"/>
          </a:xfrm>
          <a:prstGeom prst="rect">
            <a:avLst/>
          </a:prstGeom>
          <a:solidFill>
            <a:srgbClr val="34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080" y="4206240"/>
            <a:ext cx="3520440" cy="914400"/>
          </a:xfrm>
          <a:prstGeom prst="rect">
            <a:avLst/>
          </a:prstGeom>
          <a:noFill/>
        </p:spPr>
        <p:txBody>
          <a:bodyPr wrap="square" anchor="ctr" tIns="36576" bIns="36576">
            <a:spAutoFit/>
          </a:bodyPr>
          <a:lstStyle/>
          <a:p>
            <a:pPr algn="ctr"/>
            <a:r>
              <a:rPr sz="4800" b="1">
                <a:solidFill>
                  <a:srgbClr val="1F2A44"/>
                </a:solidFill>
                <a:latin typeface="Calibri"/>
              </a:rPr>
              <a:t>schriftlich</a:t>
            </a:r>
          </a:p>
        </p:txBody>
      </p:sp>
      <p:sp>
        <p:nvSpPr>
          <p:cNvPr id="37" name="TextBox 36"/>
          <p:cNvSpPr txBox="1"/>
          <p:nvPr/>
        </p:nvSpPr>
        <p:spPr>
          <a:xfrm>
            <a:off x="685800" y="5166360"/>
            <a:ext cx="3429000" cy="457200"/>
          </a:xfrm>
          <a:prstGeom prst="rect">
            <a:avLst/>
          </a:prstGeom>
          <a:noFill/>
        </p:spPr>
        <p:txBody>
          <a:bodyPr wrap="square" anchor="t" tIns="36576" bIns="36576">
            <a:spAutoFit/>
          </a:bodyPr>
          <a:lstStyle/>
          <a:p>
            <a:pPr algn="ctr"/>
            <a:r>
              <a:rPr sz="2400" b="0">
                <a:solidFill>
                  <a:srgbClr val="1F2A44"/>
                </a:solidFill>
                <a:latin typeface="Calibri"/>
              </a:rPr>
              <a:t>Kündigung, nie E-Mail</a:t>
            </a:r>
          </a:p>
        </p:txBody>
      </p:sp>
      <p:sp>
        <p:nvSpPr>
          <p:cNvPr id="38" name="TextBox 37"/>
          <p:cNvSpPr txBox="1"/>
          <p:nvPr/>
        </p:nvSpPr>
        <p:spPr>
          <a:xfrm>
            <a:off x="640080" y="5715000"/>
            <a:ext cx="3520440" cy="365760"/>
          </a:xfrm>
          <a:prstGeom prst="rect">
            <a:avLst/>
          </a:prstGeom>
          <a:noFill/>
        </p:spPr>
        <p:txBody>
          <a:bodyPr wrap="square" anchor="t" tIns="36576" bIns="36576">
            <a:spAutoFit/>
          </a:bodyPr>
          <a:lstStyle/>
          <a:p>
            <a:pPr algn="ctr"/>
            <a:r>
              <a:rPr sz="2400" b="1">
                <a:solidFill>
                  <a:srgbClr val="7A4B00"/>
                </a:solidFill>
                <a:latin typeface="Calibri"/>
              </a:rPr>
              <a:t>§ 22 BBiG</a:t>
            </a:r>
          </a:p>
        </p:txBody>
      </p:sp>
      <p:sp>
        <p:nvSpPr>
          <p:cNvPr id="39" name="Rectangle 38"/>
          <p:cNvSpPr/>
          <p:nvPr/>
        </p:nvSpPr>
        <p:spPr>
          <a:xfrm>
            <a:off x="4343400" y="4023360"/>
            <a:ext cx="3520440" cy="2148840"/>
          </a:xfrm>
          <a:prstGeom prst="rect">
            <a:avLst/>
          </a:prstGeom>
          <a:solidFill>
            <a:srgbClr val="FFF0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343400" y="4023360"/>
            <a:ext cx="3520440" cy="10972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343400" y="4206240"/>
            <a:ext cx="3520440" cy="914400"/>
          </a:xfrm>
          <a:prstGeom prst="rect">
            <a:avLst/>
          </a:prstGeom>
          <a:noFill/>
        </p:spPr>
        <p:txBody>
          <a:bodyPr wrap="square" anchor="ctr" tIns="36576" bIns="36576">
            <a:spAutoFit/>
          </a:bodyPr>
          <a:lstStyle/>
          <a:p>
            <a:pPr algn="ctr"/>
            <a:r>
              <a:rPr sz="4800" b="1">
                <a:solidFill>
                  <a:srgbClr val="1F2A44"/>
                </a:solidFill>
                <a:latin typeface="Calibri"/>
              </a:rPr>
              <a:t>8 h</a:t>
            </a:r>
          </a:p>
        </p:txBody>
      </p:sp>
      <p:sp>
        <p:nvSpPr>
          <p:cNvPr id="42" name="TextBox 41"/>
          <p:cNvSpPr txBox="1"/>
          <p:nvPr/>
        </p:nvSpPr>
        <p:spPr>
          <a:xfrm>
            <a:off x="4389120" y="5166360"/>
            <a:ext cx="3429000" cy="457200"/>
          </a:xfrm>
          <a:prstGeom prst="rect">
            <a:avLst/>
          </a:prstGeom>
          <a:noFill/>
        </p:spPr>
        <p:txBody>
          <a:bodyPr wrap="square" anchor="t" tIns="36576" bIns="36576">
            <a:spAutoFit/>
          </a:bodyPr>
          <a:lstStyle/>
          <a:p>
            <a:pPr algn="ctr"/>
            <a:r>
              <a:rPr sz="2400" b="0">
                <a:solidFill>
                  <a:srgbClr val="1F2A44"/>
                </a:solidFill>
                <a:latin typeface="Calibri"/>
              </a:rPr>
              <a:t>täglich, Jugendliche</a:t>
            </a:r>
          </a:p>
        </p:txBody>
      </p:sp>
      <p:sp>
        <p:nvSpPr>
          <p:cNvPr id="43" name="TextBox 42"/>
          <p:cNvSpPr txBox="1"/>
          <p:nvPr/>
        </p:nvSpPr>
        <p:spPr>
          <a:xfrm>
            <a:off x="4343400" y="5715000"/>
            <a:ext cx="3520440" cy="365760"/>
          </a:xfrm>
          <a:prstGeom prst="rect">
            <a:avLst/>
          </a:prstGeom>
          <a:noFill/>
        </p:spPr>
        <p:txBody>
          <a:bodyPr wrap="square" anchor="t" tIns="36576" bIns="36576">
            <a:spAutoFit/>
          </a:bodyPr>
          <a:lstStyle/>
          <a:p>
            <a:pPr algn="ctr"/>
            <a:r>
              <a:rPr sz="2400" b="1">
                <a:solidFill>
                  <a:srgbClr val="7A4B00"/>
                </a:solidFill>
                <a:latin typeface="Calibri"/>
              </a:rPr>
              <a:t>§ 8 JArbSchG</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square" anchor="ctr" tIns="36576" bIns="36576">
            <a:spAutoFit/>
          </a:bodyPr>
          <a:lstStyle/>
          <a:p>
            <a:pPr algn="ctr"/>
            <a:r>
              <a:rPr sz="2400" b="0">
                <a:solidFill>
                  <a:srgbClr val="FFFFFF"/>
                </a:solidFill>
                <a:latin typeface="Calibri"/>
              </a:rPr>
              <a:t>Einstieg</a:t>
            </a:r>
          </a:p>
        </p:txBody>
      </p:sp>
      <p:sp>
        <p:nvSpPr>
          <p:cNvPr id="5" name="Rectangle 4"/>
          <p:cNvSpPr/>
          <p:nvPr/>
        </p:nvSpPr>
        <p:spPr>
          <a:xfrm>
            <a:off x="174167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1</a:t>
            </a:r>
          </a:p>
        </p:txBody>
      </p:sp>
      <p:sp>
        <p:nvSpPr>
          <p:cNvPr id="7" name="Rectangle 6"/>
          <p:cNvSpPr/>
          <p:nvPr/>
        </p:nvSpPr>
        <p:spPr>
          <a:xfrm>
            <a:off x="3483341"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3341"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2</a:t>
            </a:r>
          </a:p>
        </p:txBody>
      </p:sp>
      <p:sp>
        <p:nvSpPr>
          <p:cNvPr id="9" name="Rectangle 8"/>
          <p:cNvSpPr/>
          <p:nvPr/>
        </p:nvSpPr>
        <p:spPr>
          <a:xfrm>
            <a:off x="5225012"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25012"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3</a:t>
            </a:r>
          </a:p>
        </p:txBody>
      </p:sp>
      <p:sp>
        <p:nvSpPr>
          <p:cNvPr id="11" name="Rectangle 10"/>
          <p:cNvSpPr/>
          <p:nvPr/>
        </p:nvSpPr>
        <p:spPr>
          <a:xfrm>
            <a:off x="6966682"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66682" y="0"/>
            <a:ext cx="1741670" cy="457200"/>
          </a:xfrm>
          <a:prstGeom prst="rect">
            <a:avLst/>
          </a:prstGeom>
          <a:noFill/>
        </p:spPr>
        <p:txBody>
          <a:bodyPr wrap="square" anchor="ctr" tIns="36576" bIns="36576">
            <a:spAutoFit/>
          </a:bodyPr>
          <a:lstStyle/>
          <a:p>
            <a:pPr algn="ctr"/>
            <a:r>
              <a:rPr sz="2400" b="0">
                <a:solidFill>
                  <a:srgbClr val="FFFFFF"/>
                </a:solidFill>
                <a:latin typeface="Calibri"/>
              </a:rPr>
              <a:t>Üben</a:t>
            </a:r>
          </a:p>
        </p:txBody>
      </p:sp>
      <p:sp>
        <p:nvSpPr>
          <p:cNvPr id="13" name="Rectangle 12"/>
          <p:cNvSpPr/>
          <p:nvPr/>
        </p:nvSpPr>
        <p:spPr>
          <a:xfrm>
            <a:off x="8708353"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8353" y="0"/>
            <a:ext cx="1741670" cy="457200"/>
          </a:xfrm>
          <a:prstGeom prst="rect">
            <a:avLst/>
          </a:prstGeom>
          <a:noFill/>
        </p:spPr>
        <p:txBody>
          <a:bodyPr wrap="square" anchor="ctr" tIns="36576" bIns="36576">
            <a:spAutoFit/>
          </a:bodyPr>
          <a:lstStyle/>
          <a:p>
            <a:pPr algn="ctr"/>
            <a:r>
              <a:rPr sz="2400" b="0">
                <a:solidFill>
                  <a:srgbClr val="FFFFFF"/>
                </a:solidFill>
                <a:latin typeface="Calibri"/>
              </a:rPr>
              <a:t>Besprechen</a:t>
            </a:r>
          </a:p>
        </p:txBody>
      </p:sp>
      <p:sp>
        <p:nvSpPr>
          <p:cNvPr id="15" name="Rectangle 14"/>
          <p:cNvSpPr/>
          <p:nvPr/>
        </p:nvSpPr>
        <p:spPr>
          <a:xfrm>
            <a:off x="10450024"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50024" y="0"/>
            <a:ext cx="1741670" cy="457200"/>
          </a:xfrm>
          <a:prstGeom prst="rect">
            <a:avLst/>
          </a:prstGeom>
          <a:noFill/>
        </p:spPr>
        <p:txBody>
          <a:bodyPr wrap="square" anchor="ctr" tIns="36576" bIns="36576">
            <a:spAutoFit/>
          </a:bodyPr>
          <a:lstStyle/>
          <a:p>
            <a:pPr algn="ctr"/>
            <a:r>
              <a:rPr sz="2400" b="1">
                <a:solidFill>
                  <a:srgbClr val="1F2A44"/>
                </a:solidFill>
                <a:latin typeface="Calibri"/>
              </a:rPr>
              <a:t>Abschluss</a:t>
            </a:r>
          </a:p>
        </p:txBody>
      </p:sp>
      <p:sp>
        <p:nvSpPr>
          <p:cNvPr id="17" name="Titel"/>
          <p:cNvSpPr txBox="1"/>
          <p:nvPr/>
        </p:nvSpPr>
        <p:spPr>
          <a:xfrm>
            <a:off x="548640" y="530352"/>
            <a:ext cx="11155680" cy="868680"/>
          </a:xfrm>
          <a:prstGeom prst="rect">
            <a:avLst/>
          </a:prstGeom>
          <a:noFill/>
        </p:spPr>
        <p:txBody>
          <a:bodyPr wrap="square" anchor="ctr" tIns="36576" bIns="36576">
            <a:spAutoFit/>
          </a:bodyPr>
          <a:lstStyle/>
          <a:p>
            <a:pPr algn="l"/>
            <a:r>
              <a:rPr sz="4000" b="1">
                <a:solidFill>
                  <a:srgbClr val="1F2A44"/>
                </a:solidFill>
                <a:latin typeface="Calibri"/>
              </a:rPr>
              <a:t>Mini-Quiz: Zeig, was du kannst</a:t>
            </a:r>
          </a:p>
        </p:txBody>
      </p:sp>
      <p:sp>
        <p:nvSpPr>
          <p:cNvPr id="18" name="Rectangle 17"/>
          <p:cNvSpPr/>
          <p:nvPr/>
        </p:nvSpPr>
        <p:spPr>
          <a:xfrm>
            <a:off x="640080" y="1371600"/>
            <a:ext cx="1463040" cy="6400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 y="1600200"/>
            <a:ext cx="4325112" cy="4325112"/>
          </a:xfrm>
          <a:prstGeom prst="rect">
            <a:avLst/>
          </a:prstGeom>
          <a:solidFill>
            <a:srgbClr val="FFFFFF"/>
          </a:solidFill>
          <a:ln w="19050">
            <a:solidFill>
              <a:srgbClr val="B8C0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QR-Code zur Übungsseite der Klasse"/>
          <p:cNvPicPr>
            <a:picLocks noChangeAspect="1"/>
          </p:cNvPicPr>
          <p:nvPr/>
        </p:nvPicPr>
        <p:blipFill>
          <a:blip r:embed="rId3"/>
          <a:stretch>
            <a:fillRect/>
          </a:stretch>
        </p:blipFill>
        <p:spPr>
          <a:xfrm>
            <a:off x="836675" y="1796796"/>
            <a:ext cx="3931920" cy="3931920"/>
          </a:xfrm>
          <a:prstGeom prst="rect">
            <a:avLst/>
          </a:prstGeom>
        </p:spPr>
      </p:pic>
      <p:sp>
        <p:nvSpPr>
          <p:cNvPr id="21" name="TextBox 20"/>
          <p:cNvSpPr txBox="1"/>
          <p:nvPr/>
        </p:nvSpPr>
        <p:spPr>
          <a:xfrm>
            <a:off x="5120640" y="1691640"/>
            <a:ext cx="6400800" cy="4114800"/>
          </a:xfrm>
          <a:prstGeom prst="rect">
            <a:avLst/>
          </a:prstGeom>
          <a:noFill/>
        </p:spPr>
        <p:txBody>
          <a:bodyPr wrap="square" anchor="t" tIns="36576" bIns="36576">
            <a:spAutoFit/>
          </a:bodyPr>
          <a:lstStyle/>
          <a:p>
            <a:pPr algn="l"/>
            <a:r>
              <a:rPr sz="3600" b="1">
                <a:solidFill>
                  <a:srgbClr val="F5A623"/>
                </a:solidFill>
                <a:latin typeface="Calibri"/>
              </a:rPr>
              <a:t>•  </a:t>
            </a:r>
            <a:r>
              <a:rPr sz="3600" b="0">
                <a:solidFill>
                  <a:srgbClr val="1F2A44"/>
                </a:solidFill>
                <a:latin typeface="Calibri"/>
              </a:rPr>
              <a:t>5 Fragen</a:t>
            </a:r>
          </a:p>
          <a:p>
            <a:pPr algn="l">
              <a:spcBef>
                <a:spcPts val="2520"/>
              </a:spcBef>
            </a:pPr>
            <a:r>
              <a:rPr sz="3600" b="1">
                <a:solidFill>
                  <a:srgbClr val="F5A623"/>
                </a:solidFill>
                <a:latin typeface="Calibri"/>
              </a:rPr>
              <a:t>•  </a:t>
            </a:r>
            <a:r>
              <a:rPr sz="3600" b="0">
                <a:solidFill>
                  <a:srgbClr val="1F2A44"/>
                </a:solidFill>
                <a:latin typeface="Calibri"/>
              </a:rPr>
              <a:t>allein</a:t>
            </a:r>
          </a:p>
          <a:p>
            <a:pPr algn="l">
              <a:spcBef>
                <a:spcPts val="2520"/>
              </a:spcBef>
            </a:pPr>
            <a:r>
              <a:rPr sz="3600" b="1">
                <a:solidFill>
                  <a:srgbClr val="F5A623"/>
                </a:solidFill>
                <a:latin typeface="Calibri"/>
              </a:rPr>
              <a:t>•  </a:t>
            </a:r>
            <a:r>
              <a:rPr sz="3600" b="0">
                <a:solidFill>
                  <a:srgbClr val="1F2A44"/>
                </a:solidFill>
                <a:latin typeface="Calibri"/>
              </a:rPr>
              <a:t>ca. 2 Minuten</a:t>
            </a:r>
          </a:p>
        </p:txBody>
      </p:sp>
      <p:sp>
        <p:nvSpPr>
          <p:cNvPr id="22" name="TextBox 21"/>
          <p:cNvSpPr txBox="1"/>
          <p:nvPr/>
        </p:nvSpPr>
        <p:spPr>
          <a:xfrm>
            <a:off x="5120640" y="4572000"/>
            <a:ext cx="6400800" cy="731520"/>
          </a:xfrm>
          <a:prstGeom prst="rect">
            <a:avLst/>
          </a:prstGeom>
          <a:noFill/>
        </p:spPr>
        <p:txBody>
          <a:bodyPr wrap="square" anchor="t" tIns="36576" bIns="36576">
            <a:spAutoFit/>
          </a:bodyPr>
          <a:lstStyle/>
          <a:p>
            <a:pPr algn="l"/>
            <a:r>
              <a:rPr sz="2800" b="1">
                <a:solidFill>
                  <a:srgbClr val="1F2A44"/>
                </a:solidFill>
                <a:latin typeface="Calibri"/>
              </a:rPr>
              <a:t>yasinbenx.github.io/azubi-vertrag</a:t>
            </a:r>
          </a:p>
        </p:txBody>
      </p:sp>
      <p:sp>
        <p:nvSpPr>
          <p:cNvPr id="23" name="TextBox 22"/>
          <p:cNvSpPr txBox="1"/>
          <p:nvPr/>
        </p:nvSpPr>
        <p:spPr>
          <a:xfrm>
            <a:off x="5120640" y="5303520"/>
            <a:ext cx="6400800" cy="731520"/>
          </a:xfrm>
          <a:prstGeom prst="rect">
            <a:avLst/>
          </a:prstGeom>
          <a:noFill/>
        </p:spPr>
        <p:txBody>
          <a:bodyPr wrap="square" anchor="t" tIns="36576" bIns="36576">
            <a:spAutoFit/>
          </a:bodyPr>
          <a:lstStyle/>
          <a:p>
            <a:pPr algn="l"/>
            <a:r>
              <a:rPr sz="2800" b="0">
                <a:solidFill>
                  <a:srgbClr val="4A5568"/>
                </a:solidFill>
                <a:latin typeface="Calibri"/>
              </a:rPr>
              <a:t>Danach: Handzeichen 5 · 4 · 3 oder weniger</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square" anchor="ctr" tIns="36576" bIns="36576">
            <a:spAutoFit/>
          </a:bodyPr>
          <a:lstStyle/>
          <a:p>
            <a:pPr algn="ctr"/>
            <a:r>
              <a:rPr sz="2400" b="0">
                <a:solidFill>
                  <a:srgbClr val="FFFFFF"/>
                </a:solidFill>
                <a:latin typeface="Calibri"/>
              </a:rPr>
              <a:t>Einstieg</a:t>
            </a:r>
          </a:p>
        </p:txBody>
      </p:sp>
      <p:sp>
        <p:nvSpPr>
          <p:cNvPr id="5" name="Rectangle 4"/>
          <p:cNvSpPr/>
          <p:nvPr/>
        </p:nvSpPr>
        <p:spPr>
          <a:xfrm>
            <a:off x="174167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1</a:t>
            </a:r>
          </a:p>
        </p:txBody>
      </p:sp>
      <p:sp>
        <p:nvSpPr>
          <p:cNvPr id="7" name="Rectangle 6"/>
          <p:cNvSpPr/>
          <p:nvPr/>
        </p:nvSpPr>
        <p:spPr>
          <a:xfrm>
            <a:off x="3483341"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3341"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2</a:t>
            </a:r>
          </a:p>
        </p:txBody>
      </p:sp>
      <p:sp>
        <p:nvSpPr>
          <p:cNvPr id="9" name="Rectangle 8"/>
          <p:cNvSpPr/>
          <p:nvPr/>
        </p:nvSpPr>
        <p:spPr>
          <a:xfrm>
            <a:off x="5225012"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25012"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3</a:t>
            </a:r>
          </a:p>
        </p:txBody>
      </p:sp>
      <p:sp>
        <p:nvSpPr>
          <p:cNvPr id="11" name="Rectangle 10"/>
          <p:cNvSpPr/>
          <p:nvPr/>
        </p:nvSpPr>
        <p:spPr>
          <a:xfrm>
            <a:off x="6966682"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66682" y="0"/>
            <a:ext cx="1741670" cy="457200"/>
          </a:xfrm>
          <a:prstGeom prst="rect">
            <a:avLst/>
          </a:prstGeom>
          <a:noFill/>
        </p:spPr>
        <p:txBody>
          <a:bodyPr wrap="square" anchor="ctr" tIns="36576" bIns="36576">
            <a:spAutoFit/>
          </a:bodyPr>
          <a:lstStyle/>
          <a:p>
            <a:pPr algn="ctr"/>
            <a:r>
              <a:rPr sz="2400" b="0">
                <a:solidFill>
                  <a:srgbClr val="FFFFFF"/>
                </a:solidFill>
                <a:latin typeface="Calibri"/>
              </a:rPr>
              <a:t>Üben</a:t>
            </a:r>
          </a:p>
        </p:txBody>
      </p:sp>
      <p:sp>
        <p:nvSpPr>
          <p:cNvPr id="13" name="Rectangle 12"/>
          <p:cNvSpPr/>
          <p:nvPr/>
        </p:nvSpPr>
        <p:spPr>
          <a:xfrm>
            <a:off x="8708353"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8353" y="0"/>
            <a:ext cx="1741670" cy="457200"/>
          </a:xfrm>
          <a:prstGeom prst="rect">
            <a:avLst/>
          </a:prstGeom>
          <a:noFill/>
        </p:spPr>
        <p:txBody>
          <a:bodyPr wrap="square" anchor="ctr" tIns="36576" bIns="36576">
            <a:spAutoFit/>
          </a:bodyPr>
          <a:lstStyle/>
          <a:p>
            <a:pPr algn="ctr"/>
            <a:r>
              <a:rPr sz="2400" b="0">
                <a:solidFill>
                  <a:srgbClr val="FFFFFF"/>
                </a:solidFill>
                <a:latin typeface="Calibri"/>
              </a:rPr>
              <a:t>Besprechen</a:t>
            </a:r>
          </a:p>
        </p:txBody>
      </p:sp>
      <p:sp>
        <p:nvSpPr>
          <p:cNvPr id="15" name="Rectangle 14"/>
          <p:cNvSpPr/>
          <p:nvPr/>
        </p:nvSpPr>
        <p:spPr>
          <a:xfrm>
            <a:off x="10450024"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50024" y="0"/>
            <a:ext cx="1741670" cy="457200"/>
          </a:xfrm>
          <a:prstGeom prst="rect">
            <a:avLst/>
          </a:prstGeom>
          <a:noFill/>
        </p:spPr>
        <p:txBody>
          <a:bodyPr wrap="square" anchor="ctr" tIns="36576" bIns="36576">
            <a:spAutoFit/>
          </a:bodyPr>
          <a:lstStyle/>
          <a:p>
            <a:pPr algn="ctr"/>
            <a:r>
              <a:rPr sz="2400" b="1">
                <a:solidFill>
                  <a:srgbClr val="1F2A44"/>
                </a:solidFill>
                <a:latin typeface="Calibri"/>
              </a:rPr>
              <a:t>Abschluss</a:t>
            </a:r>
          </a:p>
        </p:txBody>
      </p:sp>
      <p:sp>
        <p:nvSpPr>
          <p:cNvPr id="17" name="Antwortrahmen"/>
          <p:cNvSpPr/>
          <p:nvPr/>
        </p:nvSpPr>
        <p:spPr>
          <a:xfrm>
            <a:off x="411480" y="566928"/>
            <a:ext cx="11365992" cy="5669280"/>
          </a:xfrm>
          <a:prstGeom prst="rect">
            <a:avLst/>
          </a:prstGeom>
          <a:noFill/>
          <a:ln w="76200">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Haken: Antwortfolie"/>
          <p:cNvPicPr>
            <a:picLocks noChangeAspect="1"/>
          </p:cNvPicPr>
          <p:nvPr/>
        </p:nvPicPr>
        <p:blipFill>
          <a:blip r:embed="rId3"/>
          <a:stretch>
            <a:fillRect/>
          </a:stretch>
        </p:blipFill>
        <p:spPr>
          <a:xfrm>
            <a:off x="10972800" y="640080"/>
            <a:ext cx="685800" cy="685800"/>
          </a:xfrm>
          <a:prstGeom prst="rect">
            <a:avLst/>
          </a:prstGeom>
        </p:spPr>
      </p:pic>
      <p:sp>
        <p:nvSpPr>
          <p:cNvPr id="19" name="Titel"/>
          <p:cNvSpPr txBox="1"/>
          <p:nvPr/>
        </p:nvSpPr>
        <p:spPr>
          <a:xfrm>
            <a:off x="640080" y="594360"/>
            <a:ext cx="10241280" cy="822960"/>
          </a:xfrm>
          <a:prstGeom prst="rect">
            <a:avLst/>
          </a:prstGeom>
          <a:noFill/>
        </p:spPr>
        <p:txBody>
          <a:bodyPr wrap="square" anchor="ctr" tIns="36576" bIns="36576">
            <a:spAutoFit/>
          </a:bodyPr>
          <a:lstStyle/>
          <a:p>
            <a:pPr algn="l"/>
            <a:r>
              <a:rPr sz="4000" b="1">
                <a:solidFill>
                  <a:srgbClr val="1F2A44"/>
                </a:solidFill>
                <a:latin typeface="Calibri"/>
              </a:rPr>
              <a:t>Zurück zum Anfang</a:t>
            </a:r>
          </a:p>
        </p:txBody>
      </p:sp>
      <p:sp>
        <p:nvSpPr>
          <p:cNvPr id="20" name="Rectangle 19"/>
          <p:cNvSpPr/>
          <p:nvPr/>
        </p:nvSpPr>
        <p:spPr>
          <a:xfrm>
            <a:off x="731520" y="1645920"/>
            <a:ext cx="10789920" cy="96012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68680" y="1801368"/>
            <a:ext cx="640080" cy="6400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800" b="1">
                <a:solidFill>
                  <a:srgbClr val="FFFFFF"/>
                </a:solidFill>
                <a:latin typeface="Calibri"/>
              </a:rPr>
              <a:t>a</a:t>
            </a:r>
          </a:p>
        </p:txBody>
      </p:sp>
      <p:sp>
        <p:nvSpPr>
          <p:cNvPr id="22" name="TextBox 21"/>
          <p:cNvSpPr txBox="1"/>
          <p:nvPr/>
        </p:nvSpPr>
        <p:spPr>
          <a:xfrm>
            <a:off x="1691640" y="1645920"/>
            <a:ext cx="4572000" cy="960120"/>
          </a:xfrm>
          <a:prstGeom prst="rect">
            <a:avLst/>
          </a:prstGeom>
          <a:noFill/>
        </p:spPr>
        <p:txBody>
          <a:bodyPr wrap="square" anchor="ctr" tIns="36576" bIns="36576">
            <a:spAutoFit/>
          </a:bodyPr>
          <a:lstStyle/>
          <a:p>
            <a:pPr algn="l"/>
            <a:r>
              <a:rPr sz="2400" b="1">
                <a:solidFill>
                  <a:srgbClr val="1F2A44"/>
                </a:solidFill>
                <a:latin typeface="Calibri"/>
              </a:rPr>
              <a:t>Wie lange darf die Probezeit höchstens dauern?</a:t>
            </a:r>
          </a:p>
        </p:txBody>
      </p:sp>
      <p:sp>
        <p:nvSpPr>
          <p:cNvPr id="23" name="Antwort_a"/>
          <p:cNvSpPr/>
          <p:nvPr/>
        </p:nvSpPr>
        <p:spPr>
          <a:xfrm>
            <a:off x="6400800" y="1709928"/>
            <a:ext cx="5029200" cy="822960"/>
          </a:xfrm>
          <a:prstGeom prst="rect">
            <a:avLst/>
          </a:prstGeom>
          <a:solidFill>
            <a:srgbClr val="FFF0D1"/>
          </a:solidFill>
          <a:ln w="31750">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r>
              <a:rPr sz="2400" b="1">
                <a:solidFill>
                  <a:srgbClr val="1F2A44"/>
                </a:solidFill>
                <a:latin typeface="Calibri"/>
              </a:rPr>
              <a:t>Vier Monate</a:t>
            </a:r>
          </a:p>
        </p:txBody>
      </p:sp>
      <p:sp>
        <p:nvSpPr>
          <p:cNvPr id="24" name="Rectangle 23"/>
          <p:cNvSpPr/>
          <p:nvPr/>
        </p:nvSpPr>
        <p:spPr>
          <a:xfrm>
            <a:off x="731520" y="2743200"/>
            <a:ext cx="10789920" cy="96012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68680" y="2898648"/>
            <a:ext cx="640080" cy="6400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800" b="1">
                <a:solidFill>
                  <a:srgbClr val="FFFFFF"/>
                </a:solidFill>
                <a:latin typeface="Calibri"/>
              </a:rPr>
              <a:t>b</a:t>
            </a:r>
          </a:p>
        </p:txBody>
      </p:sp>
      <p:sp>
        <p:nvSpPr>
          <p:cNvPr id="26" name="TextBox 25"/>
          <p:cNvSpPr txBox="1"/>
          <p:nvPr/>
        </p:nvSpPr>
        <p:spPr>
          <a:xfrm>
            <a:off x="1691640" y="2743200"/>
            <a:ext cx="4572000" cy="960120"/>
          </a:xfrm>
          <a:prstGeom prst="rect">
            <a:avLst/>
          </a:prstGeom>
          <a:noFill/>
        </p:spPr>
        <p:txBody>
          <a:bodyPr wrap="square" anchor="ctr" tIns="36576" bIns="36576">
            <a:spAutoFit/>
          </a:bodyPr>
          <a:lstStyle/>
          <a:p>
            <a:pPr algn="l"/>
            <a:r>
              <a:rPr sz="2400" b="1">
                <a:solidFill>
                  <a:srgbClr val="1F2A44"/>
                </a:solidFill>
                <a:latin typeface="Calibri"/>
              </a:rPr>
              <a:t>Wie viele Urlaubstage stehen einem Azubi mindestens zu?</a:t>
            </a:r>
          </a:p>
        </p:txBody>
      </p:sp>
      <p:sp>
        <p:nvSpPr>
          <p:cNvPr id="27" name="Antwort_b"/>
          <p:cNvSpPr/>
          <p:nvPr/>
        </p:nvSpPr>
        <p:spPr>
          <a:xfrm>
            <a:off x="6400800" y="2807208"/>
            <a:ext cx="5029200" cy="822960"/>
          </a:xfrm>
          <a:prstGeom prst="rect">
            <a:avLst/>
          </a:prstGeom>
          <a:solidFill>
            <a:srgbClr val="FFF0D1"/>
          </a:solidFill>
          <a:ln w="31750">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r>
              <a:rPr sz="2400" b="1">
                <a:solidFill>
                  <a:srgbClr val="1F2A44"/>
                </a:solidFill>
                <a:latin typeface="Calibri"/>
              </a:rPr>
              <a:t>24 Werktage ab 18, Jugendliche 25 bis 30</a:t>
            </a:r>
          </a:p>
        </p:txBody>
      </p:sp>
      <p:sp>
        <p:nvSpPr>
          <p:cNvPr id="28" name="Rectangle 27"/>
          <p:cNvSpPr/>
          <p:nvPr/>
        </p:nvSpPr>
        <p:spPr>
          <a:xfrm>
            <a:off x="731520" y="3840480"/>
            <a:ext cx="10789920" cy="96012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68680" y="3995928"/>
            <a:ext cx="640080" cy="6400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800" b="1">
                <a:solidFill>
                  <a:srgbClr val="FFFFFF"/>
                </a:solidFill>
                <a:latin typeface="Calibri"/>
              </a:rPr>
              <a:t>c</a:t>
            </a:r>
          </a:p>
        </p:txBody>
      </p:sp>
      <p:sp>
        <p:nvSpPr>
          <p:cNvPr id="30" name="TextBox 29"/>
          <p:cNvSpPr txBox="1"/>
          <p:nvPr/>
        </p:nvSpPr>
        <p:spPr>
          <a:xfrm>
            <a:off x="1691640" y="3840480"/>
            <a:ext cx="4572000" cy="960120"/>
          </a:xfrm>
          <a:prstGeom prst="rect">
            <a:avLst/>
          </a:prstGeom>
          <a:noFill/>
        </p:spPr>
        <p:txBody>
          <a:bodyPr wrap="square" anchor="ctr" tIns="36576" bIns="36576">
            <a:spAutoFit/>
          </a:bodyPr>
          <a:lstStyle/>
          <a:p>
            <a:pPr algn="l"/>
            <a:r>
              <a:rPr sz="2400" b="1">
                <a:solidFill>
                  <a:srgbClr val="1F2A44"/>
                </a:solidFill>
                <a:latin typeface="Calibri"/>
              </a:rPr>
              <a:t>Welche Kündigungsfrist gilt in der Probezeit?</a:t>
            </a:r>
          </a:p>
        </p:txBody>
      </p:sp>
      <p:sp>
        <p:nvSpPr>
          <p:cNvPr id="31" name="Antwort_c"/>
          <p:cNvSpPr/>
          <p:nvPr/>
        </p:nvSpPr>
        <p:spPr>
          <a:xfrm>
            <a:off x="6400800" y="3904488"/>
            <a:ext cx="5029200" cy="822960"/>
          </a:xfrm>
          <a:prstGeom prst="rect">
            <a:avLst/>
          </a:prstGeom>
          <a:solidFill>
            <a:srgbClr val="FFF0D1"/>
          </a:solidFill>
          <a:ln w="31750">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r>
              <a:rPr sz="2400" b="1">
                <a:solidFill>
                  <a:srgbClr val="1F2A44"/>
                </a:solidFill>
                <a:latin typeface="Calibri"/>
              </a:rPr>
              <a:t>Keine Frist, aber schriftlich</a:t>
            </a:r>
          </a:p>
        </p:txBody>
      </p:sp>
      <p:sp>
        <p:nvSpPr>
          <p:cNvPr id="32" name="Rectangle 31"/>
          <p:cNvSpPr/>
          <p:nvPr/>
        </p:nvSpPr>
        <p:spPr>
          <a:xfrm>
            <a:off x="731520" y="4937759"/>
            <a:ext cx="10789920" cy="96012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68680" y="5093207"/>
            <a:ext cx="640080" cy="6400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800" b="1">
                <a:solidFill>
                  <a:srgbClr val="FFFFFF"/>
                </a:solidFill>
                <a:latin typeface="Calibri"/>
              </a:rPr>
              <a:t>d</a:t>
            </a:r>
          </a:p>
        </p:txBody>
      </p:sp>
      <p:sp>
        <p:nvSpPr>
          <p:cNvPr id="34" name="TextBox 33"/>
          <p:cNvSpPr txBox="1"/>
          <p:nvPr/>
        </p:nvSpPr>
        <p:spPr>
          <a:xfrm>
            <a:off x="1691640" y="4937759"/>
            <a:ext cx="4572000" cy="960120"/>
          </a:xfrm>
          <a:prstGeom prst="rect">
            <a:avLst/>
          </a:prstGeom>
          <a:noFill/>
        </p:spPr>
        <p:txBody>
          <a:bodyPr wrap="square" anchor="ctr" tIns="36576" bIns="36576">
            <a:spAutoFit/>
          </a:bodyPr>
          <a:lstStyle/>
          <a:p>
            <a:pPr algn="l"/>
            <a:r>
              <a:rPr sz="2400" b="1">
                <a:solidFill>
                  <a:srgbClr val="1F2A44"/>
                </a:solidFill>
                <a:latin typeface="Calibri"/>
              </a:rPr>
              <a:t>Muss eine Kündigung schriftlich sein?</a:t>
            </a:r>
          </a:p>
        </p:txBody>
      </p:sp>
      <p:sp>
        <p:nvSpPr>
          <p:cNvPr id="35" name="Antwort_d"/>
          <p:cNvSpPr/>
          <p:nvPr/>
        </p:nvSpPr>
        <p:spPr>
          <a:xfrm>
            <a:off x="6400800" y="5001768"/>
            <a:ext cx="5029200" cy="822960"/>
          </a:xfrm>
          <a:prstGeom prst="rect">
            <a:avLst/>
          </a:prstGeom>
          <a:solidFill>
            <a:srgbClr val="FFF0D1"/>
          </a:solidFill>
          <a:ln w="31750">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r>
              <a:rPr sz="2400" b="1">
                <a:solidFill>
                  <a:srgbClr val="1F2A44"/>
                </a:solidFill>
                <a:latin typeface="Calibri"/>
              </a:rPr>
              <a:t>Ja, schriftlich (§ 22 Abs. 3 BBiG)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7" grpId="0" animBg="1"/>
      <p:bldP spid="31" grpId="0" animBg="1"/>
      <p:bldP spid="35" grpId="0" animBg="1"/>
    </p:bldLst>
  </p:timing>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square" anchor="ctr" tIns="36576" bIns="36576">
            <a:spAutoFit/>
          </a:bodyPr>
          <a:lstStyle/>
          <a:p>
            <a:pPr algn="ctr"/>
            <a:r>
              <a:rPr sz="2400" b="0">
                <a:solidFill>
                  <a:srgbClr val="FFFFFF"/>
                </a:solidFill>
                <a:latin typeface="Calibri"/>
              </a:rPr>
              <a:t>Einstieg</a:t>
            </a:r>
          </a:p>
        </p:txBody>
      </p:sp>
      <p:sp>
        <p:nvSpPr>
          <p:cNvPr id="5" name="Rectangle 4"/>
          <p:cNvSpPr/>
          <p:nvPr/>
        </p:nvSpPr>
        <p:spPr>
          <a:xfrm>
            <a:off x="174167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1</a:t>
            </a:r>
          </a:p>
        </p:txBody>
      </p:sp>
      <p:sp>
        <p:nvSpPr>
          <p:cNvPr id="7" name="Rectangle 6"/>
          <p:cNvSpPr/>
          <p:nvPr/>
        </p:nvSpPr>
        <p:spPr>
          <a:xfrm>
            <a:off x="3483341"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3341"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2</a:t>
            </a:r>
          </a:p>
        </p:txBody>
      </p:sp>
      <p:sp>
        <p:nvSpPr>
          <p:cNvPr id="9" name="Rectangle 8"/>
          <p:cNvSpPr/>
          <p:nvPr/>
        </p:nvSpPr>
        <p:spPr>
          <a:xfrm>
            <a:off x="5225012"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25012"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3</a:t>
            </a:r>
          </a:p>
        </p:txBody>
      </p:sp>
      <p:sp>
        <p:nvSpPr>
          <p:cNvPr id="11" name="Rectangle 10"/>
          <p:cNvSpPr/>
          <p:nvPr/>
        </p:nvSpPr>
        <p:spPr>
          <a:xfrm>
            <a:off x="6966682"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66682" y="0"/>
            <a:ext cx="1741670" cy="457200"/>
          </a:xfrm>
          <a:prstGeom prst="rect">
            <a:avLst/>
          </a:prstGeom>
          <a:noFill/>
        </p:spPr>
        <p:txBody>
          <a:bodyPr wrap="square" anchor="ctr" tIns="36576" bIns="36576">
            <a:spAutoFit/>
          </a:bodyPr>
          <a:lstStyle/>
          <a:p>
            <a:pPr algn="ctr"/>
            <a:r>
              <a:rPr sz="2400" b="0">
                <a:solidFill>
                  <a:srgbClr val="FFFFFF"/>
                </a:solidFill>
                <a:latin typeface="Calibri"/>
              </a:rPr>
              <a:t>Üben</a:t>
            </a:r>
          </a:p>
        </p:txBody>
      </p:sp>
      <p:sp>
        <p:nvSpPr>
          <p:cNvPr id="13" name="Rectangle 12"/>
          <p:cNvSpPr/>
          <p:nvPr/>
        </p:nvSpPr>
        <p:spPr>
          <a:xfrm>
            <a:off x="8708353"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8353" y="0"/>
            <a:ext cx="1741670" cy="457200"/>
          </a:xfrm>
          <a:prstGeom prst="rect">
            <a:avLst/>
          </a:prstGeom>
          <a:noFill/>
        </p:spPr>
        <p:txBody>
          <a:bodyPr wrap="square" anchor="ctr" tIns="36576" bIns="36576">
            <a:spAutoFit/>
          </a:bodyPr>
          <a:lstStyle/>
          <a:p>
            <a:pPr algn="ctr"/>
            <a:r>
              <a:rPr sz="2400" b="0">
                <a:solidFill>
                  <a:srgbClr val="FFFFFF"/>
                </a:solidFill>
                <a:latin typeface="Calibri"/>
              </a:rPr>
              <a:t>Besprechen</a:t>
            </a:r>
          </a:p>
        </p:txBody>
      </p:sp>
      <p:sp>
        <p:nvSpPr>
          <p:cNvPr id="15" name="Rectangle 14"/>
          <p:cNvSpPr/>
          <p:nvPr/>
        </p:nvSpPr>
        <p:spPr>
          <a:xfrm>
            <a:off x="10450024"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50024" y="0"/>
            <a:ext cx="1741670" cy="457200"/>
          </a:xfrm>
          <a:prstGeom prst="rect">
            <a:avLst/>
          </a:prstGeom>
          <a:noFill/>
        </p:spPr>
        <p:txBody>
          <a:bodyPr wrap="square" anchor="ctr" tIns="36576" bIns="36576">
            <a:spAutoFit/>
          </a:bodyPr>
          <a:lstStyle/>
          <a:p>
            <a:pPr algn="ctr"/>
            <a:r>
              <a:rPr sz="2400" b="1">
                <a:solidFill>
                  <a:srgbClr val="1F2A44"/>
                </a:solidFill>
                <a:latin typeface="Calibri"/>
              </a:rPr>
              <a:t>Abschluss</a:t>
            </a:r>
          </a:p>
        </p:txBody>
      </p:sp>
      <p:sp>
        <p:nvSpPr>
          <p:cNvPr id="17" name="Titel"/>
          <p:cNvSpPr txBox="1"/>
          <p:nvPr/>
        </p:nvSpPr>
        <p:spPr>
          <a:xfrm>
            <a:off x="548640" y="530352"/>
            <a:ext cx="11155680" cy="868680"/>
          </a:xfrm>
          <a:prstGeom prst="rect">
            <a:avLst/>
          </a:prstGeom>
          <a:noFill/>
        </p:spPr>
        <p:txBody>
          <a:bodyPr wrap="square" anchor="ctr" tIns="36576" bIns="36576">
            <a:spAutoFit/>
          </a:bodyPr>
          <a:lstStyle/>
          <a:p>
            <a:pPr algn="l"/>
            <a:r>
              <a:rPr sz="4000" b="1">
                <a:solidFill>
                  <a:srgbClr val="1F2A44"/>
                </a:solidFill>
                <a:latin typeface="Calibri"/>
              </a:rPr>
              <a:t>Was könnt ihr jetzt? (Ampelkarte)</a:t>
            </a:r>
          </a:p>
        </p:txBody>
      </p:sp>
      <p:sp>
        <p:nvSpPr>
          <p:cNvPr id="18" name="Rectangle 17"/>
          <p:cNvSpPr/>
          <p:nvPr/>
        </p:nvSpPr>
        <p:spPr>
          <a:xfrm>
            <a:off x="640080" y="1371600"/>
            <a:ext cx="1463040" cy="6400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 y="1645920"/>
            <a:ext cx="10881360" cy="96012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0080" y="1645920"/>
            <a:ext cx="109728" cy="9601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14400" y="1783080"/>
            <a:ext cx="685800" cy="6858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3000" b="1">
                <a:solidFill>
                  <a:srgbClr val="FFFFFF"/>
                </a:solidFill>
                <a:latin typeface="Calibri"/>
              </a:rPr>
              <a:t>1</a:t>
            </a:r>
          </a:p>
        </p:txBody>
      </p:sp>
      <p:sp>
        <p:nvSpPr>
          <p:cNvPr id="22" name="TextBox 21"/>
          <p:cNvSpPr txBox="1"/>
          <p:nvPr/>
        </p:nvSpPr>
        <p:spPr>
          <a:xfrm>
            <a:off x="1828800" y="1645920"/>
            <a:ext cx="9509760" cy="960120"/>
          </a:xfrm>
          <a:prstGeom prst="rect">
            <a:avLst/>
          </a:prstGeom>
          <a:noFill/>
        </p:spPr>
        <p:txBody>
          <a:bodyPr wrap="square" anchor="ctr" tIns="36576" bIns="36576">
            <a:spAutoFit/>
          </a:bodyPr>
          <a:lstStyle/>
          <a:p>
            <a:pPr algn="l"/>
            <a:r>
              <a:rPr sz="3000" b="0">
                <a:solidFill>
                  <a:srgbClr val="1F2A44"/>
                </a:solidFill>
                <a:latin typeface="Calibri"/>
              </a:rPr>
              <a:t>nennen, was in einen Ausbildungsvertrag gehört</a:t>
            </a:r>
          </a:p>
        </p:txBody>
      </p:sp>
      <p:sp>
        <p:nvSpPr>
          <p:cNvPr id="23" name="Rectangle 22"/>
          <p:cNvSpPr/>
          <p:nvPr/>
        </p:nvSpPr>
        <p:spPr>
          <a:xfrm>
            <a:off x="640080" y="2788920"/>
            <a:ext cx="10881360" cy="96012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0080" y="2788920"/>
            <a:ext cx="109728" cy="9601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14400" y="2926079"/>
            <a:ext cx="685800" cy="6858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3000" b="1">
                <a:solidFill>
                  <a:srgbClr val="FFFFFF"/>
                </a:solidFill>
                <a:latin typeface="Calibri"/>
              </a:rPr>
              <a:t>2</a:t>
            </a:r>
          </a:p>
        </p:txBody>
      </p:sp>
      <p:sp>
        <p:nvSpPr>
          <p:cNvPr id="26" name="TextBox 25"/>
          <p:cNvSpPr txBox="1"/>
          <p:nvPr/>
        </p:nvSpPr>
        <p:spPr>
          <a:xfrm>
            <a:off x="1828800" y="2788920"/>
            <a:ext cx="9509760" cy="960120"/>
          </a:xfrm>
          <a:prstGeom prst="rect">
            <a:avLst/>
          </a:prstGeom>
          <a:noFill/>
        </p:spPr>
        <p:txBody>
          <a:bodyPr wrap="square" anchor="ctr" tIns="36576" bIns="36576">
            <a:spAutoFit/>
          </a:bodyPr>
          <a:lstStyle/>
          <a:p>
            <a:pPr algn="l"/>
            <a:r>
              <a:rPr sz="3000" b="0">
                <a:solidFill>
                  <a:srgbClr val="1F2A44"/>
                </a:solidFill>
                <a:latin typeface="Calibri"/>
              </a:rPr>
              <a:t>Vergütung, Urlaub und Arbeitszeit bestimmen</a:t>
            </a:r>
          </a:p>
        </p:txBody>
      </p:sp>
      <p:sp>
        <p:nvSpPr>
          <p:cNvPr id="27" name="Rectangle 26"/>
          <p:cNvSpPr/>
          <p:nvPr/>
        </p:nvSpPr>
        <p:spPr>
          <a:xfrm>
            <a:off x="640080" y="3931920"/>
            <a:ext cx="10881360" cy="96012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40080" y="3931920"/>
            <a:ext cx="109728" cy="9601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14400" y="4069080"/>
            <a:ext cx="685800" cy="6858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3000" b="1">
                <a:solidFill>
                  <a:srgbClr val="FFFFFF"/>
                </a:solidFill>
                <a:latin typeface="Calibri"/>
              </a:rPr>
              <a:t>3</a:t>
            </a:r>
          </a:p>
        </p:txBody>
      </p:sp>
      <p:sp>
        <p:nvSpPr>
          <p:cNvPr id="30" name="TextBox 29"/>
          <p:cNvSpPr txBox="1"/>
          <p:nvPr/>
        </p:nvSpPr>
        <p:spPr>
          <a:xfrm>
            <a:off x="1828800" y="3931920"/>
            <a:ext cx="9509760" cy="960120"/>
          </a:xfrm>
          <a:prstGeom prst="rect">
            <a:avLst/>
          </a:prstGeom>
          <a:noFill/>
        </p:spPr>
        <p:txBody>
          <a:bodyPr wrap="square" anchor="ctr" tIns="36576" bIns="36576">
            <a:spAutoFit/>
          </a:bodyPr>
          <a:lstStyle/>
          <a:p>
            <a:pPr algn="l"/>
            <a:r>
              <a:rPr sz="3000" b="0">
                <a:solidFill>
                  <a:srgbClr val="1F2A44"/>
                </a:solidFill>
                <a:latin typeface="Calibri"/>
              </a:rPr>
              <a:t>Probezeit und Kündigung richtig anwenden</a:t>
            </a:r>
          </a:p>
        </p:txBody>
      </p:sp>
      <p:sp>
        <p:nvSpPr>
          <p:cNvPr id="31" name="Rectangle 30"/>
          <p:cNvSpPr/>
          <p:nvPr/>
        </p:nvSpPr>
        <p:spPr>
          <a:xfrm>
            <a:off x="640080" y="5074920"/>
            <a:ext cx="10881360" cy="96012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40080" y="5074920"/>
            <a:ext cx="109728" cy="9601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4400" y="5212080"/>
            <a:ext cx="685800" cy="6858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3000" b="1">
                <a:solidFill>
                  <a:srgbClr val="FFFFFF"/>
                </a:solidFill>
                <a:latin typeface="Calibri"/>
              </a:rPr>
              <a:t>4</a:t>
            </a:r>
          </a:p>
        </p:txBody>
      </p:sp>
      <p:sp>
        <p:nvSpPr>
          <p:cNvPr id="34" name="TextBox 33"/>
          <p:cNvSpPr txBox="1"/>
          <p:nvPr/>
        </p:nvSpPr>
        <p:spPr>
          <a:xfrm>
            <a:off x="1828800" y="5074920"/>
            <a:ext cx="9509760" cy="960120"/>
          </a:xfrm>
          <a:prstGeom prst="rect">
            <a:avLst/>
          </a:prstGeom>
          <a:noFill/>
        </p:spPr>
        <p:txBody>
          <a:bodyPr wrap="square" anchor="ctr" tIns="36576" bIns="36576">
            <a:spAutoFit/>
          </a:bodyPr>
          <a:lstStyle/>
          <a:p>
            <a:pPr algn="l"/>
            <a:r>
              <a:rPr sz="3000" b="0">
                <a:solidFill>
                  <a:srgbClr val="1F2A44"/>
                </a:solidFill>
                <a:latin typeface="Calibri"/>
              </a:rPr>
              <a:t>Fälle mit der passenden Regel begründen</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square" anchor="ctr" tIns="36576" bIns="36576">
            <a:spAutoFit/>
          </a:bodyPr>
          <a:lstStyle/>
          <a:p>
            <a:pPr algn="ctr"/>
            <a:r>
              <a:rPr sz="2400" b="0">
                <a:solidFill>
                  <a:srgbClr val="FFFFFF"/>
                </a:solidFill>
                <a:latin typeface="Calibri"/>
              </a:rPr>
              <a:t>Einstieg</a:t>
            </a:r>
          </a:p>
        </p:txBody>
      </p:sp>
      <p:sp>
        <p:nvSpPr>
          <p:cNvPr id="5" name="Rectangle 4"/>
          <p:cNvSpPr/>
          <p:nvPr/>
        </p:nvSpPr>
        <p:spPr>
          <a:xfrm>
            <a:off x="174167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1</a:t>
            </a:r>
          </a:p>
        </p:txBody>
      </p:sp>
      <p:sp>
        <p:nvSpPr>
          <p:cNvPr id="7" name="Rectangle 6"/>
          <p:cNvSpPr/>
          <p:nvPr/>
        </p:nvSpPr>
        <p:spPr>
          <a:xfrm>
            <a:off x="3483341"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3341"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2</a:t>
            </a:r>
          </a:p>
        </p:txBody>
      </p:sp>
      <p:sp>
        <p:nvSpPr>
          <p:cNvPr id="9" name="Rectangle 8"/>
          <p:cNvSpPr/>
          <p:nvPr/>
        </p:nvSpPr>
        <p:spPr>
          <a:xfrm>
            <a:off x="5225012"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25012"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3</a:t>
            </a:r>
          </a:p>
        </p:txBody>
      </p:sp>
      <p:sp>
        <p:nvSpPr>
          <p:cNvPr id="11" name="Rectangle 10"/>
          <p:cNvSpPr/>
          <p:nvPr/>
        </p:nvSpPr>
        <p:spPr>
          <a:xfrm>
            <a:off x="6966682"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66682" y="0"/>
            <a:ext cx="1741670" cy="457200"/>
          </a:xfrm>
          <a:prstGeom prst="rect">
            <a:avLst/>
          </a:prstGeom>
          <a:noFill/>
        </p:spPr>
        <p:txBody>
          <a:bodyPr wrap="square" anchor="ctr" tIns="36576" bIns="36576">
            <a:spAutoFit/>
          </a:bodyPr>
          <a:lstStyle/>
          <a:p>
            <a:pPr algn="ctr"/>
            <a:r>
              <a:rPr sz="2400" b="0">
                <a:solidFill>
                  <a:srgbClr val="FFFFFF"/>
                </a:solidFill>
                <a:latin typeface="Calibri"/>
              </a:rPr>
              <a:t>Üben</a:t>
            </a:r>
          </a:p>
        </p:txBody>
      </p:sp>
      <p:sp>
        <p:nvSpPr>
          <p:cNvPr id="13" name="Rectangle 12"/>
          <p:cNvSpPr/>
          <p:nvPr/>
        </p:nvSpPr>
        <p:spPr>
          <a:xfrm>
            <a:off x="8708353"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8353" y="0"/>
            <a:ext cx="1741670" cy="457200"/>
          </a:xfrm>
          <a:prstGeom prst="rect">
            <a:avLst/>
          </a:prstGeom>
          <a:noFill/>
        </p:spPr>
        <p:txBody>
          <a:bodyPr wrap="square" anchor="ctr" tIns="36576" bIns="36576">
            <a:spAutoFit/>
          </a:bodyPr>
          <a:lstStyle/>
          <a:p>
            <a:pPr algn="ctr"/>
            <a:r>
              <a:rPr sz="2400" b="0">
                <a:solidFill>
                  <a:srgbClr val="FFFFFF"/>
                </a:solidFill>
                <a:latin typeface="Calibri"/>
              </a:rPr>
              <a:t>Besprechen</a:t>
            </a:r>
          </a:p>
        </p:txBody>
      </p:sp>
      <p:sp>
        <p:nvSpPr>
          <p:cNvPr id="15" name="Rectangle 14"/>
          <p:cNvSpPr/>
          <p:nvPr/>
        </p:nvSpPr>
        <p:spPr>
          <a:xfrm>
            <a:off x="10450024"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50024" y="0"/>
            <a:ext cx="1741670" cy="457200"/>
          </a:xfrm>
          <a:prstGeom prst="rect">
            <a:avLst/>
          </a:prstGeom>
          <a:noFill/>
        </p:spPr>
        <p:txBody>
          <a:bodyPr wrap="square" anchor="ctr" tIns="36576" bIns="36576">
            <a:spAutoFit/>
          </a:bodyPr>
          <a:lstStyle/>
          <a:p>
            <a:pPr algn="ctr"/>
            <a:r>
              <a:rPr sz="2400" b="1">
                <a:solidFill>
                  <a:srgbClr val="1F2A44"/>
                </a:solidFill>
                <a:latin typeface="Calibri"/>
              </a:rPr>
              <a:t>Abschluss</a:t>
            </a:r>
          </a:p>
        </p:txBody>
      </p:sp>
      <p:pic>
        <p:nvPicPr>
          <p:cNvPr id="17" name="Picture 16" descr="Fragezeichen-Symbol"/>
          <p:cNvPicPr>
            <a:picLocks noChangeAspect="1"/>
          </p:cNvPicPr>
          <p:nvPr/>
        </p:nvPicPr>
        <p:blipFill>
          <a:blip r:embed="rId3"/>
          <a:stretch>
            <a:fillRect/>
          </a:stretch>
        </p:blipFill>
        <p:spPr>
          <a:xfrm>
            <a:off x="640080" y="914400"/>
            <a:ext cx="1234440" cy="1234440"/>
          </a:xfrm>
          <a:prstGeom prst="rect">
            <a:avLst/>
          </a:prstGeom>
        </p:spPr>
      </p:pic>
      <p:sp>
        <p:nvSpPr>
          <p:cNvPr id="18" name="Frage"/>
          <p:cNvSpPr txBox="1"/>
          <p:nvPr/>
        </p:nvSpPr>
        <p:spPr>
          <a:xfrm>
            <a:off x="2103120" y="914400"/>
            <a:ext cx="9601200" cy="3566160"/>
          </a:xfrm>
          <a:prstGeom prst="rect">
            <a:avLst/>
          </a:prstGeom>
          <a:noFill/>
        </p:spPr>
        <p:txBody>
          <a:bodyPr wrap="square" anchor="ctr" tIns="36576" bIns="36576">
            <a:spAutoFit/>
          </a:bodyPr>
          <a:lstStyle/>
          <a:p>
            <a:pPr algn="l"/>
            <a:r>
              <a:rPr sz="4000" b="1">
                <a:solidFill>
                  <a:srgbClr val="1F2A44"/>
                </a:solidFill>
                <a:latin typeface="Calibri"/>
              </a:rPr>
              <a:t>Blitzlicht: Was nehme ich aus dieser Stunde mit – und was fehlt mir noch?</a:t>
            </a:r>
          </a:p>
        </p:txBody>
      </p:sp>
      <p:sp>
        <p:nvSpPr>
          <p:cNvPr id="19" name="Rounded Rectangle 18"/>
          <p:cNvSpPr/>
          <p:nvPr/>
        </p:nvSpPr>
        <p:spPr>
          <a:xfrm>
            <a:off x="502920" y="6327648"/>
            <a:ext cx="1344168" cy="420624"/>
          </a:xfrm>
          <a:prstGeom prst="roundRect">
            <a:avLst>
              <a:gd name="adj" fmla="val 4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6327648"/>
            <a:ext cx="1344168" cy="420624"/>
          </a:xfrm>
          <a:prstGeom prst="rect">
            <a:avLst/>
          </a:prstGeom>
          <a:noFill/>
        </p:spPr>
        <p:txBody>
          <a:bodyPr wrap="square" anchor="ctr" tIns="36576" bIns="36576">
            <a:spAutoFit/>
          </a:bodyPr>
          <a:lstStyle/>
          <a:p>
            <a:pPr algn="ctr"/>
            <a:r>
              <a:rPr sz="2400" b="1">
                <a:solidFill>
                  <a:srgbClr val="FFFFFF"/>
                </a:solidFill>
                <a:latin typeface="Calibri"/>
              </a:rPr>
              <a:t>Plenum</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822960"/>
            <a:ext cx="10058400" cy="548640"/>
          </a:xfrm>
          <a:prstGeom prst="rect">
            <a:avLst/>
          </a:prstGeom>
          <a:noFill/>
        </p:spPr>
        <p:txBody>
          <a:bodyPr wrap="square" anchor="t" tIns="36576" bIns="36576">
            <a:spAutoFit/>
          </a:bodyPr>
          <a:lstStyle/>
          <a:p>
            <a:pPr algn="l"/>
            <a:r>
              <a:rPr sz="2400" b="1">
                <a:solidFill>
                  <a:srgbClr val="F5A623"/>
                </a:solidFill>
                <a:latin typeface="Calibri"/>
              </a:rPr>
              <a:t>VIELEN DANK!</a:t>
            </a:r>
          </a:p>
        </p:txBody>
      </p:sp>
      <p:sp>
        <p:nvSpPr>
          <p:cNvPr id="5" name="TextBox 4"/>
          <p:cNvSpPr txBox="1"/>
          <p:nvPr/>
        </p:nvSpPr>
        <p:spPr>
          <a:xfrm>
            <a:off x="914400" y="1463040"/>
            <a:ext cx="6583680" cy="1828800"/>
          </a:xfrm>
          <a:prstGeom prst="rect">
            <a:avLst/>
          </a:prstGeom>
          <a:noFill/>
        </p:spPr>
        <p:txBody>
          <a:bodyPr wrap="square" anchor="t" tIns="36576" bIns="36576">
            <a:spAutoFit/>
          </a:bodyPr>
          <a:lstStyle/>
          <a:p>
            <a:pPr algn="l"/>
            <a:r>
              <a:rPr sz="5400" b="1">
                <a:solidFill>
                  <a:srgbClr val="FFFFFF"/>
                </a:solidFill>
                <a:latin typeface="Calibri"/>
              </a:rPr>
              <a:t>Danke fürs Mitmachen!</a:t>
            </a:r>
          </a:p>
        </p:txBody>
      </p:sp>
      <p:sp>
        <p:nvSpPr>
          <p:cNvPr id="6" name="TextBox 5"/>
          <p:cNvSpPr txBox="1"/>
          <p:nvPr/>
        </p:nvSpPr>
        <p:spPr>
          <a:xfrm>
            <a:off x="914400" y="3566160"/>
            <a:ext cx="6583680" cy="914400"/>
          </a:xfrm>
          <a:prstGeom prst="rect">
            <a:avLst/>
          </a:prstGeom>
          <a:noFill/>
        </p:spPr>
        <p:txBody>
          <a:bodyPr wrap="square" anchor="t" tIns="36576" bIns="36576">
            <a:spAutoFit/>
          </a:bodyPr>
          <a:lstStyle/>
          <a:p>
            <a:pPr algn="l"/>
            <a:r>
              <a:rPr sz="3000" b="1">
                <a:solidFill>
                  <a:srgbClr val="F5A623"/>
                </a:solidFill>
                <a:latin typeface="Calibri"/>
              </a:rPr>
              <a:t>Merkblatt: </a:t>
            </a:r>
            <a:r>
              <a:rPr sz="3000" b="0">
                <a:solidFill>
                  <a:srgbClr val="FFFFFF"/>
                </a:solidFill>
                <a:latin typeface="Calibri"/>
              </a:rPr>
              <a:t>mitnehmen</a:t>
            </a:r>
          </a:p>
        </p:txBody>
      </p:sp>
      <p:sp>
        <p:nvSpPr>
          <p:cNvPr id="7" name="TextBox 6"/>
          <p:cNvSpPr txBox="1"/>
          <p:nvPr/>
        </p:nvSpPr>
        <p:spPr>
          <a:xfrm>
            <a:off x="914400" y="4572000"/>
            <a:ext cx="6583680" cy="914400"/>
          </a:xfrm>
          <a:prstGeom prst="rect">
            <a:avLst/>
          </a:prstGeom>
          <a:noFill/>
        </p:spPr>
        <p:txBody>
          <a:bodyPr wrap="square" anchor="t" tIns="36576" bIns="36576">
            <a:spAutoFit/>
          </a:bodyPr>
          <a:lstStyle/>
          <a:p>
            <a:pPr algn="l"/>
            <a:r>
              <a:rPr sz="3000" b="1">
                <a:solidFill>
                  <a:srgbClr val="F5A623"/>
                </a:solidFill>
                <a:latin typeface="Calibri"/>
              </a:rPr>
              <a:t>Website: </a:t>
            </a:r>
            <a:r>
              <a:rPr sz="3000" b="0">
                <a:solidFill>
                  <a:srgbClr val="FFFFFF"/>
                </a:solidFill>
                <a:latin typeface="Calibri"/>
              </a:rPr>
              <a:t>yasinbenx.github.io/azubi-vertrag</a:t>
            </a:r>
          </a:p>
        </p:txBody>
      </p:sp>
      <p:sp>
        <p:nvSpPr>
          <p:cNvPr id="8" name="Rectangle 7"/>
          <p:cNvSpPr/>
          <p:nvPr/>
        </p:nvSpPr>
        <p:spPr>
          <a:xfrm>
            <a:off x="8138160" y="1371600"/>
            <a:ext cx="3621024" cy="3621024"/>
          </a:xfrm>
          <a:prstGeom prst="rect">
            <a:avLst/>
          </a:prstGeom>
          <a:solidFill>
            <a:srgbClr val="FFFFFF"/>
          </a:solidFill>
          <a:ln w="19050">
            <a:solidFill>
              <a:srgbClr val="B8C0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QR-Code zur Übungsseite der Klasse"/>
          <p:cNvPicPr>
            <a:picLocks noChangeAspect="1"/>
          </p:cNvPicPr>
          <p:nvPr/>
        </p:nvPicPr>
        <p:blipFill>
          <a:blip r:embed="rId3"/>
          <a:stretch>
            <a:fillRect/>
          </a:stretch>
        </p:blipFill>
        <p:spPr>
          <a:xfrm>
            <a:off x="8302752" y="1536192"/>
            <a:ext cx="3291840" cy="3291840"/>
          </a:xfrm>
          <a:prstGeom prst="rect">
            <a:avLst/>
          </a:prstGeom>
        </p:spPr>
      </p:pic>
      <p:sp>
        <p:nvSpPr>
          <p:cNvPr id="10" name="TextBox 9"/>
          <p:cNvSpPr txBox="1"/>
          <p:nvPr/>
        </p:nvSpPr>
        <p:spPr>
          <a:xfrm>
            <a:off x="7955279" y="5029200"/>
            <a:ext cx="3657600" cy="731520"/>
          </a:xfrm>
          <a:prstGeom prst="rect">
            <a:avLst/>
          </a:prstGeom>
          <a:noFill/>
        </p:spPr>
        <p:txBody>
          <a:bodyPr wrap="square" anchor="t" tIns="36576" bIns="36576">
            <a:spAutoFit/>
          </a:bodyPr>
          <a:lstStyle/>
          <a:p>
            <a:pPr algn="ctr"/>
            <a:r>
              <a:rPr sz="2800" b="1">
                <a:solidFill>
                  <a:srgbClr val="F5A623"/>
                </a:solidFill>
                <a:latin typeface="Calibri"/>
              </a:rPr>
              <a:t>Weiter üben</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square" anchor="ctr" tIns="36576" bIns="36576">
            <a:spAutoFit/>
          </a:bodyPr>
          <a:lstStyle/>
          <a:p>
            <a:pPr algn="ctr"/>
            <a:r>
              <a:rPr sz="2400" b="0">
                <a:solidFill>
                  <a:srgbClr val="FFFFFF"/>
                </a:solidFill>
                <a:latin typeface="Calibri"/>
              </a:rPr>
              <a:t>Einstieg</a:t>
            </a:r>
          </a:p>
        </p:txBody>
      </p:sp>
      <p:sp>
        <p:nvSpPr>
          <p:cNvPr id="5" name="Rectangle 4"/>
          <p:cNvSpPr/>
          <p:nvPr/>
        </p:nvSpPr>
        <p:spPr>
          <a:xfrm>
            <a:off x="174167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1</a:t>
            </a:r>
          </a:p>
        </p:txBody>
      </p:sp>
      <p:sp>
        <p:nvSpPr>
          <p:cNvPr id="7" name="Rectangle 6"/>
          <p:cNvSpPr/>
          <p:nvPr/>
        </p:nvSpPr>
        <p:spPr>
          <a:xfrm>
            <a:off x="3483341"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3341"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2</a:t>
            </a:r>
          </a:p>
        </p:txBody>
      </p:sp>
      <p:sp>
        <p:nvSpPr>
          <p:cNvPr id="9" name="Rectangle 8"/>
          <p:cNvSpPr/>
          <p:nvPr/>
        </p:nvSpPr>
        <p:spPr>
          <a:xfrm>
            <a:off x="5225012"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25012"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3</a:t>
            </a:r>
          </a:p>
        </p:txBody>
      </p:sp>
      <p:sp>
        <p:nvSpPr>
          <p:cNvPr id="11" name="Rectangle 10"/>
          <p:cNvSpPr/>
          <p:nvPr/>
        </p:nvSpPr>
        <p:spPr>
          <a:xfrm>
            <a:off x="6966682"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66682" y="0"/>
            <a:ext cx="1741670" cy="457200"/>
          </a:xfrm>
          <a:prstGeom prst="rect">
            <a:avLst/>
          </a:prstGeom>
          <a:noFill/>
        </p:spPr>
        <p:txBody>
          <a:bodyPr wrap="square" anchor="ctr" tIns="36576" bIns="36576">
            <a:spAutoFit/>
          </a:bodyPr>
          <a:lstStyle/>
          <a:p>
            <a:pPr algn="ctr"/>
            <a:r>
              <a:rPr sz="2400" b="1">
                <a:solidFill>
                  <a:srgbClr val="1F2A44"/>
                </a:solidFill>
                <a:latin typeface="Calibri"/>
              </a:rPr>
              <a:t>Üben</a:t>
            </a:r>
          </a:p>
        </p:txBody>
      </p:sp>
      <p:sp>
        <p:nvSpPr>
          <p:cNvPr id="13" name="Rectangle 12"/>
          <p:cNvSpPr/>
          <p:nvPr/>
        </p:nvSpPr>
        <p:spPr>
          <a:xfrm>
            <a:off x="8708353"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8353" y="0"/>
            <a:ext cx="1741670" cy="457200"/>
          </a:xfrm>
          <a:prstGeom prst="rect">
            <a:avLst/>
          </a:prstGeom>
          <a:noFill/>
        </p:spPr>
        <p:txBody>
          <a:bodyPr wrap="square" anchor="ctr" tIns="36576" bIns="36576">
            <a:spAutoFit/>
          </a:bodyPr>
          <a:lstStyle/>
          <a:p>
            <a:pPr algn="ctr"/>
            <a:r>
              <a:rPr sz="2400" b="0">
                <a:solidFill>
                  <a:srgbClr val="FFFFFF"/>
                </a:solidFill>
                <a:latin typeface="Calibri"/>
              </a:rPr>
              <a:t>Besprechen</a:t>
            </a:r>
          </a:p>
        </p:txBody>
      </p:sp>
      <p:sp>
        <p:nvSpPr>
          <p:cNvPr id="15" name="Rectangle 14"/>
          <p:cNvSpPr/>
          <p:nvPr/>
        </p:nvSpPr>
        <p:spPr>
          <a:xfrm>
            <a:off x="10450024"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50024" y="0"/>
            <a:ext cx="1741670" cy="457200"/>
          </a:xfrm>
          <a:prstGeom prst="rect">
            <a:avLst/>
          </a:prstGeom>
          <a:noFill/>
        </p:spPr>
        <p:txBody>
          <a:bodyPr wrap="square" anchor="ctr" tIns="36576" bIns="36576">
            <a:spAutoFit/>
          </a:bodyPr>
          <a:lstStyle/>
          <a:p>
            <a:pPr algn="ctr"/>
            <a:r>
              <a:rPr sz="2400" b="0">
                <a:solidFill>
                  <a:srgbClr val="FFFFFF"/>
                </a:solidFill>
                <a:latin typeface="Calibri"/>
              </a:rPr>
              <a:t>Abschluss</a:t>
            </a:r>
          </a:p>
        </p:txBody>
      </p:sp>
      <p:sp>
        <p:nvSpPr>
          <p:cNvPr id="17" name="Titel"/>
          <p:cNvSpPr txBox="1"/>
          <p:nvPr/>
        </p:nvSpPr>
        <p:spPr>
          <a:xfrm>
            <a:off x="548640" y="530352"/>
            <a:ext cx="11155680" cy="868680"/>
          </a:xfrm>
          <a:prstGeom prst="rect">
            <a:avLst/>
          </a:prstGeom>
          <a:noFill/>
        </p:spPr>
        <p:txBody>
          <a:bodyPr wrap="square" anchor="ctr" tIns="36576" bIns="36576">
            <a:spAutoFit/>
          </a:bodyPr>
          <a:lstStyle/>
          <a:p>
            <a:pPr algn="l"/>
            <a:r>
              <a:rPr sz="4000" b="1">
                <a:solidFill>
                  <a:srgbClr val="1F2A44"/>
                </a:solidFill>
                <a:latin typeface="Calibri"/>
              </a:rPr>
              <a:t>Reserve: Schnell fertig?</a:t>
            </a:r>
          </a:p>
        </p:txBody>
      </p:sp>
      <p:sp>
        <p:nvSpPr>
          <p:cNvPr id="18" name="Rectangle 17"/>
          <p:cNvSpPr/>
          <p:nvPr/>
        </p:nvSpPr>
        <p:spPr>
          <a:xfrm>
            <a:off x="640080" y="1371600"/>
            <a:ext cx="1463040" cy="6400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2960" y="1737360"/>
            <a:ext cx="731520" cy="73152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3000" b="1">
                <a:solidFill>
                  <a:srgbClr val="FFFFFF"/>
                </a:solidFill>
                <a:latin typeface="Calibri"/>
              </a:rPr>
              <a:t>1</a:t>
            </a:r>
          </a:p>
        </p:txBody>
      </p:sp>
      <p:sp>
        <p:nvSpPr>
          <p:cNvPr id="20" name="TextBox 19"/>
          <p:cNvSpPr txBox="1"/>
          <p:nvPr/>
        </p:nvSpPr>
        <p:spPr>
          <a:xfrm>
            <a:off x="1828800" y="1645920"/>
            <a:ext cx="9601200" cy="914400"/>
          </a:xfrm>
          <a:prstGeom prst="rect">
            <a:avLst/>
          </a:prstGeom>
          <a:noFill/>
        </p:spPr>
        <p:txBody>
          <a:bodyPr wrap="square" anchor="ctr" tIns="36576" bIns="36576">
            <a:spAutoFit/>
          </a:bodyPr>
          <a:lstStyle/>
          <a:p>
            <a:pPr algn="l"/>
            <a:r>
              <a:rPr sz="3000" b="0">
                <a:solidFill>
                  <a:srgbClr val="1F2A44"/>
                </a:solidFill>
                <a:latin typeface="Calibri"/>
              </a:rPr>
              <a:t>Experten-Karten auf der Website öffnen</a:t>
            </a:r>
          </a:p>
        </p:txBody>
      </p:sp>
      <p:sp>
        <p:nvSpPr>
          <p:cNvPr id="21" name="Oval 20"/>
          <p:cNvSpPr/>
          <p:nvPr/>
        </p:nvSpPr>
        <p:spPr>
          <a:xfrm>
            <a:off x="822960" y="2834640"/>
            <a:ext cx="731520" cy="73152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3000" b="1">
                <a:solidFill>
                  <a:srgbClr val="FFFFFF"/>
                </a:solidFill>
                <a:latin typeface="Calibri"/>
              </a:rPr>
              <a:t>2</a:t>
            </a:r>
          </a:p>
        </p:txBody>
      </p:sp>
      <p:sp>
        <p:nvSpPr>
          <p:cNvPr id="22" name="TextBox 21"/>
          <p:cNvSpPr txBox="1"/>
          <p:nvPr/>
        </p:nvSpPr>
        <p:spPr>
          <a:xfrm>
            <a:off x="1828800" y="2743200"/>
            <a:ext cx="9601200" cy="914400"/>
          </a:xfrm>
          <a:prstGeom prst="rect">
            <a:avLst/>
          </a:prstGeom>
          <a:noFill/>
        </p:spPr>
        <p:txBody>
          <a:bodyPr wrap="square" anchor="ctr" tIns="36576" bIns="36576">
            <a:spAutoFit/>
          </a:bodyPr>
          <a:lstStyle/>
          <a:p>
            <a:pPr algn="l"/>
            <a:r>
              <a:rPr sz="3000" b="0">
                <a:solidFill>
                  <a:srgbClr val="1F2A44"/>
                </a:solidFill>
                <a:latin typeface="Calibri"/>
              </a:rPr>
              <a:t>Thema wählen und der Partnerin / dem Partner in einer Minute erklären</a:t>
            </a:r>
          </a:p>
        </p:txBody>
      </p:sp>
      <p:sp>
        <p:nvSpPr>
          <p:cNvPr id="23" name="Oval 22"/>
          <p:cNvSpPr/>
          <p:nvPr/>
        </p:nvSpPr>
        <p:spPr>
          <a:xfrm>
            <a:off x="822960" y="3931920"/>
            <a:ext cx="731520" cy="73152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3000" b="1">
                <a:solidFill>
                  <a:srgbClr val="FFFFFF"/>
                </a:solidFill>
                <a:latin typeface="Calibri"/>
              </a:rPr>
              <a:t>3</a:t>
            </a:r>
          </a:p>
        </p:txBody>
      </p:sp>
      <p:sp>
        <p:nvSpPr>
          <p:cNvPr id="24" name="TextBox 23"/>
          <p:cNvSpPr txBox="1"/>
          <p:nvPr/>
        </p:nvSpPr>
        <p:spPr>
          <a:xfrm>
            <a:off x="1828800" y="3840480"/>
            <a:ext cx="9601200" cy="914400"/>
          </a:xfrm>
          <a:prstGeom prst="rect">
            <a:avLst/>
          </a:prstGeom>
          <a:noFill/>
        </p:spPr>
        <p:txBody>
          <a:bodyPr wrap="square" anchor="ctr" tIns="36576" bIns="36576">
            <a:spAutoFit/>
          </a:bodyPr>
          <a:lstStyle/>
          <a:p>
            <a:pPr algn="l"/>
            <a:r>
              <a:rPr sz="3000" b="0">
                <a:solidFill>
                  <a:srgbClr val="1F2A44"/>
                </a:solidFill>
                <a:latin typeface="Calibri"/>
              </a:rPr>
              <a:t>Frage lösen</a:t>
            </a:r>
          </a:p>
        </p:txBody>
      </p:sp>
      <p:sp>
        <p:nvSpPr>
          <p:cNvPr id="25" name="Oval 24"/>
          <p:cNvSpPr/>
          <p:nvPr/>
        </p:nvSpPr>
        <p:spPr>
          <a:xfrm>
            <a:off x="822960" y="5029199"/>
            <a:ext cx="731520" cy="73152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3000" b="1">
                <a:solidFill>
                  <a:srgbClr val="FFFFFF"/>
                </a:solidFill>
                <a:latin typeface="Calibri"/>
              </a:rPr>
              <a:t>4</a:t>
            </a:r>
          </a:p>
        </p:txBody>
      </p:sp>
      <p:sp>
        <p:nvSpPr>
          <p:cNvPr id="26" name="TextBox 25"/>
          <p:cNvSpPr txBox="1"/>
          <p:nvPr/>
        </p:nvSpPr>
        <p:spPr>
          <a:xfrm>
            <a:off x="1828800" y="4937759"/>
            <a:ext cx="9601200" cy="914400"/>
          </a:xfrm>
          <a:prstGeom prst="rect">
            <a:avLst/>
          </a:prstGeom>
          <a:noFill/>
        </p:spPr>
        <p:txBody>
          <a:bodyPr wrap="square" anchor="ctr" tIns="36576" bIns="36576">
            <a:spAutoFit/>
          </a:bodyPr>
          <a:lstStyle/>
          <a:p>
            <a:pPr algn="l"/>
            <a:r>
              <a:rPr sz="3000" b="0">
                <a:solidFill>
                  <a:srgbClr val="1F2A44"/>
                </a:solidFill>
                <a:latin typeface="Calibri"/>
              </a:rPr>
              <a:t>Oder: Fälle D und E bearbeiten</a:t>
            </a:r>
          </a:p>
        </p:txBody>
      </p:sp>
      <p:sp>
        <p:nvSpPr>
          <p:cNvPr id="27" name="TextBox 26"/>
          <p:cNvSpPr txBox="1"/>
          <p:nvPr/>
        </p:nvSpPr>
        <p:spPr>
          <a:xfrm>
            <a:off x="640080" y="6035040"/>
            <a:ext cx="10058400" cy="457200"/>
          </a:xfrm>
          <a:prstGeom prst="rect">
            <a:avLst/>
          </a:prstGeom>
          <a:noFill/>
        </p:spPr>
        <p:txBody>
          <a:bodyPr wrap="square" anchor="t" tIns="36576" bIns="36576">
            <a:spAutoFit/>
          </a:bodyPr>
          <a:lstStyle/>
          <a:p>
            <a:pPr algn="l"/>
            <a:r>
              <a:rPr sz="2400" b="1">
                <a:solidFill>
                  <a:srgbClr val="1F2A44"/>
                </a:solidFill>
                <a:latin typeface="Calibri"/>
              </a:rPr>
              <a:t>yasinbenx.github.io/azubi-vertrag</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square" anchor="ctr" tIns="36576" bIns="36576">
            <a:spAutoFit/>
          </a:bodyPr>
          <a:lstStyle/>
          <a:p>
            <a:pPr algn="ctr"/>
            <a:r>
              <a:rPr sz="2400" b="0">
                <a:solidFill>
                  <a:srgbClr val="FFFFFF"/>
                </a:solidFill>
                <a:latin typeface="Calibri"/>
              </a:rPr>
              <a:t>Einstieg</a:t>
            </a:r>
          </a:p>
        </p:txBody>
      </p:sp>
      <p:sp>
        <p:nvSpPr>
          <p:cNvPr id="5" name="Rectangle 4"/>
          <p:cNvSpPr/>
          <p:nvPr/>
        </p:nvSpPr>
        <p:spPr>
          <a:xfrm>
            <a:off x="174167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1</a:t>
            </a:r>
          </a:p>
        </p:txBody>
      </p:sp>
      <p:sp>
        <p:nvSpPr>
          <p:cNvPr id="7" name="Rectangle 6"/>
          <p:cNvSpPr/>
          <p:nvPr/>
        </p:nvSpPr>
        <p:spPr>
          <a:xfrm>
            <a:off x="3483341"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3341"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2</a:t>
            </a:r>
          </a:p>
        </p:txBody>
      </p:sp>
      <p:sp>
        <p:nvSpPr>
          <p:cNvPr id="9" name="Rectangle 8"/>
          <p:cNvSpPr/>
          <p:nvPr/>
        </p:nvSpPr>
        <p:spPr>
          <a:xfrm>
            <a:off x="5225012"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25012"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3</a:t>
            </a:r>
          </a:p>
        </p:txBody>
      </p:sp>
      <p:sp>
        <p:nvSpPr>
          <p:cNvPr id="11" name="Rectangle 10"/>
          <p:cNvSpPr/>
          <p:nvPr/>
        </p:nvSpPr>
        <p:spPr>
          <a:xfrm>
            <a:off x="6966682"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66682" y="0"/>
            <a:ext cx="1741670" cy="457200"/>
          </a:xfrm>
          <a:prstGeom prst="rect">
            <a:avLst/>
          </a:prstGeom>
          <a:noFill/>
        </p:spPr>
        <p:txBody>
          <a:bodyPr wrap="square" anchor="ctr" tIns="36576" bIns="36576">
            <a:spAutoFit/>
          </a:bodyPr>
          <a:lstStyle/>
          <a:p>
            <a:pPr algn="ctr"/>
            <a:r>
              <a:rPr sz="2400" b="0">
                <a:solidFill>
                  <a:srgbClr val="FFFFFF"/>
                </a:solidFill>
                <a:latin typeface="Calibri"/>
              </a:rPr>
              <a:t>Üben</a:t>
            </a:r>
          </a:p>
        </p:txBody>
      </p:sp>
      <p:sp>
        <p:nvSpPr>
          <p:cNvPr id="13" name="Rectangle 12"/>
          <p:cNvSpPr/>
          <p:nvPr/>
        </p:nvSpPr>
        <p:spPr>
          <a:xfrm>
            <a:off x="8708353"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8353" y="0"/>
            <a:ext cx="1741670" cy="457200"/>
          </a:xfrm>
          <a:prstGeom prst="rect">
            <a:avLst/>
          </a:prstGeom>
          <a:noFill/>
        </p:spPr>
        <p:txBody>
          <a:bodyPr wrap="square" anchor="ctr" tIns="36576" bIns="36576">
            <a:spAutoFit/>
          </a:bodyPr>
          <a:lstStyle/>
          <a:p>
            <a:pPr algn="ctr"/>
            <a:r>
              <a:rPr sz="2400" b="1">
                <a:solidFill>
                  <a:srgbClr val="1F2A44"/>
                </a:solidFill>
                <a:latin typeface="Calibri"/>
              </a:rPr>
              <a:t>Besprechen</a:t>
            </a:r>
          </a:p>
        </p:txBody>
      </p:sp>
      <p:sp>
        <p:nvSpPr>
          <p:cNvPr id="15" name="Rectangle 14"/>
          <p:cNvSpPr/>
          <p:nvPr/>
        </p:nvSpPr>
        <p:spPr>
          <a:xfrm>
            <a:off x="10450024"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50024" y="0"/>
            <a:ext cx="1741670" cy="457200"/>
          </a:xfrm>
          <a:prstGeom prst="rect">
            <a:avLst/>
          </a:prstGeom>
          <a:noFill/>
        </p:spPr>
        <p:txBody>
          <a:bodyPr wrap="square" anchor="ctr" tIns="36576" bIns="36576">
            <a:spAutoFit/>
          </a:bodyPr>
          <a:lstStyle/>
          <a:p>
            <a:pPr algn="ctr"/>
            <a:r>
              <a:rPr sz="2400" b="0">
                <a:solidFill>
                  <a:srgbClr val="FFFFFF"/>
                </a:solidFill>
                <a:latin typeface="Calibri"/>
              </a:rPr>
              <a:t>Abschluss</a:t>
            </a:r>
          </a:p>
        </p:txBody>
      </p:sp>
      <p:sp>
        <p:nvSpPr>
          <p:cNvPr id="17" name="Fallbezeichnung"/>
          <p:cNvSpPr txBox="1"/>
          <p:nvPr/>
        </p:nvSpPr>
        <p:spPr>
          <a:xfrm>
            <a:off x="548640" y="548640"/>
            <a:ext cx="11155680" cy="548640"/>
          </a:xfrm>
          <a:prstGeom prst="rect">
            <a:avLst/>
          </a:prstGeom>
          <a:noFill/>
        </p:spPr>
        <p:txBody>
          <a:bodyPr wrap="square" anchor="t" tIns="36576" bIns="36576">
            <a:spAutoFit/>
          </a:bodyPr>
          <a:lstStyle/>
          <a:p>
            <a:pPr algn="l"/>
            <a:r>
              <a:rPr sz="2800" b="1">
                <a:solidFill>
                  <a:srgbClr val="7A4B00"/>
                </a:solidFill>
                <a:latin typeface="Calibri"/>
              </a:rPr>
              <a:t>Reservefall D (tägliche Ausbildungszeit)</a:t>
            </a:r>
          </a:p>
        </p:txBody>
      </p:sp>
      <p:sp>
        <p:nvSpPr>
          <p:cNvPr id="18" name="Rectangle 17"/>
          <p:cNvSpPr/>
          <p:nvPr/>
        </p:nvSpPr>
        <p:spPr>
          <a:xfrm>
            <a:off x="640080" y="1143000"/>
            <a:ext cx="10881360" cy="160020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 y="1143000"/>
            <a:ext cx="109728" cy="1600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all"/>
          <p:cNvSpPr txBox="1"/>
          <p:nvPr/>
        </p:nvSpPr>
        <p:spPr>
          <a:xfrm>
            <a:off x="868680" y="1143000"/>
            <a:ext cx="10561320" cy="1600200"/>
          </a:xfrm>
          <a:prstGeom prst="rect">
            <a:avLst/>
          </a:prstGeom>
          <a:noFill/>
        </p:spPr>
        <p:txBody>
          <a:bodyPr wrap="square" anchor="ctr" tIns="36576" bIns="36576">
            <a:spAutoFit/>
          </a:bodyPr>
          <a:lstStyle/>
          <a:p>
            <a:pPr algn="l"/>
            <a:r>
              <a:rPr sz="2600" b="1">
                <a:solidFill>
                  <a:srgbClr val="1F2A44"/>
                </a:solidFill>
                <a:latin typeface="Calibri"/>
              </a:rPr>
              <a:t>Nina Koch ist 17 Jahre alt und Auszubildende. Wegen Personalmangel soll sie täglich 9 Stunden arbeiten. Welche Aussage ist richtig?</a:t>
            </a:r>
          </a:p>
        </p:txBody>
      </p:sp>
      <p:sp>
        <p:nvSpPr>
          <p:cNvPr id="21" name="Rounded Rectangle 20"/>
          <p:cNvSpPr/>
          <p:nvPr/>
        </p:nvSpPr>
        <p:spPr>
          <a:xfrm>
            <a:off x="640080" y="2880360"/>
            <a:ext cx="10881360" cy="749808"/>
          </a:xfrm>
          <a:prstGeom prst="roundRect">
            <a:avLst>
              <a:gd name="adj" fmla="val 15000"/>
            </a:avLst>
          </a:prstGeom>
          <a:solidFill>
            <a:srgbClr val="FFFFFF"/>
          </a:solidFill>
          <a:ln w="254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77240" y="2962656"/>
            <a:ext cx="585216" cy="585216"/>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400" b="1">
                <a:solidFill>
                  <a:srgbClr val="FFFFFF"/>
                </a:solidFill>
                <a:latin typeface="Calibri"/>
              </a:rPr>
              <a:t>A</a:t>
            </a:r>
          </a:p>
        </p:txBody>
      </p:sp>
      <p:sp>
        <p:nvSpPr>
          <p:cNvPr id="23" name="Option_A"/>
          <p:cNvSpPr txBox="1"/>
          <p:nvPr/>
        </p:nvSpPr>
        <p:spPr>
          <a:xfrm>
            <a:off x="1508760" y="2880360"/>
            <a:ext cx="9921240" cy="749808"/>
          </a:xfrm>
          <a:prstGeom prst="rect">
            <a:avLst/>
          </a:prstGeom>
          <a:noFill/>
        </p:spPr>
        <p:txBody>
          <a:bodyPr wrap="square" anchor="ctr" tIns="36576" bIns="36576">
            <a:spAutoFit/>
          </a:bodyPr>
          <a:lstStyle/>
          <a:p>
            <a:pPr algn="l"/>
            <a:r>
              <a:rPr sz="2400" b="0">
                <a:solidFill>
                  <a:srgbClr val="1F2A44"/>
                </a:solidFill>
                <a:latin typeface="Calibri"/>
              </a:rPr>
              <a:t>Zulässig, wenn die Mehrarbeit vergütet wird.</a:t>
            </a:r>
          </a:p>
        </p:txBody>
      </p:sp>
      <p:sp>
        <p:nvSpPr>
          <p:cNvPr id="24" name="Rounded Rectangle 23"/>
          <p:cNvSpPr/>
          <p:nvPr/>
        </p:nvSpPr>
        <p:spPr>
          <a:xfrm>
            <a:off x="640080" y="3721608"/>
            <a:ext cx="10881360" cy="749808"/>
          </a:xfrm>
          <a:prstGeom prst="roundRect">
            <a:avLst>
              <a:gd name="adj" fmla="val 15000"/>
            </a:avLst>
          </a:prstGeom>
          <a:solidFill>
            <a:srgbClr val="FFFFFF"/>
          </a:solidFill>
          <a:ln w="254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77240" y="3803904"/>
            <a:ext cx="585216" cy="585216"/>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400" b="1">
                <a:solidFill>
                  <a:srgbClr val="FFFFFF"/>
                </a:solidFill>
                <a:latin typeface="Calibri"/>
              </a:rPr>
              <a:t>B</a:t>
            </a:r>
          </a:p>
        </p:txBody>
      </p:sp>
      <p:sp>
        <p:nvSpPr>
          <p:cNvPr id="26" name="Option_B"/>
          <p:cNvSpPr txBox="1"/>
          <p:nvPr/>
        </p:nvSpPr>
        <p:spPr>
          <a:xfrm>
            <a:off x="1508760" y="3721608"/>
            <a:ext cx="9921240" cy="749808"/>
          </a:xfrm>
          <a:prstGeom prst="rect">
            <a:avLst/>
          </a:prstGeom>
          <a:noFill/>
        </p:spPr>
        <p:txBody>
          <a:bodyPr wrap="square" anchor="ctr" tIns="36576" bIns="36576">
            <a:spAutoFit/>
          </a:bodyPr>
          <a:lstStyle/>
          <a:p>
            <a:pPr algn="l"/>
            <a:r>
              <a:rPr sz="2400" b="0">
                <a:solidFill>
                  <a:srgbClr val="1F2A44"/>
                </a:solidFill>
                <a:latin typeface="Calibri"/>
              </a:rPr>
              <a:t>Unzulässig, für Jugendliche gelten höchstens 8 Stunden täglich und 40 Stunden wöchentlich.</a:t>
            </a:r>
          </a:p>
        </p:txBody>
      </p:sp>
      <p:sp>
        <p:nvSpPr>
          <p:cNvPr id="27" name="Rounded Rectangle 26"/>
          <p:cNvSpPr/>
          <p:nvPr/>
        </p:nvSpPr>
        <p:spPr>
          <a:xfrm>
            <a:off x="640080" y="4562856"/>
            <a:ext cx="10881360" cy="749808"/>
          </a:xfrm>
          <a:prstGeom prst="roundRect">
            <a:avLst>
              <a:gd name="adj" fmla="val 15000"/>
            </a:avLst>
          </a:prstGeom>
          <a:solidFill>
            <a:srgbClr val="FFFFFF"/>
          </a:solidFill>
          <a:ln w="254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77240" y="4645152"/>
            <a:ext cx="585216" cy="585216"/>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400" b="1">
                <a:solidFill>
                  <a:srgbClr val="FFFFFF"/>
                </a:solidFill>
                <a:latin typeface="Calibri"/>
              </a:rPr>
              <a:t>C</a:t>
            </a:r>
          </a:p>
        </p:txBody>
      </p:sp>
      <p:sp>
        <p:nvSpPr>
          <p:cNvPr id="29" name="Option_C"/>
          <p:cNvSpPr txBox="1"/>
          <p:nvPr/>
        </p:nvSpPr>
        <p:spPr>
          <a:xfrm>
            <a:off x="1508760" y="4562856"/>
            <a:ext cx="9921240" cy="749808"/>
          </a:xfrm>
          <a:prstGeom prst="rect">
            <a:avLst/>
          </a:prstGeom>
          <a:noFill/>
        </p:spPr>
        <p:txBody>
          <a:bodyPr wrap="square" anchor="ctr" tIns="36576" bIns="36576">
            <a:spAutoFit/>
          </a:bodyPr>
          <a:lstStyle/>
          <a:p>
            <a:pPr algn="l"/>
            <a:r>
              <a:rPr sz="2400" b="0">
                <a:solidFill>
                  <a:srgbClr val="1F2A44"/>
                </a:solidFill>
                <a:latin typeface="Calibri"/>
              </a:rPr>
              <a:t>Zulässig, bis zu 10 Stunden wie bei Erwachsenen.</a:t>
            </a:r>
          </a:p>
        </p:txBody>
      </p:sp>
      <p:sp>
        <p:nvSpPr>
          <p:cNvPr id="30" name="Rounded Rectangle 29"/>
          <p:cNvSpPr/>
          <p:nvPr/>
        </p:nvSpPr>
        <p:spPr>
          <a:xfrm>
            <a:off x="640080" y="5404104"/>
            <a:ext cx="10881360" cy="749808"/>
          </a:xfrm>
          <a:prstGeom prst="roundRect">
            <a:avLst>
              <a:gd name="adj" fmla="val 15000"/>
            </a:avLst>
          </a:prstGeom>
          <a:solidFill>
            <a:srgbClr val="FFFFFF"/>
          </a:solidFill>
          <a:ln w="254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77240" y="5486400"/>
            <a:ext cx="585216" cy="585216"/>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400" b="1">
                <a:solidFill>
                  <a:srgbClr val="FFFFFF"/>
                </a:solidFill>
                <a:latin typeface="Calibri"/>
              </a:rPr>
              <a:t>D</a:t>
            </a:r>
          </a:p>
        </p:txBody>
      </p:sp>
      <p:sp>
        <p:nvSpPr>
          <p:cNvPr id="32" name="Option_D"/>
          <p:cNvSpPr txBox="1"/>
          <p:nvPr/>
        </p:nvSpPr>
        <p:spPr>
          <a:xfrm>
            <a:off x="1508760" y="5404104"/>
            <a:ext cx="9921240" cy="749808"/>
          </a:xfrm>
          <a:prstGeom prst="rect">
            <a:avLst/>
          </a:prstGeom>
          <a:noFill/>
        </p:spPr>
        <p:txBody>
          <a:bodyPr wrap="square" anchor="ctr" tIns="36576" bIns="36576">
            <a:spAutoFit/>
          </a:bodyPr>
          <a:lstStyle/>
          <a:p>
            <a:pPr algn="l"/>
            <a:r>
              <a:rPr sz="2400" b="0">
                <a:solidFill>
                  <a:srgbClr val="1F2A44"/>
                </a:solidFill>
                <a:latin typeface="Calibri"/>
              </a:rPr>
              <a:t>Zulässig, wenn die Eltern zustimmen.</a:t>
            </a:r>
          </a:p>
        </p:txBody>
      </p:sp>
      <p:sp>
        <p:nvSpPr>
          <p:cNvPr id="33" name="Rounded Rectangle 32"/>
          <p:cNvSpPr/>
          <p:nvPr/>
        </p:nvSpPr>
        <p:spPr>
          <a:xfrm>
            <a:off x="502920" y="6327648"/>
            <a:ext cx="2587752" cy="420624"/>
          </a:xfrm>
          <a:prstGeom prst="roundRect">
            <a:avLst>
              <a:gd name="adj" fmla="val 4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2920" y="6327648"/>
            <a:ext cx="2587752" cy="420624"/>
          </a:xfrm>
          <a:prstGeom prst="rect">
            <a:avLst/>
          </a:prstGeom>
          <a:noFill/>
        </p:spPr>
        <p:txBody>
          <a:bodyPr wrap="square" anchor="ctr" tIns="36576" bIns="36576">
            <a:spAutoFit/>
          </a:bodyPr>
          <a:lstStyle/>
          <a:p>
            <a:pPr algn="ctr"/>
            <a:r>
              <a:rPr sz="2400" b="1">
                <a:solidFill>
                  <a:srgbClr val="FFFFFF"/>
                </a:solidFill>
                <a:latin typeface="Calibri"/>
              </a:rPr>
              <a:t>Abstimmung A–D</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square" anchor="ctr" tIns="36576" bIns="36576">
            <a:spAutoFit/>
          </a:bodyPr>
          <a:lstStyle/>
          <a:p>
            <a:pPr algn="ctr"/>
            <a:r>
              <a:rPr sz="2400" b="0">
                <a:solidFill>
                  <a:srgbClr val="FFFFFF"/>
                </a:solidFill>
                <a:latin typeface="Calibri"/>
              </a:rPr>
              <a:t>Einstieg</a:t>
            </a:r>
          </a:p>
        </p:txBody>
      </p:sp>
      <p:sp>
        <p:nvSpPr>
          <p:cNvPr id="5" name="Rectangle 4"/>
          <p:cNvSpPr/>
          <p:nvPr/>
        </p:nvSpPr>
        <p:spPr>
          <a:xfrm>
            <a:off x="174167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1</a:t>
            </a:r>
          </a:p>
        </p:txBody>
      </p:sp>
      <p:sp>
        <p:nvSpPr>
          <p:cNvPr id="7" name="Rectangle 6"/>
          <p:cNvSpPr/>
          <p:nvPr/>
        </p:nvSpPr>
        <p:spPr>
          <a:xfrm>
            <a:off x="3483341"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3341"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2</a:t>
            </a:r>
          </a:p>
        </p:txBody>
      </p:sp>
      <p:sp>
        <p:nvSpPr>
          <p:cNvPr id="9" name="Rectangle 8"/>
          <p:cNvSpPr/>
          <p:nvPr/>
        </p:nvSpPr>
        <p:spPr>
          <a:xfrm>
            <a:off x="5225012"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25012"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3</a:t>
            </a:r>
          </a:p>
        </p:txBody>
      </p:sp>
      <p:sp>
        <p:nvSpPr>
          <p:cNvPr id="11" name="Rectangle 10"/>
          <p:cNvSpPr/>
          <p:nvPr/>
        </p:nvSpPr>
        <p:spPr>
          <a:xfrm>
            <a:off x="6966682"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66682" y="0"/>
            <a:ext cx="1741670" cy="457200"/>
          </a:xfrm>
          <a:prstGeom prst="rect">
            <a:avLst/>
          </a:prstGeom>
          <a:noFill/>
        </p:spPr>
        <p:txBody>
          <a:bodyPr wrap="square" anchor="ctr" tIns="36576" bIns="36576">
            <a:spAutoFit/>
          </a:bodyPr>
          <a:lstStyle/>
          <a:p>
            <a:pPr algn="ctr"/>
            <a:r>
              <a:rPr sz="2400" b="0">
                <a:solidFill>
                  <a:srgbClr val="FFFFFF"/>
                </a:solidFill>
                <a:latin typeface="Calibri"/>
              </a:rPr>
              <a:t>Üben</a:t>
            </a:r>
          </a:p>
        </p:txBody>
      </p:sp>
      <p:sp>
        <p:nvSpPr>
          <p:cNvPr id="13" name="Rectangle 12"/>
          <p:cNvSpPr/>
          <p:nvPr/>
        </p:nvSpPr>
        <p:spPr>
          <a:xfrm>
            <a:off x="8708353"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8353" y="0"/>
            <a:ext cx="1741670" cy="457200"/>
          </a:xfrm>
          <a:prstGeom prst="rect">
            <a:avLst/>
          </a:prstGeom>
          <a:noFill/>
        </p:spPr>
        <p:txBody>
          <a:bodyPr wrap="square" anchor="ctr" tIns="36576" bIns="36576">
            <a:spAutoFit/>
          </a:bodyPr>
          <a:lstStyle/>
          <a:p>
            <a:pPr algn="ctr"/>
            <a:r>
              <a:rPr sz="2400" b="1">
                <a:solidFill>
                  <a:srgbClr val="1F2A44"/>
                </a:solidFill>
                <a:latin typeface="Calibri"/>
              </a:rPr>
              <a:t>Besprechen</a:t>
            </a:r>
          </a:p>
        </p:txBody>
      </p:sp>
      <p:sp>
        <p:nvSpPr>
          <p:cNvPr id="15" name="Rectangle 14"/>
          <p:cNvSpPr/>
          <p:nvPr/>
        </p:nvSpPr>
        <p:spPr>
          <a:xfrm>
            <a:off x="10450024"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50024" y="0"/>
            <a:ext cx="1741670" cy="457200"/>
          </a:xfrm>
          <a:prstGeom prst="rect">
            <a:avLst/>
          </a:prstGeom>
          <a:noFill/>
        </p:spPr>
        <p:txBody>
          <a:bodyPr wrap="square" anchor="ctr" tIns="36576" bIns="36576">
            <a:spAutoFit/>
          </a:bodyPr>
          <a:lstStyle/>
          <a:p>
            <a:pPr algn="ctr"/>
            <a:r>
              <a:rPr sz="2400" b="0">
                <a:solidFill>
                  <a:srgbClr val="FFFFFF"/>
                </a:solidFill>
                <a:latin typeface="Calibri"/>
              </a:rPr>
              <a:t>Abschluss</a:t>
            </a:r>
          </a:p>
        </p:txBody>
      </p:sp>
      <p:sp>
        <p:nvSpPr>
          <p:cNvPr id="17" name="Antwortrahmen"/>
          <p:cNvSpPr/>
          <p:nvPr/>
        </p:nvSpPr>
        <p:spPr>
          <a:xfrm>
            <a:off x="411480" y="566928"/>
            <a:ext cx="11365992" cy="5669280"/>
          </a:xfrm>
          <a:prstGeom prst="rect">
            <a:avLst/>
          </a:prstGeom>
          <a:noFill/>
          <a:ln w="76200">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Haken: Antwortfolie"/>
          <p:cNvPicPr>
            <a:picLocks noChangeAspect="1"/>
          </p:cNvPicPr>
          <p:nvPr/>
        </p:nvPicPr>
        <p:blipFill>
          <a:blip r:embed="rId3"/>
          <a:stretch>
            <a:fillRect/>
          </a:stretch>
        </p:blipFill>
        <p:spPr>
          <a:xfrm>
            <a:off x="10972800" y="640080"/>
            <a:ext cx="685800" cy="685800"/>
          </a:xfrm>
          <a:prstGeom prst="rect">
            <a:avLst/>
          </a:prstGeom>
        </p:spPr>
      </p:pic>
      <p:sp>
        <p:nvSpPr>
          <p:cNvPr id="19" name="Titel"/>
          <p:cNvSpPr txBox="1"/>
          <p:nvPr/>
        </p:nvSpPr>
        <p:spPr>
          <a:xfrm>
            <a:off x="640080" y="594360"/>
            <a:ext cx="10241280" cy="822960"/>
          </a:xfrm>
          <a:prstGeom prst="rect">
            <a:avLst/>
          </a:prstGeom>
          <a:noFill/>
        </p:spPr>
        <p:txBody>
          <a:bodyPr wrap="square" anchor="ctr" tIns="36576" bIns="36576">
            <a:spAutoFit/>
          </a:bodyPr>
          <a:lstStyle/>
          <a:p>
            <a:pPr algn="l"/>
            <a:r>
              <a:rPr sz="4000" b="1">
                <a:solidFill>
                  <a:srgbClr val="1F2A44"/>
                </a:solidFill>
                <a:latin typeface="Calibri"/>
              </a:rPr>
              <a:t>Reservefall D: Lösung B</a:t>
            </a:r>
          </a:p>
        </p:txBody>
      </p:sp>
      <p:sp>
        <p:nvSpPr>
          <p:cNvPr id="20" name="Loesung"/>
          <p:cNvSpPr/>
          <p:nvPr/>
        </p:nvSpPr>
        <p:spPr>
          <a:xfrm>
            <a:off x="822960" y="1737360"/>
            <a:ext cx="10515600" cy="1645920"/>
          </a:xfrm>
          <a:prstGeom prst="roundRect">
            <a:avLst/>
          </a:prstGeom>
          <a:solidFill>
            <a:srgbClr val="FFF0D1"/>
          </a:solidFill>
          <a:ln w="38100">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r>
              <a:rPr sz="3000" b="1">
                <a:solidFill>
                  <a:srgbClr val="1F2A44"/>
                </a:solidFill>
                <a:latin typeface="Calibri"/>
              </a:rPr>
              <a:t>B  </a:t>
            </a:r>
            <a:r>
              <a:rPr sz="3000" b="1">
                <a:solidFill>
                  <a:srgbClr val="1F2A44"/>
                </a:solidFill>
                <a:latin typeface="Calibri"/>
              </a:rPr>
              <a:t>Unzulässig, für Jugendliche gelten höchstens 8 Stunden täglich und 40 Stunden wöchentlich.</a:t>
            </a:r>
          </a:p>
        </p:txBody>
      </p:sp>
      <p:sp>
        <p:nvSpPr>
          <p:cNvPr id="21" name="Begruendung"/>
          <p:cNvSpPr/>
          <p:nvPr/>
        </p:nvSpPr>
        <p:spPr>
          <a:xfrm>
            <a:off x="822960" y="3657600"/>
            <a:ext cx="10515600" cy="2286000"/>
          </a:xfrm>
          <a:prstGeom prst="roundRect">
            <a:avLst/>
          </a:prstGeom>
          <a:solidFill>
            <a:srgbClr val="EEF1F8"/>
          </a:solidFill>
          <a:ln w="25400">
            <a:solidFill>
              <a:srgbClr val="34456B"/>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r>
              <a:rPr sz="2800" b="1">
                <a:solidFill>
                  <a:srgbClr val="1F2A44"/>
                </a:solidFill>
                <a:latin typeface="Calibri"/>
              </a:rPr>
              <a:t>Begründung: </a:t>
            </a:r>
            <a:r>
              <a:rPr sz="2800" b="0">
                <a:solidFill>
                  <a:srgbClr val="1F2A44"/>
                </a:solidFill>
                <a:latin typeface="Calibri"/>
              </a:rPr>
              <a:t>§ 8 JArbSchG; ausnahmsweise sind 8,5 Stunden täglich erlaubt, wenn an anderen Tagen derselben Woche entsprechend weniger gearbeitet wird.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Lst>
  </p:timing>
</p:sld>
</file>

<file path=ppt/slides/slide6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square" anchor="ctr" tIns="36576" bIns="36576">
            <a:spAutoFit/>
          </a:bodyPr>
          <a:lstStyle/>
          <a:p>
            <a:pPr algn="ctr"/>
            <a:r>
              <a:rPr sz="2400" b="0">
                <a:solidFill>
                  <a:srgbClr val="FFFFFF"/>
                </a:solidFill>
                <a:latin typeface="Calibri"/>
              </a:rPr>
              <a:t>Einstieg</a:t>
            </a:r>
          </a:p>
        </p:txBody>
      </p:sp>
      <p:sp>
        <p:nvSpPr>
          <p:cNvPr id="5" name="Rectangle 4"/>
          <p:cNvSpPr/>
          <p:nvPr/>
        </p:nvSpPr>
        <p:spPr>
          <a:xfrm>
            <a:off x="174167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1</a:t>
            </a:r>
          </a:p>
        </p:txBody>
      </p:sp>
      <p:sp>
        <p:nvSpPr>
          <p:cNvPr id="7" name="Rectangle 6"/>
          <p:cNvSpPr/>
          <p:nvPr/>
        </p:nvSpPr>
        <p:spPr>
          <a:xfrm>
            <a:off x="3483341"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3341"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2</a:t>
            </a:r>
          </a:p>
        </p:txBody>
      </p:sp>
      <p:sp>
        <p:nvSpPr>
          <p:cNvPr id="9" name="Rectangle 8"/>
          <p:cNvSpPr/>
          <p:nvPr/>
        </p:nvSpPr>
        <p:spPr>
          <a:xfrm>
            <a:off x="5225012"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25012"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3</a:t>
            </a:r>
          </a:p>
        </p:txBody>
      </p:sp>
      <p:sp>
        <p:nvSpPr>
          <p:cNvPr id="11" name="Rectangle 10"/>
          <p:cNvSpPr/>
          <p:nvPr/>
        </p:nvSpPr>
        <p:spPr>
          <a:xfrm>
            <a:off x="6966682"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66682" y="0"/>
            <a:ext cx="1741670" cy="457200"/>
          </a:xfrm>
          <a:prstGeom prst="rect">
            <a:avLst/>
          </a:prstGeom>
          <a:noFill/>
        </p:spPr>
        <p:txBody>
          <a:bodyPr wrap="square" anchor="ctr" tIns="36576" bIns="36576">
            <a:spAutoFit/>
          </a:bodyPr>
          <a:lstStyle/>
          <a:p>
            <a:pPr algn="ctr"/>
            <a:r>
              <a:rPr sz="2400" b="0">
                <a:solidFill>
                  <a:srgbClr val="FFFFFF"/>
                </a:solidFill>
                <a:latin typeface="Calibri"/>
              </a:rPr>
              <a:t>Üben</a:t>
            </a:r>
          </a:p>
        </p:txBody>
      </p:sp>
      <p:sp>
        <p:nvSpPr>
          <p:cNvPr id="13" name="Rectangle 12"/>
          <p:cNvSpPr/>
          <p:nvPr/>
        </p:nvSpPr>
        <p:spPr>
          <a:xfrm>
            <a:off x="8708353"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8353" y="0"/>
            <a:ext cx="1741670" cy="457200"/>
          </a:xfrm>
          <a:prstGeom prst="rect">
            <a:avLst/>
          </a:prstGeom>
          <a:noFill/>
        </p:spPr>
        <p:txBody>
          <a:bodyPr wrap="square" anchor="ctr" tIns="36576" bIns="36576">
            <a:spAutoFit/>
          </a:bodyPr>
          <a:lstStyle/>
          <a:p>
            <a:pPr algn="ctr"/>
            <a:r>
              <a:rPr sz="2400" b="1">
                <a:solidFill>
                  <a:srgbClr val="1F2A44"/>
                </a:solidFill>
                <a:latin typeface="Calibri"/>
              </a:rPr>
              <a:t>Besprechen</a:t>
            </a:r>
          </a:p>
        </p:txBody>
      </p:sp>
      <p:sp>
        <p:nvSpPr>
          <p:cNvPr id="15" name="Rectangle 14"/>
          <p:cNvSpPr/>
          <p:nvPr/>
        </p:nvSpPr>
        <p:spPr>
          <a:xfrm>
            <a:off x="10450024"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50024" y="0"/>
            <a:ext cx="1741670" cy="457200"/>
          </a:xfrm>
          <a:prstGeom prst="rect">
            <a:avLst/>
          </a:prstGeom>
          <a:noFill/>
        </p:spPr>
        <p:txBody>
          <a:bodyPr wrap="square" anchor="ctr" tIns="36576" bIns="36576">
            <a:spAutoFit/>
          </a:bodyPr>
          <a:lstStyle/>
          <a:p>
            <a:pPr algn="ctr"/>
            <a:r>
              <a:rPr sz="2400" b="0">
                <a:solidFill>
                  <a:srgbClr val="FFFFFF"/>
                </a:solidFill>
                <a:latin typeface="Calibri"/>
              </a:rPr>
              <a:t>Abschluss</a:t>
            </a:r>
          </a:p>
        </p:txBody>
      </p:sp>
      <p:sp>
        <p:nvSpPr>
          <p:cNvPr id="17" name="Fallbezeichnung"/>
          <p:cNvSpPr txBox="1"/>
          <p:nvPr/>
        </p:nvSpPr>
        <p:spPr>
          <a:xfrm>
            <a:off x="548640" y="548640"/>
            <a:ext cx="11155680" cy="548640"/>
          </a:xfrm>
          <a:prstGeom prst="rect">
            <a:avLst/>
          </a:prstGeom>
          <a:noFill/>
        </p:spPr>
        <p:txBody>
          <a:bodyPr wrap="square" anchor="t" tIns="36576" bIns="36576">
            <a:spAutoFit/>
          </a:bodyPr>
          <a:lstStyle/>
          <a:p>
            <a:pPr algn="l"/>
            <a:r>
              <a:rPr sz="2800" b="1">
                <a:solidFill>
                  <a:srgbClr val="7A4B00"/>
                </a:solidFill>
                <a:latin typeface="Calibri"/>
              </a:rPr>
              <a:t>Reservefall E (Beginn und Dauer)</a:t>
            </a:r>
          </a:p>
        </p:txBody>
      </p:sp>
      <p:sp>
        <p:nvSpPr>
          <p:cNvPr id="18" name="Rectangle 17"/>
          <p:cNvSpPr/>
          <p:nvPr/>
        </p:nvSpPr>
        <p:spPr>
          <a:xfrm>
            <a:off x="640080" y="1143000"/>
            <a:ext cx="10881360" cy="160020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 y="1143000"/>
            <a:ext cx="109728" cy="1600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all"/>
          <p:cNvSpPr txBox="1"/>
          <p:nvPr/>
        </p:nvSpPr>
        <p:spPr>
          <a:xfrm>
            <a:off x="868680" y="1143000"/>
            <a:ext cx="10561320" cy="1600200"/>
          </a:xfrm>
          <a:prstGeom prst="rect">
            <a:avLst/>
          </a:prstGeom>
          <a:noFill/>
        </p:spPr>
        <p:txBody>
          <a:bodyPr wrap="square" anchor="ctr" tIns="36576" bIns="36576">
            <a:spAutoFit/>
          </a:bodyPr>
          <a:lstStyle/>
          <a:p>
            <a:pPr algn="l"/>
            <a:r>
              <a:rPr sz="2600" b="1">
                <a:solidFill>
                  <a:srgbClr val="1F2A44"/>
                </a:solidFill>
                <a:latin typeface="Calibri"/>
              </a:rPr>
              <a:t>Ben beginnt nach dem Abitur eine dreijährige Ausbildung und möchte sie verkürzen. Welche Aussage ist richtig?</a:t>
            </a:r>
          </a:p>
        </p:txBody>
      </p:sp>
      <p:sp>
        <p:nvSpPr>
          <p:cNvPr id="21" name="Rounded Rectangle 20"/>
          <p:cNvSpPr/>
          <p:nvPr/>
        </p:nvSpPr>
        <p:spPr>
          <a:xfrm>
            <a:off x="640080" y="2880360"/>
            <a:ext cx="10881360" cy="749808"/>
          </a:xfrm>
          <a:prstGeom prst="roundRect">
            <a:avLst>
              <a:gd name="adj" fmla="val 15000"/>
            </a:avLst>
          </a:prstGeom>
          <a:solidFill>
            <a:srgbClr val="FFFFFF"/>
          </a:solidFill>
          <a:ln w="254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77240" y="2962656"/>
            <a:ext cx="585216" cy="585216"/>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400" b="1">
                <a:solidFill>
                  <a:srgbClr val="FFFFFF"/>
                </a:solidFill>
                <a:latin typeface="Calibri"/>
              </a:rPr>
              <a:t>A</a:t>
            </a:r>
          </a:p>
        </p:txBody>
      </p:sp>
      <p:sp>
        <p:nvSpPr>
          <p:cNvPr id="23" name="Option_A"/>
          <p:cNvSpPr txBox="1"/>
          <p:nvPr/>
        </p:nvSpPr>
        <p:spPr>
          <a:xfrm>
            <a:off x="1508760" y="2880360"/>
            <a:ext cx="9921240" cy="749808"/>
          </a:xfrm>
          <a:prstGeom prst="rect">
            <a:avLst/>
          </a:prstGeom>
          <a:noFill/>
        </p:spPr>
        <p:txBody>
          <a:bodyPr wrap="square" anchor="ctr" tIns="36576" bIns="36576">
            <a:spAutoFit/>
          </a:bodyPr>
          <a:lstStyle/>
          <a:p>
            <a:pPr algn="l"/>
            <a:r>
              <a:rPr sz="2400" b="0">
                <a:solidFill>
                  <a:srgbClr val="1F2A44"/>
                </a:solidFill>
                <a:latin typeface="Calibri"/>
              </a:rPr>
              <a:t>Ben beantragt die Verkürzung allein bei der Berufsschule.</a:t>
            </a:r>
          </a:p>
        </p:txBody>
      </p:sp>
      <p:sp>
        <p:nvSpPr>
          <p:cNvPr id="24" name="Rounded Rectangle 23"/>
          <p:cNvSpPr/>
          <p:nvPr/>
        </p:nvSpPr>
        <p:spPr>
          <a:xfrm>
            <a:off x="640080" y="3721608"/>
            <a:ext cx="10881360" cy="749808"/>
          </a:xfrm>
          <a:prstGeom prst="roundRect">
            <a:avLst>
              <a:gd name="adj" fmla="val 15000"/>
            </a:avLst>
          </a:prstGeom>
          <a:solidFill>
            <a:srgbClr val="FFFFFF"/>
          </a:solidFill>
          <a:ln w="254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77240" y="3803904"/>
            <a:ext cx="585216" cy="585216"/>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400" b="1">
                <a:solidFill>
                  <a:srgbClr val="FFFFFF"/>
                </a:solidFill>
                <a:latin typeface="Calibri"/>
              </a:rPr>
              <a:t>B</a:t>
            </a:r>
          </a:p>
        </p:txBody>
      </p:sp>
      <p:sp>
        <p:nvSpPr>
          <p:cNvPr id="26" name="Option_B"/>
          <p:cNvSpPr txBox="1"/>
          <p:nvPr/>
        </p:nvSpPr>
        <p:spPr>
          <a:xfrm>
            <a:off x="1508760" y="3721608"/>
            <a:ext cx="9921240" cy="749808"/>
          </a:xfrm>
          <a:prstGeom prst="rect">
            <a:avLst/>
          </a:prstGeom>
          <a:noFill/>
        </p:spPr>
        <p:txBody>
          <a:bodyPr wrap="square" anchor="ctr" tIns="36576" bIns="36576">
            <a:spAutoFit/>
          </a:bodyPr>
          <a:lstStyle/>
          <a:p>
            <a:pPr algn="l"/>
            <a:r>
              <a:rPr sz="2400" b="0">
                <a:solidFill>
                  <a:srgbClr val="1F2A44"/>
                </a:solidFill>
                <a:latin typeface="Calibri"/>
              </a:rPr>
              <a:t>Ben und der Betrieb beantragen die Verkürzung gemeinsam bei der zuständigen Stelle.</a:t>
            </a:r>
          </a:p>
        </p:txBody>
      </p:sp>
      <p:sp>
        <p:nvSpPr>
          <p:cNvPr id="27" name="Rounded Rectangle 26"/>
          <p:cNvSpPr/>
          <p:nvPr/>
        </p:nvSpPr>
        <p:spPr>
          <a:xfrm>
            <a:off x="640080" y="4562856"/>
            <a:ext cx="10881360" cy="749808"/>
          </a:xfrm>
          <a:prstGeom prst="roundRect">
            <a:avLst>
              <a:gd name="adj" fmla="val 15000"/>
            </a:avLst>
          </a:prstGeom>
          <a:solidFill>
            <a:srgbClr val="FFFFFF"/>
          </a:solidFill>
          <a:ln w="254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77240" y="4645152"/>
            <a:ext cx="585216" cy="585216"/>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400" b="1">
                <a:solidFill>
                  <a:srgbClr val="FFFFFF"/>
                </a:solidFill>
                <a:latin typeface="Calibri"/>
              </a:rPr>
              <a:t>C</a:t>
            </a:r>
          </a:p>
        </p:txBody>
      </p:sp>
      <p:sp>
        <p:nvSpPr>
          <p:cNvPr id="29" name="Option_C"/>
          <p:cNvSpPr txBox="1"/>
          <p:nvPr/>
        </p:nvSpPr>
        <p:spPr>
          <a:xfrm>
            <a:off x="1508760" y="4562856"/>
            <a:ext cx="9921240" cy="749808"/>
          </a:xfrm>
          <a:prstGeom prst="rect">
            <a:avLst/>
          </a:prstGeom>
          <a:noFill/>
        </p:spPr>
        <p:txBody>
          <a:bodyPr wrap="square" anchor="ctr" tIns="36576" bIns="36576">
            <a:spAutoFit/>
          </a:bodyPr>
          <a:lstStyle/>
          <a:p>
            <a:pPr algn="l"/>
            <a:r>
              <a:rPr sz="2400" b="0">
                <a:solidFill>
                  <a:srgbClr val="1F2A44"/>
                </a:solidFill>
                <a:latin typeface="Calibri"/>
              </a:rPr>
              <a:t>Die Ausbildung verkürzt sich wegen des Abiturs automatisch.</a:t>
            </a:r>
          </a:p>
        </p:txBody>
      </p:sp>
      <p:sp>
        <p:nvSpPr>
          <p:cNvPr id="30" name="Rounded Rectangle 29"/>
          <p:cNvSpPr/>
          <p:nvPr/>
        </p:nvSpPr>
        <p:spPr>
          <a:xfrm>
            <a:off x="640080" y="5404104"/>
            <a:ext cx="10881360" cy="749808"/>
          </a:xfrm>
          <a:prstGeom prst="roundRect">
            <a:avLst>
              <a:gd name="adj" fmla="val 15000"/>
            </a:avLst>
          </a:prstGeom>
          <a:solidFill>
            <a:srgbClr val="FFFFFF"/>
          </a:solidFill>
          <a:ln w="254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77240" y="5486400"/>
            <a:ext cx="585216" cy="585216"/>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400" b="1">
                <a:solidFill>
                  <a:srgbClr val="FFFFFF"/>
                </a:solidFill>
                <a:latin typeface="Calibri"/>
              </a:rPr>
              <a:t>D</a:t>
            </a:r>
          </a:p>
        </p:txBody>
      </p:sp>
      <p:sp>
        <p:nvSpPr>
          <p:cNvPr id="32" name="Option_D"/>
          <p:cNvSpPr txBox="1"/>
          <p:nvPr/>
        </p:nvSpPr>
        <p:spPr>
          <a:xfrm>
            <a:off x="1508760" y="5404104"/>
            <a:ext cx="9921240" cy="749808"/>
          </a:xfrm>
          <a:prstGeom prst="rect">
            <a:avLst/>
          </a:prstGeom>
          <a:noFill/>
        </p:spPr>
        <p:txBody>
          <a:bodyPr wrap="square" anchor="ctr" tIns="36576" bIns="36576">
            <a:spAutoFit/>
          </a:bodyPr>
          <a:lstStyle/>
          <a:p>
            <a:pPr algn="l"/>
            <a:r>
              <a:rPr sz="2400" b="0">
                <a:solidFill>
                  <a:srgbClr val="1F2A44"/>
                </a:solidFill>
                <a:latin typeface="Calibri"/>
              </a:rPr>
              <a:t>Nur der Betrieb darf die Verkürzung bei der IHK beantragen.</a:t>
            </a:r>
          </a:p>
        </p:txBody>
      </p:sp>
      <p:sp>
        <p:nvSpPr>
          <p:cNvPr id="33" name="Rounded Rectangle 32"/>
          <p:cNvSpPr/>
          <p:nvPr/>
        </p:nvSpPr>
        <p:spPr>
          <a:xfrm>
            <a:off x="502920" y="6327648"/>
            <a:ext cx="2587752" cy="420624"/>
          </a:xfrm>
          <a:prstGeom prst="roundRect">
            <a:avLst>
              <a:gd name="adj" fmla="val 4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2920" y="6327648"/>
            <a:ext cx="2587752" cy="420624"/>
          </a:xfrm>
          <a:prstGeom prst="rect">
            <a:avLst/>
          </a:prstGeom>
          <a:noFill/>
        </p:spPr>
        <p:txBody>
          <a:bodyPr wrap="square" anchor="ctr" tIns="36576" bIns="36576">
            <a:spAutoFit/>
          </a:bodyPr>
          <a:lstStyle/>
          <a:p>
            <a:pPr algn="ctr"/>
            <a:r>
              <a:rPr sz="2400" b="1">
                <a:solidFill>
                  <a:srgbClr val="FFFFFF"/>
                </a:solidFill>
                <a:latin typeface="Calibri"/>
              </a:rPr>
              <a:t>Abstimmung A–D</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square" anchor="ctr" tIns="36576" bIns="36576">
            <a:spAutoFit/>
          </a:bodyPr>
          <a:lstStyle/>
          <a:p>
            <a:pPr algn="ctr"/>
            <a:r>
              <a:rPr sz="2400" b="0">
                <a:solidFill>
                  <a:srgbClr val="FFFFFF"/>
                </a:solidFill>
                <a:latin typeface="Calibri"/>
              </a:rPr>
              <a:t>Einstieg</a:t>
            </a:r>
          </a:p>
        </p:txBody>
      </p:sp>
      <p:sp>
        <p:nvSpPr>
          <p:cNvPr id="5" name="Rectangle 4"/>
          <p:cNvSpPr/>
          <p:nvPr/>
        </p:nvSpPr>
        <p:spPr>
          <a:xfrm>
            <a:off x="174167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1</a:t>
            </a:r>
          </a:p>
        </p:txBody>
      </p:sp>
      <p:sp>
        <p:nvSpPr>
          <p:cNvPr id="7" name="Rectangle 6"/>
          <p:cNvSpPr/>
          <p:nvPr/>
        </p:nvSpPr>
        <p:spPr>
          <a:xfrm>
            <a:off x="3483341"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3341"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2</a:t>
            </a:r>
          </a:p>
        </p:txBody>
      </p:sp>
      <p:sp>
        <p:nvSpPr>
          <p:cNvPr id="9" name="Rectangle 8"/>
          <p:cNvSpPr/>
          <p:nvPr/>
        </p:nvSpPr>
        <p:spPr>
          <a:xfrm>
            <a:off x="5225012"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25012"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3</a:t>
            </a:r>
          </a:p>
        </p:txBody>
      </p:sp>
      <p:sp>
        <p:nvSpPr>
          <p:cNvPr id="11" name="Rectangle 10"/>
          <p:cNvSpPr/>
          <p:nvPr/>
        </p:nvSpPr>
        <p:spPr>
          <a:xfrm>
            <a:off x="6966682"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66682" y="0"/>
            <a:ext cx="1741670" cy="457200"/>
          </a:xfrm>
          <a:prstGeom prst="rect">
            <a:avLst/>
          </a:prstGeom>
          <a:noFill/>
        </p:spPr>
        <p:txBody>
          <a:bodyPr wrap="square" anchor="ctr" tIns="36576" bIns="36576">
            <a:spAutoFit/>
          </a:bodyPr>
          <a:lstStyle/>
          <a:p>
            <a:pPr algn="ctr"/>
            <a:r>
              <a:rPr sz="2400" b="0">
                <a:solidFill>
                  <a:srgbClr val="FFFFFF"/>
                </a:solidFill>
                <a:latin typeface="Calibri"/>
              </a:rPr>
              <a:t>Üben</a:t>
            </a:r>
          </a:p>
        </p:txBody>
      </p:sp>
      <p:sp>
        <p:nvSpPr>
          <p:cNvPr id="13" name="Rectangle 12"/>
          <p:cNvSpPr/>
          <p:nvPr/>
        </p:nvSpPr>
        <p:spPr>
          <a:xfrm>
            <a:off x="8708353"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8353" y="0"/>
            <a:ext cx="1741670" cy="457200"/>
          </a:xfrm>
          <a:prstGeom prst="rect">
            <a:avLst/>
          </a:prstGeom>
          <a:noFill/>
        </p:spPr>
        <p:txBody>
          <a:bodyPr wrap="square" anchor="ctr" tIns="36576" bIns="36576">
            <a:spAutoFit/>
          </a:bodyPr>
          <a:lstStyle/>
          <a:p>
            <a:pPr algn="ctr"/>
            <a:r>
              <a:rPr sz="2400" b="1">
                <a:solidFill>
                  <a:srgbClr val="1F2A44"/>
                </a:solidFill>
                <a:latin typeface="Calibri"/>
              </a:rPr>
              <a:t>Besprechen</a:t>
            </a:r>
          </a:p>
        </p:txBody>
      </p:sp>
      <p:sp>
        <p:nvSpPr>
          <p:cNvPr id="15" name="Rectangle 14"/>
          <p:cNvSpPr/>
          <p:nvPr/>
        </p:nvSpPr>
        <p:spPr>
          <a:xfrm>
            <a:off x="10450024"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50024" y="0"/>
            <a:ext cx="1741670" cy="457200"/>
          </a:xfrm>
          <a:prstGeom prst="rect">
            <a:avLst/>
          </a:prstGeom>
          <a:noFill/>
        </p:spPr>
        <p:txBody>
          <a:bodyPr wrap="square" anchor="ctr" tIns="36576" bIns="36576">
            <a:spAutoFit/>
          </a:bodyPr>
          <a:lstStyle/>
          <a:p>
            <a:pPr algn="ctr"/>
            <a:r>
              <a:rPr sz="2400" b="0">
                <a:solidFill>
                  <a:srgbClr val="FFFFFF"/>
                </a:solidFill>
                <a:latin typeface="Calibri"/>
              </a:rPr>
              <a:t>Abschluss</a:t>
            </a:r>
          </a:p>
        </p:txBody>
      </p:sp>
      <p:sp>
        <p:nvSpPr>
          <p:cNvPr id="17" name="Antwortrahmen"/>
          <p:cNvSpPr/>
          <p:nvPr/>
        </p:nvSpPr>
        <p:spPr>
          <a:xfrm>
            <a:off x="411480" y="566928"/>
            <a:ext cx="11365992" cy="5669280"/>
          </a:xfrm>
          <a:prstGeom prst="rect">
            <a:avLst/>
          </a:prstGeom>
          <a:noFill/>
          <a:ln w="76200">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Haken: Antwortfolie"/>
          <p:cNvPicPr>
            <a:picLocks noChangeAspect="1"/>
          </p:cNvPicPr>
          <p:nvPr/>
        </p:nvPicPr>
        <p:blipFill>
          <a:blip r:embed="rId3"/>
          <a:stretch>
            <a:fillRect/>
          </a:stretch>
        </p:blipFill>
        <p:spPr>
          <a:xfrm>
            <a:off x="10972800" y="640080"/>
            <a:ext cx="685800" cy="685800"/>
          </a:xfrm>
          <a:prstGeom prst="rect">
            <a:avLst/>
          </a:prstGeom>
        </p:spPr>
      </p:pic>
      <p:sp>
        <p:nvSpPr>
          <p:cNvPr id="19" name="Titel"/>
          <p:cNvSpPr txBox="1"/>
          <p:nvPr/>
        </p:nvSpPr>
        <p:spPr>
          <a:xfrm>
            <a:off x="640080" y="594360"/>
            <a:ext cx="10241280" cy="822960"/>
          </a:xfrm>
          <a:prstGeom prst="rect">
            <a:avLst/>
          </a:prstGeom>
          <a:noFill/>
        </p:spPr>
        <p:txBody>
          <a:bodyPr wrap="square" anchor="ctr" tIns="36576" bIns="36576">
            <a:spAutoFit/>
          </a:bodyPr>
          <a:lstStyle/>
          <a:p>
            <a:pPr algn="l"/>
            <a:r>
              <a:rPr sz="4000" b="1">
                <a:solidFill>
                  <a:srgbClr val="1F2A44"/>
                </a:solidFill>
                <a:latin typeface="Calibri"/>
              </a:rPr>
              <a:t>Reservefall E: Lösung B</a:t>
            </a:r>
          </a:p>
        </p:txBody>
      </p:sp>
      <p:sp>
        <p:nvSpPr>
          <p:cNvPr id="20" name="Loesung"/>
          <p:cNvSpPr/>
          <p:nvPr/>
        </p:nvSpPr>
        <p:spPr>
          <a:xfrm>
            <a:off x="822960" y="1737360"/>
            <a:ext cx="10515600" cy="1645920"/>
          </a:xfrm>
          <a:prstGeom prst="roundRect">
            <a:avLst/>
          </a:prstGeom>
          <a:solidFill>
            <a:srgbClr val="FFF0D1"/>
          </a:solidFill>
          <a:ln w="38100">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r>
              <a:rPr sz="3000" b="1">
                <a:solidFill>
                  <a:srgbClr val="1F2A44"/>
                </a:solidFill>
                <a:latin typeface="Calibri"/>
              </a:rPr>
              <a:t>B  </a:t>
            </a:r>
            <a:r>
              <a:rPr sz="3000" b="1">
                <a:solidFill>
                  <a:srgbClr val="1F2A44"/>
                </a:solidFill>
                <a:latin typeface="Calibri"/>
              </a:rPr>
              <a:t>Ben und der Betrieb beantragen die Verkürzung gemeinsam bei der zuständigen Stelle.</a:t>
            </a:r>
          </a:p>
        </p:txBody>
      </p:sp>
      <p:sp>
        <p:nvSpPr>
          <p:cNvPr id="21" name="Begruendung"/>
          <p:cNvSpPr/>
          <p:nvPr/>
        </p:nvSpPr>
        <p:spPr>
          <a:xfrm>
            <a:off x="822960" y="3657600"/>
            <a:ext cx="10515600" cy="2286000"/>
          </a:xfrm>
          <a:prstGeom prst="roundRect">
            <a:avLst/>
          </a:prstGeom>
          <a:solidFill>
            <a:srgbClr val="EEF1F8"/>
          </a:solidFill>
          <a:ln w="25400">
            <a:solidFill>
              <a:srgbClr val="34456B"/>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r>
              <a:rPr sz="2800" b="1">
                <a:solidFill>
                  <a:srgbClr val="1F2A44"/>
                </a:solidFill>
                <a:latin typeface="Calibri"/>
              </a:rPr>
              <a:t>Begründung: </a:t>
            </a:r>
            <a:r>
              <a:rPr sz="2800" b="0">
                <a:solidFill>
                  <a:srgbClr val="1F2A44"/>
                </a:solidFill>
                <a:latin typeface="Calibri"/>
              </a:rPr>
              <a:t>§ 8 Abs. 1 BBiG; mit Abitur sind laut IHK bis zu zwölf Monate Verkürzung möglich.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Lst>
  </p:timing>
</p:sld>
</file>

<file path=ppt/slides/slide6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square" anchor="ctr" tIns="36576" bIns="36576">
            <a:spAutoFit/>
          </a:bodyPr>
          <a:lstStyle/>
          <a:p>
            <a:pPr algn="ctr"/>
            <a:r>
              <a:rPr sz="2400" b="0">
                <a:solidFill>
                  <a:srgbClr val="FFFFFF"/>
                </a:solidFill>
                <a:latin typeface="Calibri"/>
              </a:rPr>
              <a:t>Einstieg</a:t>
            </a:r>
          </a:p>
        </p:txBody>
      </p:sp>
      <p:sp>
        <p:nvSpPr>
          <p:cNvPr id="5" name="Rectangle 4"/>
          <p:cNvSpPr/>
          <p:nvPr/>
        </p:nvSpPr>
        <p:spPr>
          <a:xfrm>
            <a:off x="174167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1</a:t>
            </a:r>
          </a:p>
        </p:txBody>
      </p:sp>
      <p:sp>
        <p:nvSpPr>
          <p:cNvPr id="7" name="Rectangle 6"/>
          <p:cNvSpPr/>
          <p:nvPr/>
        </p:nvSpPr>
        <p:spPr>
          <a:xfrm>
            <a:off x="3483341"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3341"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2</a:t>
            </a:r>
          </a:p>
        </p:txBody>
      </p:sp>
      <p:sp>
        <p:nvSpPr>
          <p:cNvPr id="9" name="Rectangle 8"/>
          <p:cNvSpPr/>
          <p:nvPr/>
        </p:nvSpPr>
        <p:spPr>
          <a:xfrm>
            <a:off x="5225012"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25012"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3</a:t>
            </a:r>
          </a:p>
        </p:txBody>
      </p:sp>
      <p:sp>
        <p:nvSpPr>
          <p:cNvPr id="11" name="Rectangle 10"/>
          <p:cNvSpPr/>
          <p:nvPr/>
        </p:nvSpPr>
        <p:spPr>
          <a:xfrm>
            <a:off x="6966682"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66682" y="0"/>
            <a:ext cx="1741670" cy="457200"/>
          </a:xfrm>
          <a:prstGeom prst="rect">
            <a:avLst/>
          </a:prstGeom>
          <a:noFill/>
        </p:spPr>
        <p:txBody>
          <a:bodyPr wrap="square" anchor="ctr" tIns="36576" bIns="36576">
            <a:spAutoFit/>
          </a:bodyPr>
          <a:lstStyle/>
          <a:p>
            <a:pPr algn="ctr"/>
            <a:r>
              <a:rPr sz="2400" b="1">
                <a:solidFill>
                  <a:srgbClr val="1F2A44"/>
                </a:solidFill>
                <a:latin typeface="Calibri"/>
              </a:rPr>
              <a:t>Üben</a:t>
            </a:r>
          </a:p>
        </p:txBody>
      </p:sp>
      <p:sp>
        <p:nvSpPr>
          <p:cNvPr id="13" name="Rectangle 12"/>
          <p:cNvSpPr/>
          <p:nvPr/>
        </p:nvSpPr>
        <p:spPr>
          <a:xfrm>
            <a:off x="8708353"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8353" y="0"/>
            <a:ext cx="1741670" cy="457200"/>
          </a:xfrm>
          <a:prstGeom prst="rect">
            <a:avLst/>
          </a:prstGeom>
          <a:noFill/>
        </p:spPr>
        <p:txBody>
          <a:bodyPr wrap="square" anchor="ctr" tIns="36576" bIns="36576">
            <a:spAutoFit/>
          </a:bodyPr>
          <a:lstStyle/>
          <a:p>
            <a:pPr algn="ctr"/>
            <a:r>
              <a:rPr sz="2400" b="0">
                <a:solidFill>
                  <a:srgbClr val="FFFFFF"/>
                </a:solidFill>
                <a:latin typeface="Calibri"/>
              </a:rPr>
              <a:t>Besprechen</a:t>
            </a:r>
          </a:p>
        </p:txBody>
      </p:sp>
      <p:sp>
        <p:nvSpPr>
          <p:cNvPr id="15" name="Rectangle 14"/>
          <p:cNvSpPr/>
          <p:nvPr/>
        </p:nvSpPr>
        <p:spPr>
          <a:xfrm>
            <a:off x="10450024"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50024" y="0"/>
            <a:ext cx="1741670" cy="457200"/>
          </a:xfrm>
          <a:prstGeom prst="rect">
            <a:avLst/>
          </a:prstGeom>
          <a:noFill/>
        </p:spPr>
        <p:txBody>
          <a:bodyPr wrap="square" anchor="ctr" tIns="36576" bIns="36576">
            <a:spAutoFit/>
          </a:bodyPr>
          <a:lstStyle/>
          <a:p>
            <a:pPr algn="ctr"/>
            <a:r>
              <a:rPr sz="2400" b="0">
                <a:solidFill>
                  <a:srgbClr val="FFFFFF"/>
                </a:solidFill>
                <a:latin typeface="Calibri"/>
              </a:rPr>
              <a:t>Abschluss</a:t>
            </a:r>
          </a:p>
        </p:txBody>
      </p:sp>
      <p:sp>
        <p:nvSpPr>
          <p:cNvPr id="17" name="Titel"/>
          <p:cNvSpPr txBox="1"/>
          <p:nvPr/>
        </p:nvSpPr>
        <p:spPr>
          <a:xfrm>
            <a:off x="640080" y="548640"/>
            <a:ext cx="10241280" cy="777240"/>
          </a:xfrm>
          <a:prstGeom prst="rect">
            <a:avLst/>
          </a:prstGeom>
          <a:noFill/>
        </p:spPr>
        <p:txBody>
          <a:bodyPr wrap="square" anchor="ctr" tIns="36576" bIns="36576">
            <a:spAutoFit/>
          </a:bodyPr>
          <a:lstStyle/>
          <a:p>
            <a:pPr algn="l"/>
            <a:r>
              <a:rPr sz="4000" b="1">
                <a:solidFill>
                  <a:srgbClr val="1F2A44"/>
                </a:solidFill>
                <a:latin typeface="Calibri"/>
              </a:rPr>
              <a:t>Plan B: Aussagen 1–5</a:t>
            </a:r>
          </a:p>
        </p:txBody>
      </p:sp>
      <p:sp>
        <p:nvSpPr>
          <p:cNvPr id="18" name="Rectangle 17"/>
          <p:cNvSpPr/>
          <p:nvPr/>
        </p:nvSpPr>
        <p:spPr>
          <a:xfrm>
            <a:off x="640080" y="1463040"/>
            <a:ext cx="10881360" cy="8686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31520" y="1554480"/>
            <a:ext cx="685800" cy="6858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400" b="1">
                <a:solidFill>
                  <a:srgbClr val="FFFFFF"/>
                </a:solidFill>
                <a:latin typeface="Calibri"/>
              </a:rPr>
              <a:t>1</a:t>
            </a:r>
          </a:p>
        </p:txBody>
      </p:sp>
      <p:sp>
        <p:nvSpPr>
          <p:cNvPr id="20" name="Aussage_1"/>
          <p:cNvSpPr txBox="1"/>
          <p:nvPr/>
        </p:nvSpPr>
        <p:spPr>
          <a:xfrm>
            <a:off x="1600200" y="1463040"/>
            <a:ext cx="9875520" cy="868680"/>
          </a:xfrm>
          <a:prstGeom prst="rect">
            <a:avLst/>
          </a:prstGeom>
          <a:noFill/>
        </p:spPr>
        <p:txBody>
          <a:bodyPr wrap="square" anchor="ctr" tIns="36576" bIns="36576">
            <a:spAutoFit/>
          </a:bodyPr>
          <a:lstStyle/>
          <a:p>
            <a:pPr algn="l"/>
            <a:r>
              <a:rPr sz="2400" b="1">
                <a:solidFill>
                  <a:srgbClr val="1F2A44"/>
                </a:solidFill>
                <a:latin typeface="Calibri"/>
              </a:rPr>
              <a:t>Die Probezeit darf höchstens vier Monate dauern.</a:t>
            </a:r>
          </a:p>
        </p:txBody>
      </p:sp>
      <p:sp>
        <p:nvSpPr>
          <p:cNvPr id="21" name="Rectangle 20"/>
          <p:cNvSpPr/>
          <p:nvPr/>
        </p:nvSpPr>
        <p:spPr>
          <a:xfrm>
            <a:off x="640080" y="2414016"/>
            <a:ext cx="10881360" cy="8686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2505456"/>
            <a:ext cx="685800" cy="6858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400" b="1">
                <a:solidFill>
                  <a:srgbClr val="FFFFFF"/>
                </a:solidFill>
                <a:latin typeface="Calibri"/>
              </a:rPr>
              <a:t>2</a:t>
            </a:r>
          </a:p>
        </p:txBody>
      </p:sp>
      <p:sp>
        <p:nvSpPr>
          <p:cNvPr id="23" name="Aussage_2"/>
          <p:cNvSpPr txBox="1"/>
          <p:nvPr/>
        </p:nvSpPr>
        <p:spPr>
          <a:xfrm>
            <a:off x="1600200" y="2414016"/>
            <a:ext cx="9875520" cy="868680"/>
          </a:xfrm>
          <a:prstGeom prst="rect">
            <a:avLst/>
          </a:prstGeom>
          <a:noFill/>
        </p:spPr>
        <p:txBody>
          <a:bodyPr wrap="square" anchor="ctr" tIns="36576" bIns="36576">
            <a:spAutoFit/>
          </a:bodyPr>
          <a:lstStyle/>
          <a:p>
            <a:pPr algn="l"/>
            <a:r>
              <a:rPr sz="2400" b="1">
                <a:solidFill>
                  <a:srgbClr val="1F2A44"/>
                </a:solidFill>
                <a:latin typeface="Calibri"/>
              </a:rPr>
              <a:t>Die Probezeit darf sechs Monate dauern, wenn der Azubi zustimmt.</a:t>
            </a:r>
          </a:p>
        </p:txBody>
      </p:sp>
      <p:sp>
        <p:nvSpPr>
          <p:cNvPr id="24" name="Rectangle 23"/>
          <p:cNvSpPr/>
          <p:nvPr/>
        </p:nvSpPr>
        <p:spPr>
          <a:xfrm>
            <a:off x="640080" y="3364992"/>
            <a:ext cx="10881360" cy="8686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31520" y="3456432"/>
            <a:ext cx="685800" cy="6858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400" b="1">
                <a:solidFill>
                  <a:srgbClr val="FFFFFF"/>
                </a:solidFill>
                <a:latin typeface="Calibri"/>
              </a:rPr>
              <a:t>3</a:t>
            </a:r>
          </a:p>
        </p:txBody>
      </p:sp>
      <p:sp>
        <p:nvSpPr>
          <p:cNvPr id="26" name="Aussage_3"/>
          <p:cNvSpPr txBox="1"/>
          <p:nvPr/>
        </p:nvSpPr>
        <p:spPr>
          <a:xfrm>
            <a:off x="1600200" y="3364992"/>
            <a:ext cx="9875520" cy="868680"/>
          </a:xfrm>
          <a:prstGeom prst="rect">
            <a:avLst/>
          </a:prstGeom>
          <a:noFill/>
        </p:spPr>
        <p:txBody>
          <a:bodyPr wrap="square" anchor="ctr" tIns="36576" bIns="36576">
            <a:spAutoFit/>
          </a:bodyPr>
          <a:lstStyle/>
          <a:p>
            <a:pPr algn="l"/>
            <a:r>
              <a:rPr sz="2400" b="1">
                <a:solidFill>
                  <a:srgbClr val="1F2A44"/>
                </a:solidFill>
                <a:latin typeface="Calibri"/>
              </a:rPr>
              <a:t>In der Probezeit kann der Azubi jederzeit ohne Frist kündigen.</a:t>
            </a:r>
          </a:p>
        </p:txBody>
      </p:sp>
      <p:sp>
        <p:nvSpPr>
          <p:cNvPr id="27" name="Rectangle 26"/>
          <p:cNvSpPr/>
          <p:nvPr/>
        </p:nvSpPr>
        <p:spPr>
          <a:xfrm>
            <a:off x="640080" y="4315968"/>
            <a:ext cx="10881360" cy="8686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31520" y="4407408"/>
            <a:ext cx="685800" cy="6858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400" b="1">
                <a:solidFill>
                  <a:srgbClr val="FFFFFF"/>
                </a:solidFill>
                <a:latin typeface="Calibri"/>
              </a:rPr>
              <a:t>4</a:t>
            </a:r>
          </a:p>
        </p:txBody>
      </p:sp>
      <p:sp>
        <p:nvSpPr>
          <p:cNvPr id="29" name="Aussage_4"/>
          <p:cNvSpPr txBox="1"/>
          <p:nvPr/>
        </p:nvSpPr>
        <p:spPr>
          <a:xfrm>
            <a:off x="1600200" y="4315968"/>
            <a:ext cx="9875520" cy="868680"/>
          </a:xfrm>
          <a:prstGeom prst="rect">
            <a:avLst/>
          </a:prstGeom>
          <a:noFill/>
        </p:spPr>
        <p:txBody>
          <a:bodyPr wrap="square" anchor="ctr" tIns="36576" bIns="36576">
            <a:spAutoFit/>
          </a:bodyPr>
          <a:lstStyle/>
          <a:p>
            <a:pPr algn="l"/>
            <a:r>
              <a:rPr sz="2400" b="1">
                <a:solidFill>
                  <a:srgbClr val="1F2A44"/>
                </a:solidFill>
                <a:latin typeface="Calibri"/>
              </a:rPr>
              <a:t>Nach der Probezeit darf der Azubi mit vier Wochen Frist kündigen, wenn er den Beruf wechseln will.</a:t>
            </a:r>
          </a:p>
        </p:txBody>
      </p:sp>
      <p:sp>
        <p:nvSpPr>
          <p:cNvPr id="30" name="Rectangle 29"/>
          <p:cNvSpPr/>
          <p:nvPr/>
        </p:nvSpPr>
        <p:spPr>
          <a:xfrm>
            <a:off x="640080" y="5266944"/>
            <a:ext cx="10881360" cy="8686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31520" y="5358383"/>
            <a:ext cx="685800" cy="6858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400" b="1">
                <a:solidFill>
                  <a:srgbClr val="FFFFFF"/>
                </a:solidFill>
                <a:latin typeface="Calibri"/>
              </a:rPr>
              <a:t>5</a:t>
            </a:r>
          </a:p>
        </p:txBody>
      </p:sp>
      <p:sp>
        <p:nvSpPr>
          <p:cNvPr id="32" name="Aussage_5"/>
          <p:cNvSpPr txBox="1"/>
          <p:nvPr/>
        </p:nvSpPr>
        <p:spPr>
          <a:xfrm>
            <a:off x="1600200" y="5266944"/>
            <a:ext cx="9875520" cy="868680"/>
          </a:xfrm>
          <a:prstGeom prst="rect">
            <a:avLst/>
          </a:prstGeom>
          <a:noFill/>
        </p:spPr>
        <p:txBody>
          <a:bodyPr wrap="square" anchor="ctr" tIns="36576" bIns="36576">
            <a:spAutoFit/>
          </a:bodyPr>
          <a:lstStyle/>
          <a:p>
            <a:pPr algn="l"/>
            <a:r>
              <a:rPr sz="2400" b="1">
                <a:solidFill>
                  <a:srgbClr val="1F2A44"/>
                </a:solidFill>
                <a:latin typeface="Calibri"/>
              </a:rPr>
              <a:t>Eine Kündigung per E-Mail ist wirksam, wenn sie rechtzeitig ankommt.</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square" anchor="ctr" tIns="36576" bIns="36576">
            <a:spAutoFit/>
          </a:bodyPr>
          <a:lstStyle/>
          <a:p>
            <a:pPr algn="ctr"/>
            <a:r>
              <a:rPr sz="2400" b="0">
                <a:solidFill>
                  <a:srgbClr val="FFFFFF"/>
                </a:solidFill>
                <a:latin typeface="Calibri"/>
              </a:rPr>
              <a:t>Einstieg</a:t>
            </a:r>
          </a:p>
        </p:txBody>
      </p:sp>
      <p:sp>
        <p:nvSpPr>
          <p:cNvPr id="5" name="Rectangle 4"/>
          <p:cNvSpPr/>
          <p:nvPr/>
        </p:nvSpPr>
        <p:spPr>
          <a:xfrm>
            <a:off x="174167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1</a:t>
            </a:r>
          </a:p>
        </p:txBody>
      </p:sp>
      <p:sp>
        <p:nvSpPr>
          <p:cNvPr id="7" name="Rectangle 6"/>
          <p:cNvSpPr/>
          <p:nvPr/>
        </p:nvSpPr>
        <p:spPr>
          <a:xfrm>
            <a:off x="3483341"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3341"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2</a:t>
            </a:r>
          </a:p>
        </p:txBody>
      </p:sp>
      <p:sp>
        <p:nvSpPr>
          <p:cNvPr id="9" name="Rectangle 8"/>
          <p:cNvSpPr/>
          <p:nvPr/>
        </p:nvSpPr>
        <p:spPr>
          <a:xfrm>
            <a:off x="5225012"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25012"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3</a:t>
            </a:r>
          </a:p>
        </p:txBody>
      </p:sp>
      <p:sp>
        <p:nvSpPr>
          <p:cNvPr id="11" name="Rectangle 10"/>
          <p:cNvSpPr/>
          <p:nvPr/>
        </p:nvSpPr>
        <p:spPr>
          <a:xfrm>
            <a:off x="6966682"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66682" y="0"/>
            <a:ext cx="1741670" cy="457200"/>
          </a:xfrm>
          <a:prstGeom prst="rect">
            <a:avLst/>
          </a:prstGeom>
          <a:noFill/>
        </p:spPr>
        <p:txBody>
          <a:bodyPr wrap="square" anchor="ctr" tIns="36576" bIns="36576">
            <a:spAutoFit/>
          </a:bodyPr>
          <a:lstStyle/>
          <a:p>
            <a:pPr algn="ctr"/>
            <a:r>
              <a:rPr sz="2400" b="1">
                <a:solidFill>
                  <a:srgbClr val="1F2A44"/>
                </a:solidFill>
                <a:latin typeface="Calibri"/>
              </a:rPr>
              <a:t>Üben</a:t>
            </a:r>
          </a:p>
        </p:txBody>
      </p:sp>
      <p:sp>
        <p:nvSpPr>
          <p:cNvPr id="13" name="Rectangle 12"/>
          <p:cNvSpPr/>
          <p:nvPr/>
        </p:nvSpPr>
        <p:spPr>
          <a:xfrm>
            <a:off x="8708353"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8353" y="0"/>
            <a:ext cx="1741670" cy="457200"/>
          </a:xfrm>
          <a:prstGeom prst="rect">
            <a:avLst/>
          </a:prstGeom>
          <a:noFill/>
        </p:spPr>
        <p:txBody>
          <a:bodyPr wrap="square" anchor="ctr" tIns="36576" bIns="36576">
            <a:spAutoFit/>
          </a:bodyPr>
          <a:lstStyle/>
          <a:p>
            <a:pPr algn="ctr"/>
            <a:r>
              <a:rPr sz="2400" b="0">
                <a:solidFill>
                  <a:srgbClr val="FFFFFF"/>
                </a:solidFill>
                <a:latin typeface="Calibri"/>
              </a:rPr>
              <a:t>Besprechen</a:t>
            </a:r>
          </a:p>
        </p:txBody>
      </p:sp>
      <p:sp>
        <p:nvSpPr>
          <p:cNvPr id="15" name="Rectangle 14"/>
          <p:cNvSpPr/>
          <p:nvPr/>
        </p:nvSpPr>
        <p:spPr>
          <a:xfrm>
            <a:off x="10450024"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50024" y="0"/>
            <a:ext cx="1741670" cy="457200"/>
          </a:xfrm>
          <a:prstGeom prst="rect">
            <a:avLst/>
          </a:prstGeom>
          <a:noFill/>
        </p:spPr>
        <p:txBody>
          <a:bodyPr wrap="square" anchor="ctr" tIns="36576" bIns="36576">
            <a:spAutoFit/>
          </a:bodyPr>
          <a:lstStyle/>
          <a:p>
            <a:pPr algn="ctr"/>
            <a:r>
              <a:rPr sz="2400" b="0">
                <a:solidFill>
                  <a:srgbClr val="FFFFFF"/>
                </a:solidFill>
                <a:latin typeface="Calibri"/>
              </a:rPr>
              <a:t>Abschluss</a:t>
            </a:r>
          </a:p>
        </p:txBody>
      </p:sp>
      <p:sp>
        <p:nvSpPr>
          <p:cNvPr id="17" name="Rectangle 16"/>
          <p:cNvSpPr/>
          <p:nvPr/>
        </p:nvSpPr>
        <p:spPr>
          <a:xfrm>
            <a:off x="411480" y="566928"/>
            <a:ext cx="11365992" cy="5669280"/>
          </a:xfrm>
          <a:prstGeom prst="rect">
            <a:avLst/>
          </a:prstGeom>
          <a:noFill/>
          <a:ln w="76200">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itel"/>
          <p:cNvSpPr txBox="1"/>
          <p:nvPr/>
        </p:nvSpPr>
        <p:spPr>
          <a:xfrm>
            <a:off x="640080" y="548640"/>
            <a:ext cx="10241280" cy="777240"/>
          </a:xfrm>
          <a:prstGeom prst="rect">
            <a:avLst/>
          </a:prstGeom>
          <a:noFill/>
        </p:spPr>
        <p:txBody>
          <a:bodyPr wrap="square" anchor="ctr" tIns="36576" bIns="36576">
            <a:spAutoFit/>
          </a:bodyPr>
          <a:lstStyle/>
          <a:p>
            <a:pPr algn="l"/>
            <a:r>
              <a:rPr sz="4000" b="1">
                <a:solidFill>
                  <a:srgbClr val="1F2A44"/>
                </a:solidFill>
                <a:latin typeface="Calibri"/>
              </a:rPr>
              <a:t>Plan B: Lösungen 1–5</a:t>
            </a:r>
          </a:p>
        </p:txBody>
      </p:sp>
      <p:sp>
        <p:nvSpPr>
          <p:cNvPr id="19" name="Rectangle 18"/>
          <p:cNvSpPr/>
          <p:nvPr/>
        </p:nvSpPr>
        <p:spPr>
          <a:xfrm>
            <a:off x="640080" y="1463040"/>
            <a:ext cx="10881360" cy="8686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31520" y="1554480"/>
            <a:ext cx="685800" cy="6858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400" b="1">
                <a:solidFill>
                  <a:srgbClr val="FFFFFF"/>
                </a:solidFill>
                <a:latin typeface="Calibri"/>
              </a:rPr>
              <a:t>1</a:t>
            </a:r>
          </a:p>
        </p:txBody>
      </p:sp>
      <p:sp>
        <p:nvSpPr>
          <p:cNvPr id="21" name="TextBox 20"/>
          <p:cNvSpPr txBox="1"/>
          <p:nvPr/>
        </p:nvSpPr>
        <p:spPr>
          <a:xfrm>
            <a:off x="1600200" y="1463040"/>
            <a:ext cx="9875520" cy="868680"/>
          </a:xfrm>
          <a:prstGeom prst="rect">
            <a:avLst/>
          </a:prstGeom>
          <a:noFill/>
        </p:spPr>
        <p:txBody>
          <a:bodyPr wrap="square" anchor="ctr" tIns="36576" bIns="36576">
            <a:spAutoFit/>
          </a:bodyPr>
          <a:lstStyle/>
          <a:p>
            <a:pPr algn="l"/>
            <a:r>
              <a:rPr sz="2400" b="1">
                <a:solidFill>
                  <a:srgbClr val="1E7B4F"/>
                </a:solidFill>
                <a:latin typeface="Calibri"/>
              </a:rPr>
              <a:t>✓ Stimmt – </a:t>
            </a:r>
            <a:r>
              <a:rPr sz="2400" b="0">
                <a:solidFill>
                  <a:srgbClr val="1F2A44"/>
                </a:solidFill>
                <a:latin typeface="Calibri"/>
              </a:rPr>
              <a:t>§ 20 BBiG</a:t>
            </a:r>
          </a:p>
        </p:txBody>
      </p:sp>
      <p:sp>
        <p:nvSpPr>
          <p:cNvPr id="22" name="Rectangle 21"/>
          <p:cNvSpPr/>
          <p:nvPr/>
        </p:nvSpPr>
        <p:spPr>
          <a:xfrm>
            <a:off x="640080" y="2414016"/>
            <a:ext cx="10881360" cy="8686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31520" y="2505456"/>
            <a:ext cx="685800" cy="6858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400" b="1">
                <a:solidFill>
                  <a:srgbClr val="FFFFFF"/>
                </a:solidFill>
                <a:latin typeface="Calibri"/>
              </a:rPr>
              <a:t>2</a:t>
            </a:r>
          </a:p>
        </p:txBody>
      </p:sp>
      <p:sp>
        <p:nvSpPr>
          <p:cNvPr id="24" name="TextBox 23"/>
          <p:cNvSpPr txBox="1"/>
          <p:nvPr/>
        </p:nvSpPr>
        <p:spPr>
          <a:xfrm>
            <a:off x="1600200" y="2414016"/>
            <a:ext cx="9875520" cy="868680"/>
          </a:xfrm>
          <a:prstGeom prst="rect">
            <a:avLst/>
          </a:prstGeom>
          <a:noFill/>
        </p:spPr>
        <p:txBody>
          <a:bodyPr wrap="square" anchor="ctr" tIns="36576" bIns="36576">
            <a:spAutoFit/>
          </a:bodyPr>
          <a:lstStyle/>
          <a:p>
            <a:pPr algn="l"/>
            <a:r>
              <a:rPr sz="2400" b="1">
                <a:solidFill>
                  <a:srgbClr val="B3261E"/>
                </a:solidFill>
                <a:latin typeface="Calibri"/>
              </a:rPr>
              <a:t>✗ Stimmt nicht – </a:t>
            </a:r>
            <a:r>
              <a:rPr sz="2400" b="0">
                <a:solidFill>
                  <a:srgbClr val="1F2A44"/>
                </a:solidFill>
                <a:latin typeface="Calibri"/>
              </a:rPr>
              <a:t>höchstens vier Monate (§ 20 BBiG)</a:t>
            </a:r>
          </a:p>
        </p:txBody>
      </p:sp>
      <p:sp>
        <p:nvSpPr>
          <p:cNvPr id="25" name="Rectangle 24"/>
          <p:cNvSpPr/>
          <p:nvPr/>
        </p:nvSpPr>
        <p:spPr>
          <a:xfrm>
            <a:off x="640080" y="3364992"/>
            <a:ext cx="10881360" cy="8686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31520" y="3456432"/>
            <a:ext cx="685800" cy="6858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400" b="1">
                <a:solidFill>
                  <a:srgbClr val="FFFFFF"/>
                </a:solidFill>
                <a:latin typeface="Calibri"/>
              </a:rPr>
              <a:t>3</a:t>
            </a:r>
          </a:p>
        </p:txBody>
      </p:sp>
      <p:sp>
        <p:nvSpPr>
          <p:cNvPr id="27" name="TextBox 26"/>
          <p:cNvSpPr txBox="1"/>
          <p:nvPr/>
        </p:nvSpPr>
        <p:spPr>
          <a:xfrm>
            <a:off x="1600200" y="3364992"/>
            <a:ext cx="9875520" cy="868680"/>
          </a:xfrm>
          <a:prstGeom prst="rect">
            <a:avLst/>
          </a:prstGeom>
          <a:noFill/>
        </p:spPr>
        <p:txBody>
          <a:bodyPr wrap="square" anchor="ctr" tIns="36576" bIns="36576">
            <a:spAutoFit/>
          </a:bodyPr>
          <a:lstStyle/>
          <a:p>
            <a:pPr algn="l"/>
            <a:r>
              <a:rPr sz="2400" b="1">
                <a:solidFill>
                  <a:srgbClr val="1E7B4F"/>
                </a:solidFill>
                <a:latin typeface="Calibri"/>
              </a:rPr>
              <a:t>✓ Stimmt – </a:t>
            </a:r>
            <a:r>
              <a:rPr sz="2400" b="0">
                <a:solidFill>
                  <a:srgbClr val="1F2A44"/>
                </a:solidFill>
                <a:latin typeface="Calibri"/>
              </a:rPr>
              <a:t>§ 22 Abs. 1 BBiG</a:t>
            </a:r>
          </a:p>
        </p:txBody>
      </p:sp>
      <p:sp>
        <p:nvSpPr>
          <p:cNvPr id="28" name="Rectangle 27"/>
          <p:cNvSpPr/>
          <p:nvPr/>
        </p:nvSpPr>
        <p:spPr>
          <a:xfrm>
            <a:off x="640080" y="4315968"/>
            <a:ext cx="10881360" cy="8686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31520" y="4407408"/>
            <a:ext cx="685800" cy="6858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400" b="1">
                <a:solidFill>
                  <a:srgbClr val="FFFFFF"/>
                </a:solidFill>
                <a:latin typeface="Calibri"/>
              </a:rPr>
              <a:t>4</a:t>
            </a:r>
          </a:p>
        </p:txBody>
      </p:sp>
      <p:sp>
        <p:nvSpPr>
          <p:cNvPr id="30" name="TextBox 29"/>
          <p:cNvSpPr txBox="1"/>
          <p:nvPr/>
        </p:nvSpPr>
        <p:spPr>
          <a:xfrm>
            <a:off x="1600200" y="4315968"/>
            <a:ext cx="9875520" cy="868680"/>
          </a:xfrm>
          <a:prstGeom prst="rect">
            <a:avLst/>
          </a:prstGeom>
          <a:noFill/>
        </p:spPr>
        <p:txBody>
          <a:bodyPr wrap="square" anchor="ctr" tIns="36576" bIns="36576">
            <a:spAutoFit/>
          </a:bodyPr>
          <a:lstStyle/>
          <a:p>
            <a:pPr algn="l"/>
            <a:r>
              <a:rPr sz="2400" b="1">
                <a:solidFill>
                  <a:srgbClr val="1E7B4F"/>
                </a:solidFill>
                <a:latin typeface="Calibri"/>
              </a:rPr>
              <a:t>✓ Stimmt – </a:t>
            </a:r>
            <a:r>
              <a:rPr sz="2400" b="0">
                <a:solidFill>
                  <a:srgbClr val="1F2A44"/>
                </a:solidFill>
                <a:latin typeface="Calibri"/>
              </a:rPr>
              <a:t>§ 22 Abs. 2 BBiG</a:t>
            </a:r>
          </a:p>
        </p:txBody>
      </p:sp>
      <p:sp>
        <p:nvSpPr>
          <p:cNvPr id="31" name="Rectangle 30"/>
          <p:cNvSpPr/>
          <p:nvPr/>
        </p:nvSpPr>
        <p:spPr>
          <a:xfrm>
            <a:off x="640080" y="5266944"/>
            <a:ext cx="10881360" cy="8686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5358383"/>
            <a:ext cx="685800" cy="6858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400" b="1">
                <a:solidFill>
                  <a:srgbClr val="FFFFFF"/>
                </a:solidFill>
                <a:latin typeface="Calibri"/>
              </a:rPr>
              <a:t>5</a:t>
            </a:r>
          </a:p>
        </p:txBody>
      </p:sp>
      <p:sp>
        <p:nvSpPr>
          <p:cNvPr id="33" name="TextBox 32"/>
          <p:cNvSpPr txBox="1"/>
          <p:nvPr/>
        </p:nvSpPr>
        <p:spPr>
          <a:xfrm>
            <a:off x="1600200" y="5266944"/>
            <a:ext cx="9875520" cy="868680"/>
          </a:xfrm>
          <a:prstGeom prst="rect">
            <a:avLst/>
          </a:prstGeom>
          <a:noFill/>
        </p:spPr>
        <p:txBody>
          <a:bodyPr wrap="square" anchor="ctr" tIns="36576" bIns="36576">
            <a:spAutoFit/>
          </a:bodyPr>
          <a:lstStyle/>
          <a:p>
            <a:pPr algn="l"/>
            <a:r>
              <a:rPr sz="2400" b="1">
                <a:solidFill>
                  <a:srgbClr val="B3261E"/>
                </a:solidFill>
                <a:latin typeface="Calibri"/>
              </a:rPr>
              <a:t>✗ Stimmt nicht – </a:t>
            </a:r>
            <a:r>
              <a:rPr sz="2400" b="0">
                <a:solidFill>
                  <a:srgbClr val="1F2A44"/>
                </a:solidFill>
                <a:latin typeface="Calibri"/>
              </a:rPr>
              <a:t>Sie muss schriftlich erfolgen, die elektronische Form ist ausgeschlossen (§ 22 Abs. 3 BBiG)</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square" anchor="ctr" tIns="36576" bIns="36576">
            <a:spAutoFit/>
          </a:bodyPr>
          <a:lstStyle/>
          <a:p>
            <a:pPr algn="ctr"/>
            <a:r>
              <a:rPr sz="2400" b="0">
                <a:solidFill>
                  <a:srgbClr val="FFFFFF"/>
                </a:solidFill>
                <a:latin typeface="Calibri"/>
              </a:rPr>
              <a:t>Einstieg</a:t>
            </a:r>
          </a:p>
        </p:txBody>
      </p:sp>
      <p:sp>
        <p:nvSpPr>
          <p:cNvPr id="5" name="Rectangle 4"/>
          <p:cNvSpPr/>
          <p:nvPr/>
        </p:nvSpPr>
        <p:spPr>
          <a:xfrm>
            <a:off x="174167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1</a:t>
            </a:r>
          </a:p>
        </p:txBody>
      </p:sp>
      <p:sp>
        <p:nvSpPr>
          <p:cNvPr id="7" name="Rectangle 6"/>
          <p:cNvSpPr/>
          <p:nvPr/>
        </p:nvSpPr>
        <p:spPr>
          <a:xfrm>
            <a:off x="3483341"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3341"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2</a:t>
            </a:r>
          </a:p>
        </p:txBody>
      </p:sp>
      <p:sp>
        <p:nvSpPr>
          <p:cNvPr id="9" name="Rectangle 8"/>
          <p:cNvSpPr/>
          <p:nvPr/>
        </p:nvSpPr>
        <p:spPr>
          <a:xfrm>
            <a:off x="5225012"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25012"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3</a:t>
            </a:r>
          </a:p>
        </p:txBody>
      </p:sp>
      <p:sp>
        <p:nvSpPr>
          <p:cNvPr id="11" name="Rectangle 10"/>
          <p:cNvSpPr/>
          <p:nvPr/>
        </p:nvSpPr>
        <p:spPr>
          <a:xfrm>
            <a:off x="6966682"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66682" y="0"/>
            <a:ext cx="1741670" cy="457200"/>
          </a:xfrm>
          <a:prstGeom prst="rect">
            <a:avLst/>
          </a:prstGeom>
          <a:noFill/>
        </p:spPr>
        <p:txBody>
          <a:bodyPr wrap="square" anchor="ctr" tIns="36576" bIns="36576">
            <a:spAutoFit/>
          </a:bodyPr>
          <a:lstStyle/>
          <a:p>
            <a:pPr algn="ctr"/>
            <a:r>
              <a:rPr sz="2400" b="1">
                <a:solidFill>
                  <a:srgbClr val="1F2A44"/>
                </a:solidFill>
                <a:latin typeface="Calibri"/>
              </a:rPr>
              <a:t>Üben</a:t>
            </a:r>
          </a:p>
        </p:txBody>
      </p:sp>
      <p:sp>
        <p:nvSpPr>
          <p:cNvPr id="13" name="Rectangle 12"/>
          <p:cNvSpPr/>
          <p:nvPr/>
        </p:nvSpPr>
        <p:spPr>
          <a:xfrm>
            <a:off x="8708353"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8353" y="0"/>
            <a:ext cx="1741670" cy="457200"/>
          </a:xfrm>
          <a:prstGeom prst="rect">
            <a:avLst/>
          </a:prstGeom>
          <a:noFill/>
        </p:spPr>
        <p:txBody>
          <a:bodyPr wrap="square" anchor="ctr" tIns="36576" bIns="36576">
            <a:spAutoFit/>
          </a:bodyPr>
          <a:lstStyle/>
          <a:p>
            <a:pPr algn="ctr"/>
            <a:r>
              <a:rPr sz="2400" b="0">
                <a:solidFill>
                  <a:srgbClr val="FFFFFF"/>
                </a:solidFill>
                <a:latin typeface="Calibri"/>
              </a:rPr>
              <a:t>Besprechen</a:t>
            </a:r>
          </a:p>
        </p:txBody>
      </p:sp>
      <p:sp>
        <p:nvSpPr>
          <p:cNvPr id="15" name="Rectangle 14"/>
          <p:cNvSpPr/>
          <p:nvPr/>
        </p:nvSpPr>
        <p:spPr>
          <a:xfrm>
            <a:off x="10450024"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50024" y="0"/>
            <a:ext cx="1741670" cy="457200"/>
          </a:xfrm>
          <a:prstGeom prst="rect">
            <a:avLst/>
          </a:prstGeom>
          <a:noFill/>
        </p:spPr>
        <p:txBody>
          <a:bodyPr wrap="square" anchor="ctr" tIns="36576" bIns="36576">
            <a:spAutoFit/>
          </a:bodyPr>
          <a:lstStyle/>
          <a:p>
            <a:pPr algn="ctr"/>
            <a:r>
              <a:rPr sz="2400" b="0">
                <a:solidFill>
                  <a:srgbClr val="FFFFFF"/>
                </a:solidFill>
                <a:latin typeface="Calibri"/>
              </a:rPr>
              <a:t>Abschluss</a:t>
            </a:r>
          </a:p>
        </p:txBody>
      </p:sp>
      <p:sp>
        <p:nvSpPr>
          <p:cNvPr id="17" name="Titel"/>
          <p:cNvSpPr txBox="1"/>
          <p:nvPr/>
        </p:nvSpPr>
        <p:spPr>
          <a:xfrm>
            <a:off x="640080" y="548640"/>
            <a:ext cx="10241280" cy="777240"/>
          </a:xfrm>
          <a:prstGeom prst="rect">
            <a:avLst/>
          </a:prstGeom>
          <a:noFill/>
        </p:spPr>
        <p:txBody>
          <a:bodyPr wrap="square" anchor="ctr" tIns="36576" bIns="36576">
            <a:spAutoFit/>
          </a:bodyPr>
          <a:lstStyle/>
          <a:p>
            <a:pPr algn="l"/>
            <a:r>
              <a:rPr sz="4000" b="1">
                <a:solidFill>
                  <a:srgbClr val="1F2A44"/>
                </a:solidFill>
                <a:latin typeface="Calibri"/>
              </a:rPr>
              <a:t>Plan B: Aussagen 6–10</a:t>
            </a:r>
          </a:p>
        </p:txBody>
      </p:sp>
      <p:sp>
        <p:nvSpPr>
          <p:cNvPr id="18" name="Rectangle 17"/>
          <p:cNvSpPr/>
          <p:nvPr/>
        </p:nvSpPr>
        <p:spPr>
          <a:xfrm>
            <a:off x="640080" y="1463040"/>
            <a:ext cx="10881360" cy="8686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31520" y="1554480"/>
            <a:ext cx="685800" cy="6858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400" b="1">
                <a:solidFill>
                  <a:srgbClr val="FFFFFF"/>
                </a:solidFill>
                <a:latin typeface="Calibri"/>
              </a:rPr>
              <a:t>6</a:t>
            </a:r>
          </a:p>
        </p:txBody>
      </p:sp>
      <p:sp>
        <p:nvSpPr>
          <p:cNvPr id="20" name="Aussage_6"/>
          <p:cNvSpPr txBox="1"/>
          <p:nvPr/>
        </p:nvSpPr>
        <p:spPr>
          <a:xfrm>
            <a:off x="1600200" y="1463040"/>
            <a:ext cx="9875520" cy="868680"/>
          </a:xfrm>
          <a:prstGeom prst="rect">
            <a:avLst/>
          </a:prstGeom>
          <a:noFill/>
        </p:spPr>
        <p:txBody>
          <a:bodyPr wrap="square" anchor="ctr" tIns="36576" bIns="36576">
            <a:spAutoFit/>
          </a:bodyPr>
          <a:lstStyle/>
          <a:p>
            <a:pPr algn="l"/>
            <a:r>
              <a:rPr sz="2400" b="1">
                <a:solidFill>
                  <a:srgbClr val="1F2A44"/>
                </a:solidFill>
                <a:latin typeface="Calibri"/>
              </a:rPr>
              <a:t>Die Mindestausbildungsvergütung im 1. Jahr beträgt bei Beginn 2026 724 €.</a:t>
            </a:r>
          </a:p>
        </p:txBody>
      </p:sp>
      <p:sp>
        <p:nvSpPr>
          <p:cNvPr id="21" name="Rectangle 20"/>
          <p:cNvSpPr/>
          <p:nvPr/>
        </p:nvSpPr>
        <p:spPr>
          <a:xfrm>
            <a:off x="640080" y="2414016"/>
            <a:ext cx="10881360" cy="8686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2505456"/>
            <a:ext cx="685800" cy="6858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400" b="1">
                <a:solidFill>
                  <a:srgbClr val="FFFFFF"/>
                </a:solidFill>
                <a:latin typeface="Calibri"/>
              </a:rPr>
              <a:t>7</a:t>
            </a:r>
          </a:p>
        </p:txBody>
      </p:sp>
      <p:sp>
        <p:nvSpPr>
          <p:cNvPr id="23" name="Aussage_7"/>
          <p:cNvSpPr txBox="1"/>
          <p:nvPr/>
        </p:nvSpPr>
        <p:spPr>
          <a:xfrm>
            <a:off x="1600200" y="2414016"/>
            <a:ext cx="9875520" cy="868680"/>
          </a:xfrm>
          <a:prstGeom prst="rect">
            <a:avLst/>
          </a:prstGeom>
          <a:noFill/>
        </p:spPr>
        <p:txBody>
          <a:bodyPr wrap="square" anchor="ctr" tIns="36576" bIns="36576">
            <a:spAutoFit/>
          </a:bodyPr>
          <a:lstStyle/>
          <a:p>
            <a:pPr algn="l"/>
            <a:r>
              <a:rPr sz="2400" b="1">
                <a:solidFill>
                  <a:srgbClr val="1F2A44"/>
                </a:solidFill>
                <a:latin typeface="Calibri"/>
              </a:rPr>
              <a:t>Ein volljähriger Azubi hat mindestens 24 Werktage Urlaub.</a:t>
            </a:r>
          </a:p>
        </p:txBody>
      </p:sp>
      <p:sp>
        <p:nvSpPr>
          <p:cNvPr id="24" name="Rectangle 23"/>
          <p:cNvSpPr/>
          <p:nvPr/>
        </p:nvSpPr>
        <p:spPr>
          <a:xfrm>
            <a:off x="640080" y="3364992"/>
            <a:ext cx="10881360" cy="8686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31520" y="3456432"/>
            <a:ext cx="685800" cy="6858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400" b="1">
                <a:solidFill>
                  <a:srgbClr val="FFFFFF"/>
                </a:solidFill>
                <a:latin typeface="Calibri"/>
              </a:rPr>
              <a:t>8</a:t>
            </a:r>
          </a:p>
        </p:txBody>
      </p:sp>
      <p:sp>
        <p:nvSpPr>
          <p:cNvPr id="26" name="Aussage_8"/>
          <p:cNvSpPr txBox="1"/>
          <p:nvPr/>
        </p:nvSpPr>
        <p:spPr>
          <a:xfrm>
            <a:off x="1600200" y="3364992"/>
            <a:ext cx="9875520" cy="868680"/>
          </a:xfrm>
          <a:prstGeom prst="rect">
            <a:avLst/>
          </a:prstGeom>
          <a:noFill/>
        </p:spPr>
        <p:txBody>
          <a:bodyPr wrap="square" anchor="ctr" tIns="36576" bIns="36576">
            <a:spAutoFit/>
          </a:bodyPr>
          <a:lstStyle/>
          <a:p>
            <a:pPr algn="l"/>
            <a:r>
              <a:rPr sz="2400" b="1">
                <a:solidFill>
                  <a:srgbClr val="1F2A44"/>
                </a:solidFill>
                <a:latin typeface="Calibri"/>
              </a:rPr>
              <a:t>Werktage sind nur Montag bis Freitag.</a:t>
            </a:r>
          </a:p>
        </p:txBody>
      </p:sp>
      <p:sp>
        <p:nvSpPr>
          <p:cNvPr id="27" name="Rectangle 26"/>
          <p:cNvSpPr/>
          <p:nvPr/>
        </p:nvSpPr>
        <p:spPr>
          <a:xfrm>
            <a:off x="640080" y="4315968"/>
            <a:ext cx="10881360" cy="8686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31520" y="4407408"/>
            <a:ext cx="685800" cy="6858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400" b="1">
                <a:solidFill>
                  <a:srgbClr val="FFFFFF"/>
                </a:solidFill>
                <a:latin typeface="Calibri"/>
              </a:rPr>
              <a:t>9</a:t>
            </a:r>
          </a:p>
        </p:txBody>
      </p:sp>
      <p:sp>
        <p:nvSpPr>
          <p:cNvPr id="29" name="Aussage_9"/>
          <p:cNvSpPr txBox="1"/>
          <p:nvPr/>
        </p:nvSpPr>
        <p:spPr>
          <a:xfrm>
            <a:off x="1600200" y="4315968"/>
            <a:ext cx="9875520" cy="868680"/>
          </a:xfrm>
          <a:prstGeom prst="rect">
            <a:avLst/>
          </a:prstGeom>
          <a:noFill/>
        </p:spPr>
        <p:txBody>
          <a:bodyPr wrap="square" anchor="ctr" tIns="36576" bIns="36576">
            <a:spAutoFit/>
          </a:bodyPr>
          <a:lstStyle/>
          <a:p>
            <a:pPr algn="l"/>
            <a:r>
              <a:rPr sz="2400" b="1">
                <a:solidFill>
                  <a:srgbClr val="1F2A44"/>
                </a:solidFill>
                <a:latin typeface="Calibri"/>
              </a:rPr>
              <a:t>Jugendliche dürfen täglich bis zu 10 Stunden arbeiten.</a:t>
            </a:r>
          </a:p>
        </p:txBody>
      </p:sp>
      <p:sp>
        <p:nvSpPr>
          <p:cNvPr id="30" name="Rectangle 29"/>
          <p:cNvSpPr/>
          <p:nvPr/>
        </p:nvSpPr>
        <p:spPr>
          <a:xfrm>
            <a:off x="640080" y="5266944"/>
            <a:ext cx="10881360" cy="8686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31520" y="5358383"/>
            <a:ext cx="685800" cy="6858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400" b="1">
                <a:solidFill>
                  <a:srgbClr val="FFFFFF"/>
                </a:solidFill>
                <a:latin typeface="Calibri"/>
              </a:rPr>
              <a:t>10</a:t>
            </a:r>
          </a:p>
        </p:txBody>
      </p:sp>
      <p:sp>
        <p:nvSpPr>
          <p:cNvPr id="32" name="Aussage_10"/>
          <p:cNvSpPr txBox="1"/>
          <p:nvPr/>
        </p:nvSpPr>
        <p:spPr>
          <a:xfrm>
            <a:off x="1600200" y="5266944"/>
            <a:ext cx="9875520" cy="868680"/>
          </a:xfrm>
          <a:prstGeom prst="rect">
            <a:avLst/>
          </a:prstGeom>
          <a:noFill/>
        </p:spPr>
        <p:txBody>
          <a:bodyPr wrap="square" anchor="ctr" tIns="36576" bIns="36576">
            <a:spAutoFit/>
          </a:bodyPr>
          <a:lstStyle/>
          <a:p>
            <a:pPr algn="l"/>
            <a:r>
              <a:rPr sz="2400" b="1">
                <a:solidFill>
                  <a:srgbClr val="1F2A44"/>
                </a:solidFill>
                <a:latin typeface="Calibri"/>
              </a:rPr>
              <a:t>Der Betrieb muss den Azubi am Arbeitstag vor der schriftlichen Abschlussprüfung freistellen.</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square" anchor="ctr" tIns="36576" bIns="36576">
            <a:spAutoFit/>
          </a:bodyPr>
          <a:lstStyle/>
          <a:p>
            <a:pPr algn="ctr"/>
            <a:r>
              <a:rPr sz="2400" b="0">
                <a:solidFill>
                  <a:srgbClr val="FFFFFF"/>
                </a:solidFill>
                <a:latin typeface="Calibri"/>
              </a:rPr>
              <a:t>Einstieg</a:t>
            </a:r>
          </a:p>
        </p:txBody>
      </p:sp>
      <p:sp>
        <p:nvSpPr>
          <p:cNvPr id="5" name="Rectangle 4"/>
          <p:cNvSpPr/>
          <p:nvPr/>
        </p:nvSpPr>
        <p:spPr>
          <a:xfrm>
            <a:off x="174167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1</a:t>
            </a:r>
          </a:p>
        </p:txBody>
      </p:sp>
      <p:sp>
        <p:nvSpPr>
          <p:cNvPr id="7" name="Rectangle 6"/>
          <p:cNvSpPr/>
          <p:nvPr/>
        </p:nvSpPr>
        <p:spPr>
          <a:xfrm>
            <a:off x="3483341"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3341"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2</a:t>
            </a:r>
          </a:p>
        </p:txBody>
      </p:sp>
      <p:sp>
        <p:nvSpPr>
          <p:cNvPr id="9" name="Rectangle 8"/>
          <p:cNvSpPr/>
          <p:nvPr/>
        </p:nvSpPr>
        <p:spPr>
          <a:xfrm>
            <a:off x="5225012"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25012"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3</a:t>
            </a:r>
          </a:p>
        </p:txBody>
      </p:sp>
      <p:sp>
        <p:nvSpPr>
          <p:cNvPr id="11" name="Rectangle 10"/>
          <p:cNvSpPr/>
          <p:nvPr/>
        </p:nvSpPr>
        <p:spPr>
          <a:xfrm>
            <a:off x="6966682"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66682" y="0"/>
            <a:ext cx="1741670" cy="457200"/>
          </a:xfrm>
          <a:prstGeom prst="rect">
            <a:avLst/>
          </a:prstGeom>
          <a:noFill/>
        </p:spPr>
        <p:txBody>
          <a:bodyPr wrap="square" anchor="ctr" tIns="36576" bIns="36576">
            <a:spAutoFit/>
          </a:bodyPr>
          <a:lstStyle/>
          <a:p>
            <a:pPr algn="ctr"/>
            <a:r>
              <a:rPr sz="2400" b="1">
                <a:solidFill>
                  <a:srgbClr val="1F2A44"/>
                </a:solidFill>
                <a:latin typeface="Calibri"/>
              </a:rPr>
              <a:t>Üben</a:t>
            </a:r>
          </a:p>
        </p:txBody>
      </p:sp>
      <p:sp>
        <p:nvSpPr>
          <p:cNvPr id="13" name="Rectangle 12"/>
          <p:cNvSpPr/>
          <p:nvPr/>
        </p:nvSpPr>
        <p:spPr>
          <a:xfrm>
            <a:off x="8708353"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8353" y="0"/>
            <a:ext cx="1741670" cy="457200"/>
          </a:xfrm>
          <a:prstGeom prst="rect">
            <a:avLst/>
          </a:prstGeom>
          <a:noFill/>
        </p:spPr>
        <p:txBody>
          <a:bodyPr wrap="square" anchor="ctr" tIns="36576" bIns="36576">
            <a:spAutoFit/>
          </a:bodyPr>
          <a:lstStyle/>
          <a:p>
            <a:pPr algn="ctr"/>
            <a:r>
              <a:rPr sz="2400" b="0">
                <a:solidFill>
                  <a:srgbClr val="FFFFFF"/>
                </a:solidFill>
                <a:latin typeface="Calibri"/>
              </a:rPr>
              <a:t>Besprechen</a:t>
            </a:r>
          </a:p>
        </p:txBody>
      </p:sp>
      <p:sp>
        <p:nvSpPr>
          <p:cNvPr id="15" name="Rectangle 14"/>
          <p:cNvSpPr/>
          <p:nvPr/>
        </p:nvSpPr>
        <p:spPr>
          <a:xfrm>
            <a:off x="10450024"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50024" y="0"/>
            <a:ext cx="1741670" cy="457200"/>
          </a:xfrm>
          <a:prstGeom prst="rect">
            <a:avLst/>
          </a:prstGeom>
          <a:noFill/>
        </p:spPr>
        <p:txBody>
          <a:bodyPr wrap="square" anchor="ctr" tIns="36576" bIns="36576">
            <a:spAutoFit/>
          </a:bodyPr>
          <a:lstStyle/>
          <a:p>
            <a:pPr algn="ctr"/>
            <a:r>
              <a:rPr sz="2400" b="0">
                <a:solidFill>
                  <a:srgbClr val="FFFFFF"/>
                </a:solidFill>
                <a:latin typeface="Calibri"/>
              </a:rPr>
              <a:t>Abschluss</a:t>
            </a:r>
          </a:p>
        </p:txBody>
      </p:sp>
      <p:sp>
        <p:nvSpPr>
          <p:cNvPr id="17" name="Rectangle 16"/>
          <p:cNvSpPr/>
          <p:nvPr/>
        </p:nvSpPr>
        <p:spPr>
          <a:xfrm>
            <a:off x="411480" y="566928"/>
            <a:ext cx="11365992" cy="5669280"/>
          </a:xfrm>
          <a:prstGeom prst="rect">
            <a:avLst/>
          </a:prstGeom>
          <a:noFill/>
          <a:ln w="76200">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itel"/>
          <p:cNvSpPr txBox="1"/>
          <p:nvPr/>
        </p:nvSpPr>
        <p:spPr>
          <a:xfrm>
            <a:off x="640080" y="548640"/>
            <a:ext cx="10241280" cy="777240"/>
          </a:xfrm>
          <a:prstGeom prst="rect">
            <a:avLst/>
          </a:prstGeom>
          <a:noFill/>
        </p:spPr>
        <p:txBody>
          <a:bodyPr wrap="square" anchor="ctr" tIns="36576" bIns="36576">
            <a:spAutoFit/>
          </a:bodyPr>
          <a:lstStyle/>
          <a:p>
            <a:pPr algn="l"/>
            <a:r>
              <a:rPr sz="4000" b="1">
                <a:solidFill>
                  <a:srgbClr val="1F2A44"/>
                </a:solidFill>
                <a:latin typeface="Calibri"/>
              </a:rPr>
              <a:t>Plan B: Lösungen 6–10</a:t>
            </a:r>
          </a:p>
        </p:txBody>
      </p:sp>
      <p:sp>
        <p:nvSpPr>
          <p:cNvPr id="19" name="Rectangle 18"/>
          <p:cNvSpPr/>
          <p:nvPr/>
        </p:nvSpPr>
        <p:spPr>
          <a:xfrm>
            <a:off x="640080" y="1463040"/>
            <a:ext cx="10881360" cy="8686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31520" y="1554480"/>
            <a:ext cx="685800" cy="6858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400" b="1">
                <a:solidFill>
                  <a:srgbClr val="FFFFFF"/>
                </a:solidFill>
                <a:latin typeface="Calibri"/>
              </a:rPr>
              <a:t>6</a:t>
            </a:r>
          </a:p>
        </p:txBody>
      </p:sp>
      <p:sp>
        <p:nvSpPr>
          <p:cNvPr id="21" name="TextBox 20"/>
          <p:cNvSpPr txBox="1"/>
          <p:nvPr/>
        </p:nvSpPr>
        <p:spPr>
          <a:xfrm>
            <a:off x="1600200" y="1463040"/>
            <a:ext cx="9875520" cy="868680"/>
          </a:xfrm>
          <a:prstGeom prst="rect">
            <a:avLst/>
          </a:prstGeom>
          <a:noFill/>
        </p:spPr>
        <p:txBody>
          <a:bodyPr wrap="square" anchor="ctr" tIns="36576" bIns="36576">
            <a:spAutoFit/>
          </a:bodyPr>
          <a:lstStyle/>
          <a:p>
            <a:pPr algn="l"/>
            <a:r>
              <a:rPr sz="2400" b="1">
                <a:solidFill>
                  <a:srgbClr val="1E7B4F"/>
                </a:solidFill>
                <a:latin typeface="Calibri"/>
              </a:rPr>
              <a:t>✓ Stimmt – </a:t>
            </a:r>
            <a:r>
              <a:rPr sz="2400" b="0">
                <a:solidFill>
                  <a:srgbClr val="1F2A44"/>
                </a:solidFill>
                <a:latin typeface="Calibri"/>
              </a:rPr>
              <a:t>§ 17 BBiG</a:t>
            </a:r>
          </a:p>
        </p:txBody>
      </p:sp>
      <p:sp>
        <p:nvSpPr>
          <p:cNvPr id="22" name="Rectangle 21"/>
          <p:cNvSpPr/>
          <p:nvPr/>
        </p:nvSpPr>
        <p:spPr>
          <a:xfrm>
            <a:off x="640080" y="2414016"/>
            <a:ext cx="10881360" cy="8686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31520" y="2505456"/>
            <a:ext cx="685800" cy="6858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400" b="1">
                <a:solidFill>
                  <a:srgbClr val="FFFFFF"/>
                </a:solidFill>
                <a:latin typeface="Calibri"/>
              </a:rPr>
              <a:t>7</a:t>
            </a:r>
          </a:p>
        </p:txBody>
      </p:sp>
      <p:sp>
        <p:nvSpPr>
          <p:cNvPr id="24" name="TextBox 23"/>
          <p:cNvSpPr txBox="1"/>
          <p:nvPr/>
        </p:nvSpPr>
        <p:spPr>
          <a:xfrm>
            <a:off x="1600200" y="2414016"/>
            <a:ext cx="9875520" cy="868680"/>
          </a:xfrm>
          <a:prstGeom prst="rect">
            <a:avLst/>
          </a:prstGeom>
          <a:noFill/>
        </p:spPr>
        <p:txBody>
          <a:bodyPr wrap="square" anchor="ctr" tIns="36576" bIns="36576">
            <a:spAutoFit/>
          </a:bodyPr>
          <a:lstStyle/>
          <a:p>
            <a:pPr algn="l"/>
            <a:r>
              <a:rPr sz="2400" b="1">
                <a:solidFill>
                  <a:srgbClr val="1E7B4F"/>
                </a:solidFill>
                <a:latin typeface="Calibri"/>
              </a:rPr>
              <a:t>✓ Stimmt – </a:t>
            </a:r>
            <a:r>
              <a:rPr sz="2400" b="0">
                <a:solidFill>
                  <a:srgbClr val="1F2A44"/>
                </a:solidFill>
                <a:latin typeface="Calibri"/>
              </a:rPr>
              <a:t>§ 3 BUrlG</a:t>
            </a:r>
          </a:p>
        </p:txBody>
      </p:sp>
      <p:sp>
        <p:nvSpPr>
          <p:cNvPr id="25" name="Rectangle 24"/>
          <p:cNvSpPr/>
          <p:nvPr/>
        </p:nvSpPr>
        <p:spPr>
          <a:xfrm>
            <a:off x="640080" y="3364992"/>
            <a:ext cx="10881360" cy="8686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31520" y="3456432"/>
            <a:ext cx="685800" cy="6858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400" b="1">
                <a:solidFill>
                  <a:srgbClr val="FFFFFF"/>
                </a:solidFill>
                <a:latin typeface="Calibri"/>
              </a:rPr>
              <a:t>8</a:t>
            </a:r>
          </a:p>
        </p:txBody>
      </p:sp>
      <p:sp>
        <p:nvSpPr>
          <p:cNvPr id="27" name="TextBox 26"/>
          <p:cNvSpPr txBox="1"/>
          <p:nvPr/>
        </p:nvSpPr>
        <p:spPr>
          <a:xfrm>
            <a:off x="1600200" y="3364992"/>
            <a:ext cx="9875520" cy="868680"/>
          </a:xfrm>
          <a:prstGeom prst="rect">
            <a:avLst/>
          </a:prstGeom>
          <a:noFill/>
        </p:spPr>
        <p:txBody>
          <a:bodyPr wrap="square" anchor="ctr" tIns="36576" bIns="36576">
            <a:spAutoFit/>
          </a:bodyPr>
          <a:lstStyle/>
          <a:p>
            <a:pPr algn="l"/>
            <a:r>
              <a:rPr sz="2400" b="1">
                <a:solidFill>
                  <a:srgbClr val="B3261E"/>
                </a:solidFill>
                <a:latin typeface="Calibri"/>
              </a:rPr>
              <a:t>✗ Stimmt nicht – </a:t>
            </a:r>
            <a:r>
              <a:rPr sz="2400" b="0">
                <a:solidFill>
                  <a:srgbClr val="1F2A44"/>
                </a:solidFill>
                <a:latin typeface="Calibri"/>
              </a:rPr>
              <a:t>Werktage sind alle Kalendertage außer Sonntagen und gesetzlichen Feiertagen</a:t>
            </a:r>
          </a:p>
        </p:txBody>
      </p:sp>
      <p:sp>
        <p:nvSpPr>
          <p:cNvPr id="28" name="Rectangle 27"/>
          <p:cNvSpPr/>
          <p:nvPr/>
        </p:nvSpPr>
        <p:spPr>
          <a:xfrm>
            <a:off x="640080" y="4315968"/>
            <a:ext cx="10881360" cy="8686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31520" y="4407408"/>
            <a:ext cx="685800" cy="6858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400" b="1">
                <a:solidFill>
                  <a:srgbClr val="FFFFFF"/>
                </a:solidFill>
                <a:latin typeface="Calibri"/>
              </a:rPr>
              <a:t>9</a:t>
            </a:r>
          </a:p>
        </p:txBody>
      </p:sp>
      <p:sp>
        <p:nvSpPr>
          <p:cNvPr id="30" name="TextBox 29"/>
          <p:cNvSpPr txBox="1"/>
          <p:nvPr/>
        </p:nvSpPr>
        <p:spPr>
          <a:xfrm>
            <a:off x="1600200" y="4315968"/>
            <a:ext cx="9875520" cy="868680"/>
          </a:xfrm>
          <a:prstGeom prst="rect">
            <a:avLst/>
          </a:prstGeom>
          <a:noFill/>
        </p:spPr>
        <p:txBody>
          <a:bodyPr wrap="square" anchor="ctr" tIns="36576" bIns="36576">
            <a:spAutoFit/>
          </a:bodyPr>
          <a:lstStyle/>
          <a:p>
            <a:pPr algn="l"/>
            <a:r>
              <a:rPr sz="2400" b="1">
                <a:solidFill>
                  <a:srgbClr val="B3261E"/>
                </a:solidFill>
                <a:latin typeface="Calibri"/>
              </a:rPr>
              <a:t>✗ Stimmt nicht – </a:t>
            </a:r>
            <a:r>
              <a:rPr sz="2400" b="0">
                <a:solidFill>
                  <a:srgbClr val="1F2A44"/>
                </a:solidFill>
                <a:latin typeface="Calibri"/>
              </a:rPr>
              <a:t>höchstens 8 Stunden täglich und 40 pro Woche (§ 8 JArbSchG)</a:t>
            </a:r>
          </a:p>
        </p:txBody>
      </p:sp>
      <p:sp>
        <p:nvSpPr>
          <p:cNvPr id="31" name="Rectangle 30"/>
          <p:cNvSpPr/>
          <p:nvPr/>
        </p:nvSpPr>
        <p:spPr>
          <a:xfrm>
            <a:off x="640080" y="5266944"/>
            <a:ext cx="10881360" cy="8686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5358383"/>
            <a:ext cx="685800" cy="6858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400" b="1">
                <a:solidFill>
                  <a:srgbClr val="FFFFFF"/>
                </a:solidFill>
                <a:latin typeface="Calibri"/>
              </a:rPr>
              <a:t>10</a:t>
            </a:r>
          </a:p>
        </p:txBody>
      </p:sp>
      <p:sp>
        <p:nvSpPr>
          <p:cNvPr id="33" name="TextBox 32"/>
          <p:cNvSpPr txBox="1"/>
          <p:nvPr/>
        </p:nvSpPr>
        <p:spPr>
          <a:xfrm>
            <a:off x="1600200" y="5266944"/>
            <a:ext cx="9875520" cy="868680"/>
          </a:xfrm>
          <a:prstGeom prst="rect">
            <a:avLst/>
          </a:prstGeom>
          <a:noFill/>
        </p:spPr>
        <p:txBody>
          <a:bodyPr wrap="square" anchor="ctr" tIns="36576" bIns="36576">
            <a:spAutoFit/>
          </a:bodyPr>
          <a:lstStyle/>
          <a:p>
            <a:pPr algn="l"/>
            <a:r>
              <a:rPr sz="2400" b="1">
                <a:solidFill>
                  <a:srgbClr val="1E7B4F"/>
                </a:solidFill>
                <a:latin typeface="Calibri"/>
              </a:rPr>
              <a:t>✓ Stimmt – </a:t>
            </a:r>
            <a:r>
              <a:rPr sz="2400" b="0">
                <a:solidFill>
                  <a:srgbClr val="1F2A44"/>
                </a:solidFill>
                <a:latin typeface="Calibri"/>
              </a:rPr>
              <a:t>§ 15 BBiG</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square" anchor="ctr" tIns="36576" bIns="36576">
            <a:spAutoFit/>
          </a:bodyPr>
          <a:lstStyle/>
          <a:p>
            <a:pPr algn="ctr"/>
            <a:r>
              <a:rPr sz="2400" b="0">
                <a:solidFill>
                  <a:srgbClr val="FFFFFF"/>
                </a:solidFill>
                <a:latin typeface="Calibri"/>
              </a:rPr>
              <a:t>Einstieg</a:t>
            </a:r>
          </a:p>
        </p:txBody>
      </p:sp>
      <p:sp>
        <p:nvSpPr>
          <p:cNvPr id="5" name="Rectangle 4"/>
          <p:cNvSpPr/>
          <p:nvPr/>
        </p:nvSpPr>
        <p:spPr>
          <a:xfrm>
            <a:off x="174167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1</a:t>
            </a:r>
          </a:p>
        </p:txBody>
      </p:sp>
      <p:sp>
        <p:nvSpPr>
          <p:cNvPr id="7" name="Rectangle 6"/>
          <p:cNvSpPr/>
          <p:nvPr/>
        </p:nvSpPr>
        <p:spPr>
          <a:xfrm>
            <a:off x="3483341"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3341"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2</a:t>
            </a:r>
          </a:p>
        </p:txBody>
      </p:sp>
      <p:sp>
        <p:nvSpPr>
          <p:cNvPr id="9" name="Rectangle 8"/>
          <p:cNvSpPr/>
          <p:nvPr/>
        </p:nvSpPr>
        <p:spPr>
          <a:xfrm>
            <a:off x="5225012"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25012"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3</a:t>
            </a:r>
          </a:p>
        </p:txBody>
      </p:sp>
      <p:sp>
        <p:nvSpPr>
          <p:cNvPr id="11" name="Rectangle 10"/>
          <p:cNvSpPr/>
          <p:nvPr/>
        </p:nvSpPr>
        <p:spPr>
          <a:xfrm>
            <a:off x="6966682"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66682" y="0"/>
            <a:ext cx="1741670" cy="457200"/>
          </a:xfrm>
          <a:prstGeom prst="rect">
            <a:avLst/>
          </a:prstGeom>
          <a:noFill/>
        </p:spPr>
        <p:txBody>
          <a:bodyPr wrap="square" anchor="ctr" tIns="36576" bIns="36576">
            <a:spAutoFit/>
          </a:bodyPr>
          <a:lstStyle/>
          <a:p>
            <a:pPr algn="ctr"/>
            <a:r>
              <a:rPr sz="2400" b="0">
                <a:solidFill>
                  <a:srgbClr val="FFFFFF"/>
                </a:solidFill>
                <a:latin typeface="Calibri"/>
              </a:rPr>
              <a:t>Üben</a:t>
            </a:r>
          </a:p>
        </p:txBody>
      </p:sp>
      <p:sp>
        <p:nvSpPr>
          <p:cNvPr id="13" name="Rectangle 12"/>
          <p:cNvSpPr/>
          <p:nvPr/>
        </p:nvSpPr>
        <p:spPr>
          <a:xfrm>
            <a:off x="8708353"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8353" y="0"/>
            <a:ext cx="1741670" cy="457200"/>
          </a:xfrm>
          <a:prstGeom prst="rect">
            <a:avLst/>
          </a:prstGeom>
          <a:noFill/>
        </p:spPr>
        <p:txBody>
          <a:bodyPr wrap="square" anchor="ctr" tIns="36576" bIns="36576">
            <a:spAutoFit/>
          </a:bodyPr>
          <a:lstStyle/>
          <a:p>
            <a:pPr algn="ctr"/>
            <a:r>
              <a:rPr sz="2400" b="0">
                <a:solidFill>
                  <a:srgbClr val="FFFFFF"/>
                </a:solidFill>
                <a:latin typeface="Calibri"/>
              </a:rPr>
              <a:t>Besprechen</a:t>
            </a:r>
          </a:p>
        </p:txBody>
      </p:sp>
      <p:sp>
        <p:nvSpPr>
          <p:cNvPr id="15" name="Rectangle 14"/>
          <p:cNvSpPr/>
          <p:nvPr/>
        </p:nvSpPr>
        <p:spPr>
          <a:xfrm>
            <a:off x="10450024"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50024" y="0"/>
            <a:ext cx="1741670" cy="457200"/>
          </a:xfrm>
          <a:prstGeom prst="rect">
            <a:avLst/>
          </a:prstGeom>
          <a:noFill/>
        </p:spPr>
        <p:txBody>
          <a:bodyPr wrap="square" anchor="ctr" tIns="36576" bIns="36576">
            <a:spAutoFit/>
          </a:bodyPr>
          <a:lstStyle/>
          <a:p>
            <a:pPr algn="ctr"/>
            <a:r>
              <a:rPr sz="2400" b="1">
                <a:solidFill>
                  <a:srgbClr val="1F2A44"/>
                </a:solidFill>
                <a:latin typeface="Calibri"/>
              </a:rPr>
              <a:t>Abschluss</a:t>
            </a:r>
          </a:p>
        </p:txBody>
      </p:sp>
      <p:pic>
        <p:nvPicPr>
          <p:cNvPr id="17" name="Picture 16" descr="Fragezeichen-Symbol"/>
          <p:cNvPicPr>
            <a:picLocks noChangeAspect="1"/>
          </p:cNvPicPr>
          <p:nvPr/>
        </p:nvPicPr>
        <p:blipFill>
          <a:blip r:embed="rId3"/>
          <a:stretch>
            <a:fillRect/>
          </a:stretch>
        </p:blipFill>
        <p:spPr>
          <a:xfrm>
            <a:off x="640080" y="731520"/>
            <a:ext cx="1234440" cy="1234440"/>
          </a:xfrm>
          <a:prstGeom prst="rect">
            <a:avLst/>
          </a:prstGeom>
        </p:spPr>
      </p:pic>
      <p:sp>
        <p:nvSpPr>
          <p:cNvPr id="18" name="Frage"/>
          <p:cNvSpPr txBox="1"/>
          <p:nvPr/>
        </p:nvSpPr>
        <p:spPr>
          <a:xfrm>
            <a:off x="2103120" y="685800"/>
            <a:ext cx="9601200" cy="1737360"/>
          </a:xfrm>
          <a:prstGeom prst="rect">
            <a:avLst/>
          </a:prstGeom>
          <a:noFill/>
        </p:spPr>
        <p:txBody>
          <a:bodyPr wrap="square" anchor="ctr" tIns="36576" bIns="36576">
            <a:spAutoFit/>
          </a:bodyPr>
          <a:lstStyle/>
          <a:p>
            <a:pPr algn="l"/>
            <a:r>
              <a:rPr sz="3000" b="1">
                <a:solidFill>
                  <a:srgbClr val="1F2A44"/>
                </a:solidFill>
                <a:latin typeface="Calibri"/>
              </a:rPr>
              <a:t>Eine Auszubildende ist zu Jahresbeginn 15 Jahre alt. Wie viele Werktage Mindesturlaub hat sie?</a:t>
            </a:r>
          </a:p>
        </p:txBody>
      </p:sp>
      <p:sp>
        <p:nvSpPr>
          <p:cNvPr id="19" name="Rounded Rectangle 18"/>
          <p:cNvSpPr/>
          <p:nvPr/>
        </p:nvSpPr>
        <p:spPr>
          <a:xfrm>
            <a:off x="640080" y="2743200"/>
            <a:ext cx="5486400" cy="1188720"/>
          </a:xfrm>
          <a:prstGeom prst="roundRect">
            <a:avLst>
              <a:gd name="adj" fmla="val 12000"/>
            </a:avLst>
          </a:prstGeom>
          <a:solidFill>
            <a:srgbClr val="FFFFFF"/>
          </a:solidFill>
          <a:ln w="3175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22959" y="2994660"/>
            <a:ext cx="685800" cy="6858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800" b="1">
                <a:solidFill>
                  <a:srgbClr val="FFFFFF"/>
                </a:solidFill>
                <a:latin typeface="Calibri"/>
              </a:rPr>
              <a:t>A</a:t>
            </a:r>
          </a:p>
        </p:txBody>
      </p:sp>
      <p:sp>
        <p:nvSpPr>
          <p:cNvPr id="21" name="Option_A"/>
          <p:cNvSpPr txBox="1"/>
          <p:nvPr/>
        </p:nvSpPr>
        <p:spPr>
          <a:xfrm>
            <a:off x="1691639" y="2743200"/>
            <a:ext cx="4297680" cy="1188720"/>
          </a:xfrm>
          <a:prstGeom prst="rect">
            <a:avLst/>
          </a:prstGeom>
          <a:noFill/>
        </p:spPr>
        <p:txBody>
          <a:bodyPr wrap="square" anchor="ctr" tIns="36576" bIns="36576">
            <a:spAutoFit/>
          </a:bodyPr>
          <a:lstStyle/>
          <a:p>
            <a:pPr algn="l"/>
            <a:r>
              <a:rPr sz="2400" b="0">
                <a:solidFill>
                  <a:srgbClr val="1F2A44"/>
                </a:solidFill>
                <a:latin typeface="Calibri"/>
              </a:rPr>
              <a:t>24</a:t>
            </a:r>
          </a:p>
        </p:txBody>
      </p:sp>
      <p:sp>
        <p:nvSpPr>
          <p:cNvPr id="22" name="Rounded Rectangle 21"/>
          <p:cNvSpPr/>
          <p:nvPr/>
        </p:nvSpPr>
        <p:spPr>
          <a:xfrm>
            <a:off x="6309360" y="2743200"/>
            <a:ext cx="5486400" cy="1188720"/>
          </a:xfrm>
          <a:prstGeom prst="roundRect">
            <a:avLst>
              <a:gd name="adj" fmla="val 12000"/>
            </a:avLst>
          </a:prstGeom>
          <a:solidFill>
            <a:srgbClr val="FFFFFF"/>
          </a:solidFill>
          <a:ln w="3175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92240" y="2994660"/>
            <a:ext cx="685800" cy="6858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800" b="1">
                <a:solidFill>
                  <a:srgbClr val="FFFFFF"/>
                </a:solidFill>
                <a:latin typeface="Calibri"/>
              </a:rPr>
              <a:t>B</a:t>
            </a:r>
          </a:p>
        </p:txBody>
      </p:sp>
      <p:sp>
        <p:nvSpPr>
          <p:cNvPr id="24" name="Option_B"/>
          <p:cNvSpPr txBox="1"/>
          <p:nvPr/>
        </p:nvSpPr>
        <p:spPr>
          <a:xfrm>
            <a:off x="7360920" y="2743200"/>
            <a:ext cx="4297680" cy="1188720"/>
          </a:xfrm>
          <a:prstGeom prst="rect">
            <a:avLst/>
          </a:prstGeom>
          <a:noFill/>
        </p:spPr>
        <p:txBody>
          <a:bodyPr wrap="square" anchor="ctr" tIns="36576" bIns="36576">
            <a:spAutoFit/>
          </a:bodyPr>
          <a:lstStyle/>
          <a:p>
            <a:pPr algn="l"/>
            <a:r>
              <a:rPr sz="2400" b="0">
                <a:solidFill>
                  <a:srgbClr val="1F2A44"/>
                </a:solidFill>
                <a:latin typeface="Calibri"/>
              </a:rPr>
              <a:t>25</a:t>
            </a:r>
          </a:p>
        </p:txBody>
      </p:sp>
      <p:sp>
        <p:nvSpPr>
          <p:cNvPr id="25" name="Rounded Rectangle 24"/>
          <p:cNvSpPr/>
          <p:nvPr/>
        </p:nvSpPr>
        <p:spPr>
          <a:xfrm>
            <a:off x="640080" y="4114800"/>
            <a:ext cx="5486400" cy="1188720"/>
          </a:xfrm>
          <a:prstGeom prst="roundRect">
            <a:avLst>
              <a:gd name="adj" fmla="val 12000"/>
            </a:avLst>
          </a:prstGeom>
          <a:solidFill>
            <a:srgbClr val="FFFFFF"/>
          </a:solidFill>
          <a:ln w="3175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22959" y="4366260"/>
            <a:ext cx="685800" cy="6858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800" b="1">
                <a:solidFill>
                  <a:srgbClr val="FFFFFF"/>
                </a:solidFill>
                <a:latin typeface="Calibri"/>
              </a:rPr>
              <a:t>C</a:t>
            </a:r>
          </a:p>
        </p:txBody>
      </p:sp>
      <p:sp>
        <p:nvSpPr>
          <p:cNvPr id="27" name="Option_C"/>
          <p:cNvSpPr txBox="1"/>
          <p:nvPr/>
        </p:nvSpPr>
        <p:spPr>
          <a:xfrm>
            <a:off x="1691639" y="4114800"/>
            <a:ext cx="4297680" cy="1188720"/>
          </a:xfrm>
          <a:prstGeom prst="rect">
            <a:avLst/>
          </a:prstGeom>
          <a:noFill/>
        </p:spPr>
        <p:txBody>
          <a:bodyPr wrap="square" anchor="ctr" tIns="36576" bIns="36576">
            <a:spAutoFit/>
          </a:bodyPr>
          <a:lstStyle/>
          <a:p>
            <a:pPr algn="l"/>
            <a:r>
              <a:rPr sz="2400" b="0">
                <a:solidFill>
                  <a:srgbClr val="1F2A44"/>
                </a:solidFill>
                <a:latin typeface="Calibri"/>
              </a:rPr>
              <a:t>27</a:t>
            </a:r>
          </a:p>
        </p:txBody>
      </p:sp>
      <p:sp>
        <p:nvSpPr>
          <p:cNvPr id="28" name="Rounded Rectangle 27"/>
          <p:cNvSpPr/>
          <p:nvPr/>
        </p:nvSpPr>
        <p:spPr>
          <a:xfrm>
            <a:off x="6309360" y="4114800"/>
            <a:ext cx="5486400" cy="1188720"/>
          </a:xfrm>
          <a:prstGeom prst="roundRect">
            <a:avLst>
              <a:gd name="adj" fmla="val 12000"/>
            </a:avLst>
          </a:prstGeom>
          <a:solidFill>
            <a:srgbClr val="FFFFFF"/>
          </a:solidFill>
          <a:ln w="3175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492240" y="4366260"/>
            <a:ext cx="685800" cy="6858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800" b="1">
                <a:solidFill>
                  <a:srgbClr val="FFFFFF"/>
                </a:solidFill>
                <a:latin typeface="Calibri"/>
              </a:rPr>
              <a:t>D</a:t>
            </a:r>
          </a:p>
        </p:txBody>
      </p:sp>
      <p:sp>
        <p:nvSpPr>
          <p:cNvPr id="30" name="Option_D"/>
          <p:cNvSpPr txBox="1"/>
          <p:nvPr/>
        </p:nvSpPr>
        <p:spPr>
          <a:xfrm>
            <a:off x="7360920" y="4114800"/>
            <a:ext cx="4297680" cy="1188720"/>
          </a:xfrm>
          <a:prstGeom prst="rect">
            <a:avLst/>
          </a:prstGeom>
          <a:noFill/>
        </p:spPr>
        <p:txBody>
          <a:bodyPr wrap="square" anchor="ctr" tIns="36576" bIns="36576">
            <a:spAutoFit/>
          </a:bodyPr>
          <a:lstStyle/>
          <a:p>
            <a:pPr algn="l"/>
            <a:r>
              <a:rPr sz="2400" b="0">
                <a:solidFill>
                  <a:srgbClr val="1F2A44"/>
                </a:solidFill>
                <a:latin typeface="Calibri"/>
              </a:rPr>
              <a:t>30</a:t>
            </a:r>
          </a:p>
        </p:txBody>
      </p:sp>
      <p:sp>
        <p:nvSpPr>
          <p:cNvPr id="31" name="Rounded Rectangle 30"/>
          <p:cNvSpPr/>
          <p:nvPr/>
        </p:nvSpPr>
        <p:spPr>
          <a:xfrm>
            <a:off x="502920" y="6327648"/>
            <a:ext cx="2276856" cy="420624"/>
          </a:xfrm>
          <a:prstGeom prst="roundRect">
            <a:avLst>
              <a:gd name="adj" fmla="val 4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2920" y="6327648"/>
            <a:ext cx="2276856" cy="420624"/>
          </a:xfrm>
          <a:prstGeom prst="rect">
            <a:avLst/>
          </a:prstGeom>
          <a:noFill/>
        </p:spPr>
        <p:txBody>
          <a:bodyPr wrap="square" anchor="ctr" tIns="36576" bIns="36576">
            <a:spAutoFit/>
          </a:bodyPr>
          <a:lstStyle/>
          <a:p>
            <a:pPr algn="ctr"/>
            <a:r>
              <a:rPr sz="2400" b="1">
                <a:solidFill>
                  <a:srgbClr val="FFFFFF"/>
                </a:solidFill>
                <a:latin typeface="Calibri"/>
              </a:rPr>
              <a:t>Einzelarbeit</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square" anchor="ctr" tIns="36576" bIns="36576">
            <a:spAutoFit/>
          </a:bodyPr>
          <a:lstStyle/>
          <a:p>
            <a:pPr algn="ctr"/>
            <a:r>
              <a:rPr sz="2400" b="0">
                <a:solidFill>
                  <a:srgbClr val="FFFFFF"/>
                </a:solidFill>
                <a:latin typeface="Calibri"/>
              </a:rPr>
              <a:t>Einstieg</a:t>
            </a:r>
          </a:p>
        </p:txBody>
      </p:sp>
      <p:sp>
        <p:nvSpPr>
          <p:cNvPr id="5" name="Rectangle 4"/>
          <p:cNvSpPr/>
          <p:nvPr/>
        </p:nvSpPr>
        <p:spPr>
          <a:xfrm>
            <a:off x="174167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1</a:t>
            </a:r>
          </a:p>
        </p:txBody>
      </p:sp>
      <p:sp>
        <p:nvSpPr>
          <p:cNvPr id="7" name="Rectangle 6"/>
          <p:cNvSpPr/>
          <p:nvPr/>
        </p:nvSpPr>
        <p:spPr>
          <a:xfrm>
            <a:off x="3483341"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3341"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2</a:t>
            </a:r>
          </a:p>
        </p:txBody>
      </p:sp>
      <p:sp>
        <p:nvSpPr>
          <p:cNvPr id="9" name="Rectangle 8"/>
          <p:cNvSpPr/>
          <p:nvPr/>
        </p:nvSpPr>
        <p:spPr>
          <a:xfrm>
            <a:off x="5225012"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25012"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3</a:t>
            </a:r>
          </a:p>
        </p:txBody>
      </p:sp>
      <p:sp>
        <p:nvSpPr>
          <p:cNvPr id="11" name="Rectangle 10"/>
          <p:cNvSpPr/>
          <p:nvPr/>
        </p:nvSpPr>
        <p:spPr>
          <a:xfrm>
            <a:off x="6966682"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66682" y="0"/>
            <a:ext cx="1741670" cy="457200"/>
          </a:xfrm>
          <a:prstGeom prst="rect">
            <a:avLst/>
          </a:prstGeom>
          <a:noFill/>
        </p:spPr>
        <p:txBody>
          <a:bodyPr wrap="square" anchor="ctr" tIns="36576" bIns="36576">
            <a:spAutoFit/>
          </a:bodyPr>
          <a:lstStyle/>
          <a:p>
            <a:pPr algn="ctr"/>
            <a:r>
              <a:rPr sz="2400" b="0">
                <a:solidFill>
                  <a:srgbClr val="FFFFFF"/>
                </a:solidFill>
                <a:latin typeface="Calibri"/>
              </a:rPr>
              <a:t>Üben</a:t>
            </a:r>
          </a:p>
        </p:txBody>
      </p:sp>
      <p:sp>
        <p:nvSpPr>
          <p:cNvPr id="13" name="Rectangle 12"/>
          <p:cNvSpPr/>
          <p:nvPr/>
        </p:nvSpPr>
        <p:spPr>
          <a:xfrm>
            <a:off x="8708353"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8353" y="0"/>
            <a:ext cx="1741670" cy="457200"/>
          </a:xfrm>
          <a:prstGeom prst="rect">
            <a:avLst/>
          </a:prstGeom>
          <a:noFill/>
        </p:spPr>
        <p:txBody>
          <a:bodyPr wrap="square" anchor="ctr" tIns="36576" bIns="36576">
            <a:spAutoFit/>
          </a:bodyPr>
          <a:lstStyle/>
          <a:p>
            <a:pPr algn="ctr"/>
            <a:r>
              <a:rPr sz="2400" b="0">
                <a:solidFill>
                  <a:srgbClr val="FFFFFF"/>
                </a:solidFill>
                <a:latin typeface="Calibri"/>
              </a:rPr>
              <a:t>Besprechen</a:t>
            </a:r>
          </a:p>
        </p:txBody>
      </p:sp>
      <p:sp>
        <p:nvSpPr>
          <p:cNvPr id="15" name="Rectangle 14"/>
          <p:cNvSpPr/>
          <p:nvPr/>
        </p:nvSpPr>
        <p:spPr>
          <a:xfrm>
            <a:off x="10450024"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50024" y="0"/>
            <a:ext cx="1741670" cy="457200"/>
          </a:xfrm>
          <a:prstGeom prst="rect">
            <a:avLst/>
          </a:prstGeom>
          <a:noFill/>
        </p:spPr>
        <p:txBody>
          <a:bodyPr wrap="square" anchor="ctr" tIns="36576" bIns="36576">
            <a:spAutoFit/>
          </a:bodyPr>
          <a:lstStyle/>
          <a:p>
            <a:pPr algn="ctr"/>
            <a:r>
              <a:rPr sz="2400" b="1">
                <a:solidFill>
                  <a:srgbClr val="1F2A44"/>
                </a:solidFill>
                <a:latin typeface="Calibri"/>
              </a:rPr>
              <a:t>Abschluss</a:t>
            </a:r>
          </a:p>
        </p:txBody>
      </p:sp>
      <p:pic>
        <p:nvPicPr>
          <p:cNvPr id="17" name="Picture 16" descr="Fragezeichen-Symbol"/>
          <p:cNvPicPr>
            <a:picLocks noChangeAspect="1"/>
          </p:cNvPicPr>
          <p:nvPr/>
        </p:nvPicPr>
        <p:blipFill>
          <a:blip r:embed="rId3"/>
          <a:stretch>
            <a:fillRect/>
          </a:stretch>
        </p:blipFill>
        <p:spPr>
          <a:xfrm>
            <a:off x="640080" y="731520"/>
            <a:ext cx="1234440" cy="1234440"/>
          </a:xfrm>
          <a:prstGeom prst="rect">
            <a:avLst/>
          </a:prstGeom>
        </p:spPr>
      </p:pic>
      <p:sp>
        <p:nvSpPr>
          <p:cNvPr id="18" name="Frage"/>
          <p:cNvSpPr txBox="1"/>
          <p:nvPr/>
        </p:nvSpPr>
        <p:spPr>
          <a:xfrm>
            <a:off x="2103120" y="685800"/>
            <a:ext cx="9601200" cy="1737360"/>
          </a:xfrm>
          <a:prstGeom prst="rect">
            <a:avLst/>
          </a:prstGeom>
          <a:noFill/>
        </p:spPr>
        <p:txBody>
          <a:bodyPr wrap="square" anchor="ctr" tIns="36576" bIns="36576">
            <a:spAutoFit/>
          </a:bodyPr>
          <a:lstStyle/>
          <a:p>
            <a:pPr algn="l"/>
            <a:r>
              <a:rPr sz="3000" b="1">
                <a:solidFill>
                  <a:srgbClr val="1F2A44"/>
                </a:solidFill>
                <a:latin typeface="Calibri"/>
              </a:rPr>
              <a:t>Ein Betrieb will eine Probezeit von sechs Monaten festlegen. Ist das zulässig?</a:t>
            </a:r>
          </a:p>
        </p:txBody>
      </p:sp>
      <p:sp>
        <p:nvSpPr>
          <p:cNvPr id="19" name="Rounded Rectangle 18"/>
          <p:cNvSpPr/>
          <p:nvPr/>
        </p:nvSpPr>
        <p:spPr>
          <a:xfrm>
            <a:off x="640080" y="2743200"/>
            <a:ext cx="5486400" cy="1188720"/>
          </a:xfrm>
          <a:prstGeom prst="roundRect">
            <a:avLst>
              <a:gd name="adj" fmla="val 12000"/>
            </a:avLst>
          </a:prstGeom>
          <a:solidFill>
            <a:srgbClr val="FFFFFF"/>
          </a:solidFill>
          <a:ln w="3175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22959" y="2994660"/>
            <a:ext cx="685800" cy="6858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800" b="1">
                <a:solidFill>
                  <a:srgbClr val="FFFFFF"/>
                </a:solidFill>
                <a:latin typeface="Calibri"/>
              </a:rPr>
              <a:t>A</a:t>
            </a:r>
          </a:p>
        </p:txBody>
      </p:sp>
      <p:sp>
        <p:nvSpPr>
          <p:cNvPr id="21" name="Option_A"/>
          <p:cNvSpPr txBox="1"/>
          <p:nvPr/>
        </p:nvSpPr>
        <p:spPr>
          <a:xfrm>
            <a:off x="1691639" y="2743200"/>
            <a:ext cx="4297680" cy="1188720"/>
          </a:xfrm>
          <a:prstGeom prst="rect">
            <a:avLst/>
          </a:prstGeom>
          <a:noFill/>
        </p:spPr>
        <p:txBody>
          <a:bodyPr wrap="square" anchor="ctr" tIns="36576" bIns="36576">
            <a:spAutoFit/>
          </a:bodyPr>
          <a:lstStyle/>
          <a:p>
            <a:pPr algn="l"/>
            <a:r>
              <a:rPr sz="2400" b="0">
                <a:solidFill>
                  <a:srgbClr val="1F2A44"/>
                </a:solidFill>
                <a:latin typeface="Calibri"/>
              </a:rPr>
              <a:t>Ja, wenn der Azubi zustimmt</a:t>
            </a:r>
          </a:p>
        </p:txBody>
      </p:sp>
      <p:sp>
        <p:nvSpPr>
          <p:cNvPr id="22" name="Rounded Rectangle 21"/>
          <p:cNvSpPr/>
          <p:nvPr/>
        </p:nvSpPr>
        <p:spPr>
          <a:xfrm>
            <a:off x="6309360" y="2743200"/>
            <a:ext cx="5486400" cy="1188720"/>
          </a:xfrm>
          <a:prstGeom prst="roundRect">
            <a:avLst>
              <a:gd name="adj" fmla="val 12000"/>
            </a:avLst>
          </a:prstGeom>
          <a:solidFill>
            <a:srgbClr val="FFFFFF"/>
          </a:solidFill>
          <a:ln w="3175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92240" y="2994660"/>
            <a:ext cx="685800" cy="6858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800" b="1">
                <a:solidFill>
                  <a:srgbClr val="FFFFFF"/>
                </a:solidFill>
                <a:latin typeface="Calibri"/>
              </a:rPr>
              <a:t>B</a:t>
            </a:r>
          </a:p>
        </p:txBody>
      </p:sp>
      <p:sp>
        <p:nvSpPr>
          <p:cNvPr id="24" name="Option_B"/>
          <p:cNvSpPr txBox="1"/>
          <p:nvPr/>
        </p:nvSpPr>
        <p:spPr>
          <a:xfrm>
            <a:off x="7360920" y="2743200"/>
            <a:ext cx="4297680" cy="1188720"/>
          </a:xfrm>
          <a:prstGeom prst="rect">
            <a:avLst/>
          </a:prstGeom>
          <a:noFill/>
        </p:spPr>
        <p:txBody>
          <a:bodyPr wrap="square" anchor="ctr" tIns="36576" bIns="36576">
            <a:spAutoFit/>
          </a:bodyPr>
          <a:lstStyle/>
          <a:p>
            <a:pPr algn="l"/>
            <a:r>
              <a:rPr sz="2400" b="0">
                <a:solidFill>
                  <a:srgbClr val="1F2A44"/>
                </a:solidFill>
                <a:latin typeface="Calibri"/>
              </a:rPr>
              <a:t>Ja, in großen Betrieben</a:t>
            </a:r>
          </a:p>
        </p:txBody>
      </p:sp>
      <p:sp>
        <p:nvSpPr>
          <p:cNvPr id="25" name="Rounded Rectangle 24"/>
          <p:cNvSpPr/>
          <p:nvPr/>
        </p:nvSpPr>
        <p:spPr>
          <a:xfrm>
            <a:off x="640080" y="4114800"/>
            <a:ext cx="5486400" cy="1188720"/>
          </a:xfrm>
          <a:prstGeom prst="roundRect">
            <a:avLst>
              <a:gd name="adj" fmla="val 12000"/>
            </a:avLst>
          </a:prstGeom>
          <a:solidFill>
            <a:srgbClr val="FFFFFF"/>
          </a:solidFill>
          <a:ln w="3175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22959" y="4366260"/>
            <a:ext cx="685800" cy="6858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800" b="1">
                <a:solidFill>
                  <a:srgbClr val="FFFFFF"/>
                </a:solidFill>
                <a:latin typeface="Calibri"/>
              </a:rPr>
              <a:t>C</a:t>
            </a:r>
          </a:p>
        </p:txBody>
      </p:sp>
      <p:sp>
        <p:nvSpPr>
          <p:cNvPr id="27" name="Option_C"/>
          <p:cNvSpPr txBox="1"/>
          <p:nvPr/>
        </p:nvSpPr>
        <p:spPr>
          <a:xfrm>
            <a:off x="1691639" y="4114800"/>
            <a:ext cx="4297680" cy="1188720"/>
          </a:xfrm>
          <a:prstGeom prst="rect">
            <a:avLst/>
          </a:prstGeom>
          <a:noFill/>
        </p:spPr>
        <p:txBody>
          <a:bodyPr wrap="square" anchor="ctr" tIns="36576" bIns="36576">
            <a:spAutoFit/>
          </a:bodyPr>
          <a:lstStyle/>
          <a:p>
            <a:pPr algn="l"/>
            <a:r>
              <a:rPr sz="2400" b="0">
                <a:solidFill>
                  <a:srgbClr val="1F2A44"/>
                </a:solidFill>
                <a:latin typeface="Calibri"/>
              </a:rPr>
              <a:t>Nein, höchstens vier Monate</a:t>
            </a:r>
          </a:p>
        </p:txBody>
      </p:sp>
      <p:sp>
        <p:nvSpPr>
          <p:cNvPr id="28" name="Rounded Rectangle 27"/>
          <p:cNvSpPr/>
          <p:nvPr/>
        </p:nvSpPr>
        <p:spPr>
          <a:xfrm>
            <a:off x="6309360" y="4114800"/>
            <a:ext cx="5486400" cy="1188720"/>
          </a:xfrm>
          <a:prstGeom prst="roundRect">
            <a:avLst>
              <a:gd name="adj" fmla="val 12000"/>
            </a:avLst>
          </a:prstGeom>
          <a:solidFill>
            <a:srgbClr val="FFFFFF"/>
          </a:solidFill>
          <a:ln w="3175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492240" y="4366260"/>
            <a:ext cx="685800" cy="6858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800" b="1">
                <a:solidFill>
                  <a:srgbClr val="FFFFFF"/>
                </a:solidFill>
                <a:latin typeface="Calibri"/>
              </a:rPr>
              <a:t>D</a:t>
            </a:r>
          </a:p>
        </p:txBody>
      </p:sp>
      <p:sp>
        <p:nvSpPr>
          <p:cNvPr id="30" name="Option_D"/>
          <p:cNvSpPr txBox="1"/>
          <p:nvPr/>
        </p:nvSpPr>
        <p:spPr>
          <a:xfrm>
            <a:off x="7360920" y="4114800"/>
            <a:ext cx="4297680" cy="1188720"/>
          </a:xfrm>
          <a:prstGeom prst="rect">
            <a:avLst/>
          </a:prstGeom>
          <a:noFill/>
        </p:spPr>
        <p:txBody>
          <a:bodyPr wrap="square" anchor="ctr" tIns="36576" bIns="36576">
            <a:spAutoFit/>
          </a:bodyPr>
          <a:lstStyle/>
          <a:p>
            <a:pPr algn="l"/>
            <a:r>
              <a:rPr sz="2400" b="0">
                <a:solidFill>
                  <a:srgbClr val="1F2A44"/>
                </a:solidFill>
                <a:latin typeface="Calibri"/>
              </a:rPr>
              <a:t>Nein, höchstens drei Monate</a:t>
            </a:r>
          </a:p>
        </p:txBody>
      </p:sp>
      <p:sp>
        <p:nvSpPr>
          <p:cNvPr id="31" name="Rounded Rectangle 30"/>
          <p:cNvSpPr/>
          <p:nvPr/>
        </p:nvSpPr>
        <p:spPr>
          <a:xfrm>
            <a:off x="502920" y="6327648"/>
            <a:ext cx="2276856" cy="420624"/>
          </a:xfrm>
          <a:prstGeom prst="roundRect">
            <a:avLst>
              <a:gd name="adj" fmla="val 4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2920" y="6327648"/>
            <a:ext cx="2276856" cy="420624"/>
          </a:xfrm>
          <a:prstGeom prst="rect">
            <a:avLst/>
          </a:prstGeom>
          <a:noFill/>
        </p:spPr>
        <p:txBody>
          <a:bodyPr wrap="square" anchor="ctr" tIns="36576" bIns="36576">
            <a:spAutoFit/>
          </a:bodyPr>
          <a:lstStyle/>
          <a:p>
            <a:pPr algn="ctr"/>
            <a:r>
              <a:rPr sz="2400" b="1">
                <a:solidFill>
                  <a:srgbClr val="FFFFFF"/>
                </a:solidFill>
                <a:latin typeface="Calibri"/>
              </a:rPr>
              <a:t>Einzelarbeit</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square" anchor="ctr" tIns="36576" bIns="36576">
            <a:spAutoFit/>
          </a:bodyPr>
          <a:lstStyle/>
          <a:p>
            <a:pPr algn="ctr"/>
            <a:r>
              <a:rPr sz="2400" b="0">
                <a:solidFill>
                  <a:srgbClr val="FFFFFF"/>
                </a:solidFill>
                <a:latin typeface="Calibri"/>
              </a:rPr>
              <a:t>Einstieg</a:t>
            </a:r>
          </a:p>
        </p:txBody>
      </p:sp>
      <p:sp>
        <p:nvSpPr>
          <p:cNvPr id="5" name="Rectangle 4"/>
          <p:cNvSpPr/>
          <p:nvPr/>
        </p:nvSpPr>
        <p:spPr>
          <a:xfrm>
            <a:off x="174167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1</a:t>
            </a:r>
          </a:p>
        </p:txBody>
      </p:sp>
      <p:sp>
        <p:nvSpPr>
          <p:cNvPr id="7" name="Rectangle 6"/>
          <p:cNvSpPr/>
          <p:nvPr/>
        </p:nvSpPr>
        <p:spPr>
          <a:xfrm>
            <a:off x="3483341"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3341"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2</a:t>
            </a:r>
          </a:p>
        </p:txBody>
      </p:sp>
      <p:sp>
        <p:nvSpPr>
          <p:cNvPr id="9" name="Rectangle 8"/>
          <p:cNvSpPr/>
          <p:nvPr/>
        </p:nvSpPr>
        <p:spPr>
          <a:xfrm>
            <a:off x="5225012"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25012"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3</a:t>
            </a:r>
          </a:p>
        </p:txBody>
      </p:sp>
      <p:sp>
        <p:nvSpPr>
          <p:cNvPr id="11" name="Rectangle 10"/>
          <p:cNvSpPr/>
          <p:nvPr/>
        </p:nvSpPr>
        <p:spPr>
          <a:xfrm>
            <a:off x="6966682"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66682" y="0"/>
            <a:ext cx="1741670" cy="457200"/>
          </a:xfrm>
          <a:prstGeom prst="rect">
            <a:avLst/>
          </a:prstGeom>
          <a:noFill/>
        </p:spPr>
        <p:txBody>
          <a:bodyPr wrap="square" anchor="ctr" tIns="36576" bIns="36576">
            <a:spAutoFit/>
          </a:bodyPr>
          <a:lstStyle/>
          <a:p>
            <a:pPr algn="ctr"/>
            <a:r>
              <a:rPr sz="2400" b="0">
                <a:solidFill>
                  <a:srgbClr val="FFFFFF"/>
                </a:solidFill>
                <a:latin typeface="Calibri"/>
              </a:rPr>
              <a:t>Üben</a:t>
            </a:r>
          </a:p>
        </p:txBody>
      </p:sp>
      <p:sp>
        <p:nvSpPr>
          <p:cNvPr id="13" name="Rectangle 12"/>
          <p:cNvSpPr/>
          <p:nvPr/>
        </p:nvSpPr>
        <p:spPr>
          <a:xfrm>
            <a:off x="8708353"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8353" y="0"/>
            <a:ext cx="1741670" cy="457200"/>
          </a:xfrm>
          <a:prstGeom prst="rect">
            <a:avLst/>
          </a:prstGeom>
          <a:noFill/>
        </p:spPr>
        <p:txBody>
          <a:bodyPr wrap="square" anchor="ctr" tIns="36576" bIns="36576">
            <a:spAutoFit/>
          </a:bodyPr>
          <a:lstStyle/>
          <a:p>
            <a:pPr algn="ctr"/>
            <a:r>
              <a:rPr sz="2400" b="0">
                <a:solidFill>
                  <a:srgbClr val="FFFFFF"/>
                </a:solidFill>
                <a:latin typeface="Calibri"/>
              </a:rPr>
              <a:t>Besprechen</a:t>
            </a:r>
          </a:p>
        </p:txBody>
      </p:sp>
      <p:sp>
        <p:nvSpPr>
          <p:cNvPr id="15" name="Rectangle 14"/>
          <p:cNvSpPr/>
          <p:nvPr/>
        </p:nvSpPr>
        <p:spPr>
          <a:xfrm>
            <a:off x="10450024"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50024" y="0"/>
            <a:ext cx="1741670" cy="457200"/>
          </a:xfrm>
          <a:prstGeom prst="rect">
            <a:avLst/>
          </a:prstGeom>
          <a:noFill/>
        </p:spPr>
        <p:txBody>
          <a:bodyPr wrap="square" anchor="ctr" tIns="36576" bIns="36576">
            <a:spAutoFit/>
          </a:bodyPr>
          <a:lstStyle/>
          <a:p>
            <a:pPr algn="ctr"/>
            <a:r>
              <a:rPr sz="2400" b="1">
                <a:solidFill>
                  <a:srgbClr val="1F2A44"/>
                </a:solidFill>
                <a:latin typeface="Calibri"/>
              </a:rPr>
              <a:t>Abschluss</a:t>
            </a:r>
          </a:p>
        </p:txBody>
      </p:sp>
      <p:pic>
        <p:nvPicPr>
          <p:cNvPr id="17" name="Picture 16" descr="Fragezeichen-Symbol"/>
          <p:cNvPicPr>
            <a:picLocks noChangeAspect="1"/>
          </p:cNvPicPr>
          <p:nvPr/>
        </p:nvPicPr>
        <p:blipFill>
          <a:blip r:embed="rId3"/>
          <a:stretch>
            <a:fillRect/>
          </a:stretch>
        </p:blipFill>
        <p:spPr>
          <a:xfrm>
            <a:off x="640080" y="731520"/>
            <a:ext cx="1234440" cy="1234440"/>
          </a:xfrm>
          <a:prstGeom prst="rect">
            <a:avLst/>
          </a:prstGeom>
        </p:spPr>
      </p:pic>
      <p:sp>
        <p:nvSpPr>
          <p:cNvPr id="18" name="Frage"/>
          <p:cNvSpPr txBox="1"/>
          <p:nvPr/>
        </p:nvSpPr>
        <p:spPr>
          <a:xfrm>
            <a:off x="2103120" y="685800"/>
            <a:ext cx="9601200" cy="1737360"/>
          </a:xfrm>
          <a:prstGeom prst="rect">
            <a:avLst/>
          </a:prstGeom>
          <a:noFill/>
        </p:spPr>
        <p:txBody>
          <a:bodyPr wrap="square" anchor="ctr" tIns="36576" bIns="36576">
            <a:spAutoFit/>
          </a:bodyPr>
          <a:lstStyle/>
          <a:p>
            <a:pPr algn="l"/>
            <a:r>
              <a:rPr sz="3000" b="1">
                <a:solidFill>
                  <a:srgbClr val="1F2A44"/>
                </a:solidFill>
                <a:latin typeface="Calibri"/>
              </a:rPr>
              <a:t>Ein Azubi kündigt nach der Probezeit mündlich, weil er den Beruf wechseln will. Ist das wirksam?</a:t>
            </a:r>
          </a:p>
        </p:txBody>
      </p:sp>
      <p:sp>
        <p:nvSpPr>
          <p:cNvPr id="19" name="Rounded Rectangle 18"/>
          <p:cNvSpPr/>
          <p:nvPr/>
        </p:nvSpPr>
        <p:spPr>
          <a:xfrm>
            <a:off x="640080" y="2743200"/>
            <a:ext cx="5486400" cy="1188720"/>
          </a:xfrm>
          <a:prstGeom prst="roundRect">
            <a:avLst>
              <a:gd name="adj" fmla="val 12000"/>
            </a:avLst>
          </a:prstGeom>
          <a:solidFill>
            <a:srgbClr val="FFFFFF"/>
          </a:solidFill>
          <a:ln w="3175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22959" y="2994660"/>
            <a:ext cx="685800" cy="6858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800" b="1">
                <a:solidFill>
                  <a:srgbClr val="FFFFFF"/>
                </a:solidFill>
                <a:latin typeface="Calibri"/>
              </a:rPr>
              <a:t>A</a:t>
            </a:r>
          </a:p>
        </p:txBody>
      </p:sp>
      <p:sp>
        <p:nvSpPr>
          <p:cNvPr id="21" name="Option_A"/>
          <p:cNvSpPr txBox="1"/>
          <p:nvPr/>
        </p:nvSpPr>
        <p:spPr>
          <a:xfrm>
            <a:off x="1691639" y="2743200"/>
            <a:ext cx="4297680" cy="1188720"/>
          </a:xfrm>
          <a:prstGeom prst="rect">
            <a:avLst/>
          </a:prstGeom>
          <a:noFill/>
        </p:spPr>
        <p:txBody>
          <a:bodyPr wrap="square" anchor="ctr" tIns="36576" bIns="36576">
            <a:spAutoFit/>
          </a:bodyPr>
          <a:lstStyle/>
          <a:p>
            <a:pPr algn="l"/>
            <a:r>
              <a:rPr sz="2400" b="0">
                <a:solidFill>
                  <a:srgbClr val="1F2A44"/>
                </a:solidFill>
                <a:latin typeface="Calibri"/>
              </a:rPr>
              <a:t>Ja, mit vier Wochen Frist</a:t>
            </a:r>
          </a:p>
        </p:txBody>
      </p:sp>
      <p:sp>
        <p:nvSpPr>
          <p:cNvPr id="22" name="Rounded Rectangle 21"/>
          <p:cNvSpPr/>
          <p:nvPr/>
        </p:nvSpPr>
        <p:spPr>
          <a:xfrm>
            <a:off x="6309360" y="2743200"/>
            <a:ext cx="5486400" cy="1188720"/>
          </a:xfrm>
          <a:prstGeom prst="roundRect">
            <a:avLst>
              <a:gd name="adj" fmla="val 12000"/>
            </a:avLst>
          </a:prstGeom>
          <a:solidFill>
            <a:srgbClr val="FFFFFF"/>
          </a:solidFill>
          <a:ln w="3175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92240" y="2994660"/>
            <a:ext cx="685800" cy="6858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800" b="1">
                <a:solidFill>
                  <a:srgbClr val="FFFFFF"/>
                </a:solidFill>
                <a:latin typeface="Calibri"/>
              </a:rPr>
              <a:t>B</a:t>
            </a:r>
          </a:p>
        </p:txBody>
      </p:sp>
      <p:sp>
        <p:nvSpPr>
          <p:cNvPr id="24" name="Option_B"/>
          <p:cNvSpPr txBox="1"/>
          <p:nvPr/>
        </p:nvSpPr>
        <p:spPr>
          <a:xfrm>
            <a:off x="7360920" y="2743200"/>
            <a:ext cx="4297680" cy="1188720"/>
          </a:xfrm>
          <a:prstGeom prst="rect">
            <a:avLst/>
          </a:prstGeom>
          <a:noFill/>
        </p:spPr>
        <p:txBody>
          <a:bodyPr wrap="square" anchor="ctr" tIns="36576" bIns="36576">
            <a:spAutoFit/>
          </a:bodyPr>
          <a:lstStyle/>
          <a:p>
            <a:pPr algn="l"/>
            <a:r>
              <a:rPr sz="2400" b="0">
                <a:solidFill>
                  <a:srgbClr val="1F2A44"/>
                </a:solidFill>
                <a:latin typeface="Calibri"/>
              </a:rPr>
              <a:t>Ja, ohne Frist</a:t>
            </a:r>
          </a:p>
        </p:txBody>
      </p:sp>
      <p:sp>
        <p:nvSpPr>
          <p:cNvPr id="25" name="Rounded Rectangle 24"/>
          <p:cNvSpPr/>
          <p:nvPr/>
        </p:nvSpPr>
        <p:spPr>
          <a:xfrm>
            <a:off x="640080" y="4114800"/>
            <a:ext cx="5486400" cy="1188720"/>
          </a:xfrm>
          <a:prstGeom prst="roundRect">
            <a:avLst>
              <a:gd name="adj" fmla="val 12000"/>
            </a:avLst>
          </a:prstGeom>
          <a:solidFill>
            <a:srgbClr val="FFFFFF"/>
          </a:solidFill>
          <a:ln w="3175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22959" y="4366260"/>
            <a:ext cx="685800" cy="6858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800" b="1">
                <a:solidFill>
                  <a:srgbClr val="FFFFFF"/>
                </a:solidFill>
                <a:latin typeface="Calibri"/>
              </a:rPr>
              <a:t>C</a:t>
            </a:r>
          </a:p>
        </p:txBody>
      </p:sp>
      <p:sp>
        <p:nvSpPr>
          <p:cNvPr id="27" name="Option_C"/>
          <p:cNvSpPr txBox="1"/>
          <p:nvPr/>
        </p:nvSpPr>
        <p:spPr>
          <a:xfrm>
            <a:off x="1691639" y="4114800"/>
            <a:ext cx="4297680" cy="1188720"/>
          </a:xfrm>
          <a:prstGeom prst="rect">
            <a:avLst/>
          </a:prstGeom>
          <a:noFill/>
        </p:spPr>
        <p:txBody>
          <a:bodyPr wrap="square" anchor="ctr" tIns="36576" bIns="36576">
            <a:spAutoFit/>
          </a:bodyPr>
          <a:lstStyle/>
          <a:p>
            <a:pPr algn="l"/>
            <a:r>
              <a:rPr sz="2400" b="0">
                <a:solidFill>
                  <a:srgbClr val="1F2A44"/>
                </a:solidFill>
                <a:latin typeface="Calibri"/>
              </a:rPr>
              <a:t>Nein, die Kündigung muss schriftlich mit Angabe der Gründe erfolgen</a:t>
            </a:r>
          </a:p>
        </p:txBody>
      </p:sp>
      <p:sp>
        <p:nvSpPr>
          <p:cNvPr id="28" name="Rounded Rectangle 27"/>
          <p:cNvSpPr/>
          <p:nvPr/>
        </p:nvSpPr>
        <p:spPr>
          <a:xfrm>
            <a:off x="6309360" y="4114800"/>
            <a:ext cx="5486400" cy="1188720"/>
          </a:xfrm>
          <a:prstGeom prst="roundRect">
            <a:avLst>
              <a:gd name="adj" fmla="val 12000"/>
            </a:avLst>
          </a:prstGeom>
          <a:solidFill>
            <a:srgbClr val="FFFFFF"/>
          </a:solidFill>
          <a:ln w="3175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492240" y="4366260"/>
            <a:ext cx="685800" cy="6858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800" b="1">
                <a:solidFill>
                  <a:srgbClr val="FFFFFF"/>
                </a:solidFill>
                <a:latin typeface="Calibri"/>
              </a:rPr>
              <a:t>D</a:t>
            </a:r>
          </a:p>
        </p:txBody>
      </p:sp>
      <p:sp>
        <p:nvSpPr>
          <p:cNvPr id="30" name="Option_D"/>
          <p:cNvSpPr txBox="1"/>
          <p:nvPr/>
        </p:nvSpPr>
        <p:spPr>
          <a:xfrm>
            <a:off x="7360920" y="4114800"/>
            <a:ext cx="4297680" cy="1188720"/>
          </a:xfrm>
          <a:prstGeom prst="rect">
            <a:avLst/>
          </a:prstGeom>
          <a:noFill/>
        </p:spPr>
        <p:txBody>
          <a:bodyPr wrap="square" anchor="ctr" tIns="36576" bIns="36576">
            <a:spAutoFit/>
          </a:bodyPr>
          <a:lstStyle/>
          <a:p>
            <a:pPr algn="l"/>
            <a:r>
              <a:rPr sz="2400" b="0">
                <a:solidFill>
                  <a:srgbClr val="1F2A44"/>
                </a:solidFill>
                <a:latin typeface="Calibri"/>
              </a:rPr>
              <a:t>Nein, nur die IHK darf kündigen</a:t>
            </a:r>
          </a:p>
        </p:txBody>
      </p:sp>
      <p:sp>
        <p:nvSpPr>
          <p:cNvPr id="31" name="Rounded Rectangle 30"/>
          <p:cNvSpPr/>
          <p:nvPr/>
        </p:nvSpPr>
        <p:spPr>
          <a:xfrm>
            <a:off x="502920" y="6327648"/>
            <a:ext cx="2276856" cy="420624"/>
          </a:xfrm>
          <a:prstGeom prst="roundRect">
            <a:avLst>
              <a:gd name="adj" fmla="val 4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2920" y="6327648"/>
            <a:ext cx="2276856" cy="420624"/>
          </a:xfrm>
          <a:prstGeom prst="rect">
            <a:avLst/>
          </a:prstGeom>
          <a:noFill/>
        </p:spPr>
        <p:txBody>
          <a:bodyPr wrap="square" anchor="ctr" tIns="36576" bIns="36576">
            <a:spAutoFit/>
          </a:bodyPr>
          <a:lstStyle/>
          <a:p>
            <a:pPr algn="ctr"/>
            <a:r>
              <a:rPr sz="2400" b="1">
                <a:solidFill>
                  <a:srgbClr val="FFFFFF"/>
                </a:solidFill>
                <a:latin typeface="Calibri"/>
              </a:rPr>
              <a:t>Einzelarbeit</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square" anchor="ctr" tIns="36576" bIns="36576">
            <a:spAutoFit/>
          </a:bodyPr>
          <a:lstStyle/>
          <a:p>
            <a:pPr algn="ctr"/>
            <a:r>
              <a:rPr sz="2400" b="0">
                <a:solidFill>
                  <a:srgbClr val="FFFFFF"/>
                </a:solidFill>
                <a:latin typeface="Calibri"/>
              </a:rPr>
              <a:t>Einstieg</a:t>
            </a:r>
          </a:p>
        </p:txBody>
      </p:sp>
      <p:sp>
        <p:nvSpPr>
          <p:cNvPr id="5" name="Rectangle 4"/>
          <p:cNvSpPr/>
          <p:nvPr/>
        </p:nvSpPr>
        <p:spPr>
          <a:xfrm>
            <a:off x="174167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1</a:t>
            </a:r>
          </a:p>
        </p:txBody>
      </p:sp>
      <p:sp>
        <p:nvSpPr>
          <p:cNvPr id="7" name="Rectangle 6"/>
          <p:cNvSpPr/>
          <p:nvPr/>
        </p:nvSpPr>
        <p:spPr>
          <a:xfrm>
            <a:off x="3483341"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3341"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2</a:t>
            </a:r>
          </a:p>
        </p:txBody>
      </p:sp>
      <p:sp>
        <p:nvSpPr>
          <p:cNvPr id="9" name="Rectangle 8"/>
          <p:cNvSpPr/>
          <p:nvPr/>
        </p:nvSpPr>
        <p:spPr>
          <a:xfrm>
            <a:off x="5225012"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25012"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3</a:t>
            </a:r>
          </a:p>
        </p:txBody>
      </p:sp>
      <p:sp>
        <p:nvSpPr>
          <p:cNvPr id="11" name="Rectangle 10"/>
          <p:cNvSpPr/>
          <p:nvPr/>
        </p:nvSpPr>
        <p:spPr>
          <a:xfrm>
            <a:off x="6966682"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66682" y="0"/>
            <a:ext cx="1741670" cy="457200"/>
          </a:xfrm>
          <a:prstGeom prst="rect">
            <a:avLst/>
          </a:prstGeom>
          <a:noFill/>
        </p:spPr>
        <p:txBody>
          <a:bodyPr wrap="square" anchor="ctr" tIns="36576" bIns="36576">
            <a:spAutoFit/>
          </a:bodyPr>
          <a:lstStyle/>
          <a:p>
            <a:pPr algn="ctr"/>
            <a:r>
              <a:rPr sz="2400" b="0">
                <a:solidFill>
                  <a:srgbClr val="FFFFFF"/>
                </a:solidFill>
                <a:latin typeface="Calibri"/>
              </a:rPr>
              <a:t>Üben</a:t>
            </a:r>
          </a:p>
        </p:txBody>
      </p:sp>
      <p:sp>
        <p:nvSpPr>
          <p:cNvPr id="13" name="Rectangle 12"/>
          <p:cNvSpPr/>
          <p:nvPr/>
        </p:nvSpPr>
        <p:spPr>
          <a:xfrm>
            <a:off x="8708353"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8353" y="0"/>
            <a:ext cx="1741670" cy="457200"/>
          </a:xfrm>
          <a:prstGeom prst="rect">
            <a:avLst/>
          </a:prstGeom>
          <a:noFill/>
        </p:spPr>
        <p:txBody>
          <a:bodyPr wrap="square" anchor="ctr" tIns="36576" bIns="36576">
            <a:spAutoFit/>
          </a:bodyPr>
          <a:lstStyle/>
          <a:p>
            <a:pPr algn="ctr"/>
            <a:r>
              <a:rPr sz="2400" b="0">
                <a:solidFill>
                  <a:srgbClr val="FFFFFF"/>
                </a:solidFill>
                <a:latin typeface="Calibri"/>
              </a:rPr>
              <a:t>Besprechen</a:t>
            </a:r>
          </a:p>
        </p:txBody>
      </p:sp>
      <p:sp>
        <p:nvSpPr>
          <p:cNvPr id="15" name="Rectangle 14"/>
          <p:cNvSpPr/>
          <p:nvPr/>
        </p:nvSpPr>
        <p:spPr>
          <a:xfrm>
            <a:off x="10450024"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50024" y="0"/>
            <a:ext cx="1741670" cy="457200"/>
          </a:xfrm>
          <a:prstGeom prst="rect">
            <a:avLst/>
          </a:prstGeom>
          <a:noFill/>
        </p:spPr>
        <p:txBody>
          <a:bodyPr wrap="square" anchor="ctr" tIns="36576" bIns="36576">
            <a:spAutoFit/>
          </a:bodyPr>
          <a:lstStyle/>
          <a:p>
            <a:pPr algn="ctr"/>
            <a:r>
              <a:rPr sz="2400" b="1">
                <a:solidFill>
                  <a:srgbClr val="1F2A44"/>
                </a:solidFill>
                <a:latin typeface="Calibri"/>
              </a:rPr>
              <a:t>Abschluss</a:t>
            </a:r>
          </a:p>
        </p:txBody>
      </p:sp>
      <p:pic>
        <p:nvPicPr>
          <p:cNvPr id="17" name="Picture 16" descr="Fragezeichen-Symbol"/>
          <p:cNvPicPr>
            <a:picLocks noChangeAspect="1"/>
          </p:cNvPicPr>
          <p:nvPr/>
        </p:nvPicPr>
        <p:blipFill>
          <a:blip r:embed="rId3"/>
          <a:stretch>
            <a:fillRect/>
          </a:stretch>
        </p:blipFill>
        <p:spPr>
          <a:xfrm>
            <a:off x="640080" y="731520"/>
            <a:ext cx="1234440" cy="1234440"/>
          </a:xfrm>
          <a:prstGeom prst="rect">
            <a:avLst/>
          </a:prstGeom>
        </p:spPr>
      </p:pic>
      <p:sp>
        <p:nvSpPr>
          <p:cNvPr id="18" name="Frage"/>
          <p:cNvSpPr txBox="1"/>
          <p:nvPr/>
        </p:nvSpPr>
        <p:spPr>
          <a:xfrm>
            <a:off x="2103120" y="685800"/>
            <a:ext cx="9601200" cy="1737360"/>
          </a:xfrm>
          <a:prstGeom prst="rect">
            <a:avLst/>
          </a:prstGeom>
          <a:noFill/>
        </p:spPr>
        <p:txBody>
          <a:bodyPr wrap="square" anchor="ctr" tIns="36576" bIns="36576">
            <a:spAutoFit/>
          </a:bodyPr>
          <a:lstStyle/>
          <a:p>
            <a:pPr algn="l"/>
            <a:r>
              <a:rPr sz="3000" b="1">
                <a:solidFill>
                  <a:srgbClr val="1F2A44"/>
                </a:solidFill>
                <a:latin typeface="Calibri"/>
              </a:rPr>
              <a:t>Ein nicht tarifgebundener Betrieb zahlt im 2. Ausbildungsjahr (Beginn 2026) 800 €. Ist das zulässig?</a:t>
            </a:r>
          </a:p>
        </p:txBody>
      </p:sp>
      <p:sp>
        <p:nvSpPr>
          <p:cNvPr id="19" name="Rounded Rectangle 18"/>
          <p:cNvSpPr/>
          <p:nvPr/>
        </p:nvSpPr>
        <p:spPr>
          <a:xfrm>
            <a:off x="640080" y="2743200"/>
            <a:ext cx="5486400" cy="1188720"/>
          </a:xfrm>
          <a:prstGeom prst="roundRect">
            <a:avLst>
              <a:gd name="adj" fmla="val 12000"/>
            </a:avLst>
          </a:prstGeom>
          <a:solidFill>
            <a:srgbClr val="FFFFFF"/>
          </a:solidFill>
          <a:ln w="3175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22959" y="2994660"/>
            <a:ext cx="685800" cy="6858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800" b="1">
                <a:solidFill>
                  <a:srgbClr val="FFFFFF"/>
                </a:solidFill>
                <a:latin typeface="Calibri"/>
              </a:rPr>
              <a:t>A</a:t>
            </a:r>
          </a:p>
        </p:txBody>
      </p:sp>
      <p:sp>
        <p:nvSpPr>
          <p:cNvPr id="21" name="Option_A"/>
          <p:cNvSpPr txBox="1"/>
          <p:nvPr/>
        </p:nvSpPr>
        <p:spPr>
          <a:xfrm>
            <a:off x="1691639" y="2743200"/>
            <a:ext cx="4297680" cy="1188720"/>
          </a:xfrm>
          <a:prstGeom prst="rect">
            <a:avLst/>
          </a:prstGeom>
          <a:noFill/>
        </p:spPr>
        <p:txBody>
          <a:bodyPr wrap="square" anchor="ctr" tIns="36576" bIns="36576">
            <a:spAutoFit/>
          </a:bodyPr>
          <a:lstStyle/>
          <a:p>
            <a:pPr algn="l"/>
            <a:r>
              <a:rPr sz="2400" b="0">
                <a:solidFill>
                  <a:srgbClr val="1F2A44"/>
                </a:solidFill>
                <a:latin typeface="Calibri"/>
              </a:rPr>
              <a:t>Ja, weil es mehr als im 1. Jahr ist</a:t>
            </a:r>
          </a:p>
        </p:txBody>
      </p:sp>
      <p:sp>
        <p:nvSpPr>
          <p:cNvPr id="22" name="Rounded Rectangle 21"/>
          <p:cNvSpPr/>
          <p:nvPr/>
        </p:nvSpPr>
        <p:spPr>
          <a:xfrm>
            <a:off x="6309360" y="2743200"/>
            <a:ext cx="5486400" cy="1188720"/>
          </a:xfrm>
          <a:prstGeom prst="roundRect">
            <a:avLst>
              <a:gd name="adj" fmla="val 12000"/>
            </a:avLst>
          </a:prstGeom>
          <a:solidFill>
            <a:srgbClr val="FFFFFF"/>
          </a:solidFill>
          <a:ln w="3175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92240" y="2994660"/>
            <a:ext cx="685800" cy="6858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800" b="1">
                <a:solidFill>
                  <a:srgbClr val="FFFFFF"/>
                </a:solidFill>
                <a:latin typeface="Calibri"/>
              </a:rPr>
              <a:t>B</a:t>
            </a:r>
          </a:p>
        </p:txBody>
      </p:sp>
      <p:sp>
        <p:nvSpPr>
          <p:cNvPr id="24" name="Option_B"/>
          <p:cNvSpPr txBox="1"/>
          <p:nvPr/>
        </p:nvSpPr>
        <p:spPr>
          <a:xfrm>
            <a:off x="7360920" y="2743200"/>
            <a:ext cx="4297680" cy="1188720"/>
          </a:xfrm>
          <a:prstGeom prst="rect">
            <a:avLst/>
          </a:prstGeom>
          <a:noFill/>
        </p:spPr>
        <p:txBody>
          <a:bodyPr wrap="square" anchor="ctr" tIns="36576" bIns="36576">
            <a:spAutoFit/>
          </a:bodyPr>
          <a:lstStyle/>
          <a:p>
            <a:pPr algn="l"/>
            <a:r>
              <a:rPr sz="2400" b="0">
                <a:solidFill>
                  <a:srgbClr val="1F2A44"/>
                </a:solidFill>
                <a:latin typeface="Calibri"/>
              </a:rPr>
              <a:t>Ja, wenn der Betrieb nicht tarifgebunden ist</a:t>
            </a:r>
          </a:p>
        </p:txBody>
      </p:sp>
      <p:sp>
        <p:nvSpPr>
          <p:cNvPr id="25" name="Rounded Rectangle 24"/>
          <p:cNvSpPr/>
          <p:nvPr/>
        </p:nvSpPr>
        <p:spPr>
          <a:xfrm>
            <a:off x="640080" y="4114800"/>
            <a:ext cx="5486400" cy="1188720"/>
          </a:xfrm>
          <a:prstGeom prst="roundRect">
            <a:avLst>
              <a:gd name="adj" fmla="val 12000"/>
            </a:avLst>
          </a:prstGeom>
          <a:solidFill>
            <a:srgbClr val="FFFFFF"/>
          </a:solidFill>
          <a:ln w="3175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22959" y="4366260"/>
            <a:ext cx="685800" cy="6858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800" b="1">
                <a:solidFill>
                  <a:srgbClr val="FFFFFF"/>
                </a:solidFill>
                <a:latin typeface="Calibri"/>
              </a:rPr>
              <a:t>C</a:t>
            </a:r>
          </a:p>
        </p:txBody>
      </p:sp>
      <p:sp>
        <p:nvSpPr>
          <p:cNvPr id="27" name="Option_C"/>
          <p:cNvSpPr txBox="1"/>
          <p:nvPr/>
        </p:nvSpPr>
        <p:spPr>
          <a:xfrm>
            <a:off x="1691639" y="4114800"/>
            <a:ext cx="4297680" cy="1188720"/>
          </a:xfrm>
          <a:prstGeom prst="rect">
            <a:avLst/>
          </a:prstGeom>
          <a:noFill/>
        </p:spPr>
        <p:txBody>
          <a:bodyPr wrap="square" anchor="ctr" tIns="36576" bIns="36576">
            <a:spAutoFit/>
          </a:bodyPr>
          <a:lstStyle/>
          <a:p>
            <a:pPr algn="l"/>
            <a:r>
              <a:rPr sz="2400" b="0">
                <a:solidFill>
                  <a:srgbClr val="1F2A44"/>
                </a:solidFill>
                <a:latin typeface="Calibri"/>
              </a:rPr>
              <a:t>Nein, im 2. Jahr gelten mindestens 854 €</a:t>
            </a:r>
          </a:p>
        </p:txBody>
      </p:sp>
      <p:sp>
        <p:nvSpPr>
          <p:cNvPr id="28" name="Rounded Rectangle 27"/>
          <p:cNvSpPr/>
          <p:nvPr/>
        </p:nvSpPr>
        <p:spPr>
          <a:xfrm>
            <a:off x="6309360" y="4114800"/>
            <a:ext cx="5486400" cy="1188720"/>
          </a:xfrm>
          <a:prstGeom prst="roundRect">
            <a:avLst>
              <a:gd name="adj" fmla="val 12000"/>
            </a:avLst>
          </a:prstGeom>
          <a:solidFill>
            <a:srgbClr val="FFFFFF"/>
          </a:solidFill>
          <a:ln w="3175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492240" y="4366260"/>
            <a:ext cx="685800" cy="6858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800" b="1">
                <a:solidFill>
                  <a:srgbClr val="FFFFFF"/>
                </a:solidFill>
                <a:latin typeface="Calibri"/>
              </a:rPr>
              <a:t>D</a:t>
            </a:r>
          </a:p>
        </p:txBody>
      </p:sp>
      <p:sp>
        <p:nvSpPr>
          <p:cNvPr id="30" name="Option_D"/>
          <p:cNvSpPr txBox="1"/>
          <p:nvPr/>
        </p:nvSpPr>
        <p:spPr>
          <a:xfrm>
            <a:off x="7360920" y="4114800"/>
            <a:ext cx="4297680" cy="1188720"/>
          </a:xfrm>
          <a:prstGeom prst="rect">
            <a:avLst/>
          </a:prstGeom>
          <a:noFill/>
        </p:spPr>
        <p:txBody>
          <a:bodyPr wrap="square" anchor="ctr" tIns="36576" bIns="36576">
            <a:spAutoFit/>
          </a:bodyPr>
          <a:lstStyle/>
          <a:p>
            <a:pPr algn="l"/>
            <a:r>
              <a:rPr sz="2400" b="0">
                <a:solidFill>
                  <a:srgbClr val="1F2A44"/>
                </a:solidFill>
                <a:latin typeface="Calibri"/>
              </a:rPr>
              <a:t>Nein, im 2. Jahr gelten mindestens 977 €</a:t>
            </a:r>
          </a:p>
        </p:txBody>
      </p:sp>
      <p:sp>
        <p:nvSpPr>
          <p:cNvPr id="31" name="Rounded Rectangle 30"/>
          <p:cNvSpPr/>
          <p:nvPr/>
        </p:nvSpPr>
        <p:spPr>
          <a:xfrm>
            <a:off x="502920" y="6327648"/>
            <a:ext cx="2276856" cy="420624"/>
          </a:xfrm>
          <a:prstGeom prst="roundRect">
            <a:avLst>
              <a:gd name="adj" fmla="val 4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2920" y="6327648"/>
            <a:ext cx="2276856" cy="420624"/>
          </a:xfrm>
          <a:prstGeom prst="rect">
            <a:avLst/>
          </a:prstGeom>
          <a:noFill/>
        </p:spPr>
        <p:txBody>
          <a:bodyPr wrap="square" anchor="ctr" tIns="36576" bIns="36576">
            <a:spAutoFit/>
          </a:bodyPr>
          <a:lstStyle/>
          <a:p>
            <a:pPr algn="ctr"/>
            <a:r>
              <a:rPr sz="2400" b="1">
                <a:solidFill>
                  <a:srgbClr val="FFFFFF"/>
                </a:solidFill>
                <a:latin typeface="Calibri"/>
              </a:rPr>
              <a:t>Einzelarbeit</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square" anchor="ctr" tIns="36576" bIns="36576">
            <a:spAutoFit/>
          </a:bodyPr>
          <a:lstStyle/>
          <a:p>
            <a:pPr algn="ctr"/>
            <a:r>
              <a:rPr sz="2400" b="0">
                <a:solidFill>
                  <a:srgbClr val="FFFFFF"/>
                </a:solidFill>
                <a:latin typeface="Calibri"/>
              </a:rPr>
              <a:t>Einstieg</a:t>
            </a:r>
          </a:p>
        </p:txBody>
      </p:sp>
      <p:sp>
        <p:nvSpPr>
          <p:cNvPr id="5" name="Rectangle 4"/>
          <p:cNvSpPr/>
          <p:nvPr/>
        </p:nvSpPr>
        <p:spPr>
          <a:xfrm>
            <a:off x="174167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1</a:t>
            </a:r>
          </a:p>
        </p:txBody>
      </p:sp>
      <p:sp>
        <p:nvSpPr>
          <p:cNvPr id="7" name="Rectangle 6"/>
          <p:cNvSpPr/>
          <p:nvPr/>
        </p:nvSpPr>
        <p:spPr>
          <a:xfrm>
            <a:off x="3483341"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3341"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2</a:t>
            </a:r>
          </a:p>
        </p:txBody>
      </p:sp>
      <p:sp>
        <p:nvSpPr>
          <p:cNvPr id="9" name="Rectangle 8"/>
          <p:cNvSpPr/>
          <p:nvPr/>
        </p:nvSpPr>
        <p:spPr>
          <a:xfrm>
            <a:off x="5225012"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25012"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3</a:t>
            </a:r>
          </a:p>
        </p:txBody>
      </p:sp>
      <p:sp>
        <p:nvSpPr>
          <p:cNvPr id="11" name="Rectangle 10"/>
          <p:cNvSpPr/>
          <p:nvPr/>
        </p:nvSpPr>
        <p:spPr>
          <a:xfrm>
            <a:off x="6966682"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66682" y="0"/>
            <a:ext cx="1741670" cy="457200"/>
          </a:xfrm>
          <a:prstGeom prst="rect">
            <a:avLst/>
          </a:prstGeom>
          <a:noFill/>
        </p:spPr>
        <p:txBody>
          <a:bodyPr wrap="square" anchor="ctr" tIns="36576" bIns="36576">
            <a:spAutoFit/>
          </a:bodyPr>
          <a:lstStyle/>
          <a:p>
            <a:pPr algn="ctr"/>
            <a:r>
              <a:rPr sz="2400" b="0">
                <a:solidFill>
                  <a:srgbClr val="FFFFFF"/>
                </a:solidFill>
                <a:latin typeface="Calibri"/>
              </a:rPr>
              <a:t>Üben</a:t>
            </a:r>
          </a:p>
        </p:txBody>
      </p:sp>
      <p:sp>
        <p:nvSpPr>
          <p:cNvPr id="13" name="Rectangle 12"/>
          <p:cNvSpPr/>
          <p:nvPr/>
        </p:nvSpPr>
        <p:spPr>
          <a:xfrm>
            <a:off x="8708353"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8353" y="0"/>
            <a:ext cx="1741670" cy="457200"/>
          </a:xfrm>
          <a:prstGeom prst="rect">
            <a:avLst/>
          </a:prstGeom>
          <a:noFill/>
        </p:spPr>
        <p:txBody>
          <a:bodyPr wrap="square" anchor="ctr" tIns="36576" bIns="36576">
            <a:spAutoFit/>
          </a:bodyPr>
          <a:lstStyle/>
          <a:p>
            <a:pPr algn="ctr"/>
            <a:r>
              <a:rPr sz="2400" b="0">
                <a:solidFill>
                  <a:srgbClr val="FFFFFF"/>
                </a:solidFill>
                <a:latin typeface="Calibri"/>
              </a:rPr>
              <a:t>Besprechen</a:t>
            </a:r>
          </a:p>
        </p:txBody>
      </p:sp>
      <p:sp>
        <p:nvSpPr>
          <p:cNvPr id="15" name="Rectangle 14"/>
          <p:cNvSpPr/>
          <p:nvPr/>
        </p:nvSpPr>
        <p:spPr>
          <a:xfrm>
            <a:off x="10450024"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50024" y="0"/>
            <a:ext cx="1741670" cy="457200"/>
          </a:xfrm>
          <a:prstGeom prst="rect">
            <a:avLst/>
          </a:prstGeom>
          <a:noFill/>
        </p:spPr>
        <p:txBody>
          <a:bodyPr wrap="square" anchor="ctr" tIns="36576" bIns="36576">
            <a:spAutoFit/>
          </a:bodyPr>
          <a:lstStyle/>
          <a:p>
            <a:pPr algn="ctr"/>
            <a:r>
              <a:rPr sz="2400" b="1">
                <a:solidFill>
                  <a:srgbClr val="1F2A44"/>
                </a:solidFill>
                <a:latin typeface="Calibri"/>
              </a:rPr>
              <a:t>Abschluss</a:t>
            </a:r>
          </a:p>
        </p:txBody>
      </p:sp>
      <p:pic>
        <p:nvPicPr>
          <p:cNvPr id="17" name="Picture 16" descr="Fragezeichen-Symbol"/>
          <p:cNvPicPr>
            <a:picLocks noChangeAspect="1"/>
          </p:cNvPicPr>
          <p:nvPr/>
        </p:nvPicPr>
        <p:blipFill>
          <a:blip r:embed="rId3"/>
          <a:stretch>
            <a:fillRect/>
          </a:stretch>
        </p:blipFill>
        <p:spPr>
          <a:xfrm>
            <a:off x="640080" y="731520"/>
            <a:ext cx="1234440" cy="1234440"/>
          </a:xfrm>
          <a:prstGeom prst="rect">
            <a:avLst/>
          </a:prstGeom>
        </p:spPr>
      </p:pic>
      <p:sp>
        <p:nvSpPr>
          <p:cNvPr id="18" name="Frage"/>
          <p:cNvSpPr txBox="1"/>
          <p:nvPr/>
        </p:nvSpPr>
        <p:spPr>
          <a:xfrm>
            <a:off x="2103120" y="685800"/>
            <a:ext cx="9601200" cy="1737360"/>
          </a:xfrm>
          <a:prstGeom prst="rect">
            <a:avLst/>
          </a:prstGeom>
          <a:noFill/>
        </p:spPr>
        <p:txBody>
          <a:bodyPr wrap="square" anchor="ctr" tIns="36576" bIns="36576">
            <a:spAutoFit/>
          </a:bodyPr>
          <a:lstStyle/>
          <a:p>
            <a:pPr algn="l"/>
            <a:r>
              <a:rPr sz="3000" b="1">
                <a:solidFill>
                  <a:srgbClr val="1F2A44"/>
                </a:solidFill>
                <a:latin typeface="Calibri"/>
              </a:rPr>
              <a:t>Ein volljähriger Azubi soll an einem Tag 10 Stunden arbeiten; im Durchschnitt von sechs Monaten bleibt es bei 8 Stunden. Ist das zulässig?</a:t>
            </a:r>
          </a:p>
        </p:txBody>
      </p:sp>
      <p:sp>
        <p:nvSpPr>
          <p:cNvPr id="19" name="Rounded Rectangle 18"/>
          <p:cNvSpPr/>
          <p:nvPr/>
        </p:nvSpPr>
        <p:spPr>
          <a:xfrm>
            <a:off x="640080" y="2743200"/>
            <a:ext cx="5486400" cy="1188720"/>
          </a:xfrm>
          <a:prstGeom prst="roundRect">
            <a:avLst>
              <a:gd name="adj" fmla="val 12000"/>
            </a:avLst>
          </a:prstGeom>
          <a:solidFill>
            <a:srgbClr val="FFFFFF"/>
          </a:solidFill>
          <a:ln w="3175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22959" y="2994660"/>
            <a:ext cx="685800" cy="6858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800" b="1">
                <a:solidFill>
                  <a:srgbClr val="FFFFFF"/>
                </a:solidFill>
                <a:latin typeface="Calibri"/>
              </a:rPr>
              <a:t>A</a:t>
            </a:r>
          </a:p>
        </p:txBody>
      </p:sp>
      <p:sp>
        <p:nvSpPr>
          <p:cNvPr id="21" name="Option_A"/>
          <p:cNvSpPr txBox="1"/>
          <p:nvPr/>
        </p:nvSpPr>
        <p:spPr>
          <a:xfrm>
            <a:off x="1691639" y="2743200"/>
            <a:ext cx="4297680" cy="1188720"/>
          </a:xfrm>
          <a:prstGeom prst="rect">
            <a:avLst/>
          </a:prstGeom>
          <a:noFill/>
        </p:spPr>
        <p:txBody>
          <a:bodyPr wrap="square" anchor="ctr" tIns="36576" bIns="36576">
            <a:spAutoFit/>
          </a:bodyPr>
          <a:lstStyle/>
          <a:p>
            <a:pPr algn="l"/>
            <a:r>
              <a:rPr sz="2400" b="0">
                <a:solidFill>
                  <a:srgbClr val="1F2A44"/>
                </a:solidFill>
                <a:latin typeface="Calibri"/>
              </a:rPr>
              <a:t>Nein, höchstens 8 Stunden</a:t>
            </a:r>
          </a:p>
        </p:txBody>
      </p:sp>
      <p:sp>
        <p:nvSpPr>
          <p:cNvPr id="22" name="Rounded Rectangle 21"/>
          <p:cNvSpPr/>
          <p:nvPr/>
        </p:nvSpPr>
        <p:spPr>
          <a:xfrm>
            <a:off x="6309360" y="2743200"/>
            <a:ext cx="5486400" cy="1188720"/>
          </a:xfrm>
          <a:prstGeom prst="roundRect">
            <a:avLst>
              <a:gd name="adj" fmla="val 12000"/>
            </a:avLst>
          </a:prstGeom>
          <a:solidFill>
            <a:srgbClr val="FFFFFF"/>
          </a:solidFill>
          <a:ln w="3175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92240" y="2994660"/>
            <a:ext cx="685800" cy="6858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800" b="1">
                <a:solidFill>
                  <a:srgbClr val="FFFFFF"/>
                </a:solidFill>
                <a:latin typeface="Calibri"/>
              </a:rPr>
              <a:t>B</a:t>
            </a:r>
          </a:p>
        </p:txBody>
      </p:sp>
      <p:sp>
        <p:nvSpPr>
          <p:cNvPr id="24" name="Option_B"/>
          <p:cNvSpPr txBox="1"/>
          <p:nvPr/>
        </p:nvSpPr>
        <p:spPr>
          <a:xfrm>
            <a:off x="7360920" y="2743200"/>
            <a:ext cx="4297680" cy="1188720"/>
          </a:xfrm>
          <a:prstGeom prst="rect">
            <a:avLst/>
          </a:prstGeom>
          <a:noFill/>
        </p:spPr>
        <p:txBody>
          <a:bodyPr wrap="square" anchor="ctr" tIns="36576" bIns="36576">
            <a:spAutoFit/>
          </a:bodyPr>
          <a:lstStyle/>
          <a:p>
            <a:pPr algn="l"/>
            <a:r>
              <a:rPr sz="2400" b="0">
                <a:solidFill>
                  <a:srgbClr val="1F2A44"/>
                </a:solidFill>
                <a:latin typeface="Calibri"/>
              </a:rPr>
              <a:t>Ja, nach dem Arbeitszeitgesetz, wenn der Durchschnitt von 8 Stunden nicht überschritten wird</a:t>
            </a:r>
          </a:p>
        </p:txBody>
      </p:sp>
      <p:sp>
        <p:nvSpPr>
          <p:cNvPr id="25" name="Rounded Rectangle 24"/>
          <p:cNvSpPr/>
          <p:nvPr/>
        </p:nvSpPr>
        <p:spPr>
          <a:xfrm>
            <a:off x="640080" y="4114800"/>
            <a:ext cx="5486400" cy="1188720"/>
          </a:xfrm>
          <a:prstGeom prst="roundRect">
            <a:avLst>
              <a:gd name="adj" fmla="val 12000"/>
            </a:avLst>
          </a:prstGeom>
          <a:solidFill>
            <a:srgbClr val="FFFFFF"/>
          </a:solidFill>
          <a:ln w="3175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22959" y="4366260"/>
            <a:ext cx="685800" cy="6858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800" b="1">
                <a:solidFill>
                  <a:srgbClr val="FFFFFF"/>
                </a:solidFill>
                <a:latin typeface="Calibri"/>
              </a:rPr>
              <a:t>C</a:t>
            </a:r>
          </a:p>
        </p:txBody>
      </p:sp>
      <p:sp>
        <p:nvSpPr>
          <p:cNvPr id="27" name="Option_C"/>
          <p:cNvSpPr txBox="1"/>
          <p:nvPr/>
        </p:nvSpPr>
        <p:spPr>
          <a:xfrm>
            <a:off x="1691639" y="4114800"/>
            <a:ext cx="4297680" cy="1188720"/>
          </a:xfrm>
          <a:prstGeom prst="rect">
            <a:avLst/>
          </a:prstGeom>
          <a:noFill/>
        </p:spPr>
        <p:txBody>
          <a:bodyPr wrap="square" anchor="ctr" tIns="36576" bIns="36576">
            <a:spAutoFit/>
          </a:bodyPr>
          <a:lstStyle/>
          <a:p>
            <a:pPr algn="l"/>
            <a:r>
              <a:rPr sz="2400" b="0">
                <a:solidFill>
                  <a:srgbClr val="1F2A44"/>
                </a:solidFill>
                <a:latin typeface="Calibri"/>
              </a:rPr>
              <a:t>Nein, nur mit Zustimmung der IHK</a:t>
            </a:r>
          </a:p>
        </p:txBody>
      </p:sp>
      <p:sp>
        <p:nvSpPr>
          <p:cNvPr id="28" name="Rounded Rectangle 27"/>
          <p:cNvSpPr/>
          <p:nvPr/>
        </p:nvSpPr>
        <p:spPr>
          <a:xfrm>
            <a:off x="6309360" y="4114800"/>
            <a:ext cx="5486400" cy="1188720"/>
          </a:xfrm>
          <a:prstGeom prst="roundRect">
            <a:avLst>
              <a:gd name="adj" fmla="val 12000"/>
            </a:avLst>
          </a:prstGeom>
          <a:solidFill>
            <a:srgbClr val="FFFFFF"/>
          </a:solidFill>
          <a:ln w="3175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492240" y="4366260"/>
            <a:ext cx="685800" cy="6858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800" b="1">
                <a:solidFill>
                  <a:srgbClr val="FFFFFF"/>
                </a:solidFill>
                <a:latin typeface="Calibri"/>
              </a:rPr>
              <a:t>D</a:t>
            </a:r>
          </a:p>
        </p:txBody>
      </p:sp>
      <p:sp>
        <p:nvSpPr>
          <p:cNvPr id="30" name="Option_D"/>
          <p:cNvSpPr txBox="1"/>
          <p:nvPr/>
        </p:nvSpPr>
        <p:spPr>
          <a:xfrm>
            <a:off x="7360920" y="4114800"/>
            <a:ext cx="4297680" cy="1188720"/>
          </a:xfrm>
          <a:prstGeom prst="rect">
            <a:avLst/>
          </a:prstGeom>
          <a:noFill/>
        </p:spPr>
        <p:txBody>
          <a:bodyPr wrap="square" anchor="ctr" tIns="36576" bIns="36576">
            <a:spAutoFit/>
          </a:bodyPr>
          <a:lstStyle/>
          <a:p>
            <a:pPr algn="l"/>
            <a:r>
              <a:rPr sz="2400" b="0">
                <a:solidFill>
                  <a:srgbClr val="1F2A44"/>
                </a:solidFill>
                <a:latin typeface="Calibri"/>
              </a:rPr>
              <a:t>Ja, dann sind sogar 12 Stunden erlaubt</a:t>
            </a:r>
          </a:p>
        </p:txBody>
      </p:sp>
      <p:sp>
        <p:nvSpPr>
          <p:cNvPr id="31" name="Rounded Rectangle 30"/>
          <p:cNvSpPr/>
          <p:nvPr/>
        </p:nvSpPr>
        <p:spPr>
          <a:xfrm>
            <a:off x="502920" y="6327648"/>
            <a:ext cx="2276856" cy="420624"/>
          </a:xfrm>
          <a:prstGeom prst="roundRect">
            <a:avLst>
              <a:gd name="adj" fmla="val 4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2920" y="6327648"/>
            <a:ext cx="2276856" cy="420624"/>
          </a:xfrm>
          <a:prstGeom prst="rect">
            <a:avLst/>
          </a:prstGeom>
          <a:noFill/>
        </p:spPr>
        <p:txBody>
          <a:bodyPr wrap="square" anchor="ctr" tIns="36576" bIns="36576">
            <a:spAutoFit/>
          </a:bodyPr>
          <a:lstStyle/>
          <a:p>
            <a:pPr algn="ctr"/>
            <a:r>
              <a:rPr sz="2400" b="1">
                <a:solidFill>
                  <a:srgbClr val="FFFFFF"/>
                </a:solidFill>
                <a:latin typeface="Calibri"/>
              </a:rPr>
              <a:t>Einzelarbeit</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square" anchor="ctr" tIns="36576" bIns="36576">
            <a:spAutoFit/>
          </a:bodyPr>
          <a:lstStyle/>
          <a:p>
            <a:pPr algn="ctr"/>
            <a:r>
              <a:rPr sz="2400" b="0">
                <a:solidFill>
                  <a:srgbClr val="FFFFFF"/>
                </a:solidFill>
                <a:latin typeface="Calibri"/>
              </a:rPr>
              <a:t>Einstieg</a:t>
            </a:r>
          </a:p>
        </p:txBody>
      </p:sp>
      <p:sp>
        <p:nvSpPr>
          <p:cNvPr id="5" name="Rectangle 4"/>
          <p:cNvSpPr/>
          <p:nvPr/>
        </p:nvSpPr>
        <p:spPr>
          <a:xfrm>
            <a:off x="174167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1</a:t>
            </a:r>
          </a:p>
        </p:txBody>
      </p:sp>
      <p:sp>
        <p:nvSpPr>
          <p:cNvPr id="7" name="Rectangle 6"/>
          <p:cNvSpPr/>
          <p:nvPr/>
        </p:nvSpPr>
        <p:spPr>
          <a:xfrm>
            <a:off x="3483341"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3341"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2</a:t>
            </a:r>
          </a:p>
        </p:txBody>
      </p:sp>
      <p:sp>
        <p:nvSpPr>
          <p:cNvPr id="9" name="Rectangle 8"/>
          <p:cNvSpPr/>
          <p:nvPr/>
        </p:nvSpPr>
        <p:spPr>
          <a:xfrm>
            <a:off x="5225012"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25012" y="0"/>
            <a:ext cx="1741670" cy="457200"/>
          </a:xfrm>
          <a:prstGeom prst="rect">
            <a:avLst/>
          </a:prstGeom>
          <a:noFill/>
        </p:spPr>
        <p:txBody>
          <a:bodyPr wrap="square" anchor="ctr" tIns="36576" bIns="36576">
            <a:spAutoFit/>
          </a:bodyPr>
          <a:lstStyle/>
          <a:p>
            <a:pPr algn="ctr"/>
            <a:r>
              <a:rPr sz="2400" b="0">
                <a:solidFill>
                  <a:srgbClr val="FFFFFF"/>
                </a:solidFill>
                <a:latin typeface="Calibri"/>
              </a:rPr>
              <a:t>Block 3</a:t>
            </a:r>
          </a:p>
        </p:txBody>
      </p:sp>
      <p:sp>
        <p:nvSpPr>
          <p:cNvPr id="11" name="Rectangle 10"/>
          <p:cNvSpPr/>
          <p:nvPr/>
        </p:nvSpPr>
        <p:spPr>
          <a:xfrm>
            <a:off x="6966682"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66682" y="0"/>
            <a:ext cx="1741670" cy="457200"/>
          </a:xfrm>
          <a:prstGeom prst="rect">
            <a:avLst/>
          </a:prstGeom>
          <a:noFill/>
        </p:spPr>
        <p:txBody>
          <a:bodyPr wrap="square" anchor="ctr" tIns="36576" bIns="36576">
            <a:spAutoFit/>
          </a:bodyPr>
          <a:lstStyle/>
          <a:p>
            <a:pPr algn="ctr"/>
            <a:r>
              <a:rPr sz="2400" b="0">
                <a:solidFill>
                  <a:srgbClr val="FFFFFF"/>
                </a:solidFill>
                <a:latin typeface="Calibri"/>
              </a:rPr>
              <a:t>Üben</a:t>
            </a:r>
          </a:p>
        </p:txBody>
      </p:sp>
      <p:sp>
        <p:nvSpPr>
          <p:cNvPr id="13" name="Rectangle 12"/>
          <p:cNvSpPr/>
          <p:nvPr/>
        </p:nvSpPr>
        <p:spPr>
          <a:xfrm>
            <a:off x="8708353"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8353" y="0"/>
            <a:ext cx="1741670" cy="457200"/>
          </a:xfrm>
          <a:prstGeom prst="rect">
            <a:avLst/>
          </a:prstGeom>
          <a:noFill/>
        </p:spPr>
        <p:txBody>
          <a:bodyPr wrap="square" anchor="ctr" tIns="36576" bIns="36576">
            <a:spAutoFit/>
          </a:bodyPr>
          <a:lstStyle/>
          <a:p>
            <a:pPr algn="ctr"/>
            <a:r>
              <a:rPr sz="2400" b="0">
                <a:solidFill>
                  <a:srgbClr val="FFFFFF"/>
                </a:solidFill>
                <a:latin typeface="Calibri"/>
              </a:rPr>
              <a:t>Besprechen</a:t>
            </a:r>
          </a:p>
        </p:txBody>
      </p:sp>
      <p:sp>
        <p:nvSpPr>
          <p:cNvPr id="15" name="Rectangle 14"/>
          <p:cNvSpPr/>
          <p:nvPr/>
        </p:nvSpPr>
        <p:spPr>
          <a:xfrm>
            <a:off x="10450024"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50024" y="0"/>
            <a:ext cx="1741670" cy="457200"/>
          </a:xfrm>
          <a:prstGeom prst="rect">
            <a:avLst/>
          </a:prstGeom>
          <a:noFill/>
        </p:spPr>
        <p:txBody>
          <a:bodyPr wrap="square" anchor="ctr" tIns="36576" bIns="36576">
            <a:spAutoFit/>
          </a:bodyPr>
          <a:lstStyle/>
          <a:p>
            <a:pPr algn="ctr"/>
            <a:r>
              <a:rPr sz="2400" b="1">
                <a:solidFill>
                  <a:srgbClr val="1F2A44"/>
                </a:solidFill>
                <a:latin typeface="Calibri"/>
              </a:rPr>
              <a:t>Abschluss</a:t>
            </a:r>
          </a:p>
        </p:txBody>
      </p:sp>
      <p:sp>
        <p:nvSpPr>
          <p:cNvPr id="17" name="Antwortrahmen"/>
          <p:cNvSpPr/>
          <p:nvPr/>
        </p:nvSpPr>
        <p:spPr>
          <a:xfrm>
            <a:off x="411480" y="566928"/>
            <a:ext cx="11365992" cy="5669280"/>
          </a:xfrm>
          <a:prstGeom prst="rect">
            <a:avLst/>
          </a:prstGeom>
          <a:noFill/>
          <a:ln w="76200">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Haken: Antwortfolie"/>
          <p:cNvPicPr>
            <a:picLocks noChangeAspect="1"/>
          </p:cNvPicPr>
          <p:nvPr/>
        </p:nvPicPr>
        <p:blipFill>
          <a:blip r:embed="rId3"/>
          <a:stretch>
            <a:fillRect/>
          </a:stretch>
        </p:blipFill>
        <p:spPr>
          <a:xfrm>
            <a:off x="10972800" y="640080"/>
            <a:ext cx="685800" cy="685800"/>
          </a:xfrm>
          <a:prstGeom prst="rect">
            <a:avLst/>
          </a:prstGeom>
        </p:spPr>
      </p:pic>
      <p:sp>
        <p:nvSpPr>
          <p:cNvPr id="19" name="Titel"/>
          <p:cNvSpPr txBox="1"/>
          <p:nvPr/>
        </p:nvSpPr>
        <p:spPr>
          <a:xfrm>
            <a:off x="640080" y="594360"/>
            <a:ext cx="10241280" cy="822960"/>
          </a:xfrm>
          <a:prstGeom prst="rect">
            <a:avLst/>
          </a:prstGeom>
          <a:noFill/>
        </p:spPr>
        <p:txBody>
          <a:bodyPr wrap="square" anchor="ctr" tIns="36576" bIns="36576">
            <a:spAutoFit/>
          </a:bodyPr>
          <a:lstStyle/>
          <a:p>
            <a:pPr algn="l"/>
            <a:r>
              <a:rPr sz="4000" b="1">
                <a:solidFill>
                  <a:srgbClr val="1F2A44"/>
                </a:solidFill>
                <a:latin typeface="Calibri"/>
              </a:rPr>
              <a:t>Plan B: Mini-Quiz Lösungen</a:t>
            </a:r>
          </a:p>
        </p:txBody>
      </p:sp>
      <p:sp>
        <p:nvSpPr>
          <p:cNvPr id="20" name="Rectangle 19"/>
          <p:cNvSpPr/>
          <p:nvPr/>
        </p:nvSpPr>
        <p:spPr>
          <a:xfrm>
            <a:off x="640080" y="1463040"/>
            <a:ext cx="10881360" cy="8686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31520" y="1554480"/>
            <a:ext cx="685800" cy="6858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400" b="1">
                <a:solidFill>
                  <a:srgbClr val="FFFFFF"/>
                </a:solidFill>
                <a:latin typeface="Calibri"/>
              </a:rPr>
              <a:t>1</a:t>
            </a:r>
          </a:p>
        </p:txBody>
      </p:sp>
      <p:sp>
        <p:nvSpPr>
          <p:cNvPr id="22" name="TextBox 21"/>
          <p:cNvSpPr txBox="1"/>
          <p:nvPr/>
        </p:nvSpPr>
        <p:spPr>
          <a:xfrm>
            <a:off x="1600200" y="1463040"/>
            <a:ext cx="9875520" cy="868680"/>
          </a:xfrm>
          <a:prstGeom prst="rect">
            <a:avLst/>
          </a:prstGeom>
          <a:noFill/>
        </p:spPr>
        <p:txBody>
          <a:bodyPr wrap="square" anchor="ctr" tIns="36576" bIns="36576">
            <a:spAutoFit/>
          </a:bodyPr>
          <a:lstStyle/>
          <a:p>
            <a:pPr algn="l"/>
            <a:r>
              <a:rPr sz="2400" b="1">
                <a:solidFill>
                  <a:srgbClr val="1F2A44"/>
                </a:solidFill>
                <a:latin typeface="Calibri"/>
              </a:rPr>
              <a:t>D  </a:t>
            </a:r>
            <a:r>
              <a:rPr sz="2400" b="0">
                <a:solidFill>
                  <a:srgbClr val="1F2A44"/>
                </a:solidFill>
                <a:latin typeface="Calibri"/>
              </a:rPr>
              <a:t>30</a:t>
            </a:r>
            <a:r>
              <a:rPr sz="2400" b="0">
                <a:solidFill>
                  <a:srgbClr val="7A4B00"/>
                </a:solidFill>
                <a:latin typeface="Calibri"/>
              </a:rPr>
              <a:t>  (§ 19 JArbSchG (unter 16 Jahren))</a:t>
            </a:r>
          </a:p>
        </p:txBody>
      </p:sp>
      <p:sp>
        <p:nvSpPr>
          <p:cNvPr id="23" name="Rectangle 22"/>
          <p:cNvSpPr/>
          <p:nvPr/>
        </p:nvSpPr>
        <p:spPr>
          <a:xfrm>
            <a:off x="640080" y="2423160"/>
            <a:ext cx="10881360" cy="8686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31520" y="2514600"/>
            <a:ext cx="685800" cy="6858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400" b="1">
                <a:solidFill>
                  <a:srgbClr val="FFFFFF"/>
                </a:solidFill>
                <a:latin typeface="Calibri"/>
              </a:rPr>
              <a:t>2</a:t>
            </a:r>
          </a:p>
        </p:txBody>
      </p:sp>
      <p:sp>
        <p:nvSpPr>
          <p:cNvPr id="25" name="TextBox 24"/>
          <p:cNvSpPr txBox="1"/>
          <p:nvPr/>
        </p:nvSpPr>
        <p:spPr>
          <a:xfrm>
            <a:off x="1600200" y="2423160"/>
            <a:ext cx="9875520" cy="868680"/>
          </a:xfrm>
          <a:prstGeom prst="rect">
            <a:avLst/>
          </a:prstGeom>
          <a:noFill/>
        </p:spPr>
        <p:txBody>
          <a:bodyPr wrap="square" anchor="ctr" tIns="36576" bIns="36576">
            <a:spAutoFit/>
          </a:bodyPr>
          <a:lstStyle/>
          <a:p>
            <a:pPr algn="l"/>
            <a:r>
              <a:rPr sz="2400" b="1">
                <a:solidFill>
                  <a:srgbClr val="1F2A44"/>
                </a:solidFill>
                <a:latin typeface="Calibri"/>
              </a:rPr>
              <a:t>C  </a:t>
            </a:r>
            <a:r>
              <a:rPr sz="2400" b="0">
                <a:solidFill>
                  <a:srgbClr val="1F2A44"/>
                </a:solidFill>
                <a:latin typeface="Calibri"/>
              </a:rPr>
              <a:t>Nein, höchstens vier Monate</a:t>
            </a:r>
            <a:r>
              <a:rPr sz="2400" b="0">
                <a:solidFill>
                  <a:srgbClr val="7A4B00"/>
                </a:solidFill>
                <a:latin typeface="Calibri"/>
              </a:rPr>
              <a:t>  (§ 20 BBiG)</a:t>
            </a:r>
          </a:p>
        </p:txBody>
      </p:sp>
      <p:sp>
        <p:nvSpPr>
          <p:cNvPr id="26" name="Rectangle 25"/>
          <p:cNvSpPr/>
          <p:nvPr/>
        </p:nvSpPr>
        <p:spPr>
          <a:xfrm>
            <a:off x="640080" y="3383280"/>
            <a:ext cx="10881360" cy="8686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31520" y="3474720"/>
            <a:ext cx="685800" cy="6858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400" b="1">
                <a:solidFill>
                  <a:srgbClr val="FFFFFF"/>
                </a:solidFill>
                <a:latin typeface="Calibri"/>
              </a:rPr>
              <a:t>3</a:t>
            </a:r>
          </a:p>
        </p:txBody>
      </p:sp>
      <p:sp>
        <p:nvSpPr>
          <p:cNvPr id="28" name="TextBox 27"/>
          <p:cNvSpPr txBox="1"/>
          <p:nvPr/>
        </p:nvSpPr>
        <p:spPr>
          <a:xfrm>
            <a:off x="1600200" y="3383280"/>
            <a:ext cx="9875520" cy="868680"/>
          </a:xfrm>
          <a:prstGeom prst="rect">
            <a:avLst/>
          </a:prstGeom>
          <a:noFill/>
        </p:spPr>
        <p:txBody>
          <a:bodyPr wrap="square" anchor="ctr" tIns="36576" bIns="36576">
            <a:spAutoFit/>
          </a:bodyPr>
          <a:lstStyle/>
          <a:p>
            <a:pPr algn="l"/>
            <a:r>
              <a:rPr sz="2400" b="1">
                <a:solidFill>
                  <a:srgbClr val="1F2A44"/>
                </a:solidFill>
                <a:latin typeface="Calibri"/>
              </a:rPr>
              <a:t>C  </a:t>
            </a:r>
            <a:r>
              <a:rPr sz="2400" b="0">
                <a:solidFill>
                  <a:srgbClr val="1F2A44"/>
                </a:solidFill>
                <a:latin typeface="Calibri"/>
              </a:rPr>
              <a:t>Nein, die Kündigung muss schriftlich mit Angabe der Gründe erfolgen</a:t>
            </a:r>
            <a:r>
              <a:rPr sz="2400" b="0">
                <a:solidFill>
                  <a:srgbClr val="7A4B00"/>
                </a:solidFill>
                <a:latin typeface="Calibri"/>
              </a:rPr>
              <a:t>  (§ 22 Abs. 2 und 3 BBiG)</a:t>
            </a:r>
          </a:p>
        </p:txBody>
      </p:sp>
      <p:sp>
        <p:nvSpPr>
          <p:cNvPr id="29" name="Rectangle 28"/>
          <p:cNvSpPr/>
          <p:nvPr/>
        </p:nvSpPr>
        <p:spPr>
          <a:xfrm>
            <a:off x="640080" y="4343400"/>
            <a:ext cx="10881360" cy="8686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31520" y="4434840"/>
            <a:ext cx="685800" cy="6858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400" b="1">
                <a:solidFill>
                  <a:srgbClr val="FFFFFF"/>
                </a:solidFill>
                <a:latin typeface="Calibri"/>
              </a:rPr>
              <a:t>4</a:t>
            </a:r>
          </a:p>
        </p:txBody>
      </p:sp>
      <p:sp>
        <p:nvSpPr>
          <p:cNvPr id="31" name="TextBox 30"/>
          <p:cNvSpPr txBox="1"/>
          <p:nvPr/>
        </p:nvSpPr>
        <p:spPr>
          <a:xfrm>
            <a:off x="1600200" y="4343400"/>
            <a:ext cx="9875520" cy="868680"/>
          </a:xfrm>
          <a:prstGeom prst="rect">
            <a:avLst/>
          </a:prstGeom>
          <a:noFill/>
        </p:spPr>
        <p:txBody>
          <a:bodyPr wrap="square" anchor="ctr" tIns="36576" bIns="36576">
            <a:spAutoFit/>
          </a:bodyPr>
          <a:lstStyle/>
          <a:p>
            <a:pPr algn="l"/>
            <a:r>
              <a:rPr sz="2400" b="1">
                <a:solidFill>
                  <a:srgbClr val="1F2A44"/>
                </a:solidFill>
                <a:latin typeface="Calibri"/>
              </a:rPr>
              <a:t>C  </a:t>
            </a:r>
            <a:r>
              <a:rPr sz="2400" b="0">
                <a:solidFill>
                  <a:srgbClr val="1F2A44"/>
                </a:solidFill>
                <a:latin typeface="Calibri"/>
              </a:rPr>
              <a:t>Nein, im 2. Jahr gelten mindestens 854 €</a:t>
            </a:r>
            <a:r>
              <a:rPr sz="2400" b="0">
                <a:solidFill>
                  <a:srgbClr val="7A4B00"/>
                </a:solidFill>
                <a:latin typeface="Calibri"/>
              </a:rPr>
              <a:t>  (§ 17 BBiG)</a:t>
            </a:r>
          </a:p>
        </p:txBody>
      </p:sp>
      <p:sp>
        <p:nvSpPr>
          <p:cNvPr id="32" name="Rectangle 31"/>
          <p:cNvSpPr/>
          <p:nvPr/>
        </p:nvSpPr>
        <p:spPr>
          <a:xfrm>
            <a:off x="640080" y="5303520"/>
            <a:ext cx="10881360" cy="8686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31520" y="5394960"/>
            <a:ext cx="685800" cy="6858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400" b="1">
                <a:solidFill>
                  <a:srgbClr val="FFFFFF"/>
                </a:solidFill>
                <a:latin typeface="Calibri"/>
              </a:rPr>
              <a:t>5</a:t>
            </a:r>
          </a:p>
        </p:txBody>
      </p:sp>
      <p:sp>
        <p:nvSpPr>
          <p:cNvPr id="34" name="TextBox 33"/>
          <p:cNvSpPr txBox="1"/>
          <p:nvPr/>
        </p:nvSpPr>
        <p:spPr>
          <a:xfrm>
            <a:off x="1600200" y="5303520"/>
            <a:ext cx="9875520" cy="868680"/>
          </a:xfrm>
          <a:prstGeom prst="rect">
            <a:avLst/>
          </a:prstGeom>
          <a:noFill/>
        </p:spPr>
        <p:txBody>
          <a:bodyPr wrap="square" anchor="ctr" tIns="36576" bIns="36576">
            <a:spAutoFit/>
          </a:bodyPr>
          <a:lstStyle/>
          <a:p>
            <a:pPr algn="l"/>
            <a:r>
              <a:rPr sz="2400" b="1">
                <a:solidFill>
                  <a:srgbClr val="1F2A44"/>
                </a:solidFill>
                <a:latin typeface="Calibri"/>
              </a:rPr>
              <a:t>B  </a:t>
            </a:r>
            <a:r>
              <a:rPr sz="2400" b="0">
                <a:solidFill>
                  <a:srgbClr val="1F2A44"/>
                </a:solidFill>
                <a:latin typeface="Calibri"/>
              </a:rPr>
              <a:t>Ja, nach dem Arbeitszeitgesetz, wenn der Durchschnitt von 8 Stunden nicht überschritten wird</a:t>
            </a:r>
            <a:r>
              <a:rPr sz="2400" b="0">
                <a:solidFill>
                  <a:srgbClr val="7A4B00"/>
                </a:solidFill>
                <a:latin typeface="Calibri"/>
              </a:rPr>
              <a:t>  (§ 3 ArbZG)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