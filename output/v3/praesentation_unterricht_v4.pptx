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Titel</a:t>
            </a:r>
          </a:p>
          <a:p>
            <a:r>
              <a:t>SPRECHER: Yasin</a:t>
            </a:r>
          </a:p>
          <a:p>
            <a:r>
              <a:t>DAUER: 0:15</a:t>
            </a:r>
          </a:p>
          <a:p>
            <a:r>
              <a:t>SOZIALFORM: Plenum</a:t>
            </a:r>
          </a:p>
          <a:p>
            <a:r>
              <a:t>IMPULS / MODERATION: Begrüßen, Rollen klären: Wir halten heute die Stunde (Fach GP).</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Einstieg · FOLIENTYP: Frage</a:t>
            </a:r>
          </a:p>
          <a:p>
            <a:r>
              <a:t>SPRECHER: Yasin</a:t>
            </a:r>
          </a:p>
          <a:p>
            <a:r>
              <a:t>DAUER: 1:45</a:t>
            </a:r>
          </a:p>
          <a:p>
            <a:r>
              <a:t>SOZIALFORM: Plenum · Zuruf</a:t>
            </a:r>
          </a:p>
          <a:p>
            <a:r>
              <a:t>IMPULS / MODERATION: Szenario kurz erzählen, 2–3 Zurufe sammeln (Stichworte an die Tafel). Lernziele in eigenen Worten nennen; Ablaufstreifen zeigen: erst Vorwissen, dann Erklären, Üben, Besprechen.</a:t>
            </a:r>
          </a:p>
          <a:p>
            <a:r>
              <a:t>ERWARTETE ANTWORTEN: Gehalt/Vergütung, Urlaub, Probezeit, Arbeitszeit, Beginn/Dauer, Kündigung.</a:t>
            </a:r>
          </a:p>
          <a:p>
            <a:r>
              <a:t>ZEITPUFFER / STREICHEN: nicht streichbar (Zuruf auf 30 s kürzbar)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Fragerunde · FOLIENTYP: Frage</a:t>
            </a:r>
          </a:p>
          <a:p>
            <a:r>
              <a:t>SPRECHER: Mido</a:t>
            </a:r>
          </a:p>
          <a:p>
            <a:r>
              <a:t>DAUER: 2:30</a:t>
            </a:r>
          </a:p>
          <a:p>
            <a:r>
              <a:t>SOZIALFORM: Plenum · Zuruf, Tafel</a:t>
            </a:r>
          </a:p>
          <a:p>
            <a:r>
              <a:t>IMPULS / MODERATION: Vier Fragen nacheinander stellen, Antworten frei zurufen lassen, an der Tafel in Spalten a–d notieren, NICHT auflösen. Auflösung auf Folie 20.</a:t>
            </a:r>
          </a:p>
          <a:p>
            <a:r>
              <a:t>ERWARTETE ANTWORTEN: a) vier Monate · b) 24 Werktage ab 18 Jahren (Jugendliche 25 bis 30) · c) keine Frist · d) ja, schriftlich. Typische Fehlvorstellungen: sechs Monate; 20 Tage; vier Wochen; E-Mail genügt. Reaktion: notieren, nachfragen „Wie kommst du darauf?“, nicht korrigieren.</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Erklären · FOLIENTYP: Erklärfolie</a:t>
            </a:r>
          </a:p>
          <a:p>
            <a:r>
              <a:t>SPRECHER: Yasin</a:t>
            </a:r>
          </a:p>
          <a:p>
            <a:r>
              <a:t>DAUER: 1:30</a:t>
            </a:r>
          </a:p>
          <a:p>
            <a:r>
              <a:t>SOZIALFORM: Plenum · Zuhören</a:t>
            </a:r>
          </a:p>
          <a:p>
            <a:r>
              <a:t>IMPULS / MODERATION: Frei erklären: was gehört in den Vertrag, Tafelsammlung abgleichen. Textform kurz einordnen (E-Mail genügt, vorher Papier). Optionale Rückfrage (nur mündlich): Was davon habt ihr genannt?</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Erklären · FOLIENTYP: Erklärfolie</a:t>
            </a:r>
          </a:p>
          <a:p>
            <a:r>
              <a:t>SPRECHER: Yasin</a:t>
            </a:r>
          </a:p>
          <a:p>
            <a:r>
              <a:t>DAUER: 1:10</a:t>
            </a:r>
          </a:p>
          <a:p>
            <a:r>
              <a:t>SOZIALFORM: Plenum · Zuhören</a:t>
            </a:r>
          </a:p>
          <a:p>
            <a:r>
              <a:t>IMPULS / MODERATION: Zeitstrahl durchgehen: Beginn → Prüfung. Verkürzung nur gemeinsam; Verlängerung Ausnahme. Optionale Rückfrage: Wer beantragt die Verkürzung?</a:t>
            </a:r>
          </a:p>
          <a:p>
            <a:r>
              <a:t>ZEITPUFFER / STREICHEN: streichbar: nein (kürzbar auf 50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Erklären · FOLIENTYP: Erklärfolie</a:t>
            </a:r>
          </a:p>
          <a:p>
            <a:r>
              <a:t>SPRECHER: Yasin</a:t>
            </a:r>
          </a:p>
          <a:p>
            <a:r>
              <a:t>DAUER: 1:10</a:t>
            </a:r>
          </a:p>
          <a:p>
            <a:r>
              <a:t>SOZIALFORM: Plenum · Zuhören</a:t>
            </a:r>
          </a:p>
          <a:p>
            <a:r>
              <a:t>IMPULS / MODERATION: Vergleich links/rechts erklären, Ausgleich in sechs Monaten kurz. Optionale Rückfrage: Wie viele Stunden dürfen Jugendliche täglich?</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Erklären · FOLIENTYP: Erklärfolie</a:t>
            </a:r>
          </a:p>
          <a:p>
            <a:r>
              <a:t>SPRECHER: Yasin</a:t>
            </a:r>
          </a:p>
          <a:p>
            <a:r>
              <a:t>DAUER: 1:10</a:t>
            </a:r>
          </a:p>
          <a:p>
            <a:r>
              <a:t>SOZIALFORM: Plenum · Zuhören</a:t>
            </a:r>
          </a:p>
          <a:p>
            <a:r>
              <a:t>IMPULS / MODERATION: Balken erklären: Beginn 2026, steigt mit dem Ausbildungsjahr. Darf nicht unterschritten werden, wird jedes Jahr neu festgelegt. Optionale Rückfrage: Wie hoch im 3. Jahr?</a:t>
            </a:r>
          </a:p>
          <a:p>
            <a:r>
              <a:t>ZEITPUFFER / STREICHEN: streichbar: nein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Erklären · FOLIENTYP: Erklärfolie</a:t>
            </a:r>
          </a:p>
          <a:p>
            <a:r>
              <a:t>SPRECHER: Mido</a:t>
            </a:r>
          </a:p>
          <a:p>
            <a:r>
              <a:t>DAUER: 1:35</a:t>
            </a:r>
          </a:p>
          <a:p>
            <a:r>
              <a:t>SOZIALFORM: Plenum · Zuhören</a:t>
            </a:r>
          </a:p>
          <a:p>
            <a:r>
              <a:t>IMPULS / MODERATION: Alterstreppe erklären (Alter zu Jahresbeginn), dann Werktage-Hinweis; 24 Werktage = 20 Arbeitstage. Optionale Rückfrage: Zählt der Samstag als Werktag? (ja)</a:t>
            </a:r>
          </a:p>
          <a:p>
            <a:r>
              <a:t>ZEITPUFFER / STREICHEN: streichbar: nein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Erklären · FOLIENTYP: Erklärfolie</a:t>
            </a:r>
          </a:p>
          <a:p>
            <a:r>
              <a:t>SPRECHER: Mido</a:t>
            </a:r>
          </a:p>
          <a:p>
            <a:r>
              <a:t>DAUER: 0:50</a:t>
            </a:r>
          </a:p>
          <a:p>
            <a:r>
              <a:t>SOZIALFORM: Plenum · Zuhören</a:t>
            </a:r>
          </a:p>
          <a:p>
            <a:r>
              <a:t>IMPULS / MODERATION: Monatsreihe zeigen: mindestens 1, höchstens 4 Monate; mit Vorwissen a von der Tafel vergleichen (nicht auflösen, erst Folie 20). Optionale Rückfrage: Darf sie sechs Monate dauern? (nein)</a:t>
            </a:r>
          </a:p>
          <a:p>
            <a:r>
              <a:t>ZEITPUFFER / STREICHEN: streichbar: nein (kürzbar auf 35 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Erklären · FOLIENTYP: Erklärfolie</a:t>
            </a:r>
          </a:p>
          <a:p>
            <a:r>
              <a:t>SPRECHER: Yasin</a:t>
            </a:r>
          </a:p>
          <a:p>
            <a:r>
              <a:t>DAUER: 1:45</a:t>
            </a:r>
          </a:p>
          <a:p>
            <a:r>
              <a:t>SOZIALFORM: Plenum · Zuhören</a:t>
            </a:r>
          </a:p>
          <a:p>
            <a:r>
              <a:t>IMPULS / MODERATION: Baum von oben nach unten erklären: Probezeit → jederzeit ohne Frist; danach nur fristlos aus wichtigem Grund oder durch den Azubi mit vier Wochen Frist (Aufgabe/Berufswechsel). Optionale Rückfrage: Welche Frist hat der Azubi nach der Probezeit?</a:t>
            </a:r>
          </a:p>
          <a:p>
            <a:r>
              <a:t>ZEITPUFFER / STREICHEN: streichbar: nein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Erklären · FOLIENTYP: Erklärfolie</a:t>
            </a:r>
          </a:p>
          <a:p>
            <a:r>
              <a:t>SPRECHER: Yasin</a:t>
            </a:r>
          </a:p>
          <a:p>
            <a:r>
              <a:t>DAUER: 1:00</a:t>
            </a:r>
          </a:p>
          <a:p>
            <a:r>
              <a:t>SOZIALFORM: Plenum · Zuhören</a:t>
            </a:r>
          </a:p>
          <a:p>
            <a:r>
              <a:t>IMPULS / MODERATION: Drei Karten, je ein Satz: schriftlich (E-Mail ausgeschlossen), nach der Probezeit mit Gründen, wichtiger Grund nur innerhalb von zwei Wochen nach Kenntnis. Optionale Rückfrage: Reicht eine E-Mail? (nein)</a:t>
            </a:r>
          </a:p>
          <a:p>
            <a:r>
              <a:t>ZEITPUFFER / STREICHEN: streichbar: nein (kürzbar auf 45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Erklären · FOLIENTYP: Erklärfolie</a:t>
            </a:r>
          </a:p>
          <a:p>
            <a:r>
              <a:t>SPRECHER: Yasin</a:t>
            </a:r>
          </a:p>
          <a:p>
            <a:r>
              <a:t>DAUER: 1:20</a:t>
            </a:r>
          </a:p>
          <a:p>
            <a:r>
              <a:t>SOZIALFORM: Plenum · Zuhören</a:t>
            </a:r>
          </a:p>
          <a:p>
            <a:r>
              <a:t>IMPULS / MODERATION: Zwei Spalten erklären. Vollständig: Azubi lernen, sorgfältig arbeiten, Weisungen befolgen, Ordnung beachten, Geheimnisse wahren, Ausbildungsnachweis führen; Ausbildende Ausbildungsziel vermitteln, Ausbildungsmittel kostenlos stellen, für Berufsschule und Prüfungen freistellen, Zeugnis ausstellen, Vergütung zahlen. Optionale Rückfrage: Wer stellt die Ausbildungsmittel? (Betrieb, kostenlos)</a:t>
            </a:r>
          </a:p>
          <a:p>
            <a:r>
              <a:t>ZEITPUFFER / STREICHEN: streichbar: nein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Aufgaben · FOLIENTYP: Auftrag</a:t>
            </a:r>
          </a:p>
          <a:p>
            <a:r>
              <a:t>SPRECHER: Mido</a:t>
            </a:r>
          </a:p>
          <a:p>
            <a:r>
              <a:t>DAUER: 0:45</a:t>
            </a:r>
          </a:p>
          <a:p>
            <a:r>
              <a:t>SOZIALFORM: Plenum · Auftrag erklären</a:t>
            </a:r>
          </a:p>
          <a:p>
            <a:r>
              <a:t>IMPULS / MODERATION: Seite per QR öffnen (QR-Code 20 Sekunden stehen lassen), drei Aufgaben, Reihenfolge frei. Wer kein Handy hat, schaut zu zweit mit. Handzeichen: Wer ist drauf?</a:t>
            </a:r>
          </a:p>
          <a:p>
            <a:r>
              <a:t>ERWARTETE ANTWORTEN: Hilfsmittel: Merkblatt. Fertig? Reserve auf der Website (Fälle D, E, Experten-Karten).</a:t>
            </a:r>
          </a:p>
          <a:p>
            <a:r>
              <a:t>ZEITPUFFER / STREICHEN: streichbar: nein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Aufgaben · FOLIENTYP: Arbeitsphase</a:t>
            </a:r>
          </a:p>
          <a:p>
            <a:r>
              <a:t>SPRECHER: Yasin</a:t>
            </a:r>
          </a:p>
          <a:p>
            <a:r>
              <a:t>DAUER: 12:00</a:t>
            </a:r>
          </a:p>
          <a:p>
            <a:r>
              <a:t>SOZIALFORM: Allein / zu zweit</a:t>
            </a:r>
          </a:p>
          <a:p>
            <a:r>
              <a:t>IMPULS / MODERATION: Countdown läuft automatisch (12 Segmente, eines je Minute). Durch die Reihen gehen, helfen, typische Fehler merken. Zeit ansagen nach 3, 8 und 12 Minuten.</a:t>
            </a:r>
          </a:p>
          <a:p>
            <a:r>
              <a:t>ERWARTETE ANTWORTEN: Typische Fehler für die Besprechung notieren (Probezeit 6 Monate, 650 €, 9 Stunden, 20 Werktage, vier Wochen in der Probezeit).</a:t>
            </a:r>
          </a:p>
          <a:p>
            <a:r>
              <a:t>ANIMATION (Klickfolge): Countdown-Balken läuft automatisch beim Folienwechsel: Segment 1–12, je 60 Sekunden</a:t>
            </a:r>
          </a:p>
          <a:p>
            <a:r>
              <a:t>ZEITPUFFER / STREICHEN: streichbar: Arbeitsphase auf 9 Minuten kürzbar (−3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Frage</a:t>
            </a:r>
          </a:p>
          <a:p>
            <a:r>
              <a:t>SPRECHER: Yasin</a:t>
            </a:r>
          </a:p>
          <a:p>
            <a:r>
              <a:t>DAUER: 0:45</a:t>
            </a:r>
          </a:p>
          <a:p>
            <a:r>
              <a:t>SOZIALFORM: Plenum · Zuruf</a:t>
            </a:r>
          </a:p>
          <a:p>
            <a:r>
              <a:t>IMPULS / MODERATION: Auszug ohne Markierung zeigen, Klasse nennt Zeilennummern, Strichliste an der Tafel. Noch nicht bestätigen. Dann Klick-Folge auf Folie 16.</a:t>
            </a:r>
          </a:p>
          <a:p>
            <a:r>
              <a:t>ERWARTETE ANTWORTEN: Zeilen 2, 3, 4, 5, 6 enthalten Fehler. Fehlvorstellung: Zeile 1 oder 7 genannt → in der Auflösung begründen.</a:t>
            </a:r>
          </a:p>
          <a:p>
            <a:r>
              <a:t>ZEITPUFFER / STREICHEN: nicht streichbar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Antwort</a:t>
            </a:r>
          </a:p>
          <a:p>
            <a:r>
              <a:t>SPRECHER: Mido</a:t>
            </a:r>
          </a:p>
          <a:p>
            <a:r>
              <a:t>DAUER: 2:15</a:t>
            </a:r>
          </a:p>
          <a:p>
            <a:r>
              <a:t>SOZIALFORM: Plenum · Gruppen berichten</a:t>
            </a:r>
          </a:p>
          <a:p>
            <a:r>
              <a:t>IMPULS / MODERATION: Pro Klick ein Fehler: Wer hat ihn gefunden? Welche Regel? Fehler 3: Der Azubi ist bei Beginn 16 Jahre alt (geboren 20.11.2009). Zeilen 1 und 7 sind korrekt.</a:t>
            </a:r>
          </a:p>
          <a:p>
            <a:r>
              <a:t>ERWARTETE ANTWORTEN: Fehler 1: höchstens vier Monate (§ 20 BBiG) · 2: mindestens 724 € im 1. Jahr (§ 17 BBiG) · 3: Jugendliche höchstens 8 Stunden täglich und 40 pro Woche (§ 8 JArbSchG) · 4: mindestens 24 Werktage, Jugendliche 25 bis 30 (§ 3 BUrlG, § 19 JArbSchG) · 5: in der Probezeit jederzeit ohne Frist, schriftlich (§ 22 Abs. 1 und 3 BBiG)</a:t>
            </a:r>
          </a:p>
          <a:p>
            <a:r>
              <a:t>ANIMATION (Klickfolge): Klick 1–5: Fehler 1 bis 5 (Fehlerzeile rot markiert + Regel mit Paragraf), Reihenfolge § 2, § 3, § 4, § 5, § 6</a:t>
            </a:r>
          </a:p>
          <a:p>
            <a:r>
              <a:t>ZEITPUFFER / STREICHEN: streichbar: nein (Fehler 3–5 kürzbar)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Fall</a:t>
            </a:r>
          </a:p>
          <a:p>
            <a:r>
              <a:t>SPRECHER: Yasin</a:t>
            </a:r>
          </a:p>
          <a:p>
            <a:r>
              <a:t>DAUER: 1:10</a:t>
            </a:r>
          </a:p>
          <a:p>
            <a:r>
              <a:t>SOZIALFORM: Plenum · Abstimmung A–D per Handzeichen</a:t>
            </a:r>
          </a:p>
          <a:p>
            <a:r>
              <a:t>IMPULS / MODERATION: Fall lesen lassen, Abstimmung A–D per Handzeichen (Verteilung an der Tafel), eine Begründung mit Regel erfragen, dann Klick 1 (Lösung) und Klick 2 (Begründung).</a:t>
            </a:r>
          </a:p>
          <a:p>
            <a:r>
              <a:t>ERWARTETE ANTWORTEN: B: In der Probezeit ist die Kündigung jederzeit ohne Frist möglich, aber schriftlich (§ 22 Abs. 1 und 3 BBiG).</a:t>
            </a:r>
          </a:p>
          <a:p>
            <a:r>
              <a:t>ANIMATION (Klickfolge): Klick 1: Lösung markieren (grüner Rahmen + Haken) · Klick 2: Begründung mit Paragraf</a:t>
            </a:r>
          </a:p>
          <a:p>
            <a:r>
              <a:t>ZEITPUFFER / STREICHEN: streichbar: nein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Fall</a:t>
            </a:r>
          </a:p>
          <a:p>
            <a:r>
              <a:t>SPRECHER: Mido</a:t>
            </a:r>
          </a:p>
          <a:p>
            <a:r>
              <a:t>DAUER: 1:10</a:t>
            </a:r>
          </a:p>
          <a:p>
            <a:r>
              <a:t>SOZIALFORM: Plenum · Abstimmung A–D per Handzeichen</a:t>
            </a:r>
          </a:p>
          <a:p>
            <a:r>
              <a:t>IMPULS / MODERATION: Fall lesen lassen, Abstimmung A–D per Handzeichen (Verteilung an der Tafel), eine Begründung mit Regel erfragen, dann Klick 1 (Lösung) und Klick 2 (Begründung).</a:t>
            </a:r>
          </a:p>
          <a:p>
            <a:r>
              <a:t>ERWARTETE ANTWORTEN: C: Jugendliche unter 18 Jahren haben mindestens 25 Werktage (§ 19 JArbSchG), das entspricht 21 Arbeitstagen bei der Fünf-Tage-Woche.</a:t>
            </a:r>
          </a:p>
          <a:p>
            <a:r>
              <a:t>ANIMATION (Klickfolge): Klick 1: Lösung markieren (grüner Rahmen + Haken) · Klick 2: Begründung mit Paragraf</a:t>
            </a:r>
          </a:p>
          <a:p>
            <a:r>
              <a:t>ZEITPUFFER / STREICHEN: streichbar: ja (Fall B bei Zeitnot)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Fall</a:t>
            </a:r>
          </a:p>
          <a:p>
            <a:r>
              <a:t>SPRECHER: Yasin</a:t>
            </a:r>
          </a:p>
          <a:p>
            <a:r>
              <a:t>DAUER: 1:10</a:t>
            </a:r>
          </a:p>
          <a:p>
            <a:r>
              <a:t>SOZIALFORM: Plenum · Abstimmung A–D per Handzeichen</a:t>
            </a:r>
          </a:p>
          <a:p>
            <a:r>
              <a:t>IMPULS / MODERATION: Fall lesen lassen, Abstimmung A–D per Handzeichen (Verteilung an der Tafel), eine Begründung mit Regel erfragen, dann Klick 1 (Lösung) und Klick 2 (Begründung).</a:t>
            </a:r>
          </a:p>
          <a:p>
            <a:r>
              <a:t>ERWARTETE ANTWORTEN: C: Die Mindestausbildungsvergütung nach § 17 BBiG darf nicht unterschritten werden.</a:t>
            </a:r>
          </a:p>
          <a:p>
            <a:r>
              <a:t>ANIMATION (Klickfolge): Klick 1: Lösung markieren (grüner Rahmen + Haken) · Klick 2: Begründung mit Paragraf</a:t>
            </a:r>
          </a:p>
          <a:p>
            <a:r>
              <a:t>ZEITPUFFER / STREICHEN: streichbar: ja (Fall C bei Zeitnot)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Quiz &amp; Abschluss · FOLIENTYP: Antwort</a:t>
            </a:r>
          </a:p>
          <a:p>
            <a:r>
              <a:t>SPRECHER: Yasin</a:t>
            </a:r>
          </a:p>
          <a:p>
            <a:r>
              <a:t>DAUER: 1:15</a:t>
            </a:r>
          </a:p>
          <a:p>
            <a:r>
              <a:t>SOZIALFORM: Plenum · Vergleich mit der Tafel</a:t>
            </a:r>
          </a:p>
          <a:p>
            <a:r>
              <a:t>IMPULS / MODERATION: Pro Klick eine Antwort, mit den Tafelnotizen vergleichen. Dann Frage an die Klasse: „Was war neu für euch?“</a:t>
            </a:r>
          </a:p>
          <a:p>
            <a:r>
              <a:t>ERWARTETE ANTWORTEN: a Vier Monate · b 24 Werktage ab 18 Jahren, Jugendliche 25 bis 30 · c Keine Frist, aber schriftlich · d Ja, die Kündigung muss schriftlich erfolgen (§ 22 Abs. 3 BBiG). Freie Antworten zu „Was war neu?“</a:t>
            </a:r>
          </a:p>
          <a:p>
            <a:r>
              <a:t>ANIMATION (Klickfolge): Klick 1–4: Antwort a, b, c, d</a:t>
            </a:r>
          </a:p>
          <a:p>
            <a:r>
              <a:t>ZEITPUFFER / STREICHEN: streichbar: nein (kürzbar auf 50 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Quiz &amp; Abschluss · FOLIENTYP: Quiz</a:t>
            </a:r>
          </a:p>
          <a:p>
            <a:r>
              <a:t>SPRECHER: Mido</a:t>
            </a:r>
          </a:p>
          <a:p>
            <a:r>
              <a:t>DAUER: 2:30</a:t>
            </a:r>
          </a:p>
          <a:p>
            <a:r>
              <a:t>SOZIALFORM: Einzelarbeit · Handy</a:t>
            </a:r>
          </a:p>
          <a:p>
            <a:r>
              <a:t>IMPULS / MODERATION: Mini-Quiz auf der Website (5 Fragen), allein, ca. 3 Minuten, währenddessen kein Foliensprung. Danach Handzeichen: 5, 4, 3 oder weniger richtig? Zahlen notieren.</a:t>
            </a:r>
          </a:p>
          <a:p>
            <a:r>
              <a:t>ERWARTETE ANTWORTEN: Mehrheit 4 oder 5 richtig.</a:t>
            </a:r>
          </a:p>
          <a:p>
            <a:r>
              <a:t>ZEITPUFFER / STREICHEN: streichbar: nein (Fragen 1–3 genügen bei Zeitnot)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Quiz &amp; Abschluss · FOLIENTYP: Frage</a:t>
            </a:r>
          </a:p>
          <a:p>
            <a:r>
              <a:t>SPRECHER: Yasin</a:t>
            </a:r>
          </a:p>
          <a:p>
            <a:r>
              <a:t>DAUER: 0:45</a:t>
            </a:r>
          </a:p>
          <a:p>
            <a:r>
              <a:t>SOZIALFORM: Plenum · Blitzlicht</a:t>
            </a:r>
          </a:p>
          <a:p>
            <a:r>
              <a:t>IMPULS / MODERATION: Fünf Kernzahlen im Schnelldurchgang, Merkblatt zeigen (ausgeteilt). Blitzlicht: eine offene Frage, ein Satz pro Person oder Reihe. Danken, Website nennen.</a:t>
            </a:r>
          </a:p>
          <a:p>
            <a:r>
              <a:t>ERWARTETE ANTWORTEN: Offene Antworten (z. B. Zahlen, Fristen, Website).</a:t>
            </a:r>
          </a:p>
          <a:p>
            <a:r>
              <a:t>ZEITPUFFER / STREICHEN: streichbar: nein (Blitzlicht auf drei Stimmen kürzbar)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Aufgaben · FOLIENTYP: Frage</a:t>
            </a:r>
          </a:p>
          <a:p>
            <a:r>
              <a:t>SPRECHER: Yasin</a:t>
            </a:r>
          </a:p>
          <a:p>
            <a:r>
              <a:t>DAUER: Reserve (nicht in den 45 Minuten)</a:t>
            </a:r>
          </a:p>
          <a:p>
            <a:r>
              <a:t>SOZIALFORM: Plenum · Daumen hoch/runter</a:t>
            </a:r>
          </a:p>
          <a:p>
            <a:r>
              <a:t>IMPULS / MODERATION: Aussage für Aussage vorlesen; Daumen hoch = stimmt, Daumen runter = stimmt nicht; auf „drei“ gleichzeitig. Dann Lösungsfolie.</a:t>
            </a:r>
          </a:p>
          <a:p>
            <a:r>
              <a:t>ERWARTETE ANTWORTEN: Lösungen auf der nächsten Folie.</a:t>
            </a:r>
          </a:p>
          <a:p>
            <a:r>
              <a:t>ZEITPUFFER / STREICHEN: 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Aufgaben · FOLIENTYP: Antwort</a:t>
            </a:r>
          </a:p>
          <a:p>
            <a:r>
              <a:t>SPRECHER: Mido</a:t>
            </a:r>
          </a:p>
          <a:p>
            <a:r>
              <a:t>DAUER: Reserve (nicht in den 45 Minuten)</a:t>
            </a:r>
          </a:p>
          <a:p>
            <a:r>
              <a:t>SOZIALFORM: Plenum</a:t>
            </a:r>
          </a:p>
          <a:p>
            <a:r>
              <a:t>IMPULS / MODERATION: Lösungen mit Paragraf vorlesen lassen.</a:t>
            </a:r>
          </a:p>
          <a:p>
            <a:r>
              <a:t>ZEITPUFFER / STREICHEN: 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Besprechen · FOLIENTYP: Frage</a:t>
            </a:r>
          </a:p>
          <a:p>
            <a:r>
              <a:t>SPRECHER: Yasin</a:t>
            </a:r>
          </a:p>
          <a:p>
            <a:r>
              <a:t>DAUER: Reserve (nicht in den 45 Minuten)</a:t>
            </a:r>
          </a:p>
          <a:p>
            <a:r>
              <a:t>SOZIALFORM: Plenum · Zuruf</a:t>
            </a:r>
          </a:p>
          <a:p>
            <a:r>
              <a:t>IMPULS / MODERATION: Auszug zeigen, Zeilennummern nennen lassen; Auflösung mündlich mit der Fehlerliste aus den Notizen von Folie 16.</a:t>
            </a:r>
          </a:p>
          <a:p>
            <a:r>
              <a:t>ERWARTETE ANTWORTEN: Zeilen 2–6.</a:t>
            </a:r>
          </a:p>
          <a:p>
            <a:r>
              <a:t>ZEITPUFFER / STREICHEN: 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Quiz &amp; Abschluss · FOLIENTYP: Frage</a:t>
            </a:r>
          </a:p>
          <a:p>
            <a:r>
              <a:t>SPRECHER: Mido</a:t>
            </a:r>
          </a:p>
          <a:p>
            <a:r>
              <a:t>DAUER: Reserve (nicht in den 45 Minuten)</a:t>
            </a:r>
          </a:p>
          <a:p>
            <a:r>
              <a:t>SOZIALFORM: Einzelarbeit · A–D auf Zettel</a:t>
            </a:r>
          </a:p>
          <a:p>
            <a:r>
              <a:t>IMPULS / MODERATION: Fünf Fragen zeigen, A–D auf Zettel notieren, danach Lösungsfolie; Handzeichen 5/4/3/weniger.</a:t>
            </a:r>
          </a:p>
          <a:p>
            <a:r>
              <a:t>ERWARTETE ANTWORTEN: Lösungen auf der nächsten Folie.</a:t>
            </a:r>
          </a:p>
          <a:p>
            <a:r>
              <a:t>ZEITPUFFER / STREICHEN: 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Quiz &amp; Abschluss · FOLIENTYP: Antwort</a:t>
            </a:r>
          </a:p>
          <a:p>
            <a:r>
              <a:t>SPRECHER: Yasin</a:t>
            </a:r>
          </a:p>
          <a:p>
            <a:r>
              <a:t>DAUER: Reserve (nicht in den 45 Minuten)</a:t>
            </a:r>
          </a:p>
          <a:p>
            <a:r>
              <a:t>SOZIALFORM: Plenum</a:t>
            </a:r>
          </a:p>
          <a:p>
            <a:r>
              <a:t>IMPULS / MODERATION: Lösungen mit Regel; Handzeichen 5/4/3/weniger.</a:t>
            </a:r>
          </a:p>
          <a:p>
            <a:r>
              <a:t>ZEITPUFFER / STREICHEN: NUR ANZEIGEN, wenn Internet oder Handys ausfallen.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280160"/>
            <a:ext cx="10515600" cy="548640"/>
          </a:xfrm>
          <a:prstGeom prst="rect">
            <a:avLst/>
          </a:prstGeom>
          <a:noFill/>
        </p:spPr>
        <p:txBody>
          <a:bodyPr wrap="square" anchor="t" tIns="36576" bIns="36576">
            <a:spAutoFit/>
          </a:bodyPr>
          <a:lstStyle/>
          <a:p>
            <a:pPr algn="l"/>
            <a:r>
              <a:rPr sz="2400" b="1">
                <a:solidFill>
                  <a:srgbClr val="F5A623"/>
                </a:solidFill>
                <a:latin typeface="Calibri"/>
              </a:rPr>
              <a:t>UNTERRICHTSSTUNDE IM FACH GP</a:t>
            </a:r>
          </a:p>
        </p:txBody>
      </p:sp>
      <p:sp>
        <p:nvSpPr>
          <p:cNvPr id="5" name="Titel"/>
          <p:cNvSpPr txBox="1"/>
          <p:nvPr/>
        </p:nvSpPr>
        <p:spPr>
          <a:xfrm>
            <a:off x="914400" y="1828800"/>
            <a:ext cx="10515600" cy="2377440"/>
          </a:xfrm>
          <a:prstGeom prst="rect">
            <a:avLst/>
          </a:prstGeom>
          <a:noFill/>
        </p:spPr>
        <p:txBody>
          <a:bodyPr wrap="square" anchor="t" tIns="36576" bIns="36576">
            <a:spAutoFit/>
          </a:bodyPr>
          <a:lstStyle/>
          <a:p>
            <a:pPr algn="l"/>
            <a:r>
              <a:rPr sz="5400" b="1">
                <a:solidFill>
                  <a:srgbClr val="FFFFFF"/>
                </a:solidFill>
                <a:latin typeface="Calibri"/>
              </a:rPr>
              <a:t>Rechte und Pflichten aus dem Ausbildungsvertrag</a:t>
            </a:r>
          </a:p>
        </p:txBody>
      </p:sp>
      <p:sp>
        <p:nvSpPr>
          <p:cNvPr id="6" name="Rectangle 5"/>
          <p:cNvSpPr/>
          <p:nvPr/>
        </p:nvSpPr>
        <p:spPr>
          <a:xfrm>
            <a:off x="914400" y="4389120"/>
            <a:ext cx="1828800" cy="73152"/>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17720"/>
            <a:ext cx="10058400" cy="731520"/>
          </a:xfrm>
          <a:prstGeom prst="rect">
            <a:avLst/>
          </a:prstGeom>
          <a:noFill/>
        </p:spPr>
        <p:txBody>
          <a:bodyPr wrap="square" anchor="t" tIns="36576" bIns="36576">
            <a:spAutoFit/>
          </a:bodyPr>
          <a:lstStyle/>
          <a:p>
            <a:pPr algn="l"/>
            <a:r>
              <a:rPr sz="3600" b="0">
                <a:solidFill>
                  <a:srgbClr val="DCE3F2"/>
                </a:solidFill>
                <a:latin typeface="Calibri"/>
              </a:rPr>
              <a:t>Yasin &amp; Mido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Einstieg</a:t>
            </a:r>
          </a:p>
        </p:txBody>
      </p:sp>
      <p:sp>
        <p:nvSpPr>
          <p:cNvPr id="5" name="Rectangle 4"/>
          <p:cNvSpPr/>
          <p:nvPr/>
        </p:nvSpPr>
        <p:spPr>
          <a:xfrm>
            <a:off x="1741670" y="0"/>
            <a:ext cx="1915837"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pic>
        <p:nvPicPr>
          <p:cNvPr id="15" name="Picture 14" descr="Fragezeichen-Symbol"/>
          <p:cNvPicPr>
            <a:picLocks noChangeAspect="1"/>
          </p:cNvPicPr>
          <p:nvPr/>
        </p:nvPicPr>
        <p:blipFill>
          <a:blip r:embed="rId3"/>
          <a:stretch>
            <a:fillRect/>
          </a:stretch>
        </p:blipFill>
        <p:spPr>
          <a:xfrm>
            <a:off x="548640" y="640080"/>
            <a:ext cx="914400" cy="914400"/>
          </a:xfrm>
          <a:prstGeom prst="rect">
            <a:avLst/>
          </a:prstGeom>
        </p:spPr>
      </p:pic>
      <p:sp>
        <p:nvSpPr>
          <p:cNvPr id="16" name="Frage"/>
          <p:cNvSpPr txBox="1"/>
          <p:nvPr/>
        </p:nvSpPr>
        <p:spPr>
          <a:xfrm>
            <a:off x="1645920" y="566928"/>
            <a:ext cx="10058400" cy="1143000"/>
          </a:xfrm>
          <a:prstGeom prst="rect">
            <a:avLst/>
          </a:prstGeom>
          <a:noFill/>
        </p:spPr>
        <p:txBody>
          <a:bodyPr wrap="square" anchor="ctr" tIns="36576" bIns="36576">
            <a:spAutoFit/>
          </a:bodyPr>
          <a:lstStyle/>
          <a:p>
            <a:pPr algn="l"/>
            <a:r>
              <a:rPr sz="3400" b="1">
                <a:solidFill>
                  <a:srgbClr val="1F2A44"/>
                </a:solidFill>
                <a:latin typeface="Calibri"/>
              </a:rPr>
              <a:t>Dein erster Arbeitstag: Was steht eigentlich in deinem Ausbildungsvertrag?</a:t>
            </a:r>
          </a:p>
        </p:txBody>
      </p:sp>
      <p:sp>
        <p:nvSpPr>
          <p:cNvPr id="17" name="TextBox 16"/>
          <p:cNvSpPr txBox="1"/>
          <p:nvPr/>
        </p:nvSpPr>
        <p:spPr>
          <a:xfrm>
            <a:off x="640080" y="1783080"/>
            <a:ext cx="10881360" cy="457200"/>
          </a:xfrm>
          <a:prstGeom prst="rect">
            <a:avLst/>
          </a:prstGeom>
          <a:noFill/>
        </p:spPr>
        <p:txBody>
          <a:bodyPr wrap="square" anchor="t" tIns="36576" bIns="36576">
            <a:spAutoFit/>
          </a:bodyPr>
          <a:lstStyle/>
          <a:p>
            <a:pPr algn="l"/>
            <a:r>
              <a:rPr sz="2800" b="1">
                <a:solidFill>
                  <a:srgbClr val="7A4B00"/>
                </a:solidFill>
                <a:latin typeface="Calibri"/>
              </a:rPr>
              <a:t>Am Ende der Stunde könnt ihr …</a:t>
            </a:r>
          </a:p>
        </p:txBody>
      </p:sp>
      <p:sp>
        <p:nvSpPr>
          <p:cNvPr id="18" name="Rectangle 17"/>
          <p:cNvSpPr/>
          <p:nvPr/>
        </p:nvSpPr>
        <p:spPr>
          <a:xfrm>
            <a:off x="640080" y="2286000"/>
            <a:ext cx="10881360" cy="8412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2286000"/>
            <a:ext cx="109728" cy="84124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14400" y="2423160"/>
            <a:ext cx="566928" cy="56692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1</a:t>
            </a:r>
          </a:p>
        </p:txBody>
      </p:sp>
      <p:sp>
        <p:nvSpPr>
          <p:cNvPr id="21" name="TextBox 20"/>
          <p:cNvSpPr txBox="1"/>
          <p:nvPr/>
        </p:nvSpPr>
        <p:spPr>
          <a:xfrm>
            <a:off x="1691640" y="2286000"/>
            <a:ext cx="9692640" cy="841248"/>
          </a:xfrm>
          <a:prstGeom prst="rect">
            <a:avLst/>
          </a:prstGeom>
          <a:noFill/>
        </p:spPr>
        <p:txBody>
          <a:bodyPr wrap="square" anchor="ctr" tIns="36576" bIns="36576">
            <a:spAutoFit/>
          </a:bodyPr>
          <a:lstStyle/>
          <a:p>
            <a:pPr algn="l"/>
            <a:r>
              <a:rPr sz="2800" b="0">
                <a:solidFill>
                  <a:srgbClr val="1F2A44"/>
                </a:solidFill>
                <a:latin typeface="Calibri"/>
              </a:rPr>
              <a:t>nennen, was in einen Ausbildungsvertrag gehört</a:t>
            </a:r>
          </a:p>
        </p:txBody>
      </p:sp>
      <p:sp>
        <p:nvSpPr>
          <p:cNvPr id="22" name="Rectangle 21"/>
          <p:cNvSpPr/>
          <p:nvPr/>
        </p:nvSpPr>
        <p:spPr>
          <a:xfrm>
            <a:off x="640080" y="3200400"/>
            <a:ext cx="10881360" cy="8412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3200400"/>
            <a:ext cx="109728" cy="84124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14400" y="3337560"/>
            <a:ext cx="566928" cy="56692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2</a:t>
            </a:r>
          </a:p>
        </p:txBody>
      </p:sp>
      <p:sp>
        <p:nvSpPr>
          <p:cNvPr id="25" name="TextBox 24"/>
          <p:cNvSpPr txBox="1"/>
          <p:nvPr/>
        </p:nvSpPr>
        <p:spPr>
          <a:xfrm>
            <a:off x="1691640" y="3200400"/>
            <a:ext cx="9692640" cy="841248"/>
          </a:xfrm>
          <a:prstGeom prst="rect">
            <a:avLst/>
          </a:prstGeom>
          <a:noFill/>
        </p:spPr>
        <p:txBody>
          <a:bodyPr wrap="square" anchor="ctr" tIns="36576" bIns="36576">
            <a:spAutoFit/>
          </a:bodyPr>
          <a:lstStyle/>
          <a:p>
            <a:pPr algn="l"/>
            <a:r>
              <a:rPr sz="2800" b="0">
                <a:solidFill>
                  <a:srgbClr val="1F2A44"/>
                </a:solidFill>
                <a:latin typeface="Calibri"/>
              </a:rPr>
              <a:t>Vergütung, Urlaub, Arbeitszeit, Probezeit und Kündigung anwenden</a:t>
            </a:r>
          </a:p>
        </p:txBody>
      </p:sp>
      <p:sp>
        <p:nvSpPr>
          <p:cNvPr id="26" name="Rectangle 25"/>
          <p:cNvSpPr/>
          <p:nvPr/>
        </p:nvSpPr>
        <p:spPr>
          <a:xfrm>
            <a:off x="640080" y="4114800"/>
            <a:ext cx="10881360" cy="8412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4114800"/>
            <a:ext cx="109728" cy="84124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4400" y="4251960"/>
            <a:ext cx="566928" cy="56692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400" b="1">
                <a:solidFill>
                  <a:srgbClr val="FFFFFF"/>
                </a:solidFill>
                <a:latin typeface="Calibri"/>
              </a:rPr>
              <a:t>3</a:t>
            </a:r>
          </a:p>
        </p:txBody>
      </p:sp>
      <p:sp>
        <p:nvSpPr>
          <p:cNvPr id="29" name="TextBox 28"/>
          <p:cNvSpPr txBox="1"/>
          <p:nvPr/>
        </p:nvSpPr>
        <p:spPr>
          <a:xfrm>
            <a:off x="1691640" y="4114800"/>
            <a:ext cx="9692640" cy="841248"/>
          </a:xfrm>
          <a:prstGeom prst="rect">
            <a:avLst/>
          </a:prstGeom>
          <a:noFill/>
        </p:spPr>
        <p:txBody>
          <a:bodyPr wrap="square" anchor="ctr" tIns="36576" bIns="36576">
            <a:spAutoFit/>
          </a:bodyPr>
          <a:lstStyle/>
          <a:p>
            <a:pPr algn="l"/>
            <a:r>
              <a:rPr sz="2800" b="0">
                <a:solidFill>
                  <a:srgbClr val="1F2A44"/>
                </a:solidFill>
                <a:latin typeface="Calibri"/>
              </a:rPr>
              <a:t>Fälle mit der passenden Regel begründen</a:t>
            </a:r>
          </a:p>
        </p:txBody>
      </p:sp>
      <p:sp>
        <p:nvSpPr>
          <p:cNvPr id="30" name="Rectangle 29"/>
          <p:cNvSpPr/>
          <p:nvPr/>
        </p:nvSpPr>
        <p:spPr>
          <a:xfrm>
            <a:off x="640080" y="5029200"/>
            <a:ext cx="1737360" cy="12344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029200"/>
            <a:ext cx="1737360" cy="457200"/>
          </a:xfrm>
          <a:prstGeom prst="rect">
            <a:avLst/>
          </a:prstGeom>
          <a:noFill/>
        </p:spPr>
        <p:txBody>
          <a:bodyPr wrap="square" anchor="t" tIns="36576" bIns="36576">
            <a:spAutoFit/>
          </a:bodyPr>
          <a:lstStyle/>
          <a:p>
            <a:pPr algn="ctr"/>
            <a:r>
              <a:rPr sz="2800" b="1">
                <a:solidFill>
                  <a:srgbClr val="FFFFFF"/>
                </a:solidFill>
                <a:latin typeface="Calibri"/>
              </a:rPr>
              <a:t>2 Min.</a:t>
            </a:r>
          </a:p>
        </p:txBody>
      </p:sp>
      <p:sp>
        <p:nvSpPr>
          <p:cNvPr id="32" name="TextBox 31"/>
          <p:cNvSpPr txBox="1"/>
          <p:nvPr/>
        </p:nvSpPr>
        <p:spPr>
          <a:xfrm>
            <a:off x="640080" y="5468112"/>
            <a:ext cx="1737360" cy="777240"/>
          </a:xfrm>
          <a:prstGeom prst="rect">
            <a:avLst/>
          </a:prstGeom>
          <a:noFill/>
        </p:spPr>
        <p:txBody>
          <a:bodyPr wrap="square" anchor="t" tIns="36576" bIns="36576">
            <a:spAutoFit/>
          </a:bodyPr>
          <a:lstStyle/>
          <a:p>
            <a:pPr algn="ctr"/>
            <a:r>
              <a:rPr sz="2400" b="0">
                <a:solidFill>
                  <a:srgbClr val="FFFFFF"/>
                </a:solidFill>
                <a:latin typeface="Calibri"/>
              </a:rPr>
              <a:t>Einstieg</a:t>
            </a:r>
          </a:p>
        </p:txBody>
      </p:sp>
      <p:sp>
        <p:nvSpPr>
          <p:cNvPr id="33" name="Rectangle 32"/>
          <p:cNvSpPr/>
          <p:nvPr/>
        </p:nvSpPr>
        <p:spPr>
          <a:xfrm>
            <a:off x="2459736" y="5029200"/>
            <a:ext cx="1737360" cy="12344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459736" y="5029200"/>
            <a:ext cx="1737360" cy="457200"/>
          </a:xfrm>
          <a:prstGeom prst="rect">
            <a:avLst/>
          </a:prstGeom>
          <a:noFill/>
        </p:spPr>
        <p:txBody>
          <a:bodyPr wrap="square" anchor="t" tIns="36576" bIns="36576">
            <a:spAutoFit/>
          </a:bodyPr>
          <a:lstStyle/>
          <a:p>
            <a:pPr algn="ctr"/>
            <a:r>
              <a:rPr sz="2800" b="1">
                <a:solidFill>
                  <a:srgbClr val="FFFFFF"/>
                </a:solidFill>
                <a:latin typeface="Calibri"/>
              </a:rPr>
              <a:t>3 Min.</a:t>
            </a:r>
          </a:p>
        </p:txBody>
      </p:sp>
      <p:sp>
        <p:nvSpPr>
          <p:cNvPr id="35" name="TextBox 34"/>
          <p:cNvSpPr txBox="1"/>
          <p:nvPr/>
        </p:nvSpPr>
        <p:spPr>
          <a:xfrm>
            <a:off x="2459736" y="5468112"/>
            <a:ext cx="1737360" cy="777240"/>
          </a:xfrm>
          <a:prstGeom prst="rect">
            <a:avLst/>
          </a:prstGeom>
          <a:noFill/>
        </p:spPr>
        <p:txBody>
          <a:bodyPr wrap="square" anchor="t" tIns="36576" bIns="36576">
            <a:spAutoFit/>
          </a:bodyPr>
          <a:lstStyle/>
          <a:p>
            <a:pPr algn="ctr"/>
            <a:r>
              <a:rPr sz="2400" b="0">
                <a:solidFill>
                  <a:srgbClr val="FFFFFF"/>
                </a:solidFill>
                <a:latin typeface="Calibri"/>
              </a:rPr>
              <a:t>Fragerunde</a:t>
            </a:r>
          </a:p>
        </p:txBody>
      </p:sp>
      <p:sp>
        <p:nvSpPr>
          <p:cNvPr id="36" name="Rectangle 35"/>
          <p:cNvSpPr/>
          <p:nvPr/>
        </p:nvSpPr>
        <p:spPr>
          <a:xfrm>
            <a:off x="4279392" y="5029200"/>
            <a:ext cx="1737360" cy="12344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79392" y="5029200"/>
            <a:ext cx="1737360" cy="457200"/>
          </a:xfrm>
          <a:prstGeom prst="rect">
            <a:avLst/>
          </a:prstGeom>
          <a:noFill/>
        </p:spPr>
        <p:txBody>
          <a:bodyPr wrap="square" anchor="t" tIns="36576" bIns="36576">
            <a:spAutoFit/>
          </a:bodyPr>
          <a:lstStyle/>
          <a:p>
            <a:pPr algn="ctr"/>
            <a:r>
              <a:rPr sz="2800" b="1">
                <a:solidFill>
                  <a:srgbClr val="FFFFFF"/>
                </a:solidFill>
                <a:latin typeface="Calibri"/>
              </a:rPr>
              <a:t>12 Min.</a:t>
            </a:r>
          </a:p>
        </p:txBody>
      </p:sp>
      <p:sp>
        <p:nvSpPr>
          <p:cNvPr id="38" name="TextBox 37"/>
          <p:cNvSpPr txBox="1"/>
          <p:nvPr/>
        </p:nvSpPr>
        <p:spPr>
          <a:xfrm>
            <a:off x="4279392" y="5468112"/>
            <a:ext cx="1737360" cy="777240"/>
          </a:xfrm>
          <a:prstGeom prst="rect">
            <a:avLst/>
          </a:prstGeom>
          <a:noFill/>
        </p:spPr>
        <p:txBody>
          <a:bodyPr wrap="square" anchor="t" tIns="36576" bIns="36576">
            <a:spAutoFit/>
          </a:bodyPr>
          <a:lstStyle/>
          <a:p>
            <a:pPr algn="ctr"/>
            <a:r>
              <a:rPr sz="2400" b="0">
                <a:solidFill>
                  <a:srgbClr val="FFFFFF"/>
                </a:solidFill>
                <a:latin typeface="Calibri"/>
              </a:rPr>
              <a:t>Erklären</a:t>
            </a:r>
          </a:p>
        </p:txBody>
      </p:sp>
      <p:sp>
        <p:nvSpPr>
          <p:cNvPr id="39" name="Rectangle 38"/>
          <p:cNvSpPr/>
          <p:nvPr/>
        </p:nvSpPr>
        <p:spPr>
          <a:xfrm>
            <a:off x="6099048" y="5029200"/>
            <a:ext cx="1737360" cy="12344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099048" y="5029200"/>
            <a:ext cx="1737360" cy="457200"/>
          </a:xfrm>
          <a:prstGeom prst="rect">
            <a:avLst/>
          </a:prstGeom>
          <a:noFill/>
        </p:spPr>
        <p:txBody>
          <a:bodyPr wrap="square" anchor="t" tIns="36576" bIns="36576">
            <a:spAutoFit/>
          </a:bodyPr>
          <a:lstStyle/>
          <a:p>
            <a:pPr algn="ctr"/>
            <a:r>
              <a:rPr sz="2800" b="1">
                <a:solidFill>
                  <a:srgbClr val="1F2A44"/>
                </a:solidFill>
                <a:latin typeface="Calibri"/>
              </a:rPr>
              <a:t>13 Min.</a:t>
            </a:r>
          </a:p>
        </p:txBody>
      </p:sp>
      <p:sp>
        <p:nvSpPr>
          <p:cNvPr id="41" name="TextBox 40"/>
          <p:cNvSpPr txBox="1"/>
          <p:nvPr/>
        </p:nvSpPr>
        <p:spPr>
          <a:xfrm>
            <a:off x="6099048" y="5468112"/>
            <a:ext cx="1737360" cy="777240"/>
          </a:xfrm>
          <a:prstGeom prst="rect">
            <a:avLst/>
          </a:prstGeom>
          <a:noFill/>
        </p:spPr>
        <p:txBody>
          <a:bodyPr wrap="square" anchor="t" tIns="36576" bIns="36576">
            <a:spAutoFit/>
          </a:bodyPr>
          <a:lstStyle/>
          <a:p>
            <a:pPr algn="ctr"/>
            <a:r>
              <a:rPr sz="2400" b="0">
                <a:solidFill>
                  <a:srgbClr val="1F2A44"/>
                </a:solidFill>
                <a:latin typeface="Calibri"/>
              </a:rPr>
              <a:t>Aufgaben</a:t>
            </a:r>
          </a:p>
        </p:txBody>
      </p:sp>
      <p:sp>
        <p:nvSpPr>
          <p:cNvPr id="42" name="Rectangle 41"/>
          <p:cNvSpPr/>
          <p:nvPr/>
        </p:nvSpPr>
        <p:spPr>
          <a:xfrm>
            <a:off x="7918704" y="5029200"/>
            <a:ext cx="1737360" cy="12344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18704" y="5029200"/>
            <a:ext cx="1737360" cy="457200"/>
          </a:xfrm>
          <a:prstGeom prst="rect">
            <a:avLst/>
          </a:prstGeom>
          <a:noFill/>
        </p:spPr>
        <p:txBody>
          <a:bodyPr wrap="square" anchor="t" tIns="36576" bIns="36576">
            <a:spAutoFit/>
          </a:bodyPr>
          <a:lstStyle/>
          <a:p>
            <a:pPr algn="ctr"/>
            <a:r>
              <a:rPr sz="2800" b="1">
                <a:solidFill>
                  <a:srgbClr val="FFFFFF"/>
                </a:solidFill>
                <a:latin typeface="Calibri"/>
              </a:rPr>
              <a:t>7 Min.</a:t>
            </a:r>
          </a:p>
        </p:txBody>
      </p:sp>
      <p:sp>
        <p:nvSpPr>
          <p:cNvPr id="44" name="TextBox 43"/>
          <p:cNvSpPr txBox="1"/>
          <p:nvPr/>
        </p:nvSpPr>
        <p:spPr>
          <a:xfrm>
            <a:off x="7918704" y="5468112"/>
            <a:ext cx="1737360" cy="777240"/>
          </a:xfrm>
          <a:prstGeom prst="rect">
            <a:avLst/>
          </a:prstGeom>
          <a:noFill/>
        </p:spPr>
        <p:txBody>
          <a:bodyPr wrap="square" anchor="t" tIns="36576" bIns="36576">
            <a:spAutoFit/>
          </a:bodyPr>
          <a:lstStyle/>
          <a:p>
            <a:pPr algn="ctr"/>
            <a:r>
              <a:rPr sz="2400" b="0">
                <a:solidFill>
                  <a:srgbClr val="FFFFFF"/>
                </a:solidFill>
                <a:latin typeface="Calibri"/>
              </a:rPr>
              <a:t>Besprechen</a:t>
            </a:r>
          </a:p>
        </p:txBody>
      </p:sp>
      <p:sp>
        <p:nvSpPr>
          <p:cNvPr id="45" name="Rectangle 44"/>
          <p:cNvSpPr/>
          <p:nvPr/>
        </p:nvSpPr>
        <p:spPr>
          <a:xfrm>
            <a:off x="9738359" y="5029200"/>
            <a:ext cx="1737360" cy="12344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738359" y="5029200"/>
            <a:ext cx="1737360" cy="457200"/>
          </a:xfrm>
          <a:prstGeom prst="rect">
            <a:avLst/>
          </a:prstGeom>
          <a:noFill/>
        </p:spPr>
        <p:txBody>
          <a:bodyPr wrap="square" anchor="t" tIns="36576" bIns="36576">
            <a:spAutoFit/>
          </a:bodyPr>
          <a:lstStyle/>
          <a:p>
            <a:pPr algn="ctr"/>
            <a:r>
              <a:rPr sz="2800" b="1">
                <a:solidFill>
                  <a:srgbClr val="FFFFFF"/>
                </a:solidFill>
                <a:latin typeface="Calibri"/>
              </a:rPr>
              <a:t>5 Min.</a:t>
            </a:r>
          </a:p>
        </p:txBody>
      </p:sp>
      <p:sp>
        <p:nvSpPr>
          <p:cNvPr id="47" name="TextBox 46"/>
          <p:cNvSpPr txBox="1"/>
          <p:nvPr/>
        </p:nvSpPr>
        <p:spPr>
          <a:xfrm>
            <a:off x="9738359" y="5468112"/>
            <a:ext cx="1737360" cy="777240"/>
          </a:xfrm>
          <a:prstGeom prst="rect">
            <a:avLst/>
          </a:prstGeom>
          <a:noFill/>
        </p:spPr>
        <p:txBody>
          <a:bodyPr wrap="square" anchor="t" tIns="36576" bIns="36576">
            <a:spAutoFit/>
          </a:bodyPr>
          <a:lstStyle/>
          <a:p>
            <a:pPr algn="ctr"/>
            <a:r>
              <a:rPr sz="2400" b="0">
                <a:solidFill>
                  <a:srgbClr val="FFFFFF"/>
                </a:solidFill>
                <a:latin typeface="Calibri"/>
              </a:rPr>
              <a:t>Quiz &amp;</a:t>
            </a:r>
          </a:p>
          <a:p>
            <a:pPr algn="ctr">
              <a:spcBef>
                <a:spcPts val="0"/>
              </a:spcBef>
            </a:pPr>
            <a:r>
              <a:rPr sz="2400" b="0">
                <a:solidFill>
                  <a:srgbClr val="FFFFFF"/>
                </a:solidFill>
                <a:latin typeface="Calibri"/>
              </a:rPr>
              <a:t>Abschluss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1">
                <a:solidFill>
                  <a:srgbClr val="1F2A44"/>
                </a:solidFill>
                <a:latin typeface="Calibri"/>
              </a:rPr>
              <a:t>Fragerunde</a:t>
            </a:r>
          </a:p>
        </p:txBody>
      </p:sp>
      <p:sp>
        <p:nvSpPr>
          <p:cNvPr id="7" name="Rectangle 6"/>
          <p:cNvSpPr/>
          <p:nvPr/>
        </p:nvSpPr>
        <p:spPr>
          <a:xfrm>
            <a:off x="3657508" y="0"/>
            <a:ext cx="174167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48640"/>
            <a:ext cx="11155680" cy="868680"/>
          </a:xfrm>
          <a:prstGeom prst="rect">
            <a:avLst/>
          </a:prstGeom>
          <a:noFill/>
        </p:spPr>
        <p:txBody>
          <a:bodyPr wrap="square" anchor="ctr" tIns="36576" bIns="36576">
            <a:spAutoFit/>
          </a:bodyPr>
          <a:lstStyle/>
          <a:p>
            <a:pPr algn="l"/>
            <a:r>
              <a:rPr sz="4000" b="1">
                <a:solidFill>
                  <a:srgbClr val="1F2A44"/>
                </a:solidFill>
                <a:latin typeface="Calibri"/>
              </a:rPr>
              <a:t>Was wisst ihr schon?</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1691640"/>
            <a:ext cx="5349240" cy="2057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1691640"/>
            <a:ext cx="109728" cy="2057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14400" y="192024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a</a:t>
            </a:r>
          </a:p>
        </p:txBody>
      </p:sp>
      <p:sp>
        <p:nvSpPr>
          <p:cNvPr id="20" name="Frage_a"/>
          <p:cNvSpPr txBox="1"/>
          <p:nvPr/>
        </p:nvSpPr>
        <p:spPr>
          <a:xfrm>
            <a:off x="960119" y="2606040"/>
            <a:ext cx="4937760" cy="1097280"/>
          </a:xfrm>
          <a:prstGeom prst="rect">
            <a:avLst/>
          </a:prstGeom>
          <a:noFill/>
        </p:spPr>
        <p:txBody>
          <a:bodyPr wrap="square" anchor="ctr" tIns="36576" bIns="36576">
            <a:spAutoFit/>
          </a:bodyPr>
          <a:lstStyle/>
          <a:p>
            <a:pPr algn="l"/>
            <a:r>
              <a:rPr sz="2800" b="1">
                <a:solidFill>
                  <a:srgbClr val="1F2A44"/>
                </a:solidFill>
                <a:latin typeface="Calibri"/>
              </a:rPr>
              <a:t>Wie lange darf die Probezeit höchstens dauern?</a:t>
            </a:r>
          </a:p>
        </p:txBody>
      </p:sp>
      <p:sp>
        <p:nvSpPr>
          <p:cNvPr id="21" name="Rectangle 20"/>
          <p:cNvSpPr/>
          <p:nvPr/>
        </p:nvSpPr>
        <p:spPr>
          <a:xfrm>
            <a:off x="6172200" y="1691640"/>
            <a:ext cx="5349240" cy="2057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1691640"/>
            <a:ext cx="109728" cy="2057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46520" y="192024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b</a:t>
            </a:r>
          </a:p>
        </p:txBody>
      </p:sp>
      <p:sp>
        <p:nvSpPr>
          <p:cNvPr id="24" name="Frage_b"/>
          <p:cNvSpPr txBox="1"/>
          <p:nvPr/>
        </p:nvSpPr>
        <p:spPr>
          <a:xfrm>
            <a:off x="6492240" y="2606040"/>
            <a:ext cx="4937760" cy="1097280"/>
          </a:xfrm>
          <a:prstGeom prst="rect">
            <a:avLst/>
          </a:prstGeom>
          <a:noFill/>
        </p:spPr>
        <p:txBody>
          <a:bodyPr wrap="square" anchor="ctr" tIns="36576" bIns="36576">
            <a:spAutoFit/>
          </a:bodyPr>
          <a:lstStyle/>
          <a:p>
            <a:pPr algn="l"/>
            <a:r>
              <a:rPr sz="2800" b="1">
                <a:solidFill>
                  <a:srgbClr val="1F2A44"/>
                </a:solidFill>
                <a:latin typeface="Calibri"/>
              </a:rPr>
              <a:t>Wie viele Urlaubstage stehen einem Azubi mindestens zu?</a:t>
            </a:r>
          </a:p>
        </p:txBody>
      </p:sp>
      <p:sp>
        <p:nvSpPr>
          <p:cNvPr id="25" name="Rectangle 24"/>
          <p:cNvSpPr/>
          <p:nvPr/>
        </p:nvSpPr>
        <p:spPr>
          <a:xfrm>
            <a:off x="640080" y="3931920"/>
            <a:ext cx="5349240" cy="2057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3931920"/>
            <a:ext cx="109728" cy="2057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14400" y="416052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c</a:t>
            </a:r>
          </a:p>
        </p:txBody>
      </p:sp>
      <p:sp>
        <p:nvSpPr>
          <p:cNvPr id="28" name="Frage_c"/>
          <p:cNvSpPr txBox="1"/>
          <p:nvPr/>
        </p:nvSpPr>
        <p:spPr>
          <a:xfrm>
            <a:off x="960119" y="4846320"/>
            <a:ext cx="4937760" cy="1097280"/>
          </a:xfrm>
          <a:prstGeom prst="rect">
            <a:avLst/>
          </a:prstGeom>
          <a:noFill/>
        </p:spPr>
        <p:txBody>
          <a:bodyPr wrap="square" anchor="ctr" tIns="36576" bIns="36576">
            <a:spAutoFit/>
          </a:bodyPr>
          <a:lstStyle/>
          <a:p>
            <a:pPr algn="l"/>
            <a:r>
              <a:rPr sz="2800" b="1">
                <a:solidFill>
                  <a:srgbClr val="1F2A44"/>
                </a:solidFill>
                <a:latin typeface="Calibri"/>
              </a:rPr>
              <a:t>Welche Kündigungsfrist gilt in der Probezeit?</a:t>
            </a:r>
          </a:p>
        </p:txBody>
      </p:sp>
      <p:sp>
        <p:nvSpPr>
          <p:cNvPr id="29" name="Rectangle 28"/>
          <p:cNvSpPr/>
          <p:nvPr/>
        </p:nvSpPr>
        <p:spPr>
          <a:xfrm>
            <a:off x="6172200" y="3931920"/>
            <a:ext cx="5349240" cy="2057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3931920"/>
            <a:ext cx="109728" cy="20574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446520" y="4160520"/>
            <a:ext cx="685800" cy="6858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d</a:t>
            </a:r>
          </a:p>
        </p:txBody>
      </p:sp>
      <p:sp>
        <p:nvSpPr>
          <p:cNvPr id="32" name="Frage_d"/>
          <p:cNvSpPr txBox="1"/>
          <p:nvPr/>
        </p:nvSpPr>
        <p:spPr>
          <a:xfrm>
            <a:off x="6492240" y="4846320"/>
            <a:ext cx="4937760" cy="1097280"/>
          </a:xfrm>
          <a:prstGeom prst="rect">
            <a:avLst/>
          </a:prstGeom>
          <a:noFill/>
        </p:spPr>
        <p:txBody>
          <a:bodyPr wrap="square" anchor="ctr" tIns="36576" bIns="36576">
            <a:spAutoFit/>
          </a:bodyPr>
          <a:lstStyle/>
          <a:p>
            <a:pPr algn="l"/>
            <a:r>
              <a:rPr sz="2800" b="1">
                <a:solidFill>
                  <a:srgbClr val="1F2A44"/>
                </a:solidFill>
                <a:latin typeface="Calibri"/>
              </a:rPr>
              <a:t>Muss eine Kündigung schriftlich sein?</a:t>
            </a:r>
          </a:p>
        </p:txBody>
      </p:sp>
      <p:sp>
        <p:nvSpPr>
          <p:cNvPr id="33" name="Rounded Rectangle 32"/>
          <p:cNvSpPr/>
          <p:nvPr/>
        </p:nvSpPr>
        <p:spPr>
          <a:xfrm>
            <a:off x="502920" y="6327648"/>
            <a:ext cx="2432304"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2432304" cy="420624"/>
          </a:xfrm>
          <a:prstGeom prst="rect">
            <a:avLst/>
          </a:prstGeom>
          <a:noFill/>
        </p:spPr>
        <p:txBody>
          <a:bodyPr wrap="square" anchor="ctr" tIns="36576" bIns="36576">
            <a:spAutoFit/>
          </a:bodyPr>
          <a:lstStyle/>
          <a:p>
            <a:pPr algn="ctr"/>
            <a:r>
              <a:rPr sz="2400" b="1">
                <a:solidFill>
                  <a:srgbClr val="FFFFFF"/>
                </a:solidFill>
                <a:latin typeface="Calibri"/>
              </a:rPr>
              <a:t>Zuruf · Tafel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Der Vertrag: sechs Pflichtangaben</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11 BBiG</a:t>
            </a:r>
          </a:p>
        </p:txBody>
      </p:sp>
      <p:sp>
        <p:nvSpPr>
          <p:cNvPr id="18" name="Rectangle 17"/>
          <p:cNvSpPr/>
          <p:nvPr/>
        </p:nvSpPr>
        <p:spPr>
          <a:xfrm>
            <a:off x="640080" y="1600200"/>
            <a:ext cx="5349240" cy="850392"/>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ymbol Beginn und Dauer"/>
          <p:cNvPicPr>
            <a:picLocks noChangeAspect="1"/>
          </p:cNvPicPr>
          <p:nvPr/>
        </p:nvPicPr>
        <p:blipFill>
          <a:blip r:embed="rId3"/>
          <a:stretch>
            <a:fillRect/>
          </a:stretch>
        </p:blipFill>
        <p:spPr>
          <a:xfrm>
            <a:off x="749808" y="1691640"/>
            <a:ext cx="658368" cy="658368"/>
          </a:xfrm>
          <a:prstGeom prst="rect">
            <a:avLst/>
          </a:prstGeom>
        </p:spPr>
      </p:pic>
      <p:sp>
        <p:nvSpPr>
          <p:cNvPr id="20" name="TextBox 19"/>
          <p:cNvSpPr txBox="1"/>
          <p:nvPr/>
        </p:nvSpPr>
        <p:spPr>
          <a:xfrm>
            <a:off x="1554480" y="1600200"/>
            <a:ext cx="4389120" cy="850392"/>
          </a:xfrm>
          <a:prstGeom prst="rect">
            <a:avLst/>
          </a:prstGeom>
          <a:noFill/>
        </p:spPr>
        <p:txBody>
          <a:bodyPr wrap="square" anchor="ctr" tIns="36576" bIns="36576">
            <a:spAutoFit/>
          </a:bodyPr>
          <a:lstStyle/>
          <a:p>
            <a:pPr algn="l"/>
            <a:r>
              <a:rPr sz="2800" b="1">
                <a:solidFill>
                  <a:srgbClr val="1F2A44"/>
                </a:solidFill>
                <a:latin typeface="Calibri"/>
              </a:rPr>
              <a:t>Beginn und Dauer</a:t>
            </a:r>
          </a:p>
        </p:txBody>
      </p:sp>
      <p:sp>
        <p:nvSpPr>
          <p:cNvPr id="21" name="Rectangle 20"/>
          <p:cNvSpPr/>
          <p:nvPr/>
        </p:nvSpPr>
        <p:spPr>
          <a:xfrm>
            <a:off x="6172200" y="1600200"/>
            <a:ext cx="5349240" cy="850392"/>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ymbol tägliche Ausbildungszeit"/>
          <p:cNvPicPr>
            <a:picLocks noChangeAspect="1"/>
          </p:cNvPicPr>
          <p:nvPr/>
        </p:nvPicPr>
        <p:blipFill>
          <a:blip r:embed="rId4"/>
          <a:stretch>
            <a:fillRect/>
          </a:stretch>
        </p:blipFill>
        <p:spPr>
          <a:xfrm>
            <a:off x="6281928" y="1691640"/>
            <a:ext cx="658368" cy="658368"/>
          </a:xfrm>
          <a:prstGeom prst="rect">
            <a:avLst/>
          </a:prstGeom>
        </p:spPr>
      </p:pic>
      <p:sp>
        <p:nvSpPr>
          <p:cNvPr id="23" name="TextBox 22"/>
          <p:cNvSpPr txBox="1"/>
          <p:nvPr/>
        </p:nvSpPr>
        <p:spPr>
          <a:xfrm>
            <a:off x="7086600" y="1600200"/>
            <a:ext cx="4389120" cy="850392"/>
          </a:xfrm>
          <a:prstGeom prst="rect">
            <a:avLst/>
          </a:prstGeom>
          <a:noFill/>
        </p:spPr>
        <p:txBody>
          <a:bodyPr wrap="square" anchor="ctr" tIns="36576" bIns="36576">
            <a:spAutoFit/>
          </a:bodyPr>
          <a:lstStyle/>
          <a:p>
            <a:pPr algn="l"/>
            <a:r>
              <a:rPr sz="2800" b="1">
                <a:solidFill>
                  <a:srgbClr val="1F2A44"/>
                </a:solidFill>
                <a:latin typeface="Calibri"/>
              </a:rPr>
              <a:t>tägliche Ausbildungszeit</a:t>
            </a:r>
          </a:p>
        </p:txBody>
      </p:sp>
      <p:sp>
        <p:nvSpPr>
          <p:cNvPr id="24" name="Rectangle 23"/>
          <p:cNvSpPr/>
          <p:nvPr/>
        </p:nvSpPr>
        <p:spPr>
          <a:xfrm>
            <a:off x="640080" y="2560320"/>
            <a:ext cx="5349240" cy="850392"/>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ymbol Probezeit"/>
          <p:cNvPicPr>
            <a:picLocks noChangeAspect="1"/>
          </p:cNvPicPr>
          <p:nvPr/>
        </p:nvPicPr>
        <p:blipFill>
          <a:blip r:embed="rId5"/>
          <a:stretch>
            <a:fillRect/>
          </a:stretch>
        </p:blipFill>
        <p:spPr>
          <a:xfrm>
            <a:off x="749808" y="2651760"/>
            <a:ext cx="658368" cy="658368"/>
          </a:xfrm>
          <a:prstGeom prst="rect">
            <a:avLst/>
          </a:prstGeom>
        </p:spPr>
      </p:pic>
      <p:sp>
        <p:nvSpPr>
          <p:cNvPr id="26" name="TextBox 25"/>
          <p:cNvSpPr txBox="1"/>
          <p:nvPr/>
        </p:nvSpPr>
        <p:spPr>
          <a:xfrm>
            <a:off x="1554480" y="2560320"/>
            <a:ext cx="4389120" cy="850392"/>
          </a:xfrm>
          <a:prstGeom prst="rect">
            <a:avLst/>
          </a:prstGeom>
          <a:noFill/>
        </p:spPr>
        <p:txBody>
          <a:bodyPr wrap="square" anchor="ctr" tIns="36576" bIns="36576">
            <a:spAutoFit/>
          </a:bodyPr>
          <a:lstStyle/>
          <a:p>
            <a:pPr algn="l"/>
            <a:r>
              <a:rPr sz="2800" b="1">
                <a:solidFill>
                  <a:srgbClr val="1F2A44"/>
                </a:solidFill>
                <a:latin typeface="Calibri"/>
              </a:rPr>
              <a:t>Probezeit</a:t>
            </a:r>
          </a:p>
        </p:txBody>
      </p:sp>
      <p:sp>
        <p:nvSpPr>
          <p:cNvPr id="27" name="Rectangle 26"/>
          <p:cNvSpPr/>
          <p:nvPr/>
        </p:nvSpPr>
        <p:spPr>
          <a:xfrm>
            <a:off x="6172200" y="2560320"/>
            <a:ext cx="5349240" cy="850392"/>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Symbol Vergütung"/>
          <p:cNvPicPr>
            <a:picLocks noChangeAspect="1"/>
          </p:cNvPicPr>
          <p:nvPr/>
        </p:nvPicPr>
        <p:blipFill>
          <a:blip r:embed="rId6"/>
          <a:stretch>
            <a:fillRect/>
          </a:stretch>
        </p:blipFill>
        <p:spPr>
          <a:xfrm>
            <a:off x="6281928" y="2651760"/>
            <a:ext cx="658368" cy="658368"/>
          </a:xfrm>
          <a:prstGeom prst="rect">
            <a:avLst/>
          </a:prstGeom>
        </p:spPr>
      </p:pic>
      <p:sp>
        <p:nvSpPr>
          <p:cNvPr id="29" name="TextBox 28"/>
          <p:cNvSpPr txBox="1"/>
          <p:nvPr/>
        </p:nvSpPr>
        <p:spPr>
          <a:xfrm>
            <a:off x="7086600" y="2560320"/>
            <a:ext cx="4389120" cy="850392"/>
          </a:xfrm>
          <a:prstGeom prst="rect">
            <a:avLst/>
          </a:prstGeom>
          <a:noFill/>
        </p:spPr>
        <p:txBody>
          <a:bodyPr wrap="square" anchor="ctr" tIns="36576" bIns="36576">
            <a:spAutoFit/>
          </a:bodyPr>
          <a:lstStyle/>
          <a:p>
            <a:pPr algn="l"/>
            <a:r>
              <a:rPr sz="2800" b="1">
                <a:solidFill>
                  <a:srgbClr val="1F2A44"/>
                </a:solidFill>
                <a:latin typeface="Calibri"/>
              </a:rPr>
              <a:t>Vergütung</a:t>
            </a:r>
          </a:p>
        </p:txBody>
      </p:sp>
      <p:sp>
        <p:nvSpPr>
          <p:cNvPr id="30" name="Rectangle 29"/>
          <p:cNvSpPr/>
          <p:nvPr/>
        </p:nvSpPr>
        <p:spPr>
          <a:xfrm>
            <a:off x="640080" y="3520440"/>
            <a:ext cx="5349240" cy="850392"/>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Symbol Urlaub"/>
          <p:cNvPicPr>
            <a:picLocks noChangeAspect="1"/>
          </p:cNvPicPr>
          <p:nvPr/>
        </p:nvPicPr>
        <p:blipFill>
          <a:blip r:embed="rId7"/>
          <a:stretch>
            <a:fillRect/>
          </a:stretch>
        </p:blipFill>
        <p:spPr>
          <a:xfrm>
            <a:off x="749808" y="3611880"/>
            <a:ext cx="658368" cy="658368"/>
          </a:xfrm>
          <a:prstGeom prst="rect">
            <a:avLst/>
          </a:prstGeom>
        </p:spPr>
      </p:pic>
      <p:sp>
        <p:nvSpPr>
          <p:cNvPr id="32" name="TextBox 31"/>
          <p:cNvSpPr txBox="1"/>
          <p:nvPr/>
        </p:nvSpPr>
        <p:spPr>
          <a:xfrm>
            <a:off x="1554480" y="3520440"/>
            <a:ext cx="4389120" cy="850392"/>
          </a:xfrm>
          <a:prstGeom prst="rect">
            <a:avLst/>
          </a:prstGeom>
          <a:noFill/>
        </p:spPr>
        <p:txBody>
          <a:bodyPr wrap="square" anchor="ctr" tIns="36576" bIns="36576">
            <a:spAutoFit/>
          </a:bodyPr>
          <a:lstStyle/>
          <a:p>
            <a:pPr algn="l"/>
            <a:r>
              <a:rPr sz="2800" b="1">
                <a:solidFill>
                  <a:srgbClr val="1F2A44"/>
                </a:solidFill>
                <a:latin typeface="Calibri"/>
              </a:rPr>
              <a:t>Urlaub</a:t>
            </a:r>
          </a:p>
        </p:txBody>
      </p:sp>
      <p:sp>
        <p:nvSpPr>
          <p:cNvPr id="33" name="Rectangle 32"/>
          <p:cNvSpPr/>
          <p:nvPr/>
        </p:nvSpPr>
        <p:spPr>
          <a:xfrm>
            <a:off x="6172200" y="3520440"/>
            <a:ext cx="5349240" cy="850392"/>
          </a:xfrm>
          <a:prstGeom prst="rect">
            <a:avLst/>
          </a:prstGeom>
          <a:solidFill>
            <a:srgbClr val="FFFFFF"/>
          </a:solidFill>
          <a:ln w="2540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Symbol Kündigung"/>
          <p:cNvPicPr>
            <a:picLocks noChangeAspect="1"/>
          </p:cNvPicPr>
          <p:nvPr/>
        </p:nvPicPr>
        <p:blipFill>
          <a:blip r:embed="rId8"/>
          <a:stretch>
            <a:fillRect/>
          </a:stretch>
        </p:blipFill>
        <p:spPr>
          <a:xfrm>
            <a:off x="6281928" y="3611880"/>
            <a:ext cx="658368" cy="658368"/>
          </a:xfrm>
          <a:prstGeom prst="rect">
            <a:avLst/>
          </a:prstGeom>
        </p:spPr>
      </p:pic>
      <p:sp>
        <p:nvSpPr>
          <p:cNvPr id="35" name="TextBox 34"/>
          <p:cNvSpPr txBox="1"/>
          <p:nvPr/>
        </p:nvSpPr>
        <p:spPr>
          <a:xfrm>
            <a:off x="7086600" y="3520440"/>
            <a:ext cx="4389120" cy="850392"/>
          </a:xfrm>
          <a:prstGeom prst="rect">
            <a:avLst/>
          </a:prstGeom>
          <a:noFill/>
        </p:spPr>
        <p:txBody>
          <a:bodyPr wrap="square" anchor="ctr" tIns="36576" bIns="36576">
            <a:spAutoFit/>
          </a:bodyPr>
          <a:lstStyle/>
          <a:p>
            <a:pPr algn="l"/>
            <a:r>
              <a:rPr sz="2800" b="1">
                <a:solidFill>
                  <a:srgbClr val="1F2A44"/>
                </a:solidFill>
                <a:latin typeface="Calibri"/>
              </a:rPr>
              <a:t>Kündigung</a:t>
            </a:r>
          </a:p>
        </p:txBody>
      </p:sp>
      <p:sp>
        <p:nvSpPr>
          <p:cNvPr id="36" name="Rectangle 35"/>
          <p:cNvSpPr/>
          <p:nvPr/>
        </p:nvSpPr>
        <p:spPr>
          <a:xfrm>
            <a:off x="640080" y="4617720"/>
            <a:ext cx="10881360" cy="160020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 y="4617720"/>
            <a:ext cx="109728" cy="16002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4617720"/>
            <a:ext cx="10515600" cy="1600200"/>
          </a:xfrm>
          <a:prstGeom prst="rect">
            <a:avLst/>
          </a:prstGeom>
          <a:noFill/>
        </p:spPr>
        <p:txBody>
          <a:bodyPr wrap="square" anchor="ctr" tIns="36576" bIns="36576">
            <a:spAutoFit/>
          </a:bodyPr>
          <a:lstStyle/>
          <a:p>
            <a:pPr algn="l"/>
            <a:r>
              <a:rPr sz="3000" b="1">
                <a:solidFill>
                  <a:srgbClr val="1F2A44"/>
                </a:solidFill>
                <a:latin typeface="Calibri"/>
              </a:rPr>
              <a:t>Textform genügt </a:t>
            </a:r>
            <a:r>
              <a:rPr sz="3000" b="0">
                <a:solidFill>
                  <a:srgbClr val="1F2A44"/>
                </a:solidFill>
                <a:latin typeface="Calibri"/>
              </a:rPr>
              <a:t>(seit 01.08.2024), zum Beispiel per E-Mail.</a:t>
            </a:r>
          </a:p>
          <a:p>
            <a:pPr algn="l">
              <a:spcBef>
                <a:spcPts val="900"/>
              </a:spcBef>
            </a:pPr>
            <a:r>
              <a:rPr sz="3000" b="1">
                <a:solidFill>
                  <a:srgbClr val="1F2A44"/>
                </a:solidFill>
                <a:latin typeface="Calibri"/>
              </a:rPr>
              <a:t>Vorher: </a:t>
            </a:r>
            <a:r>
              <a:rPr sz="3000" b="0">
                <a:solidFill>
                  <a:srgbClr val="1F2A44"/>
                </a:solidFill>
                <a:latin typeface="Calibri"/>
              </a:rPr>
              <a:t>Papierform.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Beginn und Dauer</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8, § 21 BBiG</a:t>
            </a:r>
          </a:p>
        </p:txBody>
      </p:sp>
      <p:sp>
        <p:nvSpPr>
          <p:cNvPr id="18" name="Rectangle 17"/>
          <p:cNvSpPr/>
          <p:nvPr/>
        </p:nvSpPr>
        <p:spPr>
          <a:xfrm>
            <a:off x="1097280" y="1737360"/>
            <a:ext cx="9966960" cy="5029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1737360"/>
            <a:ext cx="9966960" cy="502920"/>
          </a:xfrm>
          <a:prstGeom prst="rect">
            <a:avLst/>
          </a:prstGeom>
          <a:noFill/>
        </p:spPr>
        <p:txBody>
          <a:bodyPr wrap="square" anchor="ctr" tIns="36576" bIns="36576">
            <a:spAutoFit/>
          </a:bodyPr>
          <a:lstStyle/>
          <a:p>
            <a:pPr algn="ctr"/>
            <a:r>
              <a:rPr sz="2800" b="1">
                <a:solidFill>
                  <a:srgbClr val="FFFFFF"/>
                </a:solidFill>
                <a:latin typeface="Calibri"/>
              </a:rPr>
              <a:t>Ausbildungsdauer</a:t>
            </a:r>
          </a:p>
        </p:txBody>
      </p:sp>
      <p:sp>
        <p:nvSpPr>
          <p:cNvPr id="20" name="Oval 19"/>
          <p:cNvSpPr/>
          <p:nvPr/>
        </p:nvSpPr>
        <p:spPr>
          <a:xfrm>
            <a:off x="914400" y="1691640"/>
            <a:ext cx="594360" cy="594360"/>
          </a:xfrm>
          <a:prstGeom prst="ellipse">
            <a:avLst/>
          </a:prstGeom>
          <a:solidFill>
            <a:srgbClr val="F5A623"/>
          </a:solidFill>
          <a:ln w="381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881360" y="1691640"/>
            <a:ext cx="594360" cy="594360"/>
          </a:xfrm>
          <a:prstGeom prst="ellipse">
            <a:avLst/>
          </a:prstGeom>
          <a:solidFill>
            <a:srgbClr val="F5A623"/>
          </a:solidFill>
          <a:ln w="381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331720"/>
            <a:ext cx="2743200" cy="457200"/>
          </a:xfrm>
          <a:prstGeom prst="rect">
            <a:avLst/>
          </a:prstGeom>
          <a:noFill/>
        </p:spPr>
        <p:txBody>
          <a:bodyPr wrap="square" anchor="t" tIns="36576" bIns="36576">
            <a:spAutoFit/>
          </a:bodyPr>
          <a:lstStyle/>
          <a:p>
            <a:pPr algn="l"/>
            <a:r>
              <a:rPr sz="2800" b="1">
                <a:solidFill>
                  <a:srgbClr val="1F2A44"/>
                </a:solidFill>
                <a:latin typeface="Calibri"/>
              </a:rPr>
              <a:t>Beginn</a:t>
            </a:r>
          </a:p>
        </p:txBody>
      </p:sp>
      <p:sp>
        <p:nvSpPr>
          <p:cNvPr id="23" name="TextBox 22"/>
          <p:cNvSpPr txBox="1"/>
          <p:nvPr/>
        </p:nvSpPr>
        <p:spPr>
          <a:xfrm>
            <a:off x="6949440" y="2331720"/>
            <a:ext cx="4754880" cy="457200"/>
          </a:xfrm>
          <a:prstGeom prst="rect">
            <a:avLst/>
          </a:prstGeom>
          <a:noFill/>
        </p:spPr>
        <p:txBody>
          <a:bodyPr wrap="square" anchor="t" tIns="36576" bIns="36576">
            <a:spAutoFit/>
          </a:bodyPr>
          <a:lstStyle/>
          <a:p>
            <a:pPr algn="r"/>
            <a:r>
              <a:rPr sz="2800" b="1">
                <a:solidFill>
                  <a:srgbClr val="1F2A44"/>
                </a:solidFill>
                <a:latin typeface="Calibri"/>
              </a:rPr>
              <a:t>Prüfung</a:t>
            </a:r>
          </a:p>
        </p:txBody>
      </p:sp>
      <p:sp>
        <p:nvSpPr>
          <p:cNvPr id="24" name="TextBox 23"/>
          <p:cNvSpPr txBox="1"/>
          <p:nvPr/>
        </p:nvSpPr>
        <p:spPr>
          <a:xfrm>
            <a:off x="4206240" y="2788920"/>
            <a:ext cx="7498079" cy="457200"/>
          </a:xfrm>
          <a:prstGeom prst="rect">
            <a:avLst/>
          </a:prstGeom>
          <a:noFill/>
        </p:spPr>
        <p:txBody>
          <a:bodyPr wrap="square" anchor="t" tIns="36576" bIns="36576">
            <a:spAutoFit/>
          </a:bodyPr>
          <a:lstStyle/>
          <a:p>
            <a:pPr algn="r"/>
            <a:r>
              <a:rPr sz="2400" b="0">
                <a:solidFill>
                  <a:srgbClr val="4A5568"/>
                </a:solidFill>
                <a:latin typeface="Calibri"/>
              </a:rPr>
              <a:t>Ende mit Bekanntgabe des Ergebnisses</a:t>
            </a:r>
          </a:p>
        </p:txBody>
      </p:sp>
      <p:sp>
        <p:nvSpPr>
          <p:cNvPr id="25" name="Rectangle 24"/>
          <p:cNvSpPr/>
          <p:nvPr/>
        </p:nvSpPr>
        <p:spPr>
          <a:xfrm>
            <a:off x="640080" y="3383280"/>
            <a:ext cx="5349240" cy="2880360"/>
          </a:xfrm>
          <a:prstGeom prst="rect">
            <a:avLst/>
          </a:prstGeom>
          <a:solidFill>
            <a:srgbClr val="E3F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3383280"/>
            <a:ext cx="109728" cy="2880360"/>
          </a:xfrm>
          <a:prstGeom prst="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3456432"/>
            <a:ext cx="4937759" cy="594360"/>
          </a:xfrm>
          <a:prstGeom prst="rect">
            <a:avLst/>
          </a:prstGeom>
          <a:noFill/>
        </p:spPr>
        <p:txBody>
          <a:bodyPr wrap="square" anchor="t" tIns="36576" bIns="36576">
            <a:spAutoFit/>
          </a:bodyPr>
          <a:lstStyle/>
          <a:p>
            <a:pPr algn="l"/>
            <a:r>
              <a:rPr sz="3200" b="1">
                <a:solidFill>
                  <a:srgbClr val="1F2A44"/>
                </a:solidFill>
                <a:latin typeface="Calibri"/>
              </a:rPr>
              <a:t>Verkürzung</a:t>
            </a:r>
          </a:p>
        </p:txBody>
      </p:sp>
      <p:sp>
        <p:nvSpPr>
          <p:cNvPr id="28" name="TextBox 27"/>
          <p:cNvSpPr txBox="1"/>
          <p:nvPr/>
        </p:nvSpPr>
        <p:spPr>
          <a:xfrm>
            <a:off x="914400" y="4005072"/>
            <a:ext cx="4937759" cy="2212848"/>
          </a:xfrm>
          <a:prstGeom prst="rect">
            <a:avLst/>
          </a:prstGeom>
          <a:noFill/>
        </p:spPr>
        <p:txBody>
          <a:bodyPr wrap="square" anchor="t" tIns="36576" bIns="36576">
            <a:spAutoFit/>
          </a:bodyPr>
          <a:lstStyle/>
          <a:p>
            <a:pPr algn="l"/>
            <a:r>
              <a:rPr sz="2800" b="0">
                <a:solidFill>
                  <a:srgbClr val="1F2A44"/>
                </a:solidFill>
                <a:latin typeface="Calibri"/>
              </a:rPr>
              <a:t>auf gemeinsamen Antrag von Azubi und Betrieb bei der zuständigen Stelle</a:t>
            </a:r>
          </a:p>
        </p:txBody>
      </p:sp>
      <p:sp>
        <p:nvSpPr>
          <p:cNvPr id="29" name="Rectangle 28"/>
          <p:cNvSpPr/>
          <p:nvPr/>
        </p:nvSpPr>
        <p:spPr>
          <a:xfrm>
            <a:off x="6172200" y="3383280"/>
            <a:ext cx="5349240" cy="2880360"/>
          </a:xfrm>
          <a:prstGeom prst="rect">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3383280"/>
            <a:ext cx="109728" cy="2880360"/>
          </a:xfrm>
          <a:prstGeom prst="rect">
            <a:avLst/>
          </a:prstGeom>
          <a:solidFill>
            <a:srgbClr val="B85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3456432"/>
            <a:ext cx="4937759" cy="594360"/>
          </a:xfrm>
          <a:prstGeom prst="rect">
            <a:avLst/>
          </a:prstGeom>
          <a:noFill/>
        </p:spPr>
        <p:txBody>
          <a:bodyPr wrap="square" anchor="t" tIns="36576" bIns="36576">
            <a:spAutoFit/>
          </a:bodyPr>
          <a:lstStyle/>
          <a:p>
            <a:pPr algn="l"/>
            <a:r>
              <a:rPr sz="3200" b="1">
                <a:solidFill>
                  <a:srgbClr val="1F2A44"/>
                </a:solidFill>
                <a:latin typeface="Calibri"/>
              </a:rPr>
              <a:t>Verlängerung</a:t>
            </a:r>
          </a:p>
        </p:txBody>
      </p:sp>
      <p:sp>
        <p:nvSpPr>
          <p:cNvPr id="32" name="TextBox 31"/>
          <p:cNvSpPr txBox="1"/>
          <p:nvPr/>
        </p:nvSpPr>
        <p:spPr>
          <a:xfrm>
            <a:off x="6446520" y="4005072"/>
            <a:ext cx="4937759" cy="2212848"/>
          </a:xfrm>
          <a:prstGeom prst="rect">
            <a:avLst/>
          </a:prstGeom>
          <a:noFill/>
        </p:spPr>
        <p:txBody>
          <a:bodyPr wrap="square" anchor="t" tIns="36576" bIns="36576">
            <a:spAutoFit/>
          </a:bodyPr>
          <a:lstStyle/>
          <a:p>
            <a:pPr algn="l"/>
            <a:r>
              <a:rPr sz="2800" b="0">
                <a:solidFill>
                  <a:srgbClr val="1F2A44"/>
                </a:solidFill>
                <a:latin typeface="Calibri"/>
              </a:rPr>
              <a:t>nur in Ausnahmefällen auf Antrag des Azubis oder nach nicht bestandener Prüfung, höchstens um ein Jahr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Ausbildungszeit</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8 JArbSchG · § 3 ArbZG</a:t>
            </a:r>
          </a:p>
        </p:txBody>
      </p:sp>
      <p:sp>
        <p:nvSpPr>
          <p:cNvPr id="18" name="Rectangle 17"/>
          <p:cNvSpPr/>
          <p:nvPr/>
        </p:nvSpPr>
        <p:spPr>
          <a:xfrm>
            <a:off x="640080" y="1600200"/>
            <a:ext cx="5349240"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59" y="1600200"/>
            <a:ext cx="5029200" cy="731520"/>
          </a:xfrm>
          <a:prstGeom prst="rect">
            <a:avLst/>
          </a:prstGeom>
          <a:noFill/>
        </p:spPr>
        <p:txBody>
          <a:bodyPr wrap="square" anchor="ctr" tIns="36576" bIns="36576">
            <a:spAutoFit/>
          </a:bodyPr>
          <a:lstStyle/>
          <a:p>
            <a:pPr algn="l"/>
            <a:r>
              <a:rPr sz="3200" b="1">
                <a:solidFill>
                  <a:srgbClr val="FFFFFF"/>
                </a:solidFill>
                <a:latin typeface="Calibri"/>
              </a:rPr>
              <a:t>Jugendliche</a:t>
            </a:r>
          </a:p>
        </p:txBody>
      </p:sp>
      <p:sp>
        <p:nvSpPr>
          <p:cNvPr id="20" name="Rectangle 19"/>
          <p:cNvSpPr/>
          <p:nvPr/>
        </p:nvSpPr>
        <p:spPr>
          <a:xfrm>
            <a:off x="640080" y="2331720"/>
            <a:ext cx="5349240" cy="3886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59" y="2514600"/>
            <a:ext cx="5029200" cy="3566160"/>
          </a:xfrm>
          <a:prstGeom prst="rect">
            <a:avLst/>
          </a:prstGeom>
          <a:noFill/>
        </p:spPr>
        <p:txBody>
          <a:bodyPr wrap="square" anchor="t" tIns="36576" bIns="36576">
            <a:spAutoFit/>
          </a:bodyPr>
          <a:lstStyle/>
          <a:p>
            <a:pPr algn="l"/>
            <a:r>
              <a:rPr sz="3000" b="1">
                <a:solidFill>
                  <a:srgbClr val="F5A623"/>
                </a:solidFill>
                <a:latin typeface="Calibri"/>
              </a:rPr>
              <a:t>• </a:t>
            </a:r>
            <a:r>
              <a:rPr sz="3000" b="1">
                <a:solidFill>
                  <a:srgbClr val="1F2A44"/>
                </a:solidFill>
                <a:latin typeface="Calibri"/>
              </a:rPr>
              <a:t>8 Stunden täglich</a:t>
            </a:r>
          </a:p>
          <a:p>
            <a:pPr algn="l">
              <a:spcBef>
                <a:spcPts val="1500"/>
              </a:spcBef>
            </a:pPr>
            <a:r>
              <a:rPr sz="3000" b="1">
                <a:solidFill>
                  <a:srgbClr val="F5A623"/>
                </a:solidFill>
                <a:latin typeface="Calibri"/>
              </a:rPr>
              <a:t>• </a:t>
            </a:r>
            <a:r>
              <a:rPr sz="3000" b="0">
                <a:solidFill>
                  <a:srgbClr val="1F2A44"/>
                </a:solidFill>
                <a:latin typeface="Calibri"/>
              </a:rPr>
              <a:t>höchstens 40 pro Woche</a:t>
            </a:r>
          </a:p>
          <a:p>
            <a:pPr algn="l">
              <a:spcBef>
                <a:spcPts val="1500"/>
              </a:spcBef>
            </a:pPr>
            <a:r>
              <a:rPr sz="3000" b="1">
                <a:solidFill>
                  <a:srgbClr val="F5A623"/>
                </a:solidFill>
                <a:latin typeface="Calibri"/>
              </a:rPr>
              <a:t>• </a:t>
            </a:r>
            <a:r>
              <a:rPr sz="3000" b="0">
                <a:solidFill>
                  <a:srgbClr val="1F2A44"/>
                </a:solidFill>
                <a:latin typeface="Calibri"/>
              </a:rPr>
              <a:t>ausnahmsweise 8,5 bei Ausgleich</a:t>
            </a:r>
          </a:p>
        </p:txBody>
      </p:sp>
      <p:sp>
        <p:nvSpPr>
          <p:cNvPr id="22" name="Rectangle 21"/>
          <p:cNvSpPr/>
          <p:nvPr/>
        </p:nvSpPr>
        <p:spPr>
          <a:xfrm>
            <a:off x="6172200" y="1600200"/>
            <a:ext cx="5349240"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1600200"/>
            <a:ext cx="5029200" cy="731520"/>
          </a:xfrm>
          <a:prstGeom prst="rect">
            <a:avLst/>
          </a:prstGeom>
          <a:noFill/>
        </p:spPr>
        <p:txBody>
          <a:bodyPr wrap="square" anchor="ctr" tIns="36576" bIns="36576">
            <a:spAutoFit/>
          </a:bodyPr>
          <a:lstStyle/>
          <a:p>
            <a:pPr algn="l"/>
            <a:r>
              <a:rPr sz="3200" b="1">
                <a:solidFill>
                  <a:srgbClr val="1F2A44"/>
                </a:solidFill>
                <a:latin typeface="Calibri"/>
              </a:rPr>
              <a:t>Volljährige</a:t>
            </a:r>
          </a:p>
        </p:txBody>
      </p:sp>
      <p:sp>
        <p:nvSpPr>
          <p:cNvPr id="24" name="Rectangle 23"/>
          <p:cNvSpPr/>
          <p:nvPr/>
        </p:nvSpPr>
        <p:spPr>
          <a:xfrm>
            <a:off x="6172200" y="2331720"/>
            <a:ext cx="5349240" cy="3886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514600"/>
            <a:ext cx="5029200" cy="3566160"/>
          </a:xfrm>
          <a:prstGeom prst="rect">
            <a:avLst/>
          </a:prstGeom>
          <a:noFill/>
        </p:spPr>
        <p:txBody>
          <a:bodyPr wrap="square" anchor="t" tIns="36576" bIns="36576">
            <a:spAutoFit/>
          </a:bodyPr>
          <a:lstStyle/>
          <a:p>
            <a:pPr algn="l"/>
            <a:r>
              <a:rPr sz="3000" b="1">
                <a:solidFill>
                  <a:srgbClr val="F5A623"/>
                </a:solidFill>
                <a:latin typeface="Calibri"/>
              </a:rPr>
              <a:t>• </a:t>
            </a:r>
            <a:r>
              <a:rPr sz="3000" b="1">
                <a:solidFill>
                  <a:srgbClr val="1F2A44"/>
                </a:solidFill>
                <a:latin typeface="Calibri"/>
              </a:rPr>
              <a:t>8 Stunden täglich</a:t>
            </a:r>
          </a:p>
          <a:p>
            <a:pPr algn="l">
              <a:spcBef>
                <a:spcPts val="1500"/>
              </a:spcBef>
            </a:pPr>
            <a:r>
              <a:rPr sz="3000" b="1">
                <a:solidFill>
                  <a:srgbClr val="F5A623"/>
                </a:solidFill>
                <a:latin typeface="Calibri"/>
              </a:rPr>
              <a:t>• </a:t>
            </a:r>
            <a:r>
              <a:rPr sz="3000" b="0">
                <a:solidFill>
                  <a:srgbClr val="1F2A44"/>
                </a:solidFill>
                <a:latin typeface="Calibri"/>
              </a:rPr>
              <a:t>bis 10 mit Ausgleich (6 Monate)</a:t>
            </a:r>
          </a:p>
          <a:p>
            <a:pPr algn="l">
              <a:spcBef>
                <a:spcPts val="1500"/>
              </a:spcBef>
            </a:pPr>
            <a:r>
              <a:rPr sz="3000" b="1">
                <a:solidFill>
                  <a:srgbClr val="F5A623"/>
                </a:solidFill>
                <a:latin typeface="Calibri"/>
              </a:rPr>
              <a:t>• </a:t>
            </a:r>
            <a:r>
              <a:rPr sz="3000" b="0">
                <a:solidFill>
                  <a:srgbClr val="1F2A44"/>
                </a:solidFill>
                <a:latin typeface="Calibri"/>
              </a:rPr>
              <a:t>höchstens 48 pro Woche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Mindestausbildungsvergütung 2026</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17 BBiG</a:t>
            </a:r>
          </a:p>
        </p:txBody>
      </p:sp>
      <p:sp>
        <p:nvSpPr>
          <p:cNvPr id="18" name="TextBox 17"/>
          <p:cNvSpPr txBox="1"/>
          <p:nvPr/>
        </p:nvSpPr>
        <p:spPr>
          <a:xfrm>
            <a:off x="640080" y="1645920"/>
            <a:ext cx="1645920" cy="822960"/>
          </a:xfrm>
          <a:prstGeom prst="rect">
            <a:avLst/>
          </a:prstGeom>
          <a:noFill/>
        </p:spPr>
        <p:txBody>
          <a:bodyPr wrap="square" anchor="ctr" tIns="36576" bIns="36576">
            <a:spAutoFit/>
          </a:bodyPr>
          <a:lstStyle/>
          <a:p>
            <a:pPr algn="l"/>
            <a:r>
              <a:rPr sz="3000" b="1">
                <a:solidFill>
                  <a:srgbClr val="1F2A44"/>
                </a:solidFill>
                <a:latin typeface="Calibri"/>
              </a:rPr>
              <a:t>1. Jahr</a:t>
            </a:r>
          </a:p>
        </p:txBody>
      </p:sp>
      <p:sp>
        <p:nvSpPr>
          <p:cNvPr id="19" name="Rectangle 18"/>
          <p:cNvSpPr/>
          <p:nvPr/>
        </p:nvSpPr>
        <p:spPr>
          <a:xfrm>
            <a:off x="2377440" y="1645920"/>
            <a:ext cx="6267697" cy="82296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200" b="1">
                <a:solidFill>
                  <a:srgbClr val="1F2A44"/>
                </a:solidFill>
                <a:latin typeface="Calibri"/>
              </a:rPr>
              <a:t>724 €</a:t>
            </a:r>
          </a:p>
        </p:txBody>
      </p:sp>
      <p:sp>
        <p:nvSpPr>
          <p:cNvPr id="20" name="TextBox 19"/>
          <p:cNvSpPr txBox="1"/>
          <p:nvPr/>
        </p:nvSpPr>
        <p:spPr>
          <a:xfrm>
            <a:off x="640080" y="2670048"/>
            <a:ext cx="1645920" cy="822960"/>
          </a:xfrm>
          <a:prstGeom prst="rect">
            <a:avLst/>
          </a:prstGeom>
          <a:noFill/>
        </p:spPr>
        <p:txBody>
          <a:bodyPr wrap="square" anchor="ctr" tIns="36576" bIns="36576">
            <a:spAutoFit/>
          </a:bodyPr>
          <a:lstStyle/>
          <a:p>
            <a:pPr algn="l"/>
            <a:r>
              <a:rPr sz="3000" b="1">
                <a:solidFill>
                  <a:srgbClr val="1F2A44"/>
                </a:solidFill>
                <a:latin typeface="Calibri"/>
              </a:rPr>
              <a:t>2. Jahr</a:t>
            </a:r>
          </a:p>
        </p:txBody>
      </p:sp>
      <p:sp>
        <p:nvSpPr>
          <p:cNvPr id="21" name="Rectangle 20"/>
          <p:cNvSpPr/>
          <p:nvPr/>
        </p:nvSpPr>
        <p:spPr>
          <a:xfrm>
            <a:off x="2377440" y="2670048"/>
            <a:ext cx="7393113" cy="82296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200" b="1">
                <a:solidFill>
                  <a:srgbClr val="FFFFFF"/>
                </a:solidFill>
                <a:latin typeface="Calibri"/>
              </a:rPr>
              <a:t>854 €</a:t>
            </a:r>
          </a:p>
        </p:txBody>
      </p:sp>
      <p:sp>
        <p:nvSpPr>
          <p:cNvPr id="22" name="TextBox 21"/>
          <p:cNvSpPr txBox="1"/>
          <p:nvPr/>
        </p:nvSpPr>
        <p:spPr>
          <a:xfrm>
            <a:off x="640080" y="3694176"/>
            <a:ext cx="1645920" cy="822960"/>
          </a:xfrm>
          <a:prstGeom prst="rect">
            <a:avLst/>
          </a:prstGeom>
          <a:noFill/>
        </p:spPr>
        <p:txBody>
          <a:bodyPr wrap="square" anchor="ctr" tIns="36576" bIns="36576">
            <a:spAutoFit/>
          </a:bodyPr>
          <a:lstStyle/>
          <a:p>
            <a:pPr algn="l"/>
            <a:r>
              <a:rPr sz="3000" b="1">
                <a:solidFill>
                  <a:srgbClr val="1F2A44"/>
                </a:solidFill>
                <a:latin typeface="Calibri"/>
              </a:rPr>
              <a:t>3. Jahr</a:t>
            </a:r>
          </a:p>
        </p:txBody>
      </p:sp>
      <p:sp>
        <p:nvSpPr>
          <p:cNvPr id="23" name="Rectangle 22"/>
          <p:cNvSpPr/>
          <p:nvPr/>
        </p:nvSpPr>
        <p:spPr>
          <a:xfrm>
            <a:off x="2377440" y="3694176"/>
            <a:ext cx="8457929" cy="82296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200" b="1">
                <a:solidFill>
                  <a:srgbClr val="FFFFFF"/>
                </a:solidFill>
                <a:latin typeface="Calibri"/>
              </a:rPr>
              <a:t>977 €</a:t>
            </a:r>
          </a:p>
        </p:txBody>
      </p:sp>
      <p:sp>
        <p:nvSpPr>
          <p:cNvPr id="24" name="TextBox 23"/>
          <p:cNvSpPr txBox="1"/>
          <p:nvPr/>
        </p:nvSpPr>
        <p:spPr>
          <a:xfrm>
            <a:off x="640080" y="4718304"/>
            <a:ext cx="1645920" cy="822960"/>
          </a:xfrm>
          <a:prstGeom prst="rect">
            <a:avLst/>
          </a:prstGeom>
          <a:noFill/>
        </p:spPr>
        <p:txBody>
          <a:bodyPr wrap="square" anchor="ctr" tIns="36576" bIns="36576">
            <a:spAutoFit/>
          </a:bodyPr>
          <a:lstStyle/>
          <a:p>
            <a:pPr algn="l"/>
            <a:r>
              <a:rPr sz="3000" b="1">
                <a:solidFill>
                  <a:srgbClr val="1F2A44"/>
                </a:solidFill>
                <a:latin typeface="Calibri"/>
              </a:rPr>
              <a:t>4. Jahr</a:t>
            </a:r>
          </a:p>
        </p:txBody>
      </p:sp>
      <p:sp>
        <p:nvSpPr>
          <p:cNvPr id="25" name="Rectangle 24"/>
          <p:cNvSpPr/>
          <p:nvPr/>
        </p:nvSpPr>
        <p:spPr>
          <a:xfrm>
            <a:off x="2377440" y="4718304"/>
            <a:ext cx="8778240" cy="82296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200" b="1">
                <a:solidFill>
                  <a:srgbClr val="FFFFFF"/>
                </a:solidFill>
                <a:latin typeface="Calibri"/>
              </a:rPr>
              <a:t>1.014 €</a:t>
            </a:r>
          </a:p>
        </p:txBody>
      </p:sp>
      <p:sp>
        <p:nvSpPr>
          <p:cNvPr id="26" name="TextBox 25"/>
          <p:cNvSpPr txBox="1"/>
          <p:nvPr/>
        </p:nvSpPr>
        <p:spPr>
          <a:xfrm>
            <a:off x="640080" y="5760720"/>
            <a:ext cx="10881360" cy="548640"/>
          </a:xfrm>
          <a:prstGeom prst="rect">
            <a:avLst/>
          </a:prstGeom>
          <a:noFill/>
        </p:spPr>
        <p:txBody>
          <a:bodyPr wrap="square" anchor="t" tIns="36576" bIns="36576">
            <a:spAutoFit/>
          </a:bodyPr>
          <a:lstStyle/>
          <a:p>
            <a:pPr algn="l"/>
            <a:r>
              <a:rPr sz="2800" b="0">
                <a:solidFill>
                  <a:srgbClr val="4A5568"/>
                </a:solidFill>
                <a:latin typeface="Calibri"/>
              </a:rPr>
              <a:t>Darf nicht unterschritten werden · wird jedes Jahr neu festgelegt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Urlaub nach Alter</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19 JArbSchG · § 3 BUrlG</a:t>
            </a:r>
          </a:p>
        </p:txBody>
      </p:sp>
      <p:sp>
        <p:nvSpPr>
          <p:cNvPr id="18" name="TextBox 17"/>
          <p:cNvSpPr txBox="1"/>
          <p:nvPr/>
        </p:nvSpPr>
        <p:spPr>
          <a:xfrm>
            <a:off x="640080" y="1554480"/>
            <a:ext cx="2194560" cy="731520"/>
          </a:xfrm>
          <a:prstGeom prst="rect">
            <a:avLst/>
          </a:prstGeom>
          <a:noFill/>
        </p:spPr>
        <p:txBody>
          <a:bodyPr wrap="square" anchor="ctr" tIns="36576" bIns="36576">
            <a:spAutoFit/>
          </a:bodyPr>
          <a:lstStyle/>
          <a:p>
            <a:pPr algn="l"/>
            <a:r>
              <a:rPr sz="3000" b="1">
                <a:solidFill>
                  <a:srgbClr val="1F2A44"/>
                </a:solidFill>
                <a:latin typeface="Calibri"/>
              </a:rPr>
              <a:t>unter 16</a:t>
            </a:r>
          </a:p>
        </p:txBody>
      </p:sp>
      <p:sp>
        <p:nvSpPr>
          <p:cNvPr id="19" name="Rectangle 18"/>
          <p:cNvSpPr/>
          <p:nvPr/>
        </p:nvSpPr>
        <p:spPr>
          <a:xfrm>
            <a:off x="2926080" y="1554480"/>
            <a:ext cx="8229600" cy="7315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FFFFFF"/>
                </a:solidFill>
                <a:latin typeface="Calibri"/>
              </a:rPr>
              <a:t>30 Werktage</a:t>
            </a:r>
          </a:p>
        </p:txBody>
      </p:sp>
      <p:sp>
        <p:nvSpPr>
          <p:cNvPr id="20" name="TextBox 19"/>
          <p:cNvSpPr txBox="1"/>
          <p:nvPr/>
        </p:nvSpPr>
        <p:spPr>
          <a:xfrm>
            <a:off x="640080" y="2423160"/>
            <a:ext cx="2194560" cy="731520"/>
          </a:xfrm>
          <a:prstGeom prst="rect">
            <a:avLst/>
          </a:prstGeom>
          <a:noFill/>
        </p:spPr>
        <p:txBody>
          <a:bodyPr wrap="square" anchor="ctr" tIns="36576" bIns="36576">
            <a:spAutoFit/>
          </a:bodyPr>
          <a:lstStyle/>
          <a:p>
            <a:pPr algn="l"/>
            <a:r>
              <a:rPr sz="3000" b="1">
                <a:solidFill>
                  <a:srgbClr val="1F2A44"/>
                </a:solidFill>
                <a:latin typeface="Calibri"/>
              </a:rPr>
              <a:t>unter 17</a:t>
            </a:r>
          </a:p>
        </p:txBody>
      </p:sp>
      <p:sp>
        <p:nvSpPr>
          <p:cNvPr id="21" name="Rectangle 20"/>
          <p:cNvSpPr/>
          <p:nvPr/>
        </p:nvSpPr>
        <p:spPr>
          <a:xfrm>
            <a:off x="2926080" y="2423160"/>
            <a:ext cx="7406640" cy="7315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FFFFFF"/>
                </a:solidFill>
                <a:latin typeface="Calibri"/>
              </a:rPr>
              <a:t>27 Werktage</a:t>
            </a:r>
          </a:p>
        </p:txBody>
      </p:sp>
      <p:sp>
        <p:nvSpPr>
          <p:cNvPr id="22" name="TextBox 21"/>
          <p:cNvSpPr txBox="1"/>
          <p:nvPr/>
        </p:nvSpPr>
        <p:spPr>
          <a:xfrm>
            <a:off x="640080" y="3291839"/>
            <a:ext cx="2194560" cy="731520"/>
          </a:xfrm>
          <a:prstGeom prst="rect">
            <a:avLst/>
          </a:prstGeom>
          <a:noFill/>
        </p:spPr>
        <p:txBody>
          <a:bodyPr wrap="square" anchor="ctr" tIns="36576" bIns="36576">
            <a:spAutoFit/>
          </a:bodyPr>
          <a:lstStyle/>
          <a:p>
            <a:pPr algn="l"/>
            <a:r>
              <a:rPr sz="3000" b="1">
                <a:solidFill>
                  <a:srgbClr val="1F2A44"/>
                </a:solidFill>
                <a:latin typeface="Calibri"/>
              </a:rPr>
              <a:t>unter 18</a:t>
            </a:r>
          </a:p>
        </p:txBody>
      </p:sp>
      <p:sp>
        <p:nvSpPr>
          <p:cNvPr id="23" name="Rectangle 22"/>
          <p:cNvSpPr/>
          <p:nvPr/>
        </p:nvSpPr>
        <p:spPr>
          <a:xfrm>
            <a:off x="2926080" y="3291839"/>
            <a:ext cx="6858000" cy="7315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FFFFFF"/>
                </a:solidFill>
                <a:latin typeface="Calibri"/>
              </a:rPr>
              <a:t>25 Werktage</a:t>
            </a:r>
          </a:p>
        </p:txBody>
      </p:sp>
      <p:sp>
        <p:nvSpPr>
          <p:cNvPr id="24" name="TextBox 23"/>
          <p:cNvSpPr txBox="1"/>
          <p:nvPr/>
        </p:nvSpPr>
        <p:spPr>
          <a:xfrm>
            <a:off x="640080" y="4160520"/>
            <a:ext cx="2194560" cy="731520"/>
          </a:xfrm>
          <a:prstGeom prst="rect">
            <a:avLst/>
          </a:prstGeom>
          <a:noFill/>
        </p:spPr>
        <p:txBody>
          <a:bodyPr wrap="square" anchor="ctr" tIns="36576" bIns="36576">
            <a:spAutoFit/>
          </a:bodyPr>
          <a:lstStyle/>
          <a:p>
            <a:pPr algn="l"/>
            <a:r>
              <a:rPr sz="3000" b="1">
                <a:solidFill>
                  <a:srgbClr val="1F2A44"/>
                </a:solidFill>
                <a:latin typeface="Calibri"/>
              </a:rPr>
              <a:t>ab 18</a:t>
            </a:r>
          </a:p>
        </p:txBody>
      </p:sp>
      <p:sp>
        <p:nvSpPr>
          <p:cNvPr id="25" name="Rectangle 24"/>
          <p:cNvSpPr/>
          <p:nvPr/>
        </p:nvSpPr>
        <p:spPr>
          <a:xfrm>
            <a:off x="2926080" y="4160520"/>
            <a:ext cx="6583680"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r"/>
            <a:r>
              <a:rPr sz="3000" b="1">
                <a:solidFill>
                  <a:srgbClr val="1F2A44"/>
                </a:solidFill>
                <a:latin typeface="Calibri"/>
              </a:rPr>
              <a:t>24 Werktage</a:t>
            </a:r>
          </a:p>
        </p:txBody>
      </p:sp>
      <p:sp>
        <p:nvSpPr>
          <p:cNvPr id="26" name="Rectangle 25"/>
          <p:cNvSpPr/>
          <p:nvPr/>
        </p:nvSpPr>
        <p:spPr>
          <a:xfrm>
            <a:off x="640080" y="5120640"/>
            <a:ext cx="10881360" cy="114300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 y="5120640"/>
            <a:ext cx="109728" cy="11430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120640"/>
            <a:ext cx="10515600" cy="1143000"/>
          </a:xfrm>
          <a:prstGeom prst="rect">
            <a:avLst/>
          </a:prstGeom>
          <a:noFill/>
        </p:spPr>
        <p:txBody>
          <a:bodyPr wrap="square" anchor="ctr" tIns="36576" bIns="36576">
            <a:spAutoFit/>
          </a:bodyPr>
          <a:lstStyle/>
          <a:p>
            <a:pPr algn="l"/>
            <a:r>
              <a:rPr sz="2800" b="1">
                <a:solidFill>
                  <a:srgbClr val="1F2A44"/>
                </a:solidFill>
                <a:latin typeface="Calibri"/>
              </a:rPr>
              <a:t>Werktage: </a:t>
            </a:r>
            <a:r>
              <a:rPr sz="2800" b="0">
                <a:solidFill>
                  <a:srgbClr val="1F2A44"/>
                </a:solidFill>
                <a:latin typeface="Calibri"/>
              </a:rPr>
              <a:t>alle Kalendertage außer Sonntagen und gesetzlichen Feiertagen. 24 Werktage = 20 Arbeitstage bei der Fünf-Tage-Woche.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Probezeit</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20 BBiG</a:t>
            </a:r>
          </a:p>
        </p:txBody>
      </p:sp>
      <p:sp>
        <p:nvSpPr>
          <p:cNvPr id="18" name="TextBox 17"/>
          <p:cNvSpPr txBox="1"/>
          <p:nvPr/>
        </p:nvSpPr>
        <p:spPr>
          <a:xfrm>
            <a:off x="640080" y="1645920"/>
            <a:ext cx="10881360" cy="1097280"/>
          </a:xfrm>
          <a:prstGeom prst="rect">
            <a:avLst/>
          </a:prstGeom>
          <a:noFill/>
        </p:spPr>
        <p:txBody>
          <a:bodyPr wrap="square" anchor="t" tIns="36576" bIns="36576">
            <a:spAutoFit/>
          </a:bodyPr>
          <a:lstStyle/>
          <a:p>
            <a:pPr algn="l"/>
            <a:r>
              <a:rPr sz="3200" b="1">
                <a:solidFill>
                  <a:srgbClr val="1F2A44"/>
                </a:solidFill>
                <a:latin typeface="Calibri"/>
              </a:rPr>
              <a:t>Jedes Ausbildungsverhältnis beginnt mit einer Probezeit.</a:t>
            </a:r>
          </a:p>
        </p:txBody>
      </p:sp>
      <p:sp>
        <p:nvSpPr>
          <p:cNvPr id="19" name="Rectangle 18"/>
          <p:cNvSpPr/>
          <p:nvPr/>
        </p:nvSpPr>
        <p:spPr>
          <a:xfrm>
            <a:off x="640080" y="3017520"/>
            <a:ext cx="2651760" cy="13716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FFFFFF"/>
                </a:solidFill>
                <a:latin typeface="Calibri"/>
              </a:rPr>
              <a:t>1. Monat</a:t>
            </a:r>
          </a:p>
        </p:txBody>
      </p:sp>
      <p:sp>
        <p:nvSpPr>
          <p:cNvPr id="20" name="Rectangle 19"/>
          <p:cNvSpPr/>
          <p:nvPr/>
        </p:nvSpPr>
        <p:spPr>
          <a:xfrm>
            <a:off x="3383280" y="3017520"/>
            <a:ext cx="2651760" cy="13716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FFFFFF"/>
                </a:solidFill>
                <a:latin typeface="Calibri"/>
              </a:rPr>
              <a:t>2. Monat</a:t>
            </a:r>
          </a:p>
        </p:txBody>
      </p:sp>
      <p:sp>
        <p:nvSpPr>
          <p:cNvPr id="21" name="Rectangle 20"/>
          <p:cNvSpPr/>
          <p:nvPr/>
        </p:nvSpPr>
        <p:spPr>
          <a:xfrm>
            <a:off x="6126480" y="3017520"/>
            <a:ext cx="2651760" cy="13716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FFFFFF"/>
                </a:solidFill>
                <a:latin typeface="Calibri"/>
              </a:rPr>
              <a:t>3. Monat</a:t>
            </a:r>
          </a:p>
        </p:txBody>
      </p:sp>
      <p:sp>
        <p:nvSpPr>
          <p:cNvPr id="22" name="Rectangle 21"/>
          <p:cNvSpPr/>
          <p:nvPr/>
        </p:nvSpPr>
        <p:spPr>
          <a:xfrm>
            <a:off x="8869680" y="3017520"/>
            <a:ext cx="2651760" cy="137160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3200" b="1">
                <a:solidFill>
                  <a:srgbClr val="1F2A44"/>
                </a:solidFill>
                <a:latin typeface="Calibri"/>
              </a:rPr>
              <a:t>4. Monat</a:t>
            </a:r>
          </a:p>
        </p:txBody>
      </p:sp>
      <p:sp>
        <p:nvSpPr>
          <p:cNvPr id="23" name="TextBox 22"/>
          <p:cNvSpPr txBox="1"/>
          <p:nvPr/>
        </p:nvSpPr>
        <p:spPr>
          <a:xfrm>
            <a:off x="640080" y="4572000"/>
            <a:ext cx="4572000" cy="548640"/>
          </a:xfrm>
          <a:prstGeom prst="rect">
            <a:avLst/>
          </a:prstGeom>
          <a:noFill/>
        </p:spPr>
        <p:txBody>
          <a:bodyPr wrap="square" anchor="t" tIns="36576" bIns="36576">
            <a:spAutoFit/>
          </a:bodyPr>
          <a:lstStyle/>
          <a:p>
            <a:pPr algn="l"/>
            <a:r>
              <a:rPr sz="2800" b="0">
                <a:solidFill>
                  <a:srgbClr val="4A5568"/>
                </a:solidFill>
                <a:latin typeface="Calibri"/>
              </a:rPr>
              <a:t>mindestens 1 Monat</a:t>
            </a:r>
          </a:p>
        </p:txBody>
      </p:sp>
      <p:sp>
        <p:nvSpPr>
          <p:cNvPr id="24" name="TextBox 23"/>
          <p:cNvSpPr txBox="1"/>
          <p:nvPr/>
        </p:nvSpPr>
        <p:spPr>
          <a:xfrm>
            <a:off x="6949440" y="4572000"/>
            <a:ext cx="4572000" cy="548640"/>
          </a:xfrm>
          <a:prstGeom prst="rect">
            <a:avLst/>
          </a:prstGeom>
          <a:noFill/>
        </p:spPr>
        <p:txBody>
          <a:bodyPr wrap="square" anchor="t" tIns="36576" bIns="36576">
            <a:spAutoFit/>
          </a:bodyPr>
          <a:lstStyle/>
          <a:p>
            <a:pPr algn="r"/>
            <a:r>
              <a:rPr sz="2800" b="1">
                <a:solidFill>
                  <a:srgbClr val="1F2A44"/>
                </a:solidFill>
                <a:latin typeface="Calibri"/>
              </a:rPr>
              <a:t>höchstens 4 Monate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Kündigung: Entscheidungsbaum</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22 Abs. 1 und 2 BBiG</a:t>
            </a:r>
          </a:p>
        </p:txBody>
      </p:sp>
      <p:sp>
        <p:nvSpPr>
          <p:cNvPr id="18" name="Rectangle 17"/>
          <p:cNvSpPr/>
          <p:nvPr/>
        </p:nvSpPr>
        <p:spPr>
          <a:xfrm>
            <a:off x="4023360" y="1554480"/>
            <a:ext cx="4114800" cy="77724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FFFFFF"/>
                </a:solidFill>
                <a:latin typeface="Calibri"/>
              </a:rPr>
              <a:t>Kündigung durch …?</a:t>
            </a:r>
          </a:p>
        </p:txBody>
      </p:sp>
      <p:sp>
        <p:nvSpPr>
          <p:cNvPr id="19" name="Rectangle 18"/>
          <p:cNvSpPr/>
          <p:nvPr/>
        </p:nvSpPr>
        <p:spPr>
          <a:xfrm>
            <a:off x="6035040" y="2331720"/>
            <a:ext cx="73152" cy="22860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286000" y="2560320"/>
            <a:ext cx="3822191" cy="73152"/>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286000" y="2560320"/>
            <a:ext cx="73152" cy="22860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035040" y="2560320"/>
            <a:ext cx="73152" cy="22860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2788920"/>
            <a:ext cx="3383280" cy="7315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FFFFFF"/>
                </a:solidFill>
                <a:latin typeface="Calibri"/>
              </a:rPr>
              <a:t>in der Probezeit</a:t>
            </a:r>
          </a:p>
        </p:txBody>
      </p:sp>
      <p:sp>
        <p:nvSpPr>
          <p:cNvPr id="24" name="Rectangle 23"/>
          <p:cNvSpPr/>
          <p:nvPr/>
        </p:nvSpPr>
        <p:spPr>
          <a:xfrm>
            <a:off x="4480560" y="2788920"/>
            <a:ext cx="3383280" cy="7315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FFFFFF"/>
                </a:solidFill>
                <a:latin typeface="Calibri"/>
              </a:rPr>
              <a:t>nach der Probezeit</a:t>
            </a:r>
          </a:p>
        </p:txBody>
      </p:sp>
      <p:sp>
        <p:nvSpPr>
          <p:cNvPr id="25" name="Rectangle 24"/>
          <p:cNvSpPr/>
          <p:nvPr/>
        </p:nvSpPr>
        <p:spPr>
          <a:xfrm>
            <a:off x="2286000" y="3520440"/>
            <a:ext cx="73152" cy="41148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35040" y="3520440"/>
            <a:ext cx="73152" cy="411480"/>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63840" y="3108960"/>
            <a:ext cx="274320" cy="73152"/>
          </a:xfrm>
          <a:prstGeom prst="rect">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40080" y="3931920"/>
            <a:ext cx="3383280" cy="2286000"/>
          </a:xfrm>
          <a:prstGeom prst="rect">
            <a:avLst/>
          </a:prstGeom>
          <a:solidFill>
            <a:srgbClr val="E3F3EA"/>
          </a:solidFill>
          <a:ln w="38100">
            <a:solidFill>
              <a:srgbClr val="1E7B4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1F2A44"/>
                </a:solidFill>
                <a:latin typeface="Calibri"/>
              </a:rPr>
              <a:t>jederzeit ohne Frist</a:t>
            </a:r>
          </a:p>
          <a:p>
            <a:pPr algn="ctr">
              <a:spcBef>
                <a:spcPts val="840"/>
              </a:spcBef>
            </a:pPr>
            <a:r>
              <a:rPr sz="2800" b="0">
                <a:solidFill>
                  <a:srgbClr val="1F2A44"/>
                </a:solidFill>
                <a:latin typeface="Calibri"/>
              </a:rPr>
              <a:t>von beiden Seiten</a:t>
            </a:r>
          </a:p>
        </p:txBody>
      </p:sp>
      <p:sp>
        <p:nvSpPr>
          <p:cNvPr id="29" name="Rectangle 28"/>
          <p:cNvSpPr/>
          <p:nvPr/>
        </p:nvSpPr>
        <p:spPr>
          <a:xfrm>
            <a:off x="4480560" y="3931920"/>
            <a:ext cx="3383280" cy="2286000"/>
          </a:xfrm>
          <a:prstGeom prst="rect">
            <a:avLst/>
          </a:prstGeom>
          <a:solidFill>
            <a:srgbClr val="FCEBDD"/>
          </a:solidFill>
          <a:ln w="38100">
            <a:solidFill>
              <a:srgbClr val="B85C00"/>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1F2A44"/>
                </a:solidFill>
                <a:latin typeface="Calibri"/>
              </a:rPr>
              <a:t>fristlos aus wichtigem Grund</a:t>
            </a:r>
          </a:p>
          <a:p>
            <a:pPr algn="ctr">
              <a:spcBef>
                <a:spcPts val="840"/>
              </a:spcBef>
            </a:pPr>
            <a:r>
              <a:rPr sz="2800" b="0">
                <a:solidFill>
                  <a:srgbClr val="1F2A44"/>
                </a:solidFill>
                <a:latin typeface="Calibri"/>
              </a:rPr>
              <a:t>beide Seiten</a:t>
            </a:r>
          </a:p>
        </p:txBody>
      </p:sp>
      <p:sp>
        <p:nvSpPr>
          <p:cNvPr id="30" name="Rectangle 29"/>
          <p:cNvSpPr/>
          <p:nvPr/>
        </p:nvSpPr>
        <p:spPr>
          <a:xfrm>
            <a:off x="8138160" y="2514600"/>
            <a:ext cx="3383280" cy="3703320"/>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800" b="1">
                <a:solidFill>
                  <a:srgbClr val="1F2A44"/>
                </a:solidFill>
                <a:latin typeface="Calibri"/>
              </a:rPr>
              <a:t>Azubi: vier Wochen Frist</a:t>
            </a:r>
          </a:p>
          <a:p>
            <a:pPr algn="ctr">
              <a:spcBef>
                <a:spcPts val="840"/>
              </a:spcBef>
            </a:pPr>
            <a:r>
              <a:rPr sz="2800" b="0">
                <a:solidFill>
                  <a:srgbClr val="1F2A44"/>
                </a:solidFill>
                <a:latin typeface="Calibri"/>
              </a:rPr>
              <a:t>bei Aufgabe der Ausbildung oder Berufswechsel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Kündigung: Form und Frist</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22 Abs. 3 und 4 BBiG</a:t>
            </a:r>
          </a:p>
        </p:txBody>
      </p:sp>
      <p:sp>
        <p:nvSpPr>
          <p:cNvPr id="18" name="Rectangle 17"/>
          <p:cNvSpPr/>
          <p:nvPr/>
        </p:nvSpPr>
        <p:spPr>
          <a:xfrm>
            <a:off x="640080" y="1645920"/>
            <a:ext cx="3520440" cy="45720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 y="1645920"/>
            <a:ext cx="3520440" cy="10972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Symbol Immer schriftlich"/>
          <p:cNvPicPr>
            <a:picLocks noChangeAspect="1"/>
          </p:cNvPicPr>
          <p:nvPr/>
        </p:nvPicPr>
        <p:blipFill>
          <a:blip r:embed="rId3"/>
          <a:stretch>
            <a:fillRect/>
          </a:stretch>
        </p:blipFill>
        <p:spPr>
          <a:xfrm>
            <a:off x="1828800" y="1965960"/>
            <a:ext cx="1143000" cy="1143000"/>
          </a:xfrm>
          <a:prstGeom prst="rect">
            <a:avLst/>
          </a:prstGeom>
        </p:spPr>
      </p:pic>
      <p:sp>
        <p:nvSpPr>
          <p:cNvPr id="21" name="TextBox 20"/>
          <p:cNvSpPr txBox="1"/>
          <p:nvPr/>
        </p:nvSpPr>
        <p:spPr>
          <a:xfrm>
            <a:off x="731519" y="3337560"/>
            <a:ext cx="3337560" cy="731520"/>
          </a:xfrm>
          <a:prstGeom prst="rect">
            <a:avLst/>
          </a:prstGeom>
          <a:noFill/>
        </p:spPr>
        <p:txBody>
          <a:bodyPr wrap="square" anchor="t" tIns="36576" bIns="36576">
            <a:spAutoFit/>
          </a:bodyPr>
          <a:lstStyle/>
          <a:p>
            <a:pPr algn="ctr"/>
            <a:r>
              <a:rPr sz="3200" b="1">
                <a:solidFill>
                  <a:srgbClr val="1F2A44"/>
                </a:solidFill>
                <a:latin typeface="Calibri"/>
              </a:rPr>
              <a:t>Immer schriftlich</a:t>
            </a:r>
          </a:p>
        </p:txBody>
      </p:sp>
      <p:sp>
        <p:nvSpPr>
          <p:cNvPr id="22" name="TextBox 21"/>
          <p:cNvSpPr txBox="1"/>
          <p:nvPr/>
        </p:nvSpPr>
        <p:spPr>
          <a:xfrm>
            <a:off x="777240" y="4160520"/>
            <a:ext cx="3246120" cy="1737360"/>
          </a:xfrm>
          <a:prstGeom prst="rect">
            <a:avLst/>
          </a:prstGeom>
          <a:noFill/>
        </p:spPr>
        <p:txBody>
          <a:bodyPr wrap="square" anchor="t" tIns="36576" bIns="36576">
            <a:spAutoFit/>
          </a:bodyPr>
          <a:lstStyle/>
          <a:p>
            <a:pPr algn="ctr"/>
            <a:r>
              <a:rPr sz="2800" b="0">
                <a:solidFill>
                  <a:srgbClr val="1F2A44"/>
                </a:solidFill>
                <a:latin typeface="Calibri"/>
              </a:rPr>
              <a:t>E-Mail ist ausgeschlossen</a:t>
            </a:r>
          </a:p>
        </p:txBody>
      </p:sp>
      <p:sp>
        <p:nvSpPr>
          <p:cNvPr id="23" name="Rectangle 22"/>
          <p:cNvSpPr/>
          <p:nvPr/>
        </p:nvSpPr>
        <p:spPr>
          <a:xfrm>
            <a:off x="4343400" y="1645920"/>
            <a:ext cx="3520440" cy="45720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43400" y="1645920"/>
            <a:ext cx="3520440" cy="109728"/>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Symbol Mit Gründen"/>
          <p:cNvPicPr>
            <a:picLocks noChangeAspect="1"/>
          </p:cNvPicPr>
          <p:nvPr/>
        </p:nvPicPr>
        <p:blipFill>
          <a:blip r:embed="rId4"/>
          <a:stretch>
            <a:fillRect/>
          </a:stretch>
        </p:blipFill>
        <p:spPr>
          <a:xfrm>
            <a:off x="5532120" y="1965960"/>
            <a:ext cx="1143000" cy="1143000"/>
          </a:xfrm>
          <a:prstGeom prst="rect">
            <a:avLst/>
          </a:prstGeom>
        </p:spPr>
      </p:pic>
      <p:sp>
        <p:nvSpPr>
          <p:cNvPr id="26" name="TextBox 25"/>
          <p:cNvSpPr txBox="1"/>
          <p:nvPr/>
        </p:nvSpPr>
        <p:spPr>
          <a:xfrm>
            <a:off x="4434840" y="3337560"/>
            <a:ext cx="3337560" cy="731520"/>
          </a:xfrm>
          <a:prstGeom prst="rect">
            <a:avLst/>
          </a:prstGeom>
          <a:noFill/>
        </p:spPr>
        <p:txBody>
          <a:bodyPr wrap="square" anchor="t" tIns="36576" bIns="36576">
            <a:spAutoFit/>
          </a:bodyPr>
          <a:lstStyle/>
          <a:p>
            <a:pPr algn="ctr"/>
            <a:r>
              <a:rPr sz="3200" b="1">
                <a:solidFill>
                  <a:srgbClr val="1F2A44"/>
                </a:solidFill>
                <a:latin typeface="Calibri"/>
              </a:rPr>
              <a:t>Mit Gründen</a:t>
            </a:r>
          </a:p>
        </p:txBody>
      </p:sp>
      <p:sp>
        <p:nvSpPr>
          <p:cNvPr id="27" name="TextBox 26"/>
          <p:cNvSpPr txBox="1"/>
          <p:nvPr/>
        </p:nvSpPr>
        <p:spPr>
          <a:xfrm>
            <a:off x="4480560" y="4160520"/>
            <a:ext cx="3246120" cy="1737360"/>
          </a:xfrm>
          <a:prstGeom prst="rect">
            <a:avLst/>
          </a:prstGeom>
          <a:noFill/>
        </p:spPr>
        <p:txBody>
          <a:bodyPr wrap="square" anchor="t" tIns="36576" bIns="36576">
            <a:spAutoFit/>
          </a:bodyPr>
          <a:lstStyle/>
          <a:p>
            <a:pPr algn="ctr"/>
            <a:r>
              <a:rPr sz="2800" b="0">
                <a:solidFill>
                  <a:srgbClr val="1F2A44"/>
                </a:solidFill>
                <a:latin typeface="Calibri"/>
              </a:rPr>
              <a:t>nach der Probezeit</a:t>
            </a:r>
          </a:p>
        </p:txBody>
      </p:sp>
      <p:sp>
        <p:nvSpPr>
          <p:cNvPr id="28" name="Rectangle 27"/>
          <p:cNvSpPr/>
          <p:nvPr/>
        </p:nvSpPr>
        <p:spPr>
          <a:xfrm>
            <a:off x="8046719" y="1645920"/>
            <a:ext cx="3520440" cy="45720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46719" y="1645920"/>
            <a:ext cx="3520440" cy="109728"/>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Symbol Zwei Wochen"/>
          <p:cNvPicPr>
            <a:picLocks noChangeAspect="1"/>
          </p:cNvPicPr>
          <p:nvPr/>
        </p:nvPicPr>
        <p:blipFill>
          <a:blip r:embed="rId5"/>
          <a:stretch>
            <a:fillRect/>
          </a:stretch>
        </p:blipFill>
        <p:spPr>
          <a:xfrm>
            <a:off x="9235440" y="1965960"/>
            <a:ext cx="1143000" cy="1143000"/>
          </a:xfrm>
          <a:prstGeom prst="rect">
            <a:avLst/>
          </a:prstGeom>
        </p:spPr>
      </p:pic>
      <p:sp>
        <p:nvSpPr>
          <p:cNvPr id="31" name="TextBox 30"/>
          <p:cNvSpPr txBox="1"/>
          <p:nvPr/>
        </p:nvSpPr>
        <p:spPr>
          <a:xfrm>
            <a:off x="8138159" y="3337560"/>
            <a:ext cx="3337560" cy="731520"/>
          </a:xfrm>
          <a:prstGeom prst="rect">
            <a:avLst/>
          </a:prstGeom>
          <a:noFill/>
        </p:spPr>
        <p:txBody>
          <a:bodyPr wrap="square" anchor="t" tIns="36576" bIns="36576">
            <a:spAutoFit/>
          </a:bodyPr>
          <a:lstStyle/>
          <a:p>
            <a:pPr algn="ctr"/>
            <a:r>
              <a:rPr sz="3200" b="1">
                <a:solidFill>
                  <a:srgbClr val="1F2A44"/>
                </a:solidFill>
                <a:latin typeface="Calibri"/>
              </a:rPr>
              <a:t>Zwei Wochen</a:t>
            </a:r>
          </a:p>
        </p:txBody>
      </p:sp>
      <p:sp>
        <p:nvSpPr>
          <p:cNvPr id="32" name="TextBox 31"/>
          <p:cNvSpPr txBox="1"/>
          <p:nvPr/>
        </p:nvSpPr>
        <p:spPr>
          <a:xfrm>
            <a:off x="8183879" y="4160520"/>
            <a:ext cx="3246120" cy="1737360"/>
          </a:xfrm>
          <a:prstGeom prst="rect">
            <a:avLst/>
          </a:prstGeom>
          <a:noFill/>
        </p:spPr>
        <p:txBody>
          <a:bodyPr wrap="square" anchor="t" tIns="36576" bIns="36576">
            <a:spAutoFit/>
          </a:bodyPr>
          <a:lstStyle/>
          <a:p>
            <a:pPr algn="ctr"/>
            <a:r>
              <a:rPr sz="2800" b="0">
                <a:solidFill>
                  <a:srgbClr val="1F2A44"/>
                </a:solidFill>
                <a:latin typeface="Calibri"/>
              </a:rPr>
              <a:t>nach Kenntnis der Gründe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1">
                <a:solidFill>
                  <a:srgbClr val="1F2A44"/>
                </a:solidFill>
                <a:latin typeface="Calibri"/>
              </a:rPr>
              <a:t>Erklären</a:t>
            </a:r>
          </a:p>
        </p:txBody>
      </p:sp>
      <p:sp>
        <p:nvSpPr>
          <p:cNvPr id="9" name="Rectangle 8"/>
          <p:cNvSpPr/>
          <p:nvPr/>
        </p:nvSpPr>
        <p:spPr>
          <a:xfrm>
            <a:off x="5399179" y="0"/>
            <a:ext cx="1828754"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Pflichten von Azubi und Ausbildenden</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0" y="6327648"/>
            <a:ext cx="4114800" cy="420624"/>
          </a:xfrm>
          <a:prstGeom prst="rect">
            <a:avLst/>
          </a:prstGeom>
          <a:noFill/>
        </p:spPr>
        <p:txBody>
          <a:bodyPr wrap="square" anchor="ctr" tIns="36576" bIns="36576">
            <a:spAutoFit/>
          </a:bodyPr>
          <a:lstStyle/>
          <a:p>
            <a:pPr algn="r"/>
            <a:r>
              <a:rPr sz="2400" b="0">
                <a:solidFill>
                  <a:srgbClr val="4A5568"/>
                </a:solidFill>
                <a:latin typeface="Calibri"/>
              </a:rPr>
              <a:t>§§ 13–17 BBiG</a:t>
            </a:r>
          </a:p>
        </p:txBody>
      </p:sp>
      <p:sp>
        <p:nvSpPr>
          <p:cNvPr id="18" name="Rectangle 17"/>
          <p:cNvSpPr/>
          <p:nvPr/>
        </p:nvSpPr>
        <p:spPr>
          <a:xfrm>
            <a:off x="640080" y="1600200"/>
            <a:ext cx="5349240" cy="7315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1600200"/>
            <a:ext cx="5029200" cy="731520"/>
          </a:xfrm>
          <a:prstGeom prst="rect">
            <a:avLst/>
          </a:prstGeom>
          <a:noFill/>
        </p:spPr>
        <p:txBody>
          <a:bodyPr wrap="square" anchor="ctr" tIns="36576" bIns="36576">
            <a:spAutoFit/>
          </a:bodyPr>
          <a:lstStyle/>
          <a:p>
            <a:pPr algn="l"/>
            <a:r>
              <a:rPr sz="3200" b="1">
                <a:solidFill>
                  <a:srgbClr val="FFFFFF"/>
                </a:solidFill>
                <a:latin typeface="Calibri"/>
              </a:rPr>
              <a:t>Azubis (§ 13)</a:t>
            </a:r>
          </a:p>
        </p:txBody>
      </p:sp>
      <p:sp>
        <p:nvSpPr>
          <p:cNvPr id="20" name="Rectangle 19"/>
          <p:cNvSpPr/>
          <p:nvPr/>
        </p:nvSpPr>
        <p:spPr>
          <a:xfrm>
            <a:off x="6172200" y="1600200"/>
            <a:ext cx="5349240" cy="73152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55080" y="1600200"/>
            <a:ext cx="5029200" cy="731520"/>
          </a:xfrm>
          <a:prstGeom prst="rect">
            <a:avLst/>
          </a:prstGeom>
          <a:noFill/>
        </p:spPr>
        <p:txBody>
          <a:bodyPr wrap="square" anchor="ctr" tIns="36576" bIns="36576">
            <a:spAutoFit/>
          </a:bodyPr>
          <a:lstStyle/>
          <a:p>
            <a:pPr algn="l"/>
            <a:r>
              <a:rPr sz="3200" b="1">
                <a:solidFill>
                  <a:srgbClr val="1F2A44"/>
                </a:solidFill>
                <a:latin typeface="Calibri"/>
              </a:rPr>
              <a:t>Ausbildende (§§ 14–17)</a:t>
            </a:r>
          </a:p>
        </p:txBody>
      </p:sp>
      <p:sp>
        <p:nvSpPr>
          <p:cNvPr id="22" name="TextBox 21"/>
          <p:cNvSpPr txBox="1"/>
          <p:nvPr/>
        </p:nvSpPr>
        <p:spPr>
          <a:xfrm>
            <a:off x="640080" y="2514600"/>
            <a:ext cx="5349240" cy="3657600"/>
          </a:xfrm>
          <a:prstGeom prst="rect">
            <a:avLst/>
          </a:prstGeom>
          <a:noFill/>
        </p:spPr>
        <p:txBody>
          <a:bodyPr wrap="square" anchor="t" tIns="36576" bIns="36576">
            <a:spAutoFit/>
          </a:bodyPr>
          <a:lstStyle/>
          <a:p>
            <a:pPr algn="l"/>
            <a:r>
              <a:rPr sz="2800" b="1">
                <a:solidFill>
                  <a:srgbClr val="F5A623"/>
                </a:solidFill>
                <a:latin typeface="Calibri"/>
              </a:rPr>
              <a:t>•  </a:t>
            </a:r>
            <a:r>
              <a:rPr sz="2800" b="0">
                <a:solidFill>
                  <a:srgbClr val="1F2A44"/>
                </a:solidFill>
                <a:latin typeface="Calibri"/>
              </a:rPr>
              <a:t>lernen</a:t>
            </a:r>
          </a:p>
          <a:p>
            <a:pPr algn="l">
              <a:spcBef>
                <a:spcPts val="1260"/>
              </a:spcBef>
            </a:pPr>
            <a:r>
              <a:rPr sz="2800" b="1">
                <a:solidFill>
                  <a:srgbClr val="F5A623"/>
                </a:solidFill>
                <a:latin typeface="Calibri"/>
              </a:rPr>
              <a:t>•  </a:t>
            </a:r>
            <a:r>
              <a:rPr sz="2800" b="0">
                <a:solidFill>
                  <a:srgbClr val="1F2A44"/>
                </a:solidFill>
                <a:latin typeface="Calibri"/>
              </a:rPr>
              <a:t>sorgfältig arbeiten</a:t>
            </a:r>
          </a:p>
          <a:p>
            <a:pPr algn="l">
              <a:spcBef>
                <a:spcPts val="1260"/>
              </a:spcBef>
            </a:pPr>
            <a:r>
              <a:rPr sz="2800" b="1">
                <a:solidFill>
                  <a:srgbClr val="F5A623"/>
                </a:solidFill>
                <a:latin typeface="Calibri"/>
              </a:rPr>
              <a:t>•  </a:t>
            </a:r>
            <a:r>
              <a:rPr sz="2800" b="0">
                <a:solidFill>
                  <a:srgbClr val="1F2A44"/>
                </a:solidFill>
                <a:latin typeface="Calibri"/>
              </a:rPr>
              <a:t>Weisungen befolgen</a:t>
            </a:r>
          </a:p>
          <a:p>
            <a:pPr algn="l">
              <a:spcBef>
                <a:spcPts val="1260"/>
              </a:spcBef>
            </a:pPr>
            <a:r>
              <a:rPr sz="2800" b="1">
                <a:solidFill>
                  <a:srgbClr val="F5A623"/>
                </a:solidFill>
                <a:latin typeface="Calibri"/>
              </a:rPr>
              <a:t>•  </a:t>
            </a:r>
            <a:r>
              <a:rPr sz="2800" b="0">
                <a:solidFill>
                  <a:srgbClr val="1F2A44"/>
                </a:solidFill>
                <a:latin typeface="Calibri"/>
              </a:rPr>
              <a:t>Geheimnisse wahren</a:t>
            </a:r>
          </a:p>
          <a:p>
            <a:pPr algn="l">
              <a:spcBef>
                <a:spcPts val="1260"/>
              </a:spcBef>
            </a:pPr>
            <a:r>
              <a:rPr sz="2800" b="1">
                <a:solidFill>
                  <a:srgbClr val="F5A623"/>
                </a:solidFill>
                <a:latin typeface="Calibri"/>
              </a:rPr>
              <a:t>•  </a:t>
            </a:r>
            <a:r>
              <a:rPr sz="2800" b="0">
                <a:solidFill>
                  <a:srgbClr val="1F2A44"/>
                </a:solidFill>
                <a:latin typeface="Calibri"/>
              </a:rPr>
              <a:t>Ausbildungsnachweis führen</a:t>
            </a:r>
          </a:p>
        </p:txBody>
      </p:sp>
      <p:sp>
        <p:nvSpPr>
          <p:cNvPr id="23" name="TextBox 22"/>
          <p:cNvSpPr txBox="1"/>
          <p:nvPr/>
        </p:nvSpPr>
        <p:spPr>
          <a:xfrm>
            <a:off x="6172200" y="2514600"/>
            <a:ext cx="5349240" cy="3657600"/>
          </a:xfrm>
          <a:prstGeom prst="rect">
            <a:avLst/>
          </a:prstGeom>
          <a:noFill/>
        </p:spPr>
        <p:txBody>
          <a:bodyPr wrap="square" anchor="t" tIns="36576" bIns="36576">
            <a:spAutoFit/>
          </a:bodyPr>
          <a:lstStyle/>
          <a:p>
            <a:pPr algn="l"/>
            <a:r>
              <a:rPr sz="2800" b="1">
                <a:solidFill>
                  <a:srgbClr val="F5A623"/>
                </a:solidFill>
                <a:latin typeface="Calibri"/>
              </a:rPr>
              <a:t>•  </a:t>
            </a:r>
            <a:r>
              <a:rPr sz="2800" b="0">
                <a:solidFill>
                  <a:srgbClr val="1F2A44"/>
                </a:solidFill>
                <a:latin typeface="Calibri"/>
              </a:rPr>
              <a:t>Ziel vermitteln</a:t>
            </a:r>
          </a:p>
          <a:p>
            <a:pPr algn="l">
              <a:spcBef>
                <a:spcPts val="1260"/>
              </a:spcBef>
            </a:pPr>
            <a:r>
              <a:rPr sz="2800" b="1">
                <a:solidFill>
                  <a:srgbClr val="F5A623"/>
                </a:solidFill>
                <a:latin typeface="Calibri"/>
              </a:rPr>
              <a:t>•  </a:t>
            </a:r>
            <a:r>
              <a:rPr sz="2800" b="0">
                <a:solidFill>
                  <a:srgbClr val="1F2A44"/>
                </a:solidFill>
                <a:latin typeface="Calibri"/>
              </a:rPr>
              <a:t>Mittel kostenlos stellen</a:t>
            </a:r>
          </a:p>
          <a:p>
            <a:pPr algn="l">
              <a:spcBef>
                <a:spcPts val="1260"/>
              </a:spcBef>
            </a:pPr>
            <a:r>
              <a:rPr sz="2800" b="1">
                <a:solidFill>
                  <a:srgbClr val="F5A623"/>
                </a:solidFill>
                <a:latin typeface="Calibri"/>
              </a:rPr>
              <a:t>•  </a:t>
            </a:r>
            <a:r>
              <a:rPr sz="2800" b="0">
                <a:solidFill>
                  <a:srgbClr val="1F2A44"/>
                </a:solidFill>
                <a:latin typeface="Calibri"/>
              </a:rPr>
              <a:t>freistellen (Schule, Prüfung)</a:t>
            </a:r>
          </a:p>
          <a:p>
            <a:pPr algn="l">
              <a:spcBef>
                <a:spcPts val="1260"/>
              </a:spcBef>
            </a:pPr>
            <a:r>
              <a:rPr sz="2800" b="1">
                <a:solidFill>
                  <a:srgbClr val="F5A623"/>
                </a:solidFill>
                <a:latin typeface="Calibri"/>
              </a:rPr>
              <a:t>•  </a:t>
            </a:r>
            <a:r>
              <a:rPr sz="2800" b="0">
                <a:solidFill>
                  <a:srgbClr val="1F2A44"/>
                </a:solidFill>
                <a:latin typeface="Calibri"/>
              </a:rPr>
              <a:t>Zeugnis ausstellen</a:t>
            </a:r>
          </a:p>
          <a:p>
            <a:pPr algn="l">
              <a:spcBef>
                <a:spcPts val="1260"/>
              </a:spcBef>
            </a:pPr>
            <a:r>
              <a:rPr sz="2800" b="1">
                <a:solidFill>
                  <a:srgbClr val="F5A623"/>
                </a:solidFill>
                <a:latin typeface="Calibri"/>
              </a:rPr>
              <a:t>•  </a:t>
            </a:r>
            <a:r>
              <a:rPr sz="2800" b="0">
                <a:solidFill>
                  <a:srgbClr val="1F2A44"/>
                </a:solidFill>
                <a:latin typeface="Calibri"/>
              </a:rPr>
              <a:t>Vergütung zahlen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1">
                <a:solidFill>
                  <a:srgbClr val="1F2A44"/>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Jetzt seid ihr dran</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1600200"/>
            <a:ext cx="3721608" cy="3721608"/>
          </a:xfrm>
          <a:prstGeom prst="rect">
            <a:avLst/>
          </a:prstGeom>
          <a:solidFill>
            <a:srgbClr val="FFFFFF"/>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QR-Code zur Übungsseite der Klasse"/>
          <p:cNvPicPr>
            <a:picLocks noChangeAspect="1"/>
          </p:cNvPicPr>
          <p:nvPr/>
        </p:nvPicPr>
        <p:blipFill>
          <a:blip r:embed="rId3"/>
          <a:stretch>
            <a:fillRect/>
          </a:stretch>
        </p:blipFill>
        <p:spPr>
          <a:xfrm>
            <a:off x="809244" y="1769364"/>
            <a:ext cx="3383280" cy="3383280"/>
          </a:xfrm>
          <a:prstGeom prst="rect">
            <a:avLst/>
          </a:prstGeom>
        </p:spPr>
      </p:pic>
      <p:sp>
        <p:nvSpPr>
          <p:cNvPr id="19" name="URL"/>
          <p:cNvSpPr txBox="1"/>
          <p:nvPr/>
        </p:nvSpPr>
        <p:spPr>
          <a:xfrm>
            <a:off x="502920" y="5394960"/>
            <a:ext cx="4114800" cy="822960"/>
          </a:xfrm>
          <a:prstGeom prst="rect">
            <a:avLst/>
          </a:prstGeom>
          <a:noFill/>
        </p:spPr>
        <p:txBody>
          <a:bodyPr wrap="square" anchor="t" tIns="36576" bIns="36576">
            <a:spAutoFit/>
          </a:bodyPr>
          <a:lstStyle/>
          <a:p>
            <a:pPr algn="l"/>
            <a:r>
              <a:rPr sz="2400" b="1">
                <a:solidFill>
                  <a:srgbClr val="1F2A44"/>
                </a:solidFill>
                <a:latin typeface="Calibri"/>
              </a:rPr>
              <a:t>yasinbenx.github.io/azubi-vertrag</a:t>
            </a:r>
          </a:p>
        </p:txBody>
      </p:sp>
      <p:sp>
        <p:nvSpPr>
          <p:cNvPr id="20" name="Rectangle 19"/>
          <p:cNvSpPr/>
          <p:nvPr/>
        </p:nvSpPr>
        <p:spPr>
          <a:xfrm>
            <a:off x="4754880" y="1600200"/>
            <a:ext cx="676656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754880" y="1600200"/>
            <a:ext cx="109728" cy="9144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83480" y="1600200"/>
            <a:ext cx="3383280" cy="914400"/>
          </a:xfrm>
          <a:prstGeom prst="rect">
            <a:avLst/>
          </a:prstGeom>
          <a:noFill/>
        </p:spPr>
        <p:txBody>
          <a:bodyPr wrap="square" anchor="ctr" tIns="36576" bIns="36576">
            <a:spAutoFit/>
          </a:bodyPr>
          <a:lstStyle/>
          <a:p>
            <a:pPr algn="l"/>
            <a:r>
              <a:rPr sz="2800" b="1">
                <a:solidFill>
                  <a:srgbClr val="1F2A44"/>
                </a:solidFill>
                <a:latin typeface="Calibri"/>
              </a:rPr>
              <a:t>1  Rote/Grüne Karte</a:t>
            </a:r>
          </a:p>
        </p:txBody>
      </p:sp>
      <p:sp>
        <p:nvSpPr>
          <p:cNvPr id="23" name="Rounded Rectangle 22"/>
          <p:cNvSpPr/>
          <p:nvPr/>
        </p:nvSpPr>
        <p:spPr>
          <a:xfrm>
            <a:off x="8366760" y="1847088"/>
            <a:ext cx="1508760"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66760" y="1847088"/>
            <a:ext cx="1508760" cy="420624"/>
          </a:xfrm>
          <a:prstGeom prst="rect">
            <a:avLst/>
          </a:prstGeom>
          <a:noFill/>
        </p:spPr>
        <p:txBody>
          <a:bodyPr wrap="square" anchor="ctr" tIns="36576" bIns="36576">
            <a:spAutoFit/>
          </a:bodyPr>
          <a:lstStyle/>
          <a:p>
            <a:pPr algn="ctr"/>
            <a:r>
              <a:rPr sz="2400" b="1">
                <a:solidFill>
                  <a:srgbClr val="FFFFFF"/>
                </a:solidFill>
                <a:latin typeface="Calibri"/>
              </a:rPr>
              <a:t>allein</a:t>
            </a:r>
          </a:p>
        </p:txBody>
      </p:sp>
      <p:sp>
        <p:nvSpPr>
          <p:cNvPr id="25" name="Rounded Rectangle 24"/>
          <p:cNvSpPr/>
          <p:nvPr/>
        </p:nvSpPr>
        <p:spPr>
          <a:xfrm>
            <a:off x="9966960" y="1847088"/>
            <a:ext cx="1508760" cy="420624"/>
          </a:xfrm>
          <a:prstGeom prst="roundRect">
            <a:avLst>
              <a:gd name="adj" fmla="val 4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966960" y="1847088"/>
            <a:ext cx="1508760" cy="420624"/>
          </a:xfrm>
          <a:prstGeom prst="rect">
            <a:avLst/>
          </a:prstGeom>
          <a:noFill/>
        </p:spPr>
        <p:txBody>
          <a:bodyPr wrap="square" anchor="ctr" tIns="36576" bIns="36576">
            <a:spAutoFit/>
          </a:bodyPr>
          <a:lstStyle/>
          <a:p>
            <a:pPr algn="ctr"/>
            <a:r>
              <a:rPr sz="2400" b="1">
                <a:solidFill>
                  <a:srgbClr val="1F2A44"/>
                </a:solidFill>
                <a:latin typeface="Calibri"/>
              </a:rPr>
              <a:t>3 Min.</a:t>
            </a:r>
          </a:p>
        </p:txBody>
      </p:sp>
      <p:sp>
        <p:nvSpPr>
          <p:cNvPr id="27" name="Rectangle 26"/>
          <p:cNvSpPr/>
          <p:nvPr/>
        </p:nvSpPr>
        <p:spPr>
          <a:xfrm>
            <a:off x="4754880" y="2624328"/>
            <a:ext cx="676656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54880" y="2624328"/>
            <a:ext cx="109728" cy="9144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83480" y="2624328"/>
            <a:ext cx="3383280" cy="914400"/>
          </a:xfrm>
          <a:prstGeom prst="rect">
            <a:avLst/>
          </a:prstGeom>
          <a:noFill/>
        </p:spPr>
        <p:txBody>
          <a:bodyPr wrap="square" anchor="ctr" tIns="36576" bIns="36576">
            <a:spAutoFit/>
          </a:bodyPr>
          <a:lstStyle/>
          <a:p>
            <a:pPr algn="l"/>
            <a:r>
              <a:rPr sz="2800" b="1">
                <a:solidFill>
                  <a:srgbClr val="1F2A44"/>
                </a:solidFill>
                <a:latin typeface="Calibri"/>
              </a:rPr>
              <a:t>2  Vertrags-Detektiv</a:t>
            </a:r>
          </a:p>
        </p:txBody>
      </p:sp>
      <p:sp>
        <p:nvSpPr>
          <p:cNvPr id="30" name="Rounded Rectangle 29"/>
          <p:cNvSpPr/>
          <p:nvPr/>
        </p:nvSpPr>
        <p:spPr>
          <a:xfrm>
            <a:off x="8366760" y="2871216"/>
            <a:ext cx="1508760"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366760" y="2871216"/>
            <a:ext cx="1508760" cy="420624"/>
          </a:xfrm>
          <a:prstGeom prst="rect">
            <a:avLst/>
          </a:prstGeom>
          <a:noFill/>
        </p:spPr>
        <p:txBody>
          <a:bodyPr wrap="square" anchor="ctr" tIns="36576" bIns="36576">
            <a:spAutoFit/>
          </a:bodyPr>
          <a:lstStyle/>
          <a:p>
            <a:pPr algn="ctr"/>
            <a:r>
              <a:rPr sz="2400" b="1">
                <a:solidFill>
                  <a:srgbClr val="FFFFFF"/>
                </a:solidFill>
                <a:latin typeface="Calibri"/>
              </a:rPr>
              <a:t>zu zweit</a:t>
            </a:r>
          </a:p>
        </p:txBody>
      </p:sp>
      <p:sp>
        <p:nvSpPr>
          <p:cNvPr id="32" name="Rounded Rectangle 31"/>
          <p:cNvSpPr/>
          <p:nvPr/>
        </p:nvSpPr>
        <p:spPr>
          <a:xfrm>
            <a:off x="9966960" y="2871216"/>
            <a:ext cx="1508760" cy="420624"/>
          </a:xfrm>
          <a:prstGeom prst="roundRect">
            <a:avLst>
              <a:gd name="adj" fmla="val 4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966960" y="2871216"/>
            <a:ext cx="1508760" cy="420624"/>
          </a:xfrm>
          <a:prstGeom prst="rect">
            <a:avLst/>
          </a:prstGeom>
          <a:noFill/>
        </p:spPr>
        <p:txBody>
          <a:bodyPr wrap="square" anchor="ctr" tIns="36576" bIns="36576">
            <a:spAutoFit/>
          </a:bodyPr>
          <a:lstStyle/>
          <a:p>
            <a:pPr algn="ctr"/>
            <a:r>
              <a:rPr sz="2400" b="1">
                <a:solidFill>
                  <a:srgbClr val="1F2A44"/>
                </a:solidFill>
                <a:latin typeface="Calibri"/>
              </a:rPr>
              <a:t>5 Min.</a:t>
            </a:r>
          </a:p>
        </p:txBody>
      </p:sp>
      <p:sp>
        <p:nvSpPr>
          <p:cNvPr id="34" name="Rectangle 33"/>
          <p:cNvSpPr/>
          <p:nvPr/>
        </p:nvSpPr>
        <p:spPr>
          <a:xfrm>
            <a:off x="4754880" y="3648456"/>
            <a:ext cx="676656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54880" y="3648456"/>
            <a:ext cx="109728" cy="91440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983480" y="3648456"/>
            <a:ext cx="3383280" cy="914400"/>
          </a:xfrm>
          <a:prstGeom prst="rect">
            <a:avLst/>
          </a:prstGeom>
          <a:noFill/>
        </p:spPr>
        <p:txBody>
          <a:bodyPr wrap="square" anchor="ctr" tIns="36576" bIns="36576">
            <a:spAutoFit/>
          </a:bodyPr>
          <a:lstStyle/>
          <a:p>
            <a:pPr algn="l"/>
            <a:r>
              <a:rPr sz="2800" b="1">
                <a:solidFill>
                  <a:srgbClr val="1F2A44"/>
                </a:solidFill>
                <a:latin typeface="Calibri"/>
              </a:rPr>
              <a:t>3  IHK-Fälle A–C</a:t>
            </a:r>
          </a:p>
        </p:txBody>
      </p:sp>
      <p:sp>
        <p:nvSpPr>
          <p:cNvPr id="37" name="Rounded Rectangle 36"/>
          <p:cNvSpPr/>
          <p:nvPr/>
        </p:nvSpPr>
        <p:spPr>
          <a:xfrm>
            <a:off x="8366760" y="3895344"/>
            <a:ext cx="1508760"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366760" y="3895344"/>
            <a:ext cx="1508760" cy="420624"/>
          </a:xfrm>
          <a:prstGeom prst="rect">
            <a:avLst/>
          </a:prstGeom>
          <a:noFill/>
        </p:spPr>
        <p:txBody>
          <a:bodyPr wrap="square" anchor="ctr" tIns="36576" bIns="36576">
            <a:spAutoFit/>
          </a:bodyPr>
          <a:lstStyle/>
          <a:p>
            <a:pPr algn="ctr"/>
            <a:r>
              <a:rPr sz="2400" b="1">
                <a:solidFill>
                  <a:srgbClr val="FFFFFF"/>
                </a:solidFill>
                <a:latin typeface="Calibri"/>
              </a:rPr>
              <a:t>zu zweit</a:t>
            </a:r>
          </a:p>
        </p:txBody>
      </p:sp>
      <p:sp>
        <p:nvSpPr>
          <p:cNvPr id="39" name="Rounded Rectangle 38"/>
          <p:cNvSpPr/>
          <p:nvPr/>
        </p:nvSpPr>
        <p:spPr>
          <a:xfrm>
            <a:off x="9966960" y="3895344"/>
            <a:ext cx="1508760" cy="420624"/>
          </a:xfrm>
          <a:prstGeom prst="roundRect">
            <a:avLst>
              <a:gd name="adj" fmla="val 40000"/>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966960" y="3895344"/>
            <a:ext cx="1508760" cy="420624"/>
          </a:xfrm>
          <a:prstGeom prst="rect">
            <a:avLst/>
          </a:prstGeom>
          <a:noFill/>
        </p:spPr>
        <p:txBody>
          <a:bodyPr wrap="square" anchor="ctr" tIns="36576" bIns="36576">
            <a:spAutoFit/>
          </a:bodyPr>
          <a:lstStyle/>
          <a:p>
            <a:pPr algn="ctr"/>
            <a:r>
              <a:rPr sz="2400" b="1">
                <a:solidFill>
                  <a:srgbClr val="1F2A44"/>
                </a:solidFill>
                <a:latin typeface="Calibri"/>
              </a:rPr>
              <a:t>4 Min.</a:t>
            </a:r>
          </a:p>
        </p:txBody>
      </p:sp>
      <p:sp>
        <p:nvSpPr>
          <p:cNvPr id="41" name="TextBox 40"/>
          <p:cNvSpPr txBox="1"/>
          <p:nvPr/>
        </p:nvSpPr>
        <p:spPr>
          <a:xfrm>
            <a:off x="4754880" y="4709160"/>
            <a:ext cx="6766560" cy="548640"/>
          </a:xfrm>
          <a:prstGeom prst="rect">
            <a:avLst/>
          </a:prstGeom>
          <a:noFill/>
        </p:spPr>
        <p:txBody>
          <a:bodyPr wrap="square" anchor="t" tIns="36576" bIns="36576">
            <a:spAutoFit/>
          </a:bodyPr>
          <a:lstStyle/>
          <a:p>
            <a:pPr algn="l"/>
            <a:r>
              <a:rPr sz="2800" b="1">
                <a:solidFill>
                  <a:srgbClr val="1F2A44"/>
                </a:solidFill>
                <a:latin typeface="Calibri"/>
              </a:rPr>
              <a:t>Hilfsmittel: </a:t>
            </a:r>
            <a:r>
              <a:rPr sz="2800" b="0">
                <a:solidFill>
                  <a:srgbClr val="1F2A44"/>
                </a:solidFill>
                <a:latin typeface="Calibri"/>
              </a:rPr>
              <a:t>Merkblatt</a:t>
            </a:r>
          </a:p>
        </p:txBody>
      </p:sp>
      <p:sp>
        <p:nvSpPr>
          <p:cNvPr id="42" name="Rectangle 41"/>
          <p:cNvSpPr/>
          <p:nvPr/>
        </p:nvSpPr>
        <p:spPr>
          <a:xfrm>
            <a:off x="4754880" y="5257800"/>
            <a:ext cx="6766560" cy="100584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0" y="5257800"/>
            <a:ext cx="109728" cy="10058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983480" y="5257800"/>
            <a:ext cx="6492240" cy="1005840"/>
          </a:xfrm>
          <a:prstGeom prst="rect">
            <a:avLst/>
          </a:prstGeom>
          <a:noFill/>
        </p:spPr>
        <p:txBody>
          <a:bodyPr wrap="square" anchor="ctr" tIns="36576" bIns="36576">
            <a:spAutoFit/>
          </a:bodyPr>
          <a:lstStyle/>
          <a:p>
            <a:pPr algn="l"/>
            <a:r>
              <a:rPr sz="2800" b="1">
                <a:solidFill>
                  <a:srgbClr val="1F2A44"/>
                </a:solidFill>
                <a:latin typeface="Calibri"/>
              </a:rPr>
              <a:t>Schnell fertig? </a:t>
            </a:r>
            <a:r>
              <a:rPr sz="2800" b="0">
                <a:solidFill>
                  <a:srgbClr val="1F2A44"/>
                </a:solidFill>
                <a:latin typeface="Calibri"/>
              </a:rPr>
              <a:t>Reserve auf der Website.</a:t>
            </a:r>
          </a:p>
          <a:p>
            <a:pPr algn="l">
              <a:spcBef>
                <a:spcPts val="280"/>
              </a:spcBef>
            </a:pPr>
            <a:r>
              <a:rPr sz="2800" b="1">
                <a:solidFill>
                  <a:srgbClr val="1F2A44"/>
                </a:solidFill>
                <a:latin typeface="Calibri"/>
              </a:rPr>
              <a:t>Kein Handy? </a:t>
            </a:r>
            <a:r>
              <a:rPr sz="2800" b="0">
                <a:solidFill>
                  <a:srgbClr val="1F2A44"/>
                </a:solidFill>
                <a:latin typeface="Calibri"/>
              </a:rPr>
              <a:t>Schaut zu zweit mit.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1">
                <a:solidFill>
                  <a:srgbClr val="1F2A44"/>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Arbeitsphase</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1600200"/>
            <a:ext cx="3922776" cy="3922776"/>
          </a:xfrm>
          <a:prstGeom prst="rect">
            <a:avLst/>
          </a:prstGeom>
          <a:solidFill>
            <a:srgbClr val="FFFFFF"/>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QR-Code zur Übungsseite der Klasse"/>
          <p:cNvPicPr>
            <a:picLocks noChangeAspect="1"/>
          </p:cNvPicPr>
          <p:nvPr/>
        </p:nvPicPr>
        <p:blipFill>
          <a:blip r:embed="rId3"/>
          <a:stretch>
            <a:fillRect/>
          </a:stretch>
        </p:blipFill>
        <p:spPr>
          <a:xfrm>
            <a:off x="818388" y="1778508"/>
            <a:ext cx="3566160" cy="3566160"/>
          </a:xfrm>
          <a:prstGeom prst="rect">
            <a:avLst/>
          </a:prstGeom>
        </p:spPr>
      </p:pic>
      <p:sp>
        <p:nvSpPr>
          <p:cNvPr id="19" name="TextBox 18"/>
          <p:cNvSpPr txBox="1"/>
          <p:nvPr/>
        </p:nvSpPr>
        <p:spPr>
          <a:xfrm>
            <a:off x="502920" y="5623560"/>
            <a:ext cx="4206240" cy="640080"/>
          </a:xfrm>
          <a:prstGeom prst="rect">
            <a:avLst/>
          </a:prstGeom>
          <a:noFill/>
        </p:spPr>
        <p:txBody>
          <a:bodyPr wrap="square" anchor="t" tIns="36576" bIns="36576">
            <a:spAutoFit/>
          </a:bodyPr>
          <a:lstStyle/>
          <a:p>
            <a:pPr algn="l"/>
            <a:r>
              <a:rPr sz="2400" b="1">
                <a:solidFill>
                  <a:srgbClr val="1F2A44"/>
                </a:solidFill>
                <a:latin typeface="Calibri"/>
              </a:rPr>
              <a:t>yasinbenx.github.io/azubi-vertrag</a:t>
            </a:r>
          </a:p>
        </p:txBody>
      </p:sp>
      <p:sp>
        <p:nvSpPr>
          <p:cNvPr id="20" name="TextBox 19"/>
          <p:cNvSpPr txBox="1"/>
          <p:nvPr/>
        </p:nvSpPr>
        <p:spPr>
          <a:xfrm>
            <a:off x="4937760" y="1554480"/>
            <a:ext cx="6583680" cy="548640"/>
          </a:xfrm>
          <a:prstGeom prst="rect">
            <a:avLst/>
          </a:prstGeom>
          <a:noFill/>
        </p:spPr>
        <p:txBody>
          <a:bodyPr wrap="square" anchor="t" tIns="36576" bIns="36576">
            <a:spAutoFit/>
          </a:bodyPr>
          <a:lstStyle/>
          <a:p>
            <a:pPr algn="l"/>
            <a:r>
              <a:rPr sz="2800" b="0">
                <a:solidFill>
                  <a:srgbClr val="4A5568"/>
                </a:solidFill>
                <a:latin typeface="Calibri"/>
              </a:rPr>
              <a:t>Countdown</a:t>
            </a:r>
          </a:p>
        </p:txBody>
      </p:sp>
      <p:sp>
        <p:nvSpPr>
          <p:cNvPr id="21" name="Countdown_Zeit"/>
          <p:cNvSpPr txBox="1"/>
          <p:nvPr/>
        </p:nvSpPr>
        <p:spPr>
          <a:xfrm>
            <a:off x="4937760" y="2011680"/>
            <a:ext cx="6583680" cy="1371600"/>
          </a:xfrm>
          <a:prstGeom prst="rect">
            <a:avLst/>
          </a:prstGeom>
          <a:noFill/>
        </p:spPr>
        <p:txBody>
          <a:bodyPr wrap="square" anchor="t" tIns="36576" bIns="36576">
            <a:spAutoFit/>
          </a:bodyPr>
          <a:lstStyle/>
          <a:p>
            <a:pPr algn="l"/>
            <a:r>
              <a:rPr sz="8000" b="1">
                <a:solidFill>
                  <a:srgbClr val="1F2A44"/>
                </a:solidFill>
                <a:latin typeface="Calibri"/>
              </a:rPr>
              <a:t>12 Min.</a:t>
            </a:r>
          </a:p>
        </p:txBody>
      </p:sp>
      <p:sp>
        <p:nvSpPr>
          <p:cNvPr id="22" name="Countdown_1"/>
          <p:cNvSpPr/>
          <p:nvPr/>
        </p:nvSpPr>
        <p:spPr>
          <a:xfrm>
            <a:off x="498348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ountdown_2"/>
          <p:cNvSpPr/>
          <p:nvPr/>
        </p:nvSpPr>
        <p:spPr>
          <a:xfrm>
            <a:off x="553212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Countdown_3"/>
          <p:cNvSpPr/>
          <p:nvPr/>
        </p:nvSpPr>
        <p:spPr>
          <a:xfrm>
            <a:off x="608076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ountdown_4"/>
          <p:cNvSpPr/>
          <p:nvPr/>
        </p:nvSpPr>
        <p:spPr>
          <a:xfrm>
            <a:off x="662940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Countdown_5"/>
          <p:cNvSpPr/>
          <p:nvPr/>
        </p:nvSpPr>
        <p:spPr>
          <a:xfrm>
            <a:off x="717804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ountdown_6"/>
          <p:cNvSpPr/>
          <p:nvPr/>
        </p:nvSpPr>
        <p:spPr>
          <a:xfrm>
            <a:off x="7726679"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ountdown_7"/>
          <p:cNvSpPr/>
          <p:nvPr/>
        </p:nvSpPr>
        <p:spPr>
          <a:xfrm>
            <a:off x="827532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Countdown_8"/>
          <p:cNvSpPr/>
          <p:nvPr/>
        </p:nvSpPr>
        <p:spPr>
          <a:xfrm>
            <a:off x="882396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untdown_9"/>
          <p:cNvSpPr/>
          <p:nvPr/>
        </p:nvSpPr>
        <p:spPr>
          <a:xfrm>
            <a:off x="937260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Countdown_10"/>
          <p:cNvSpPr/>
          <p:nvPr/>
        </p:nvSpPr>
        <p:spPr>
          <a:xfrm>
            <a:off x="992124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ountdown_11"/>
          <p:cNvSpPr/>
          <p:nvPr/>
        </p:nvSpPr>
        <p:spPr>
          <a:xfrm>
            <a:off x="1046988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Countdown_12"/>
          <p:cNvSpPr/>
          <p:nvPr/>
        </p:nvSpPr>
        <p:spPr>
          <a:xfrm>
            <a:off x="11018520" y="3520440"/>
            <a:ext cx="502920" cy="5486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937760" y="4114800"/>
            <a:ext cx="6583680" cy="548640"/>
          </a:xfrm>
          <a:prstGeom prst="rect">
            <a:avLst/>
          </a:prstGeom>
          <a:noFill/>
        </p:spPr>
        <p:txBody>
          <a:bodyPr wrap="square" anchor="t" tIns="36576" bIns="36576">
            <a:spAutoFit/>
          </a:bodyPr>
          <a:lstStyle/>
          <a:p>
            <a:pPr algn="l"/>
            <a:r>
              <a:rPr sz="2400" b="0">
                <a:solidFill>
                  <a:srgbClr val="4A5568"/>
                </a:solidFill>
                <a:latin typeface="Calibri"/>
              </a:rPr>
              <a:t>Jedes Segment = 1 Minute</a:t>
            </a:r>
          </a:p>
        </p:txBody>
      </p:sp>
      <p:sp>
        <p:nvSpPr>
          <p:cNvPr id="35" name="Oval 34"/>
          <p:cNvSpPr/>
          <p:nvPr/>
        </p:nvSpPr>
        <p:spPr>
          <a:xfrm>
            <a:off x="4983480" y="4709160"/>
            <a:ext cx="411480" cy="4114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1</a:t>
            </a:r>
          </a:p>
        </p:txBody>
      </p:sp>
      <p:sp>
        <p:nvSpPr>
          <p:cNvPr id="36" name="TextBox 35"/>
          <p:cNvSpPr txBox="1"/>
          <p:nvPr/>
        </p:nvSpPr>
        <p:spPr>
          <a:xfrm>
            <a:off x="5577840" y="4663440"/>
            <a:ext cx="5943600" cy="502920"/>
          </a:xfrm>
          <a:prstGeom prst="rect">
            <a:avLst/>
          </a:prstGeom>
          <a:noFill/>
        </p:spPr>
        <p:txBody>
          <a:bodyPr wrap="square" anchor="ctr" tIns="36576" bIns="36576">
            <a:spAutoFit/>
          </a:bodyPr>
          <a:lstStyle/>
          <a:p>
            <a:pPr algn="l"/>
            <a:r>
              <a:rPr sz="2800" b="0">
                <a:solidFill>
                  <a:srgbClr val="1F2A44"/>
                </a:solidFill>
                <a:latin typeface="Calibri"/>
              </a:rPr>
              <a:t>Rote/Grüne Karte · 3 Min.</a:t>
            </a:r>
          </a:p>
        </p:txBody>
      </p:sp>
      <p:sp>
        <p:nvSpPr>
          <p:cNvPr id="37" name="Oval 36"/>
          <p:cNvSpPr/>
          <p:nvPr/>
        </p:nvSpPr>
        <p:spPr>
          <a:xfrm>
            <a:off x="4983480" y="5239512"/>
            <a:ext cx="411480" cy="4114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2</a:t>
            </a:r>
          </a:p>
        </p:txBody>
      </p:sp>
      <p:sp>
        <p:nvSpPr>
          <p:cNvPr id="38" name="TextBox 37"/>
          <p:cNvSpPr txBox="1"/>
          <p:nvPr/>
        </p:nvSpPr>
        <p:spPr>
          <a:xfrm>
            <a:off x="5577840" y="5193792"/>
            <a:ext cx="5943600" cy="502920"/>
          </a:xfrm>
          <a:prstGeom prst="rect">
            <a:avLst/>
          </a:prstGeom>
          <a:noFill/>
        </p:spPr>
        <p:txBody>
          <a:bodyPr wrap="square" anchor="ctr" tIns="36576" bIns="36576">
            <a:spAutoFit/>
          </a:bodyPr>
          <a:lstStyle/>
          <a:p>
            <a:pPr algn="l"/>
            <a:r>
              <a:rPr sz="2800" b="0">
                <a:solidFill>
                  <a:srgbClr val="1F2A44"/>
                </a:solidFill>
                <a:latin typeface="Calibri"/>
              </a:rPr>
              <a:t>Vertrags-Detektiv · 5 Min.</a:t>
            </a:r>
          </a:p>
        </p:txBody>
      </p:sp>
      <p:sp>
        <p:nvSpPr>
          <p:cNvPr id="39" name="Oval 38"/>
          <p:cNvSpPr/>
          <p:nvPr/>
        </p:nvSpPr>
        <p:spPr>
          <a:xfrm>
            <a:off x="4983480" y="5769864"/>
            <a:ext cx="411480" cy="41148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3</a:t>
            </a:r>
          </a:p>
        </p:txBody>
      </p:sp>
      <p:sp>
        <p:nvSpPr>
          <p:cNvPr id="40" name="TextBox 39"/>
          <p:cNvSpPr txBox="1"/>
          <p:nvPr/>
        </p:nvSpPr>
        <p:spPr>
          <a:xfrm>
            <a:off x="5577840" y="5724144"/>
            <a:ext cx="5943600" cy="502920"/>
          </a:xfrm>
          <a:prstGeom prst="rect">
            <a:avLst/>
          </a:prstGeom>
          <a:noFill/>
        </p:spPr>
        <p:txBody>
          <a:bodyPr wrap="square" anchor="ctr" tIns="36576" bIns="36576">
            <a:spAutoFit/>
          </a:bodyPr>
          <a:lstStyle/>
          <a:p>
            <a:pPr algn="l"/>
            <a:r>
              <a:rPr sz="2800" b="0">
                <a:solidFill>
                  <a:srgbClr val="1F2A44"/>
                </a:solidFill>
                <a:latin typeface="Calibri"/>
              </a:rPr>
              <a:t>IHK-Fälle A–C · 4 Min.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par>
                          <p:cTn id="7" fill="hold">
                            <p:stCondLst>
                              <p:cond delay="60000"/>
                            </p:stCondLst>
                            <p:childTnLst>
                              <p:par>
                                <p:cTn id="8" presetID="1" presetClass="entr" presetSubtype="0"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childTnLst>
                                </p:cTn>
                              </p:par>
                            </p:childTnLst>
                          </p:cTn>
                        </p:par>
                        <p:par>
                          <p:cTn id="10" fill="hold">
                            <p:stCondLst>
                              <p:cond delay="120000"/>
                            </p:stCondLst>
                            <p:childTnLst>
                              <p:par>
                                <p:cTn id="11" presetID="1" presetClass="entr" presetSubtype="0" fill="hold" grpId="0" nodeType="after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childTnLst>
                          </p:cTn>
                        </p:par>
                        <p:par>
                          <p:cTn id="13" fill="hold">
                            <p:stCondLst>
                              <p:cond delay="180000"/>
                            </p:stCondLst>
                            <p:childTnLst>
                              <p:par>
                                <p:cTn id="14" presetID="1" presetClass="entr" presetSubtype="0" fill="hold" grpId="0" nodeType="afterEffect">
                                  <p:stCondLst>
                                    <p:cond delay="0"/>
                                  </p:stCondLst>
                                  <p:childTnLst>
                                    <p:set>
                                      <p:cBhvr>
                                        <p:cTn id="15" dur="1" fill="hold">
                                          <p:stCondLst>
                                            <p:cond delay="0"/>
                                          </p:stCondLst>
                                        </p:cTn>
                                        <p:tgtEl>
                                          <p:spTgt spid="25"/>
                                        </p:tgtEl>
                                        <p:attrNameLst>
                                          <p:attrName>style.visibility</p:attrName>
                                        </p:attrNameLst>
                                      </p:cBhvr>
                                      <p:to>
                                        <p:strVal val="visible"/>
                                      </p:to>
                                    </p:set>
                                  </p:childTnLst>
                                </p:cTn>
                              </p:par>
                            </p:childTnLst>
                          </p:cTn>
                        </p:par>
                        <p:par>
                          <p:cTn id="16" fill="hold">
                            <p:stCondLst>
                              <p:cond delay="240000"/>
                            </p:stCondLst>
                            <p:childTnLst>
                              <p:par>
                                <p:cTn id="17" presetID="1" presetClass="entr" presetSubtype="0" fill="hold" grpId="0" nodeType="after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par>
                          <p:cTn id="19" fill="hold">
                            <p:stCondLst>
                              <p:cond delay="300000"/>
                            </p:stCondLst>
                            <p:childTnLst>
                              <p:par>
                                <p:cTn id="20" presetID="1" presetClass="entr" presetSubtype="0" fill="hold" grpId="0" nodeType="afterEffect">
                                  <p:stCondLst>
                                    <p:cond delay="0"/>
                                  </p:stCondLst>
                                  <p:childTnLst>
                                    <p:set>
                                      <p:cBhvr>
                                        <p:cTn id="21" dur="1" fill="hold">
                                          <p:stCondLst>
                                            <p:cond delay="0"/>
                                          </p:stCondLst>
                                        </p:cTn>
                                        <p:tgtEl>
                                          <p:spTgt spid="27"/>
                                        </p:tgtEl>
                                        <p:attrNameLst>
                                          <p:attrName>style.visibility</p:attrName>
                                        </p:attrNameLst>
                                      </p:cBhvr>
                                      <p:to>
                                        <p:strVal val="visible"/>
                                      </p:to>
                                    </p:set>
                                  </p:childTnLst>
                                </p:cTn>
                              </p:par>
                            </p:childTnLst>
                          </p:cTn>
                        </p:par>
                        <p:par>
                          <p:cTn id="22" fill="hold">
                            <p:stCondLst>
                              <p:cond delay="360000"/>
                            </p:stCondLst>
                            <p:childTnLst>
                              <p:par>
                                <p:cTn id="23" presetID="1" presetClass="entr" presetSubtype="0" fill="hold" grpId="0" nodeType="after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par>
                          <p:cTn id="25" fill="hold">
                            <p:stCondLst>
                              <p:cond delay="420000"/>
                            </p:stCondLst>
                            <p:childTnLst>
                              <p:par>
                                <p:cTn id="26" presetID="1" presetClass="entr" presetSubtype="0" fill="hold" grpId="0" nodeType="afterEffect">
                                  <p:stCondLst>
                                    <p:cond delay="0"/>
                                  </p:stCondLst>
                                  <p:childTnLst>
                                    <p:set>
                                      <p:cBhvr>
                                        <p:cTn id="27" dur="1" fill="hold">
                                          <p:stCondLst>
                                            <p:cond delay="0"/>
                                          </p:stCondLst>
                                        </p:cTn>
                                        <p:tgtEl>
                                          <p:spTgt spid="29"/>
                                        </p:tgtEl>
                                        <p:attrNameLst>
                                          <p:attrName>style.visibility</p:attrName>
                                        </p:attrNameLst>
                                      </p:cBhvr>
                                      <p:to>
                                        <p:strVal val="visible"/>
                                      </p:to>
                                    </p:set>
                                  </p:childTnLst>
                                </p:cTn>
                              </p:par>
                            </p:childTnLst>
                          </p:cTn>
                        </p:par>
                        <p:par>
                          <p:cTn id="28" fill="hold">
                            <p:stCondLst>
                              <p:cond delay="480000"/>
                            </p:stCondLst>
                            <p:childTnLst>
                              <p:par>
                                <p:cTn id="29" presetID="1" presetClass="entr" presetSubtype="0"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par>
                          <p:cTn id="31" fill="hold">
                            <p:stCondLst>
                              <p:cond delay="540000"/>
                            </p:stCondLst>
                            <p:childTnLst>
                              <p:par>
                                <p:cTn id="32" presetID="1" presetClass="entr" presetSubtype="0" fill="hold" grpId="0" nodeType="afterEffect">
                                  <p:stCondLst>
                                    <p:cond delay="0"/>
                                  </p:stCondLst>
                                  <p:childTnLst>
                                    <p:set>
                                      <p:cBhvr>
                                        <p:cTn id="33" dur="1" fill="hold">
                                          <p:stCondLst>
                                            <p:cond delay="0"/>
                                          </p:stCondLst>
                                        </p:cTn>
                                        <p:tgtEl>
                                          <p:spTgt spid="31"/>
                                        </p:tgtEl>
                                        <p:attrNameLst>
                                          <p:attrName>style.visibility</p:attrName>
                                        </p:attrNameLst>
                                      </p:cBhvr>
                                      <p:to>
                                        <p:strVal val="visible"/>
                                      </p:to>
                                    </p:set>
                                  </p:childTnLst>
                                </p:cTn>
                              </p:par>
                            </p:childTnLst>
                          </p:cTn>
                        </p:par>
                        <p:par>
                          <p:cTn id="34" fill="hold">
                            <p:stCondLst>
                              <p:cond delay="600000"/>
                            </p:stCondLst>
                            <p:childTnLst>
                              <p:par>
                                <p:cTn id="35" presetID="1" presetClass="entr" presetSubtype="0" fill="hold" grpId="0" nodeType="after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par>
                          <p:cTn id="37" fill="hold">
                            <p:stCondLst>
                              <p:cond delay="660000"/>
                            </p:stCondLst>
                            <p:childTnLst>
                              <p:par>
                                <p:cTn id="38" presetID="1" presetClass="entr" presetSubtype="0" fill="hold" grpId="0" nodeType="afterEffect">
                                  <p:stCondLst>
                                    <p:cond delay="0"/>
                                  </p:stCondLst>
                                  <p:childTnLst>
                                    <p:set>
                                      <p:cBhvr>
                                        <p:cTn id="39"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1">
                <a:solidFill>
                  <a:srgbClr val="1F2A44"/>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Frage"/>
          <p:cNvSpPr txBox="1"/>
          <p:nvPr/>
        </p:nvSpPr>
        <p:spPr>
          <a:xfrm>
            <a:off x="548640" y="502920"/>
            <a:ext cx="11155680" cy="640080"/>
          </a:xfrm>
          <a:prstGeom prst="rect">
            <a:avLst/>
          </a:prstGeom>
          <a:noFill/>
        </p:spPr>
        <p:txBody>
          <a:bodyPr wrap="square" anchor="ctr" tIns="36576" bIns="36576">
            <a:spAutoFit/>
          </a:bodyPr>
          <a:lstStyle/>
          <a:p>
            <a:pPr algn="l"/>
            <a:r>
              <a:rPr sz="3600" b="1">
                <a:solidFill>
                  <a:srgbClr val="1F2A44"/>
                </a:solidFill>
                <a:latin typeface="Calibri"/>
              </a:rPr>
              <a:t>Welche Zeilen enthalten einen Fehler?</a:t>
            </a:r>
          </a:p>
        </p:txBody>
      </p:sp>
      <p:sp>
        <p:nvSpPr>
          <p:cNvPr id="16" name="Vertragsauszug"/>
          <p:cNvSpPr/>
          <p:nvPr/>
        </p:nvSpPr>
        <p:spPr>
          <a:xfrm>
            <a:off x="640080" y="1188720"/>
            <a:ext cx="10881360" cy="4983480"/>
          </a:xfrm>
          <a:prstGeom prst="rect">
            <a:avLst/>
          </a:prstGeom>
          <a:solidFill>
            <a:srgbClr val="F6F8FC"/>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1188720"/>
            <a:ext cx="10881360" cy="9144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ertragskopf"/>
          <p:cNvSpPr txBox="1"/>
          <p:nvPr/>
        </p:nvSpPr>
        <p:spPr>
          <a:xfrm>
            <a:off x="731519" y="1325880"/>
            <a:ext cx="10698480" cy="1280160"/>
          </a:xfrm>
          <a:prstGeom prst="rect">
            <a:avLst/>
          </a:prstGeom>
          <a:noFill/>
        </p:spPr>
        <p:txBody>
          <a:bodyPr wrap="square" anchor="t" tIns="36576" bIns="36576">
            <a:spAutoFit/>
          </a:bodyPr>
          <a:lstStyle/>
          <a:p>
            <a:pPr algn="l"/>
            <a:r>
              <a:rPr sz="1800" b="1">
                <a:solidFill>
                  <a:srgbClr val="1F2A44"/>
                </a:solidFill>
                <a:latin typeface="Times New Roman"/>
              </a:rPr>
              <a:t>Berufsausbildungsvertrag (Auszug, fiktiv)</a:t>
            </a:r>
          </a:p>
          <a:p>
            <a:pPr algn="l">
              <a:spcBef>
                <a:spcPts val="180"/>
              </a:spcBef>
            </a:pPr>
            <a:r>
              <a:rPr sz="1800" b="0">
                <a:solidFill>
                  <a:srgbClr val="1F2A44"/>
                </a:solidFill>
                <a:latin typeface="Times New Roman"/>
              </a:rPr>
              <a:t>Ausbildende: Muster GmbH (nicht tarifgebunden)</a:t>
            </a:r>
          </a:p>
          <a:p>
            <a:pPr algn="l">
              <a:spcBef>
                <a:spcPts val="180"/>
              </a:spcBef>
            </a:pPr>
            <a:r>
              <a:rPr sz="1800" b="0">
                <a:solidFill>
                  <a:srgbClr val="1F2A44"/>
                </a:solidFill>
                <a:latin typeface="Times New Roman"/>
              </a:rPr>
              <a:t>Auszubildender: Jonas Muster, geboren am 20.11.2009</a:t>
            </a:r>
          </a:p>
          <a:p>
            <a:pPr algn="l">
              <a:spcBef>
                <a:spcPts val="180"/>
              </a:spcBef>
            </a:pPr>
            <a:r>
              <a:rPr sz="1800" b="0">
                <a:solidFill>
                  <a:srgbClr val="1F2A44"/>
                </a:solidFill>
                <a:latin typeface="Times New Roman"/>
              </a:rPr>
              <a:t>Beruf: Kaufmann für Büromanagement</a:t>
            </a:r>
          </a:p>
        </p:txBody>
      </p:sp>
      <p:sp>
        <p:nvSpPr>
          <p:cNvPr id="19" name="Zeilennummer_1"/>
          <p:cNvSpPr/>
          <p:nvPr/>
        </p:nvSpPr>
        <p:spPr>
          <a:xfrm>
            <a:off x="777240" y="2679191"/>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1</a:t>
            </a:r>
          </a:p>
        </p:txBody>
      </p:sp>
      <p:sp>
        <p:nvSpPr>
          <p:cNvPr id="20" name="Zeile_1"/>
          <p:cNvSpPr txBox="1"/>
          <p:nvPr/>
        </p:nvSpPr>
        <p:spPr>
          <a:xfrm>
            <a:off x="1234440" y="2642615"/>
            <a:ext cx="10149840" cy="402336"/>
          </a:xfrm>
          <a:prstGeom prst="rect">
            <a:avLst/>
          </a:prstGeom>
          <a:noFill/>
        </p:spPr>
        <p:txBody>
          <a:bodyPr wrap="square" anchor="t" tIns="36576" bIns="36576">
            <a:spAutoFit/>
          </a:bodyPr>
          <a:lstStyle/>
          <a:p>
            <a:pPr algn="l"/>
            <a:r>
              <a:rPr sz="1800" b="0">
                <a:solidFill>
                  <a:srgbClr val="1F2A44"/>
                </a:solidFill>
                <a:latin typeface="Times New Roman"/>
              </a:rPr>
              <a:t>§ 1 Beginn und Dauer: Die Ausbildung beginnt am 01.09.2026 und dauert drei Jahre.</a:t>
            </a:r>
          </a:p>
        </p:txBody>
      </p:sp>
      <p:sp>
        <p:nvSpPr>
          <p:cNvPr id="21" name="Zeilennummer_2"/>
          <p:cNvSpPr/>
          <p:nvPr/>
        </p:nvSpPr>
        <p:spPr>
          <a:xfrm>
            <a:off x="777240" y="3108959"/>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2</a:t>
            </a:r>
          </a:p>
        </p:txBody>
      </p:sp>
      <p:sp>
        <p:nvSpPr>
          <p:cNvPr id="22" name="Zeile_2"/>
          <p:cNvSpPr txBox="1"/>
          <p:nvPr/>
        </p:nvSpPr>
        <p:spPr>
          <a:xfrm>
            <a:off x="1234440" y="3072383"/>
            <a:ext cx="10149840" cy="402336"/>
          </a:xfrm>
          <a:prstGeom prst="rect">
            <a:avLst/>
          </a:prstGeom>
          <a:noFill/>
        </p:spPr>
        <p:txBody>
          <a:bodyPr wrap="square" anchor="t" tIns="36576" bIns="36576">
            <a:spAutoFit/>
          </a:bodyPr>
          <a:lstStyle/>
          <a:p>
            <a:pPr algn="l"/>
            <a:r>
              <a:rPr sz="1800" b="0">
                <a:solidFill>
                  <a:srgbClr val="1F2A44"/>
                </a:solidFill>
                <a:latin typeface="Times New Roman"/>
              </a:rPr>
              <a:t>§ 2 Probezeit: Die Probezeit beträgt sechs Monate.</a:t>
            </a:r>
          </a:p>
        </p:txBody>
      </p:sp>
      <p:sp>
        <p:nvSpPr>
          <p:cNvPr id="23" name="Zeilennummer_3"/>
          <p:cNvSpPr/>
          <p:nvPr/>
        </p:nvSpPr>
        <p:spPr>
          <a:xfrm>
            <a:off x="777240" y="3538727"/>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3</a:t>
            </a:r>
          </a:p>
        </p:txBody>
      </p:sp>
      <p:sp>
        <p:nvSpPr>
          <p:cNvPr id="24" name="Zeile_3"/>
          <p:cNvSpPr txBox="1"/>
          <p:nvPr/>
        </p:nvSpPr>
        <p:spPr>
          <a:xfrm>
            <a:off x="1234440" y="3502151"/>
            <a:ext cx="10149840" cy="402336"/>
          </a:xfrm>
          <a:prstGeom prst="rect">
            <a:avLst/>
          </a:prstGeom>
          <a:noFill/>
        </p:spPr>
        <p:txBody>
          <a:bodyPr wrap="square" anchor="t" tIns="36576" bIns="36576">
            <a:spAutoFit/>
          </a:bodyPr>
          <a:lstStyle/>
          <a:p>
            <a:pPr algn="l"/>
            <a:r>
              <a:rPr sz="1800" b="0">
                <a:solidFill>
                  <a:srgbClr val="1F2A44"/>
                </a:solidFill>
                <a:latin typeface="Times New Roman"/>
              </a:rPr>
              <a:t>§ 3 Vergütung: Die monatliche Ausbildungsvergütung beträgt im 1. Ausbildungsjahr 650 € brutto.</a:t>
            </a:r>
          </a:p>
        </p:txBody>
      </p:sp>
      <p:sp>
        <p:nvSpPr>
          <p:cNvPr id="25" name="Zeilennummer_4"/>
          <p:cNvSpPr/>
          <p:nvPr/>
        </p:nvSpPr>
        <p:spPr>
          <a:xfrm>
            <a:off x="777240" y="3968495"/>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4</a:t>
            </a:r>
          </a:p>
        </p:txBody>
      </p:sp>
      <p:sp>
        <p:nvSpPr>
          <p:cNvPr id="26" name="Zeile_4"/>
          <p:cNvSpPr txBox="1"/>
          <p:nvPr/>
        </p:nvSpPr>
        <p:spPr>
          <a:xfrm>
            <a:off x="1234440" y="3931919"/>
            <a:ext cx="10149840" cy="402336"/>
          </a:xfrm>
          <a:prstGeom prst="rect">
            <a:avLst/>
          </a:prstGeom>
          <a:noFill/>
        </p:spPr>
        <p:txBody>
          <a:bodyPr wrap="square" anchor="t" tIns="36576" bIns="36576">
            <a:spAutoFit/>
          </a:bodyPr>
          <a:lstStyle/>
          <a:p>
            <a:pPr algn="l"/>
            <a:r>
              <a:rPr sz="1800" b="0">
                <a:solidFill>
                  <a:srgbClr val="1F2A44"/>
                </a:solidFill>
                <a:latin typeface="Times New Roman"/>
              </a:rPr>
              <a:t>§ 4 Ausbildungszeit: Die tägliche Ausbildungszeit beträgt 9 Stunden.</a:t>
            </a:r>
          </a:p>
        </p:txBody>
      </p:sp>
      <p:sp>
        <p:nvSpPr>
          <p:cNvPr id="27" name="Zeilennummer_5"/>
          <p:cNvSpPr/>
          <p:nvPr/>
        </p:nvSpPr>
        <p:spPr>
          <a:xfrm>
            <a:off x="777240" y="4398263"/>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5</a:t>
            </a:r>
          </a:p>
        </p:txBody>
      </p:sp>
      <p:sp>
        <p:nvSpPr>
          <p:cNvPr id="28" name="Zeile_5"/>
          <p:cNvSpPr txBox="1"/>
          <p:nvPr/>
        </p:nvSpPr>
        <p:spPr>
          <a:xfrm>
            <a:off x="1234440" y="4361687"/>
            <a:ext cx="10149840" cy="402336"/>
          </a:xfrm>
          <a:prstGeom prst="rect">
            <a:avLst/>
          </a:prstGeom>
          <a:noFill/>
        </p:spPr>
        <p:txBody>
          <a:bodyPr wrap="square" anchor="t" tIns="36576" bIns="36576">
            <a:spAutoFit/>
          </a:bodyPr>
          <a:lstStyle/>
          <a:p>
            <a:pPr algn="l"/>
            <a:r>
              <a:rPr sz="1800" b="0">
                <a:solidFill>
                  <a:srgbClr val="1F2A44"/>
                </a:solidFill>
                <a:latin typeface="Times New Roman"/>
              </a:rPr>
              <a:t>§ 5 Urlaub: Der Urlaubsanspruch beträgt 20 Werktage pro Kalenderjahr.</a:t>
            </a:r>
          </a:p>
        </p:txBody>
      </p:sp>
      <p:sp>
        <p:nvSpPr>
          <p:cNvPr id="29" name="Zeilennummer_6"/>
          <p:cNvSpPr/>
          <p:nvPr/>
        </p:nvSpPr>
        <p:spPr>
          <a:xfrm>
            <a:off x="777240" y="4965191"/>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6</a:t>
            </a:r>
          </a:p>
        </p:txBody>
      </p:sp>
      <p:sp>
        <p:nvSpPr>
          <p:cNvPr id="30" name="Zeile_6"/>
          <p:cNvSpPr txBox="1"/>
          <p:nvPr/>
        </p:nvSpPr>
        <p:spPr>
          <a:xfrm>
            <a:off x="1234440" y="4791455"/>
            <a:ext cx="10149840" cy="676656"/>
          </a:xfrm>
          <a:prstGeom prst="rect">
            <a:avLst/>
          </a:prstGeom>
          <a:noFill/>
        </p:spPr>
        <p:txBody>
          <a:bodyPr wrap="square" anchor="t" tIns="36576" bIns="36576">
            <a:spAutoFit/>
          </a:bodyPr>
          <a:lstStyle/>
          <a:p>
            <a:pPr algn="l"/>
            <a:r>
              <a:rPr sz="1800" b="0">
                <a:solidFill>
                  <a:srgbClr val="1F2A44"/>
                </a:solidFill>
                <a:latin typeface="Times New Roman"/>
              </a:rPr>
              <a:t>§ 6 Kündigung: Während der Probezeit kann das Ausbildungsverhältnis nur mit einer Frist von vier Wochen gekündigt werden.</a:t>
            </a:r>
          </a:p>
        </p:txBody>
      </p:sp>
      <p:sp>
        <p:nvSpPr>
          <p:cNvPr id="31" name="Zeilennummer_7"/>
          <p:cNvSpPr/>
          <p:nvPr/>
        </p:nvSpPr>
        <p:spPr>
          <a:xfrm>
            <a:off x="777240" y="5669279"/>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7</a:t>
            </a:r>
          </a:p>
        </p:txBody>
      </p:sp>
      <p:sp>
        <p:nvSpPr>
          <p:cNvPr id="32" name="Zeile_7"/>
          <p:cNvSpPr txBox="1"/>
          <p:nvPr/>
        </p:nvSpPr>
        <p:spPr>
          <a:xfrm>
            <a:off x="1234440" y="5495543"/>
            <a:ext cx="10149840" cy="676656"/>
          </a:xfrm>
          <a:prstGeom prst="rect">
            <a:avLst/>
          </a:prstGeom>
          <a:noFill/>
        </p:spPr>
        <p:txBody>
          <a:bodyPr wrap="square" anchor="t" tIns="36576" bIns="36576">
            <a:spAutoFit/>
          </a:bodyPr>
          <a:lstStyle/>
          <a:p>
            <a:pPr algn="l"/>
            <a:r>
              <a:rPr sz="1800" b="0">
                <a:solidFill>
                  <a:srgbClr val="1F2A44"/>
                </a:solidFill>
                <a:latin typeface="Times New Roman"/>
              </a:rPr>
              <a:t>§ 7 Pflichten: Die Ausbildungsmittel stellt der Betrieb kostenlos zur Verfügung. Der Auszubildende führt einen Ausbildungsnachweis.</a:t>
            </a:r>
          </a:p>
        </p:txBody>
      </p:sp>
      <p:sp>
        <p:nvSpPr>
          <p:cNvPr id="33" name="Rounded Rectangle 32"/>
          <p:cNvSpPr/>
          <p:nvPr/>
        </p:nvSpPr>
        <p:spPr>
          <a:xfrm>
            <a:off x="502920" y="6327648"/>
            <a:ext cx="3520440"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3520440" cy="420624"/>
          </a:xfrm>
          <a:prstGeom prst="rect">
            <a:avLst/>
          </a:prstGeom>
          <a:noFill/>
        </p:spPr>
        <p:txBody>
          <a:bodyPr wrap="square" anchor="ctr" tIns="36576" bIns="36576">
            <a:spAutoFit/>
          </a:bodyPr>
          <a:lstStyle/>
          <a:p>
            <a:pPr algn="ctr"/>
            <a:r>
              <a:rPr sz="2400" b="1">
                <a:solidFill>
                  <a:srgbClr val="FFFFFF"/>
                </a:solidFill>
                <a:latin typeface="Calibri"/>
              </a:rPr>
              <a:t>Zuruf: Zeilennummern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1">
                <a:solidFill>
                  <a:srgbClr val="1F2A44"/>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7"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Auflösung: die 5 Fehler</a:t>
            </a:r>
          </a:p>
        </p:txBody>
      </p:sp>
      <p:sp>
        <p:nvSpPr>
          <p:cNvPr id="18" name="Reveal_Fehlerzeile_1"/>
          <p:cNvSpPr/>
          <p:nvPr/>
        </p:nvSpPr>
        <p:spPr>
          <a:xfrm>
            <a:off x="731520" y="1444752"/>
            <a:ext cx="5212080" cy="646176"/>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700" b="1">
                <a:solidFill>
                  <a:srgbClr val="B3261E"/>
                </a:solidFill>
                <a:latin typeface="Times New Roman"/>
              </a:rPr>
              <a:t>Fehler 1  </a:t>
            </a:r>
            <a:r>
              <a:rPr sz="1700" b="0">
                <a:solidFill>
                  <a:srgbClr val="1F2A44"/>
                </a:solidFill>
                <a:latin typeface="Times New Roman"/>
              </a:rPr>
              <a:t>§ 2 Probezeit: Die Probezeit beträgt sechs Monate.</a:t>
            </a:r>
          </a:p>
        </p:txBody>
      </p:sp>
      <p:sp>
        <p:nvSpPr>
          <p:cNvPr id="19" name="Reveal_Regel_1"/>
          <p:cNvSpPr/>
          <p:nvPr/>
        </p:nvSpPr>
        <p:spPr>
          <a:xfrm>
            <a:off x="6035040" y="1444752"/>
            <a:ext cx="5486400" cy="646176"/>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200" b="1">
                <a:solidFill>
                  <a:srgbClr val="7A4B00"/>
                </a:solidFill>
                <a:latin typeface="Calibri"/>
              </a:rPr>
              <a:t>Regel: </a:t>
            </a:r>
            <a:r>
              <a:rPr sz="2200" b="1">
                <a:solidFill>
                  <a:srgbClr val="1F2A44"/>
                </a:solidFill>
                <a:latin typeface="Calibri"/>
              </a:rPr>
              <a:t>höchstens vier Monate (§ 20 BBiG)</a:t>
            </a:r>
          </a:p>
        </p:txBody>
      </p:sp>
      <p:sp>
        <p:nvSpPr>
          <p:cNvPr id="20" name="Reveal_Fehlerzeile_2"/>
          <p:cNvSpPr/>
          <p:nvPr/>
        </p:nvSpPr>
        <p:spPr>
          <a:xfrm>
            <a:off x="731520" y="2182368"/>
            <a:ext cx="5212080" cy="905256"/>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700" b="1">
                <a:solidFill>
                  <a:srgbClr val="B3261E"/>
                </a:solidFill>
                <a:latin typeface="Times New Roman"/>
              </a:rPr>
              <a:t>Fehler 2  </a:t>
            </a:r>
            <a:r>
              <a:rPr sz="1700" b="0">
                <a:solidFill>
                  <a:srgbClr val="1F2A44"/>
                </a:solidFill>
                <a:latin typeface="Times New Roman"/>
              </a:rPr>
              <a:t>§ 3 Vergütung: Die monatliche Ausbildungsvergütung beträgt im 1. Ausbildungsjahr 650 € brutto.</a:t>
            </a:r>
          </a:p>
        </p:txBody>
      </p:sp>
      <p:sp>
        <p:nvSpPr>
          <p:cNvPr id="21" name="Reveal_Regel_2"/>
          <p:cNvSpPr/>
          <p:nvPr/>
        </p:nvSpPr>
        <p:spPr>
          <a:xfrm>
            <a:off x="6035040" y="2182368"/>
            <a:ext cx="5486400" cy="905256"/>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200" b="1">
                <a:solidFill>
                  <a:srgbClr val="7A4B00"/>
                </a:solidFill>
                <a:latin typeface="Calibri"/>
              </a:rPr>
              <a:t>Regel: </a:t>
            </a:r>
            <a:r>
              <a:rPr sz="2200" b="1">
                <a:solidFill>
                  <a:srgbClr val="1F2A44"/>
                </a:solidFill>
                <a:latin typeface="Calibri"/>
              </a:rPr>
              <a:t>mindestens 724 € im 1. Jahr (§ 17 BBiG)</a:t>
            </a:r>
          </a:p>
        </p:txBody>
      </p:sp>
      <p:sp>
        <p:nvSpPr>
          <p:cNvPr id="22" name="Reveal_Fehlerzeile_3"/>
          <p:cNvSpPr/>
          <p:nvPr/>
        </p:nvSpPr>
        <p:spPr>
          <a:xfrm>
            <a:off x="731520" y="3179064"/>
            <a:ext cx="5212080" cy="798576"/>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700" b="1">
                <a:solidFill>
                  <a:srgbClr val="B3261E"/>
                </a:solidFill>
                <a:latin typeface="Times New Roman"/>
              </a:rPr>
              <a:t>Fehler 3  </a:t>
            </a:r>
            <a:r>
              <a:rPr sz="1700" b="0">
                <a:solidFill>
                  <a:srgbClr val="1F2A44"/>
                </a:solidFill>
                <a:latin typeface="Times New Roman"/>
              </a:rPr>
              <a:t>§ 4 Ausbildungszeit: Die tägliche Ausbildungszeit beträgt 9 Stunden.</a:t>
            </a:r>
          </a:p>
        </p:txBody>
      </p:sp>
      <p:sp>
        <p:nvSpPr>
          <p:cNvPr id="23" name="Reveal_Regel_3"/>
          <p:cNvSpPr/>
          <p:nvPr/>
        </p:nvSpPr>
        <p:spPr>
          <a:xfrm>
            <a:off x="6035040" y="3179064"/>
            <a:ext cx="5486400" cy="798576"/>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200" b="1">
                <a:solidFill>
                  <a:srgbClr val="7A4B00"/>
                </a:solidFill>
                <a:latin typeface="Calibri"/>
              </a:rPr>
              <a:t>Regel: </a:t>
            </a:r>
            <a:r>
              <a:rPr sz="2200" b="1">
                <a:solidFill>
                  <a:srgbClr val="1F2A44"/>
                </a:solidFill>
                <a:latin typeface="Calibri"/>
              </a:rPr>
              <a:t>Jugendliche höchstens 8 Stunden täglich und 40 pro Woche (§ 8 JArbSchG)</a:t>
            </a:r>
          </a:p>
        </p:txBody>
      </p:sp>
      <p:sp>
        <p:nvSpPr>
          <p:cNvPr id="24" name="Reveal_Fehlerzeile_4"/>
          <p:cNvSpPr/>
          <p:nvPr/>
        </p:nvSpPr>
        <p:spPr>
          <a:xfrm>
            <a:off x="731520" y="4069080"/>
            <a:ext cx="5212080" cy="1133856"/>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700" b="1">
                <a:solidFill>
                  <a:srgbClr val="B3261E"/>
                </a:solidFill>
                <a:latin typeface="Times New Roman"/>
              </a:rPr>
              <a:t>Fehler 4  </a:t>
            </a:r>
            <a:r>
              <a:rPr sz="1700" b="0">
                <a:solidFill>
                  <a:srgbClr val="1F2A44"/>
                </a:solidFill>
                <a:latin typeface="Times New Roman"/>
              </a:rPr>
              <a:t>§ 5 Urlaub: Der Urlaubsanspruch beträgt 20 Werktage pro Kalenderjahr.</a:t>
            </a:r>
          </a:p>
        </p:txBody>
      </p:sp>
      <p:sp>
        <p:nvSpPr>
          <p:cNvPr id="25" name="Reveal_Regel_4"/>
          <p:cNvSpPr/>
          <p:nvPr/>
        </p:nvSpPr>
        <p:spPr>
          <a:xfrm>
            <a:off x="6035040" y="4069080"/>
            <a:ext cx="5486400" cy="1133856"/>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200" b="1">
                <a:solidFill>
                  <a:srgbClr val="7A4B00"/>
                </a:solidFill>
                <a:latin typeface="Calibri"/>
              </a:rPr>
              <a:t>Regel: </a:t>
            </a:r>
            <a:r>
              <a:rPr sz="2200" b="1">
                <a:solidFill>
                  <a:srgbClr val="1F2A44"/>
                </a:solidFill>
                <a:latin typeface="Calibri"/>
              </a:rPr>
              <a:t>mindestens 24 Werktage, Jugendliche je nach Alter 25 bis 30 (§ 3 BUrlG, § 19 JArbSchG)</a:t>
            </a:r>
          </a:p>
        </p:txBody>
      </p:sp>
      <p:sp>
        <p:nvSpPr>
          <p:cNvPr id="26" name="Reveal_Fehlerzeile_5"/>
          <p:cNvSpPr/>
          <p:nvPr/>
        </p:nvSpPr>
        <p:spPr>
          <a:xfrm>
            <a:off x="731520" y="5294376"/>
            <a:ext cx="5212080" cy="905256"/>
          </a:xfrm>
          <a:prstGeom prst="rect">
            <a:avLst/>
          </a:prstGeom>
          <a:solidFill>
            <a:srgbClr val="FDE3E1"/>
          </a:solidFill>
          <a:ln w="3810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1700" b="1">
                <a:solidFill>
                  <a:srgbClr val="B3261E"/>
                </a:solidFill>
                <a:latin typeface="Times New Roman"/>
              </a:rPr>
              <a:t>Fehler 5  </a:t>
            </a:r>
            <a:r>
              <a:rPr sz="1700" b="0">
                <a:solidFill>
                  <a:srgbClr val="1F2A44"/>
                </a:solidFill>
                <a:latin typeface="Times New Roman"/>
              </a:rPr>
              <a:t>§ 6 Kündigung: Während der Probezeit kann das Ausbildungsverhältnis nur mit einer Frist von vier Wochen gekündigt werden.</a:t>
            </a:r>
          </a:p>
        </p:txBody>
      </p:sp>
      <p:sp>
        <p:nvSpPr>
          <p:cNvPr id="27" name="Reveal_Regel_5"/>
          <p:cNvSpPr/>
          <p:nvPr/>
        </p:nvSpPr>
        <p:spPr>
          <a:xfrm>
            <a:off x="6035040" y="5294376"/>
            <a:ext cx="5486400" cy="905256"/>
          </a:xfrm>
          <a:prstGeom prst="rect">
            <a:avLst/>
          </a:prstGeom>
          <a:solidFill>
            <a:srgbClr val="FFF0D1"/>
          </a:solidFill>
          <a:ln w="381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200" b="1">
                <a:solidFill>
                  <a:srgbClr val="7A4B00"/>
                </a:solidFill>
                <a:latin typeface="Calibri"/>
              </a:rPr>
              <a:t>Regel: </a:t>
            </a:r>
            <a:r>
              <a:rPr sz="2200" b="1">
                <a:solidFill>
                  <a:srgbClr val="1F2A44"/>
                </a:solidFill>
                <a:latin typeface="Calibri"/>
              </a:rPr>
              <a:t>in der Probezeit jederzeit ohne Frist, schriftlich (§ 22 Abs. 1 und 3 BBiG)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1">
                <a:solidFill>
                  <a:srgbClr val="1F2A44"/>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Rectangle 14"/>
          <p:cNvSpPr/>
          <p:nvPr/>
        </p:nvSpPr>
        <p:spPr>
          <a:xfrm>
            <a:off x="640080" y="566928"/>
            <a:ext cx="10881360" cy="1865375"/>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66928"/>
            <a:ext cx="109728" cy="1865375"/>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all"/>
          <p:cNvSpPr txBox="1"/>
          <p:nvPr/>
        </p:nvSpPr>
        <p:spPr>
          <a:xfrm>
            <a:off x="868680" y="566928"/>
            <a:ext cx="10515600" cy="1865375"/>
          </a:xfrm>
          <a:prstGeom prst="rect">
            <a:avLst/>
          </a:prstGeom>
          <a:noFill/>
        </p:spPr>
        <p:txBody>
          <a:bodyPr wrap="square" anchor="ctr" tIns="36576" bIns="36576">
            <a:spAutoFit/>
          </a:bodyPr>
          <a:lstStyle/>
          <a:p>
            <a:pPr algn="l"/>
            <a:r>
              <a:rPr sz="2400" b="1">
                <a:solidFill>
                  <a:srgbClr val="7A4B00"/>
                </a:solidFill>
                <a:latin typeface="Calibri"/>
              </a:rPr>
              <a:t>Fall A (Probezeit und Kündigung)  </a:t>
            </a:r>
            <a:r>
              <a:rPr sz="2400" b="1">
                <a:solidFill>
                  <a:srgbClr val="1F2A44"/>
                </a:solidFill>
                <a:latin typeface="Calibri"/>
              </a:rPr>
              <a:t>Lena Berg beginnt am 01.09. bei der Muster GmbH eine Ausbildung zur Kauffrau für Büromanagement, vereinbart sind drei Monate Probezeit. Am 10.10. merkt sie, dass der Beruf nicht zu ihr passt. Welche Aussage ist richtig?</a:t>
            </a:r>
          </a:p>
        </p:txBody>
      </p:sp>
      <p:sp>
        <p:nvSpPr>
          <p:cNvPr id="18" name="Rounded Rectangle 17"/>
          <p:cNvSpPr/>
          <p:nvPr/>
        </p:nvSpPr>
        <p:spPr>
          <a:xfrm>
            <a:off x="640080" y="252374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257860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A</a:t>
            </a:r>
          </a:p>
        </p:txBody>
      </p:sp>
      <p:sp>
        <p:nvSpPr>
          <p:cNvPr id="20" name="Option_A"/>
          <p:cNvSpPr txBox="1"/>
          <p:nvPr/>
        </p:nvSpPr>
        <p:spPr>
          <a:xfrm>
            <a:off x="1417320" y="2523744"/>
            <a:ext cx="10012680" cy="566928"/>
          </a:xfrm>
          <a:prstGeom prst="rect">
            <a:avLst/>
          </a:prstGeom>
          <a:noFill/>
        </p:spPr>
        <p:txBody>
          <a:bodyPr wrap="square" anchor="ctr" tIns="36576" bIns="36576">
            <a:spAutoFit/>
          </a:bodyPr>
          <a:lstStyle/>
          <a:p>
            <a:pPr algn="l"/>
            <a:r>
              <a:rPr sz="2400" b="0">
                <a:solidFill>
                  <a:srgbClr val="1F2A44"/>
                </a:solidFill>
                <a:latin typeface="Calibri"/>
              </a:rPr>
              <a:t>Lena muss eine Kündigungsfrist von vier Wochen einhalten.</a:t>
            </a:r>
          </a:p>
        </p:txBody>
      </p:sp>
      <p:sp>
        <p:nvSpPr>
          <p:cNvPr id="21" name="Rounded Rectangle 20"/>
          <p:cNvSpPr/>
          <p:nvPr/>
        </p:nvSpPr>
        <p:spPr>
          <a:xfrm>
            <a:off x="640080" y="316382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9808" y="321868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B</a:t>
            </a:r>
          </a:p>
        </p:txBody>
      </p:sp>
      <p:sp>
        <p:nvSpPr>
          <p:cNvPr id="23" name="Option_B"/>
          <p:cNvSpPr txBox="1"/>
          <p:nvPr/>
        </p:nvSpPr>
        <p:spPr>
          <a:xfrm>
            <a:off x="1417320" y="3163824"/>
            <a:ext cx="10012680" cy="566928"/>
          </a:xfrm>
          <a:prstGeom prst="rect">
            <a:avLst/>
          </a:prstGeom>
          <a:noFill/>
        </p:spPr>
        <p:txBody>
          <a:bodyPr wrap="square" anchor="ctr" tIns="36576" bIns="36576">
            <a:spAutoFit/>
          </a:bodyPr>
          <a:lstStyle/>
          <a:p>
            <a:pPr algn="l"/>
            <a:r>
              <a:rPr sz="2400" b="0">
                <a:solidFill>
                  <a:srgbClr val="1F2A44"/>
                </a:solidFill>
                <a:latin typeface="Calibri"/>
              </a:rPr>
              <a:t>Lena kann schriftlich und ohne Einhaltung einer Frist kündigen.</a:t>
            </a:r>
          </a:p>
        </p:txBody>
      </p:sp>
      <p:sp>
        <p:nvSpPr>
          <p:cNvPr id="24" name="Rounded Rectangle 23"/>
          <p:cNvSpPr/>
          <p:nvPr/>
        </p:nvSpPr>
        <p:spPr>
          <a:xfrm>
            <a:off x="640080" y="380390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385876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C</a:t>
            </a:r>
          </a:p>
        </p:txBody>
      </p:sp>
      <p:sp>
        <p:nvSpPr>
          <p:cNvPr id="26" name="Option_C"/>
          <p:cNvSpPr txBox="1"/>
          <p:nvPr/>
        </p:nvSpPr>
        <p:spPr>
          <a:xfrm>
            <a:off x="1417320" y="3803904"/>
            <a:ext cx="10012680" cy="566928"/>
          </a:xfrm>
          <a:prstGeom prst="rect">
            <a:avLst/>
          </a:prstGeom>
          <a:noFill/>
        </p:spPr>
        <p:txBody>
          <a:bodyPr wrap="square" anchor="ctr" tIns="36576" bIns="36576">
            <a:spAutoFit/>
          </a:bodyPr>
          <a:lstStyle/>
          <a:p>
            <a:pPr algn="l"/>
            <a:r>
              <a:rPr sz="2400" b="0">
                <a:solidFill>
                  <a:srgbClr val="1F2A44"/>
                </a:solidFill>
                <a:latin typeface="Calibri"/>
              </a:rPr>
              <a:t>Lena kann nur zum Monatsende kündigen.</a:t>
            </a:r>
          </a:p>
        </p:txBody>
      </p:sp>
      <p:sp>
        <p:nvSpPr>
          <p:cNvPr id="27" name="Rounded Rectangle 26"/>
          <p:cNvSpPr/>
          <p:nvPr/>
        </p:nvSpPr>
        <p:spPr>
          <a:xfrm>
            <a:off x="640080" y="444398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9808" y="449884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D</a:t>
            </a:r>
          </a:p>
        </p:txBody>
      </p:sp>
      <p:sp>
        <p:nvSpPr>
          <p:cNvPr id="29" name="Option_D"/>
          <p:cNvSpPr txBox="1"/>
          <p:nvPr/>
        </p:nvSpPr>
        <p:spPr>
          <a:xfrm>
            <a:off x="1417320" y="4443984"/>
            <a:ext cx="10012680" cy="566928"/>
          </a:xfrm>
          <a:prstGeom prst="rect">
            <a:avLst/>
          </a:prstGeom>
          <a:noFill/>
        </p:spPr>
        <p:txBody>
          <a:bodyPr wrap="square" anchor="ctr" tIns="36576" bIns="36576">
            <a:spAutoFit/>
          </a:bodyPr>
          <a:lstStyle/>
          <a:p>
            <a:pPr algn="l"/>
            <a:r>
              <a:rPr sz="2400" b="0">
                <a:solidFill>
                  <a:srgbClr val="1F2A44"/>
                </a:solidFill>
                <a:latin typeface="Calibri"/>
              </a:rPr>
              <a:t>Lena braucht für die Kündigung die Zustimmung der IHK.</a:t>
            </a:r>
          </a:p>
        </p:txBody>
      </p:sp>
      <p:sp>
        <p:nvSpPr>
          <p:cNvPr id="30" name="Reveal_Markierung"/>
          <p:cNvSpPr/>
          <p:nvPr/>
        </p:nvSpPr>
        <p:spPr>
          <a:xfrm>
            <a:off x="594360" y="3127248"/>
            <a:ext cx="10972800" cy="640080"/>
          </a:xfrm>
          <a:prstGeom prst="roundRect">
            <a:avLst>
              <a:gd name="adj" fmla="val 15000"/>
            </a:avLst>
          </a:prstGeom>
          <a:noFill/>
          <a:ln w="63500">
            <a:solidFill>
              <a:srgbClr val="1E7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veal_Haken"/>
          <p:cNvSpPr/>
          <p:nvPr/>
        </p:nvSpPr>
        <p:spPr>
          <a:xfrm>
            <a:off x="10241280" y="3218688"/>
            <a:ext cx="1188720" cy="457200"/>
          </a:xfrm>
          <a:prstGeom prst="round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400" b="1">
                <a:solidFill>
                  <a:srgbClr val="FFFFFF"/>
                </a:solidFill>
                <a:latin typeface="Calibri"/>
              </a:rPr>
              <a:t>✓ B</a:t>
            </a:r>
          </a:p>
        </p:txBody>
      </p:sp>
      <p:sp>
        <p:nvSpPr>
          <p:cNvPr id="32" name="Reveal_Begruendung"/>
          <p:cNvSpPr/>
          <p:nvPr/>
        </p:nvSpPr>
        <p:spPr>
          <a:xfrm>
            <a:off x="640080" y="5102352"/>
            <a:ext cx="10881360" cy="966216"/>
          </a:xfrm>
          <a:prstGeom prst="rect">
            <a:avLst/>
          </a:prstGeom>
          <a:solidFill>
            <a:srgbClr val="E3F3EA"/>
          </a:solidFill>
          <a:ln w="38100">
            <a:solidFill>
              <a:srgbClr val="1E7B4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600" b="1">
                <a:solidFill>
                  <a:srgbClr val="1E7B4F"/>
                </a:solidFill>
                <a:latin typeface="Calibri"/>
              </a:rPr>
              <a:t>Begründung: </a:t>
            </a:r>
            <a:r>
              <a:rPr sz="2600" b="0">
                <a:solidFill>
                  <a:srgbClr val="1F2A44"/>
                </a:solidFill>
                <a:latin typeface="Calibri"/>
              </a:rPr>
              <a:t>In der Probezeit ist die Kündigung jederzeit ohne Frist möglich, aber schriftlich (§ 22 Abs. 1 und 3 BBiG).</a:t>
            </a:r>
          </a:p>
        </p:txBody>
      </p:sp>
      <p:sp>
        <p:nvSpPr>
          <p:cNvPr id="33" name="Rounded Rectangle 32"/>
          <p:cNvSpPr/>
          <p:nvPr/>
        </p:nvSpPr>
        <p:spPr>
          <a:xfrm>
            <a:off x="502920" y="6327648"/>
            <a:ext cx="2587752"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2587752" cy="420624"/>
          </a:xfrm>
          <a:prstGeom prst="rect">
            <a:avLst/>
          </a:prstGeom>
          <a:noFill/>
        </p:spPr>
        <p:txBody>
          <a:bodyPr wrap="square" anchor="ctr" tIns="36576" bIns="36576">
            <a:spAutoFit/>
          </a:bodyPr>
          <a:lstStyle/>
          <a:p>
            <a:pPr algn="ctr"/>
            <a:r>
              <a:rPr sz="2400" b="1">
                <a:solidFill>
                  <a:srgbClr val="FFFFFF"/>
                </a:solidFill>
                <a:latin typeface="Calibri"/>
              </a:rPr>
              <a:t>Abstimmung 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1">
                <a:solidFill>
                  <a:srgbClr val="1F2A44"/>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Rectangle 14"/>
          <p:cNvSpPr/>
          <p:nvPr/>
        </p:nvSpPr>
        <p:spPr>
          <a:xfrm>
            <a:off x="640080" y="566928"/>
            <a:ext cx="10881360" cy="1499616"/>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66928"/>
            <a:ext cx="109728" cy="149961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all"/>
          <p:cNvSpPr txBox="1"/>
          <p:nvPr/>
        </p:nvSpPr>
        <p:spPr>
          <a:xfrm>
            <a:off x="868680" y="566928"/>
            <a:ext cx="10515600" cy="1499616"/>
          </a:xfrm>
          <a:prstGeom prst="rect">
            <a:avLst/>
          </a:prstGeom>
          <a:noFill/>
        </p:spPr>
        <p:txBody>
          <a:bodyPr wrap="square" anchor="ctr" tIns="36576" bIns="36576">
            <a:spAutoFit/>
          </a:bodyPr>
          <a:lstStyle/>
          <a:p>
            <a:pPr algn="l"/>
            <a:r>
              <a:rPr sz="2400" b="1">
                <a:solidFill>
                  <a:srgbClr val="7A4B00"/>
                </a:solidFill>
                <a:latin typeface="Calibri"/>
              </a:rPr>
              <a:t>Fall B (Urlaub)  </a:t>
            </a:r>
            <a:r>
              <a:rPr sz="2400" b="1">
                <a:solidFill>
                  <a:srgbClr val="1F2A44"/>
                </a:solidFill>
                <a:latin typeface="Calibri"/>
              </a:rPr>
              <a:t>Tim Roth ist zu Beginn des Kalenderjahres 17 Jahre alt und arbeitet an fünf Tagen pro Woche. Wie viele Werktage Mindesturlaub stehen ihm nach dem Gesetz zu?</a:t>
            </a:r>
          </a:p>
        </p:txBody>
      </p:sp>
      <p:sp>
        <p:nvSpPr>
          <p:cNvPr id="18" name="Rounded Rectangle 17"/>
          <p:cNvSpPr/>
          <p:nvPr/>
        </p:nvSpPr>
        <p:spPr>
          <a:xfrm>
            <a:off x="640080" y="215798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221284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A</a:t>
            </a:r>
          </a:p>
        </p:txBody>
      </p:sp>
      <p:sp>
        <p:nvSpPr>
          <p:cNvPr id="20" name="Option_A"/>
          <p:cNvSpPr txBox="1"/>
          <p:nvPr/>
        </p:nvSpPr>
        <p:spPr>
          <a:xfrm>
            <a:off x="1417320" y="2157984"/>
            <a:ext cx="10012680" cy="566928"/>
          </a:xfrm>
          <a:prstGeom prst="rect">
            <a:avLst/>
          </a:prstGeom>
          <a:noFill/>
        </p:spPr>
        <p:txBody>
          <a:bodyPr wrap="square" anchor="ctr" tIns="36576" bIns="36576">
            <a:spAutoFit/>
          </a:bodyPr>
          <a:lstStyle/>
          <a:p>
            <a:pPr algn="l"/>
            <a:r>
              <a:rPr sz="2400" b="0">
                <a:solidFill>
                  <a:srgbClr val="1F2A44"/>
                </a:solidFill>
                <a:latin typeface="Calibri"/>
              </a:rPr>
              <a:t>20 Werktage</a:t>
            </a:r>
          </a:p>
        </p:txBody>
      </p:sp>
      <p:sp>
        <p:nvSpPr>
          <p:cNvPr id="21" name="Rounded Rectangle 20"/>
          <p:cNvSpPr/>
          <p:nvPr/>
        </p:nvSpPr>
        <p:spPr>
          <a:xfrm>
            <a:off x="640080" y="2798063"/>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9808" y="2852927"/>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B</a:t>
            </a:r>
          </a:p>
        </p:txBody>
      </p:sp>
      <p:sp>
        <p:nvSpPr>
          <p:cNvPr id="23" name="Option_B"/>
          <p:cNvSpPr txBox="1"/>
          <p:nvPr/>
        </p:nvSpPr>
        <p:spPr>
          <a:xfrm>
            <a:off x="1417320" y="2798063"/>
            <a:ext cx="10012680" cy="566928"/>
          </a:xfrm>
          <a:prstGeom prst="rect">
            <a:avLst/>
          </a:prstGeom>
          <a:noFill/>
        </p:spPr>
        <p:txBody>
          <a:bodyPr wrap="square" anchor="ctr" tIns="36576" bIns="36576">
            <a:spAutoFit/>
          </a:bodyPr>
          <a:lstStyle/>
          <a:p>
            <a:pPr algn="l"/>
            <a:r>
              <a:rPr sz="2400" b="0">
                <a:solidFill>
                  <a:srgbClr val="1F2A44"/>
                </a:solidFill>
                <a:latin typeface="Calibri"/>
              </a:rPr>
              <a:t>24 Werktage</a:t>
            </a:r>
          </a:p>
        </p:txBody>
      </p:sp>
      <p:sp>
        <p:nvSpPr>
          <p:cNvPr id="24" name="Rounded Rectangle 23"/>
          <p:cNvSpPr/>
          <p:nvPr/>
        </p:nvSpPr>
        <p:spPr>
          <a:xfrm>
            <a:off x="640080" y="343814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349300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C</a:t>
            </a:r>
          </a:p>
        </p:txBody>
      </p:sp>
      <p:sp>
        <p:nvSpPr>
          <p:cNvPr id="26" name="Option_C"/>
          <p:cNvSpPr txBox="1"/>
          <p:nvPr/>
        </p:nvSpPr>
        <p:spPr>
          <a:xfrm>
            <a:off x="1417320" y="3438144"/>
            <a:ext cx="10012680" cy="566928"/>
          </a:xfrm>
          <a:prstGeom prst="rect">
            <a:avLst/>
          </a:prstGeom>
          <a:noFill/>
        </p:spPr>
        <p:txBody>
          <a:bodyPr wrap="square" anchor="ctr" tIns="36576" bIns="36576">
            <a:spAutoFit/>
          </a:bodyPr>
          <a:lstStyle/>
          <a:p>
            <a:pPr algn="l"/>
            <a:r>
              <a:rPr sz="2400" b="0">
                <a:solidFill>
                  <a:srgbClr val="1F2A44"/>
                </a:solidFill>
                <a:latin typeface="Calibri"/>
              </a:rPr>
              <a:t>25 Werktage</a:t>
            </a:r>
          </a:p>
        </p:txBody>
      </p:sp>
      <p:sp>
        <p:nvSpPr>
          <p:cNvPr id="27" name="Rounded Rectangle 26"/>
          <p:cNvSpPr/>
          <p:nvPr/>
        </p:nvSpPr>
        <p:spPr>
          <a:xfrm>
            <a:off x="640080" y="407822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9808" y="4133087"/>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D</a:t>
            </a:r>
          </a:p>
        </p:txBody>
      </p:sp>
      <p:sp>
        <p:nvSpPr>
          <p:cNvPr id="29" name="Option_D"/>
          <p:cNvSpPr txBox="1"/>
          <p:nvPr/>
        </p:nvSpPr>
        <p:spPr>
          <a:xfrm>
            <a:off x="1417320" y="4078224"/>
            <a:ext cx="10012680" cy="566928"/>
          </a:xfrm>
          <a:prstGeom prst="rect">
            <a:avLst/>
          </a:prstGeom>
          <a:noFill/>
        </p:spPr>
        <p:txBody>
          <a:bodyPr wrap="square" anchor="ctr" tIns="36576" bIns="36576">
            <a:spAutoFit/>
          </a:bodyPr>
          <a:lstStyle/>
          <a:p>
            <a:pPr algn="l"/>
            <a:r>
              <a:rPr sz="2400" b="0">
                <a:solidFill>
                  <a:srgbClr val="1F2A44"/>
                </a:solidFill>
                <a:latin typeface="Calibri"/>
              </a:rPr>
              <a:t>30 Werktage</a:t>
            </a:r>
          </a:p>
        </p:txBody>
      </p:sp>
      <p:sp>
        <p:nvSpPr>
          <p:cNvPr id="30" name="Reveal_Markierung"/>
          <p:cNvSpPr/>
          <p:nvPr/>
        </p:nvSpPr>
        <p:spPr>
          <a:xfrm>
            <a:off x="594360" y="3401568"/>
            <a:ext cx="10972800" cy="640080"/>
          </a:xfrm>
          <a:prstGeom prst="roundRect">
            <a:avLst>
              <a:gd name="adj" fmla="val 15000"/>
            </a:avLst>
          </a:prstGeom>
          <a:noFill/>
          <a:ln w="63500">
            <a:solidFill>
              <a:srgbClr val="1E7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veal_Haken"/>
          <p:cNvSpPr/>
          <p:nvPr/>
        </p:nvSpPr>
        <p:spPr>
          <a:xfrm>
            <a:off x="10241280" y="3493008"/>
            <a:ext cx="1188720" cy="457200"/>
          </a:xfrm>
          <a:prstGeom prst="round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400" b="1">
                <a:solidFill>
                  <a:srgbClr val="FFFFFF"/>
                </a:solidFill>
                <a:latin typeface="Calibri"/>
              </a:rPr>
              <a:t>✓ C</a:t>
            </a:r>
          </a:p>
        </p:txBody>
      </p:sp>
      <p:sp>
        <p:nvSpPr>
          <p:cNvPr id="32" name="Reveal_Begruendung"/>
          <p:cNvSpPr/>
          <p:nvPr/>
        </p:nvSpPr>
        <p:spPr>
          <a:xfrm>
            <a:off x="640080" y="4736592"/>
            <a:ext cx="10881360" cy="966216"/>
          </a:xfrm>
          <a:prstGeom prst="rect">
            <a:avLst/>
          </a:prstGeom>
          <a:solidFill>
            <a:srgbClr val="E3F3EA"/>
          </a:solidFill>
          <a:ln w="38100">
            <a:solidFill>
              <a:srgbClr val="1E7B4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600" b="1">
                <a:solidFill>
                  <a:srgbClr val="1E7B4F"/>
                </a:solidFill>
                <a:latin typeface="Calibri"/>
              </a:rPr>
              <a:t>Begründung: </a:t>
            </a:r>
            <a:r>
              <a:rPr sz="2600" b="0">
                <a:solidFill>
                  <a:srgbClr val="1F2A44"/>
                </a:solidFill>
                <a:latin typeface="Calibri"/>
              </a:rPr>
              <a:t>Jugendliche unter 18 Jahren haben mindestens 25 Werktage (§ 19 JArbSchG), das entspricht 21 Arbeitstagen bei der Fünf-Tage-Woche.</a:t>
            </a:r>
          </a:p>
        </p:txBody>
      </p:sp>
      <p:sp>
        <p:nvSpPr>
          <p:cNvPr id="33" name="Rounded Rectangle 32"/>
          <p:cNvSpPr/>
          <p:nvPr/>
        </p:nvSpPr>
        <p:spPr>
          <a:xfrm>
            <a:off x="502920" y="6327648"/>
            <a:ext cx="2587752"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2587752" cy="420624"/>
          </a:xfrm>
          <a:prstGeom prst="rect">
            <a:avLst/>
          </a:prstGeom>
          <a:noFill/>
        </p:spPr>
        <p:txBody>
          <a:bodyPr wrap="square" anchor="ctr" tIns="36576" bIns="36576">
            <a:spAutoFit/>
          </a:bodyPr>
          <a:lstStyle/>
          <a:p>
            <a:pPr algn="ctr"/>
            <a:r>
              <a:rPr sz="2400" b="1">
                <a:solidFill>
                  <a:srgbClr val="FFFFFF"/>
                </a:solidFill>
                <a:latin typeface="Calibri"/>
              </a:rPr>
              <a:t>Abstimmung 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1">
                <a:solidFill>
                  <a:srgbClr val="1F2A44"/>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Rectangle 14"/>
          <p:cNvSpPr/>
          <p:nvPr/>
        </p:nvSpPr>
        <p:spPr>
          <a:xfrm>
            <a:off x="640080" y="566928"/>
            <a:ext cx="10881360" cy="1133856"/>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0080" y="566928"/>
            <a:ext cx="109728" cy="1133856"/>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Fall"/>
          <p:cNvSpPr txBox="1"/>
          <p:nvPr/>
        </p:nvSpPr>
        <p:spPr>
          <a:xfrm>
            <a:off x="868680" y="566928"/>
            <a:ext cx="10515600" cy="1133856"/>
          </a:xfrm>
          <a:prstGeom prst="rect">
            <a:avLst/>
          </a:prstGeom>
          <a:noFill/>
        </p:spPr>
        <p:txBody>
          <a:bodyPr wrap="square" anchor="ctr" tIns="36576" bIns="36576">
            <a:spAutoFit/>
          </a:bodyPr>
          <a:lstStyle/>
          <a:p>
            <a:pPr algn="l"/>
            <a:r>
              <a:rPr sz="2400" b="1">
                <a:solidFill>
                  <a:srgbClr val="7A4B00"/>
                </a:solidFill>
                <a:latin typeface="Calibri"/>
              </a:rPr>
              <a:t>Fall C (Vergütung)  </a:t>
            </a:r>
            <a:r>
              <a:rPr sz="2400" b="1">
                <a:solidFill>
                  <a:srgbClr val="1F2A44"/>
                </a:solidFill>
                <a:latin typeface="Calibri"/>
              </a:rPr>
              <a:t>Die Muster GmbH ist nicht tarifgebunden und bietet Jonas für den Ausbildungsbeginn 2026 im ersten Jahr 690 € brutto an. Welche Aussage ist richtig?</a:t>
            </a:r>
          </a:p>
        </p:txBody>
      </p:sp>
      <p:sp>
        <p:nvSpPr>
          <p:cNvPr id="18" name="Rounded Rectangle 17"/>
          <p:cNvSpPr/>
          <p:nvPr/>
        </p:nvSpPr>
        <p:spPr>
          <a:xfrm>
            <a:off x="640080" y="179222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749808" y="184708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A</a:t>
            </a:r>
          </a:p>
        </p:txBody>
      </p:sp>
      <p:sp>
        <p:nvSpPr>
          <p:cNvPr id="20" name="Option_A"/>
          <p:cNvSpPr txBox="1"/>
          <p:nvPr/>
        </p:nvSpPr>
        <p:spPr>
          <a:xfrm>
            <a:off x="1417320" y="1792224"/>
            <a:ext cx="10012680" cy="566928"/>
          </a:xfrm>
          <a:prstGeom prst="rect">
            <a:avLst/>
          </a:prstGeom>
          <a:noFill/>
        </p:spPr>
        <p:txBody>
          <a:bodyPr wrap="square" anchor="ctr" tIns="36576" bIns="36576">
            <a:spAutoFit/>
          </a:bodyPr>
          <a:lstStyle/>
          <a:p>
            <a:pPr algn="l"/>
            <a:r>
              <a:rPr sz="2400" b="0">
                <a:solidFill>
                  <a:srgbClr val="1F2A44"/>
                </a:solidFill>
                <a:latin typeface="Calibri"/>
              </a:rPr>
              <a:t>Zulässig, wenn Jonas zustimmt.</a:t>
            </a:r>
          </a:p>
        </p:txBody>
      </p:sp>
      <p:sp>
        <p:nvSpPr>
          <p:cNvPr id="21" name="Rounded Rectangle 20"/>
          <p:cNvSpPr/>
          <p:nvPr/>
        </p:nvSpPr>
        <p:spPr>
          <a:xfrm>
            <a:off x="640080" y="243230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49808" y="248716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B</a:t>
            </a:r>
          </a:p>
        </p:txBody>
      </p:sp>
      <p:sp>
        <p:nvSpPr>
          <p:cNvPr id="23" name="Option_B"/>
          <p:cNvSpPr txBox="1"/>
          <p:nvPr/>
        </p:nvSpPr>
        <p:spPr>
          <a:xfrm>
            <a:off x="1417320" y="2432304"/>
            <a:ext cx="10012680" cy="566928"/>
          </a:xfrm>
          <a:prstGeom prst="rect">
            <a:avLst/>
          </a:prstGeom>
          <a:noFill/>
        </p:spPr>
        <p:txBody>
          <a:bodyPr wrap="square" anchor="ctr" tIns="36576" bIns="36576">
            <a:spAutoFit/>
          </a:bodyPr>
          <a:lstStyle/>
          <a:p>
            <a:pPr algn="l"/>
            <a:r>
              <a:rPr sz="2400" b="0">
                <a:solidFill>
                  <a:srgbClr val="1F2A44"/>
                </a:solidFill>
                <a:latin typeface="Calibri"/>
              </a:rPr>
              <a:t>Zulässig, weil die Vergütung frei vereinbart werden darf.</a:t>
            </a:r>
          </a:p>
        </p:txBody>
      </p:sp>
      <p:sp>
        <p:nvSpPr>
          <p:cNvPr id="24" name="Rounded Rectangle 23"/>
          <p:cNvSpPr/>
          <p:nvPr/>
        </p:nvSpPr>
        <p:spPr>
          <a:xfrm>
            <a:off x="640080" y="307238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749808" y="312724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C</a:t>
            </a:r>
          </a:p>
        </p:txBody>
      </p:sp>
      <p:sp>
        <p:nvSpPr>
          <p:cNvPr id="26" name="Option_C"/>
          <p:cNvSpPr txBox="1"/>
          <p:nvPr/>
        </p:nvSpPr>
        <p:spPr>
          <a:xfrm>
            <a:off x="1417320" y="3072384"/>
            <a:ext cx="10012680" cy="566928"/>
          </a:xfrm>
          <a:prstGeom prst="rect">
            <a:avLst/>
          </a:prstGeom>
          <a:noFill/>
        </p:spPr>
        <p:txBody>
          <a:bodyPr wrap="square" anchor="ctr" tIns="36576" bIns="36576">
            <a:spAutoFit/>
          </a:bodyPr>
          <a:lstStyle/>
          <a:p>
            <a:pPr algn="l"/>
            <a:r>
              <a:rPr sz="2400" b="0">
                <a:solidFill>
                  <a:srgbClr val="1F2A44"/>
                </a:solidFill>
                <a:latin typeface="Calibri"/>
              </a:rPr>
              <a:t>Unzulässig, im ersten Ausbildungsjahr gelten 2026 mindestens 724 €.</a:t>
            </a:r>
          </a:p>
        </p:txBody>
      </p:sp>
      <p:sp>
        <p:nvSpPr>
          <p:cNvPr id="27" name="Rounded Rectangle 26"/>
          <p:cNvSpPr/>
          <p:nvPr/>
        </p:nvSpPr>
        <p:spPr>
          <a:xfrm>
            <a:off x="640080" y="3712464"/>
            <a:ext cx="10881360" cy="566928"/>
          </a:xfrm>
          <a:prstGeom prst="roundRect">
            <a:avLst>
              <a:gd name="adj" fmla="val 15000"/>
            </a:avLst>
          </a:prstGeom>
          <a:solidFill>
            <a:srgbClr val="FFFFFF"/>
          </a:solidFill>
          <a:ln w="25400">
            <a:solidFill>
              <a:srgbClr val="1F2A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49808" y="3767328"/>
            <a:ext cx="457200" cy="457200"/>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200" b="1">
                <a:solidFill>
                  <a:srgbClr val="FFFFFF"/>
                </a:solidFill>
                <a:latin typeface="Calibri"/>
              </a:rPr>
              <a:t>D</a:t>
            </a:r>
          </a:p>
        </p:txBody>
      </p:sp>
      <p:sp>
        <p:nvSpPr>
          <p:cNvPr id="29" name="Option_D"/>
          <p:cNvSpPr txBox="1"/>
          <p:nvPr/>
        </p:nvSpPr>
        <p:spPr>
          <a:xfrm>
            <a:off x="1417320" y="3712464"/>
            <a:ext cx="10012680" cy="566928"/>
          </a:xfrm>
          <a:prstGeom prst="rect">
            <a:avLst/>
          </a:prstGeom>
          <a:noFill/>
        </p:spPr>
        <p:txBody>
          <a:bodyPr wrap="square" anchor="ctr" tIns="36576" bIns="36576">
            <a:spAutoFit/>
          </a:bodyPr>
          <a:lstStyle/>
          <a:p>
            <a:pPr algn="l"/>
            <a:r>
              <a:rPr sz="2400" b="0">
                <a:solidFill>
                  <a:srgbClr val="1F2A44"/>
                </a:solidFill>
                <a:latin typeface="Calibri"/>
              </a:rPr>
              <a:t>Unzulässig, erst ab dem zweiten Jahr gilt eine Mindestvergütung.</a:t>
            </a:r>
          </a:p>
        </p:txBody>
      </p:sp>
      <p:sp>
        <p:nvSpPr>
          <p:cNvPr id="30" name="Reveal_Markierung"/>
          <p:cNvSpPr/>
          <p:nvPr/>
        </p:nvSpPr>
        <p:spPr>
          <a:xfrm>
            <a:off x="594360" y="3035808"/>
            <a:ext cx="10972800" cy="640080"/>
          </a:xfrm>
          <a:prstGeom prst="roundRect">
            <a:avLst>
              <a:gd name="adj" fmla="val 15000"/>
            </a:avLst>
          </a:prstGeom>
          <a:noFill/>
          <a:ln w="63500">
            <a:solidFill>
              <a:srgbClr val="1E7B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veal_Haken"/>
          <p:cNvSpPr/>
          <p:nvPr/>
        </p:nvSpPr>
        <p:spPr>
          <a:xfrm>
            <a:off x="10241280" y="3127248"/>
            <a:ext cx="1188720" cy="457200"/>
          </a:xfrm>
          <a:prstGeom prst="roundRect">
            <a:avLst/>
          </a:prstGeom>
          <a:solidFill>
            <a:srgbClr val="1E7B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r>
              <a:rPr sz="2400" b="1">
                <a:solidFill>
                  <a:srgbClr val="FFFFFF"/>
                </a:solidFill>
                <a:latin typeface="Calibri"/>
              </a:rPr>
              <a:t>✓ C</a:t>
            </a:r>
          </a:p>
        </p:txBody>
      </p:sp>
      <p:sp>
        <p:nvSpPr>
          <p:cNvPr id="32" name="Reveal_Begruendung"/>
          <p:cNvSpPr/>
          <p:nvPr/>
        </p:nvSpPr>
        <p:spPr>
          <a:xfrm>
            <a:off x="640080" y="4370832"/>
            <a:ext cx="10881360" cy="966216"/>
          </a:xfrm>
          <a:prstGeom prst="rect">
            <a:avLst/>
          </a:prstGeom>
          <a:solidFill>
            <a:srgbClr val="E3F3EA"/>
          </a:solidFill>
          <a:ln w="38100">
            <a:solidFill>
              <a:srgbClr val="1E7B4F"/>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600" b="1">
                <a:solidFill>
                  <a:srgbClr val="1E7B4F"/>
                </a:solidFill>
                <a:latin typeface="Calibri"/>
              </a:rPr>
              <a:t>Begründung: </a:t>
            </a:r>
            <a:r>
              <a:rPr sz="2600" b="0">
                <a:solidFill>
                  <a:srgbClr val="1F2A44"/>
                </a:solidFill>
                <a:latin typeface="Calibri"/>
              </a:rPr>
              <a:t>Die Mindestausbildungsvergütung nach § 17 BBiG darf nicht unterschritten werden.</a:t>
            </a:r>
          </a:p>
        </p:txBody>
      </p:sp>
      <p:sp>
        <p:nvSpPr>
          <p:cNvPr id="33" name="Rounded Rectangle 32"/>
          <p:cNvSpPr/>
          <p:nvPr/>
        </p:nvSpPr>
        <p:spPr>
          <a:xfrm>
            <a:off x="502920" y="6327648"/>
            <a:ext cx="2587752" cy="420624"/>
          </a:xfrm>
          <a:prstGeom prst="roundRect">
            <a:avLst>
              <a:gd name="adj" fmla="val 4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6327648"/>
            <a:ext cx="2587752" cy="420624"/>
          </a:xfrm>
          <a:prstGeom prst="rect">
            <a:avLst/>
          </a:prstGeom>
          <a:noFill/>
        </p:spPr>
        <p:txBody>
          <a:bodyPr wrap="square" anchor="ctr" tIns="36576" bIns="36576">
            <a:spAutoFit/>
          </a:bodyPr>
          <a:lstStyle/>
          <a:p>
            <a:pPr algn="ctr"/>
            <a:r>
              <a:rPr sz="2400" b="1">
                <a:solidFill>
                  <a:srgbClr val="FFFFFF"/>
                </a:solidFill>
                <a:latin typeface="Calibri"/>
              </a:rPr>
              <a:t>Abstimmung A–D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1">
                <a:solidFill>
                  <a:srgbClr val="1F2A44"/>
                </a:solidFill>
                <a:latin typeface="Calibri"/>
              </a:rPr>
              <a:t>Quiz &amp; Abschluss</a:t>
            </a:r>
          </a:p>
        </p:txBody>
      </p:sp>
      <p:sp>
        <p:nvSpPr>
          <p:cNvPr id="15"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7"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Zurück zum Anfang</a:t>
            </a:r>
          </a:p>
        </p:txBody>
      </p:sp>
      <p:sp>
        <p:nvSpPr>
          <p:cNvPr id="18" name="Rectangle 17"/>
          <p:cNvSpPr/>
          <p:nvPr/>
        </p:nvSpPr>
        <p:spPr>
          <a:xfrm>
            <a:off x="731520" y="1463040"/>
            <a:ext cx="1078992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680" y="1591056"/>
            <a:ext cx="658368" cy="65836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a</a:t>
            </a:r>
          </a:p>
        </p:txBody>
      </p:sp>
      <p:sp>
        <p:nvSpPr>
          <p:cNvPr id="20" name="TextBox 19"/>
          <p:cNvSpPr txBox="1"/>
          <p:nvPr/>
        </p:nvSpPr>
        <p:spPr>
          <a:xfrm>
            <a:off x="1691640" y="1463040"/>
            <a:ext cx="4572000" cy="914400"/>
          </a:xfrm>
          <a:prstGeom prst="rect">
            <a:avLst/>
          </a:prstGeom>
          <a:noFill/>
        </p:spPr>
        <p:txBody>
          <a:bodyPr wrap="square" anchor="ctr" tIns="36576" bIns="36576">
            <a:spAutoFit/>
          </a:bodyPr>
          <a:lstStyle/>
          <a:p>
            <a:pPr algn="l"/>
            <a:r>
              <a:rPr sz="2400" b="1">
                <a:solidFill>
                  <a:srgbClr val="1F2A44"/>
                </a:solidFill>
                <a:latin typeface="Calibri"/>
              </a:rPr>
              <a:t>Wie lange darf die Probezeit höchstens dauern?</a:t>
            </a:r>
          </a:p>
        </p:txBody>
      </p:sp>
      <p:sp>
        <p:nvSpPr>
          <p:cNvPr id="21" name="Reveal_Antwort_a"/>
          <p:cNvSpPr/>
          <p:nvPr/>
        </p:nvSpPr>
        <p:spPr>
          <a:xfrm>
            <a:off x="6355080" y="1517904"/>
            <a:ext cx="5074920" cy="804672"/>
          </a:xfrm>
          <a:prstGeom prst="rect">
            <a:avLst/>
          </a:prstGeom>
          <a:solidFill>
            <a:srgbClr val="FFF0D1"/>
          </a:solidFill>
          <a:ln w="3175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600" b="1">
                <a:solidFill>
                  <a:srgbClr val="1F2A44"/>
                </a:solidFill>
                <a:latin typeface="Calibri"/>
              </a:rPr>
              <a:t>Vier Monate</a:t>
            </a:r>
          </a:p>
        </p:txBody>
      </p:sp>
      <p:sp>
        <p:nvSpPr>
          <p:cNvPr id="22" name="Rectangle 21"/>
          <p:cNvSpPr/>
          <p:nvPr/>
        </p:nvSpPr>
        <p:spPr>
          <a:xfrm>
            <a:off x="731520" y="2487168"/>
            <a:ext cx="1078992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68680" y="2615184"/>
            <a:ext cx="658368" cy="65836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b</a:t>
            </a:r>
          </a:p>
        </p:txBody>
      </p:sp>
      <p:sp>
        <p:nvSpPr>
          <p:cNvPr id="24" name="TextBox 23"/>
          <p:cNvSpPr txBox="1"/>
          <p:nvPr/>
        </p:nvSpPr>
        <p:spPr>
          <a:xfrm>
            <a:off x="1691640" y="2487168"/>
            <a:ext cx="4572000" cy="914400"/>
          </a:xfrm>
          <a:prstGeom prst="rect">
            <a:avLst/>
          </a:prstGeom>
          <a:noFill/>
        </p:spPr>
        <p:txBody>
          <a:bodyPr wrap="square" anchor="ctr" tIns="36576" bIns="36576">
            <a:spAutoFit/>
          </a:bodyPr>
          <a:lstStyle/>
          <a:p>
            <a:pPr algn="l"/>
            <a:r>
              <a:rPr sz="2400" b="1">
                <a:solidFill>
                  <a:srgbClr val="1F2A44"/>
                </a:solidFill>
                <a:latin typeface="Calibri"/>
              </a:rPr>
              <a:t>Wie viele Urlaubstage stehen einem Azubi mindestens zu?</a:t>
            </a:r>
          </a:p>
        </p:txBody>
      </p:sp>
      <p:sp>
        <p:nvSpPr>
          <p:cNvPr id="25" name="Reveal_Antwort_b"/>
          <p:cNvSpPr/>
          <p:nvPr/>
        </p:nvSpPr>
        <p:spPr>
          <a:xfrm>
            <a:off x="6355080" y="2542032"/>
            <a:ext cx="5074920" cy="804672"/>
          </a:xfrm>
          <a:prstGeom prst="rect">
            <a:avLst/>
          </a:prstGeom>
          <a:solidFill>
            <a:srgbClr val="FFF0D1"/>
          </a:solidFill>
          <a:ln w="3175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1F2A44"/>
                </a:solidFill>
                <a:latin typeface="Calibri"/>
              </a:rPr>
              <a:t>24 Werktage ab 18 Jahren, Jugendliche 25 bis 30</a:t>
            </a:r>
          </a:p>
        </p:txBody>
      </p:sp>
      <p:sp>
        <p:nvSpPr>
          <p:cNvPr id="26" name="Rectangle 25"/>
          <p:cNvSpPr/>
          <p:nvPr/>
        </p:nvSpPr>
        <p:spPr>
          <a:xfrm>
            <a:off x="731520" y="3511296"/>
            <a:ext cx="1078992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68680" y="3639312"/>
            <a:ext cx="658368" cy="65836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c</a:t>
            </a:r>
          </a:p>
        </p:txBody>
      </p:sp>
      <p:sp>
        <p:nvSpPr>
          <p:cNvPr id="28" name="TextBox 27"/>
          <p:cNvSpPr txBox="1"/>
          <p:nvPr/>
        </p:nvSpPr>
        <p:spPr>
          <a:xfrm>
            <a:off x="1691640" y="3511296"/>
            <a:ext cx="4572000" cy="914400"/>
          </a:xfrm>
          <a:prstGeom prst="rect">
            <a:avLst/>
          </a:prstGeom>
          <a:noFill/>
        </p:spPr>
        <p:txBody>
          <a:bodyPr wrap="square" anchor="ctr" tIns="36576" bIns="36576">
            <a:spAutoFit/>
          </a:bodyPr>
          <a:lstStyle/>
          <a:p>
            <a:pPr algn="l"/>
            <a:r>
              <a:rPr sz="2400" b="1">
                <a:solidFill>
                  <a:srgbClr val="1F2A44"/>
                </a:solidFill>
                <a:latin typeface="Calibri"/>
              </a:rPr>
              <a:t>Welche Kündigungsfrist gilt in der Probezeit?</a:t>
            </a:r>
          </a:p>
        </p:txBody>
      </p:sp>
      <p:sp>
        <p:nvSpPr>
          <p:cNvPr id="29" name="Reveal_Antwort_c"/>
          <p:cNvSpPr/>
          <p:nvPr/>
        </p:nvSpPr>
        <p:spPr>
          <a:xfrm>
            <a:off x="6355080" y="3566160"/>
            <a:ext cx="5074920" cy="804672"/>
          </a:xfrm>
          <a:prstGeom prst="rect">
            <a:avLst/>
          </a:prstGeom>
          <a:solidFill>
            <a:srgbClr val="FFF0D1"/>
          </a:solidFill>
          <a:ln w="3175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800" b="1">
                <a:solidFill>
                  <a:srgbClr val="1F2A44"/>
                </a:solidFill>
                <a:latin typeface="Calibri"/>
              </a:rPr>
              <a:t>Keine Frist, aber schriftlich</a:t>
            </a:r>
          </a:p>
        </p:txBody>
      </p:sp>
      <p:sp>
        <p:nvSpPr>
          <p:cNvPr id="30" name="Rectangle 29"/>
          <p:cNvSpPr/>
          <p:nvPr/>
        </p:nvSpPr>
        <p:spPr>
          <a:xfrm>
            <a:off x="731520" y="4535424"/>
            <a:ext cx="10789920" cy="9144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68680" y="4663440"/>
            <a:ext cx="658368" cy="658368"/>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2800" b="1">
                <a:solidFill>
                  <a:srgbClr val="FFFFFF"/>
                </a:solidFill>
                <a:latin typeface="Calibri"/>
              </a:rPr>
              <a:t>d</a:t>
            </a:r>
          </a:p>
        </p:txBody>
      </p:sp>
      <p:sp>
        <p:nvSpPr>
          <p:cNvPr id="32" name="TextBox 31"/>
          <p:cNvSpPr txBox="1"/>
          <p:nvPr/>
        </p:nvSpPr>
        <p:spPr>
          <a:xfrm>
            <a:off x="1691640" y="4535424"/>
            <a:ext cx="4572000" cy="914400"/>
          </a:xfrm>
          <a:prstGeom prst="rect">
            <a:avLst/>
          </a:prstGeom>
          <a:noFill/>
        </p:spPr>
        <p:txBody>
          <a:bodyPr wrap="square" anchor="ctr" tIns="36576" bIns="36576">
            <a:spAutoFit/>
          </a:bodyPr>
          <a:lstStyle/>
          <a:p>
            <a:pPr algn="l"/>
            <a:r>
              <a:rPr sz="2400" b="1">
                <a:solidFill>
                  <a:srgbClr val="1F2A44"/>
                </a:solidFill>
                <a:latin typeface="Calibri"/>
              </a:rPr>
              <a:t>Muss eine Kündigung schriftlich sein?</a:t>
            </a:r>
          </a:p>
        </p:txBody>
      </p:sp>
      <p:sp>
        <p:nvSpPr>
          <p:cNvPr id="33" name="Reveal_Antwort_d"/>
          <p:cNvSpPr/>
          <p:nvPr/>
        </p:nvSpPr>
        <p:spPr>
          <a:xfrm>
            <a:off x="6355080" y="4590288"/>
            <a:ext cx="5074920" cy="804672"/>
          </a:xfrm>
          <a:prstGeom prst="rect">
            <a:avLst/>
          </a:prstGeom>
          <a:solidFill>
            <a:srgbClr val="FFF0D1"/>
          </a:solidFill>
          <a:ln w="3175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l"/>
            <a:r>
              <a:rPr sz="2600" b="1">
                <a:solidFill>
                  <a:srgbClr val="1F2A44"/>
                </a:solidFill>
                <a:latin typeface="Calibri"/>
              </a:rPr>
              <a:t>Ja, die Kündigung muss schriftlich erfolgen</a:t>
            </a:r>
          </a:p>
        </p:txBody>
      </p:sp>
      <p:sp>
        <p:nvSpPr>
          <p:cNvPr id="34" name="Rectangle 33"/>
          <p:cNvSpPr/>
          <p:nvPr/>
        </p:nvSpPr>
        <p:spPr>
          <a:xfrm>
            <a:off x="731520" y="5577840"/>
            <a:ext cx="10789920" cy="64008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577840"/>
            <a:ext cx="10424160" cy="640080"/>
          </a:xfrm>
          <a:prstGeom prst="rect">
            <a:avLst/>
          </a:prstGeom>
          <a:noFill/>
        </p:spPr>
        <p:txBody>
          <a:bodyPr wrap="square" anchor="ctr" tIns="36576" bIns="36576">
            <a:spAutoFit/>
          </a:bodyPr>
          <a:lstStyle/>
          <a:p>
            <a:pPr algn="l"/>
            <a:r>
              <a:rPr sz="3000" b="1">
                <a:solidFill>
                  <a:srgbClr val="1F2A44"/>
                </a:solidFill>
                <a:latin typeface="Calibri"/>
              </a:rPr>
              <a:t>Was war neu für euch?</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9" grpId="0" animBg="1"/>
      <p:bldP spid="33"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1">
                <a:solidFill>
                  <a:srgbClr val="1F2A44"/>
                </a:solidFill>
                <a:latin typeface="Calibri"/>
              </a:rPr>
              <a:t>Quiz &amp; Abschluss</a:t>
            </a:r>
          </a:p>
        </p:txBody>
      </p:sp>
      <p:sp>
        <p:nvSpPr>
          <p:cNvPr id="15" name="Titel"/>
          <p:cNvSpPr txBox="1"/>
          <p:nvPr/>
        </p:nvSpPr>
        <p:spPr>
          <a:xfrm>
            <a:off x="548640" y="530352"/>
            <a:ext cx="11155680" cy="868680"/>
          </a:xfrm>
          <a:prstGeom prst="rect">
            <a:avLst/>
          </a:prstGeom>
          <a:noFill/>
        </p:spPr>
        <p:txBody>
          <a:bodyPr wrap="square" anchor="ctr" tIns="36576" bIns="36576">
            <a:spAutoFit/>
          </a:bodyPr>
          <a:lstStyle/>
          <a:p>
            <a:pPr algn="l"/>
            <a:r>
              <a:rPr sz="4000" b="1">
                <a:solidFill>
                  <a:srgbClr val="1F2A44"/>
                </a:solidFill>
                <a:latin typeface="Calibri"/>
              </a:rPr>
              <a:t>Mini-Quiz: Zeig, was du kannst</a:t>
            </a:r>
          </a:p>
        </p:txBody>
      </p:sp>
      <p:sp>
        <p:nvSpPr>
          <p:cNvPr id="16" name="Rectangle 15"/>
          <p:cNvSpPr/>
          <p:nvPr/>
        </p:nvSpPr>
        <p:spPr>
          <a:xfrm>
            <a:off x="640080" y="137160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1600200"/>
            <a:ext cx="4325112" cy="4325112"/>
          </a:xfrm>
          <a:prstGeom prst="rect">
            <a:avLst/>
          </a:prstGeom>
          <a:solidFill>
            <a:srgbClr val="FFFFFF"/>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QR-Code zur Übungsseite der Klasse"/>
          <p:cNvPicPr>
            <a:picLocks noChangeAspect="1"/>
          </p:cNvPicPr>
          <p:nvPr/>
        </p:nvPicPr>
        <p:blipFill>
          <a:blip r:embed="rId3"/>
          <a:stretch>
            <a:fillRect/>
          </a:stretch>
        </p:blipFill>
        <p:spPr>
          <a:xfrm>
            <a:off x="836675" y="1796796"/>
            <a:ext cx="3931920" cy="3931920"/>
          </a:xfrm>
          <a:prstGeom prst="rect">
            <a:avLst/>
          </a:prstGeom>
        </p:spPr>
      </p:pic>
      <p:sp>
        <p:nvSpPr>
          <p:cNvPr id="19" name="TextBox 18"/>
          <p:cNvSpPr txBox="1"/>
          <p:nvPr/>
        </p:nvSpPr>
        <p:spPr>
          <a:xfrm>
            <a:off x="5212080" y="1691640"/>
            <a:ext cx="6400800" cy="2743200"/>
          </a:xfrm>
          <a:prstGeom prst="rect">
            <a:avLst/>
          </a:prstGeom>
          <a:noFill/>
        </p:spPr>
        <p:txBody>
          <a:bodyPr wrap="square" anchor="t" tIns="36576" bIns="36576">
            <a:spAutoFit/>
          </a:bodyPr>
          <a:lstStyle/>
          <a:p>
            <a:pPr algn="l"/>
            <a:r>
              <a:rPr sz="3600" b="1">
                <a:solidFill>
                  <a:srgbClr val="F5A623"/>
                </a:solidFill>
                <a:latin typeface="Calibri"/>
              </a:rPr>
              <a:t>•  </a:t>
            </a:r>
            <a:r>
              <a:rPr sz="3600" b="0">
                <a:solidFill>
                  <a:srgbClr val="1F2A44"/>
                </a:solidFill>
                <a:latin typeface="Calibri"/>
              </a:rPr>
              <a:t>5 Fragen auf der Website</a:t>
            </a:r>
          </a:p>
          <a:p>
            <a:pPr algn="l">
              <a:spcBef>
                <a:spcPts val="2160"/>
              </a:spcBef>
            </a:pPr>
            <a:r>
              <a:rPr sz="3600" b="1">
                <a:solidFill>
                  <a:srgbClr val="F5A623"/>
                </a:solidFill>
                <a:latin typeface="Calibri"/>
              </a:rPr>
              <a:t>•  </a:t>
            </a:r>
            <a:r>
              <a:rPr sz="3600" b="0">
                <a:solidFill>
                  <a:srgbClr val="1F2A44"/>
                </a:solidFill>
                <a:latin typeface="Calibri"/>
              </a:rPr>
              <a:t>allein</a:t>
            </a:r>
          </a:p>
          <a:p>
            <a:pPr algn="l">
              <a:spcBef>
                <a:spcPts val="2160"/>
              </a:spcBef>
            </a:pPr>
            <a:r>
              <a:rPr sz="3600" b="1">
                <a:solidFill>
                  <a:srgbClr val="F5A623"/>
                </a:solidFill>
                <a:latin typeface="Calibri"/>
              </a:rPr>
              <a:t>•  </a:t>
            </a:r>
            <a:r>
              <a:rPr sz="3600" b="0">
                <a:solidFill>
                  <a:srgbClr val="1F2A44"/>
                </a:solidFill>
                <a:latin typeface="Calibri"/>
              </a:rPr>
              <a:t>ca. 3 Minuten</a:t>
            </a:r>
          </a:p>
        </p:txBody>
      </p:sp>
      <p:sp>
        <p:nvSpPr>
          <p:cNvPr id="20" name="TextBox 19"/>
          <p:cNvSpPr txBox="1"/>
          <p:nvPr/>
        </p:nvSpPr>
        <p:spPr>
          <a:xfrm>
            <a:off x="5212080" y="4114800"/>
            <a:ext cx="6400800" cy="640080"/>
          </a:xfrm>
          <a:prstGeom prst="rect">
            <a:avLst/>
          </a:prstGeom>
          <a:noFill/>
        </p:spPr>
        <p:txBody>
          <a:bodyPr wrap="square" anchor="t" tIns="36576" bIns="36576">
            <a:spAutoFit/>
          </a:bodyPr>
          <a:lstStyle/>
          <a:p>
            <a:pPr algn="l"/>
            <a:r>
              <a:rPr sz="2800" b="1">
                <a:solidFill>
                  <a:srgbClr val="1F2A44"/>
                </a:solidFill>
                <a:latin typeface="Calibri"/>
              </a:rPr>
              <a:t>yasinbenx.github.io/azubi-vertrag</a:t>
            </a:r>
          </a:p>
        </p:txBody>
      </p:sp>
      <p:sp>
        <p:nvSpPr>
          <p:cNvPr id="21" name="Rectangle 20"/>
          <p:cNvSpPr/>
          <p:nvPr/>
        </p:nvSpPr>
        <p:spPr>
          <a:xfrm>
            <a:off x="5212080" y="4937760"/>
            <a:ext cx="6309360" cy="109728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12080" y="4937760"/>
            <a:ext cx="109728" cy="109728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40680" y="4937760"/>
            <a:ext cx="6035040" cy="1097280"/>
          </a:xfrm>
          <a:prstGeom prst="rect">
            <a:avLst/>
          </a:prstGeom>
          <a:noFill/>
        </p:spPr>
        <p:txBody>
          <a:bodyPr wrap="square" anchor="ctr" tIns="36576" bIns="36576">
            <a:spAutoFit/>
          </a:bodyPr>
          <a:lstStyle/>
          <a:p>
            <a:pPr algn="l"/>
            <a:r>
              <a:rPr sz="2800" b="1">
                <a:solidFill>
                  <a:srgbClr val="1F2A44"/>
                </a:solidFill>
                <a:latin typeface="Calibri"/>
              </a:rPr>
              <a:t>Danach: Handzeichen 5 · 4 · 3 · weniger richtig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1">
                <a:solidFill>
                  <a:srgbClr val="1F2A44"/>
                </a:solidFill>
                <a:latin typeface="Calibri"/>
              </a:rPr>
              <a:t>Quiz &amp; Abschluss</a:t>
            </a:r>
          </a:p>
        </p:txBody>
      </p:sp>
      <p:sp>
        <p:nvSpPr>
          <p:cNvPr id="15" name="Titel"/>
          <p:cNvSpPr txBox="1"/>
          <p:nvPr/>
        </p:nvSpPr>
        <p:spPr>
          <a:xfrm>
            <a:off x="548640" y="502920"/>
            <a:ext cx="11155680" cy="731520"/>
          </a:xfrm>
          <a:prstGeom prst="rect">
            <a:avLst/>
          </a:prstGeom>
          <a:noFill/>
        </p:spPr>
        <p:txBody>
          <a:bodyPr wrap="square" anchor="ctr" tIns="36576" bIns="36576">
            <a:spAutoFit/>
          </a:bodyPr>
          <a:lstStyle/>
          <a:p>
            <a:pPr algn="l"/>
            <a:r>
              <a:rPr sz="4000" b="1">
                <a:solidFill>
                  <a:srgbClr val="1F2A44"/>
                </a:solidFill>
                <a:latin typeface="Calibri"/>
              </a:rPr>
              <a:t>Merke dir diese fünf</a:t>
            </a:r>
          </a:p>
        </p:txBody>
      </p:sp>
      <p:sp>
        <p:nvSpPr>
          <p:cNvPr id="16" name="Rectangle 15"/>
          <p:cNvSpPr/>
          <p:nvPr/>
        </p:nvSpPr>
        <p:spPr>
          <a:xfrm>
            <a:off x="640080" y="1234440"/>
            <a:ext cx="1463040" cy="64008"/>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1463040"/>
            <a:ext cx="3520440" cy="164592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080" y="1463040"/>
            <a:ext cx="3520440" cy="914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1572768"/>
            <a:ext cx="3520440" cy="731520"/>
          </a:xfrm>
          <a:prstGeom prst="rect">
            <a:avLst/>
          </a:prstGeom>
          <a:noFill/>
        </p:spPr>
        <p:txBody>
          <a:bodyPr wrap="square" anchor="ctr" tIns="36576" bIns="36576">
            <a:spAutoFit/>
          </a:bodyPr>
          <a:lstStyle/>
          <a:p>
            <a:pPr algn="ctr"/>
            <a:r>
              <a:rPr sz="4000" b="1">
                <a:solidFill>
                  <a:srgbClr val="1F2A44"/>
                </a:solidFill>
                <a:latin typeface="Calibri"/>
              </a:rPr>
              <a:t>4 Monate</a:t>
            </a:r>
          </a:p>
        </p:txBody>
      </p:sp>
      <p:sp>
        <p:nvSpPr>
          <p:cNvPr id="20" name="TextBox 19"/>
          <p:cNvSpPr txBox="1"/>
          <p:nvPr/>
        </p:nvSpPr>
        <p:spPr>
          <a:xfrm>
            <a:off x="685800" y="2331720"/>
            <a:ext cx="3429000" cy="365760"/>
          </a:xfrm>
          <a:prstGeom prst="rect">
            <a:avLst/>
          </a:prstGeom>
          <a:noFill/>
        </p:spPr>
        <p:txBody>
          <a:bodyPr wrap="square" anchor="t" tIns="36576" bIns="36576">
            <a:spAutoFit/>
          </a:bodyPr>
          <a:lstStyle/>
          <a:p>
            <a:pPr algn="ctr"/>
            <a:r>
              <a:rPr sz="2400" b="0">
                <a:solidFill>
                  <a:srgbClr val="1F2A44"/>
                </a:solidFill>
                <a:latin typeface="Calibri"/>
              </a:rPr>
              <a:t>Probezeit, höchstens</a:t>
            </a:r>
          </a:p>
        </p:txBody>
      </p:sp>
      <p:sp>
        <p:nvSpPr>
          <p:cNvPr id="21" name="TextBox 20"/>
          <p:cNvSpPr txBox="1"/>
          <p:nvPr/>
        </p:nvSpPr>
        <p:spPr>
          <a:xfrm>
            <a:off x="640080" y="2697480"/>
            <a:ext cx="3520440" cy="365760"/>
          </a:xfrm>
          <a:prstGeom prst="rect">
            <a:avLst/>
          </a:prstGeom>
          <a:noFill/>
        </p:spPr>
        <p:txBody>
          <a:bodyPr wrap="square" anchor="t" tIns="36576" bIns="36576">
            <a:spAutoFit/>
          </a:bodyPr>
          <a:lstStyle/>
          <a:p>
            <a:pPr algn="ctr"/>
            <a:r>
              <a:rPr sz="2400" b="1">
                <a:solidFill>
                  <a:srgbClr val="7A4B00"/>
                </a:solidFill>
                <a:latin typeface="Calibri"/>
              </a:rPr>
              <a:t>§ 20 BBiG</a:t>
            </a:r>
          </a:p>
        </p:txBody>
      </p:sp>
      <p:sp>
        <p:nvSpPr>
          <p:cNvPr id="22" name="Rectangle 21"/>
          <p:cNvSpPr/>
          <p:nvPr/>
        </p:nvSpPr>
        <p:spPr>
          <a:xfrm>
            <a:off x="4343400" y="1463040"/>
            <a:ext cx="3520440" cy="16459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43400" y="1463040"/>
            <a:ext cx="3520440" cy="9144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43400" y="1572768"/>
            <a:ext cx="3520440" cy="731520"/>
          </a:xfrm>
          <a:prstGeom prst="rect">
            <a:avLst/>
          </a:prstGeom>
          <a:noFill/>
        </p:spPr>
        <p:txBody>
          <a:bodyPr wrap="square" anchor="ctr" tIns="36576" bIns="36576">
            <a:spAutoFit/>
          </a:bodyPr>
          <a:lstStyle/>
          <a:p>
            <a:pPr algn="ctr"/>
            <a:r>
              <a:rPr sz="4000" b="1">
                <a:solidFill>
                  <a:srgbClr val="1F2A44"/>
                </a:solidFill>
                <a:latin typeface="Calibri"/>
              </a:rPr>
              <a:t>724 €</a:t>
            </a:r>
          </a:p>
        </p:txBody>
      </p:sp>
      <p:sp>
        <p:nvSpPr>
          <p:cNvPr id="25" name="TextBox 24"/>
          <p:cNvSpPr txBox="1"/>
          <p:nvPr/>
        </p:nvSpPr>
        <p:spPr>
          <a:xfrm>
            <a:off x="4389120" y="2331720"/>
            <a:ext cx="3429000" cy="365760"/>
          </a:xfrm>
          <a:prstGeom prst="rect">
            <a:avLst/>
          </a:prstGeom>
          <a:noFill/>
        </p:spPr>
        <p:txBody>
          <a:bodyPr wrap="square" anchor="t" tIns="36576" bIns="36576">
            <a:spAutoFit/>
          </a:bodyPr>
          <a:lstStyle/>
          <a:p>
            <a:pPr algn="ctr"/>
            <a:r>
              <a:rPr sz="2400" b="0">
                <a:solidFill>
                  <a:srgbClr val="1F2A44"/>
                </a:solidFill>
                <a:latin typeface="Calibri"/>
              </a:rPr>
              <a:t>im 1. Jahr, Beginn 2026</a:t>
            </a:r>
          </a:p>
        </p:txBody>
      </p:sp>
      <p:sp>
        <p:nvSpPr>
          <p:cNvPr id="26" name="TextBox 25"/>
          <p:cNvSpPr txBox="1"/>
          <p:nvPr/>
        </p:nvSpPr>
        <p:spPr>
          <a:xfrm>
            <a:off x="4343400" y="2697480"/>
            <a:ext cx="3520440" cy="365760"/>
          </a:xfrm>
          <a:prstGeom prst="rect">
            <a:avLst/>
          </a:prstGeom>
          <a:noFill/>
        </p:spPr>
        <p:txBody>
          <a:bodyPr wrap="square" anchor="t" tIns="36576" bIns="36576">
            <a:spAutoFit/>
          </a:bodyPr>
          <a:lstStyle/>
          <a:p>
            <a:pPr algn="ctr"/>
            <a:r>
              <a:rPr sz="2400" b="1">
                <a:solidFill>
                  <a:srgbClr val="7A4B00"/>
                </a:solidFill>
                <a:latin typeface="Calibri"/>
              </a:rPr>
              <a:t>§ 17 BBiG</a:t>
            </a:r>
          </a:p>
        </p:txBody>
      </p:sp>
      <p:sp>
        <p:nvSpPr>
          <p:cNvPr id="27" name="Rectangle 26"/>
          <p:cNvSpPr/>
          <p:nvPr/>
        </p:nvSpPr>
        <p:spPr>
          <a:xfrm>
            <a:off x="8046719" y="1463040"/>
            <a:ext cx="3520440" cy="164592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46719" y="1463040"/>
            <a:ext cx="3520440" cy="914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46719" y="1572768"/>
            <a:ext cx="3520440" cy="731520"/>
          </a:xfrm>
          <a:prstGeom prst="rect">
            <a:avLst/>
          </a:prstGeom>
          <a:noFill/>
        </p:spPr>
        <p:txBody>
          <a:bodyPr wrap="square" anchor="ctr" tIns="36576" bIns="36576">
            <a:spAutoFit/>
          </a:bodyPr>
          <a:lstStyle/>
          <a:p>
            <a:pPr algn="ctr"/>
            <a:r>
              <a:rPr sz="4000" b="1">
                <a:solidFill>
                  <a:srgbClr val="1F2A44"/>
                </a:solidFill>
                <a:latin typeface="Calibri"/>
              </a:rPr>
              <a:t>24</a:t>
            </a:r>
          </a:p>
        </p:txBody>
      </p:sp>
      <p:sp>
        <p:nvSpPr>
          <p:cNvPr id="30" name="TextBox 29"/>
          <p:cNvSpPr txBox="1"/>
          <p:nvPr/>
        </p:nvSpPr>
        <p:spPr>
          <a:xfrm>
            <a:off x="8092440" y="2331720"/>
            <a:ext cx="3429000" cy="365760"/>
          </a:xfrm>
          <a:prstGeom prst="rect">
            <a:avLst/>
          </a:prstGeom>
          <a:noFill/>
        </p:spPr>
        <p:txBody>
          <a:bodyPr wrap="square" anchor="t" tIns="36576" bIns="36576">
            <a:spAutoFit/>
          </a:bodyPr>
          <a:lstStyle/>
          <a:p>
            <a:pPr algn="ctr"/>
            <a:r>
              <a:rPr sz="2400" b="0">
                <a:solidFill>
                  <a:srgbClr val="1F2A44"/>
                </a:solidFill>
                <a:latin typeface="Calibri"/>
              </a:rPr>
              <a:t>Werktage Urlaub ab 18</a:t>
            </a:r>
          </a:p>
        </p:txBody>
      </p:sp>
      <p:sp>
        <p:nvSpPr>
          <p:cNvPr id="31" name="TextBox 30"/>
          <p:cNvSpPr txBox="1"/>
          <p:nvPr/>
        </p:nvSpPr>
        <p:spPr>
          <a:xfrm>
            <a:off x="8046719" y="2697480"/>
            <a:ext cx="3520440" cy="365760"/>
          </a:xfrm>
          <a:prstGeom prst="rect">
            <a:avLst/>
          </a:prstGeom>
          <a:noFill/>
        </p:spPr>
        <p:txBody>
          <a:bodyPr wrap="square" anchor="t" tIns="36576" bIns="36576">
            <a:spAutoFit/>
          </a:bodyPr>
          <a:lstStyle/>
          <a:p>
            <a:pPr algn="ctr"/>
            <a:r>
              <a:rPr sz="2400" b="1">
                <a:solidFill>
                  <a:srgbClr val="7A4B00"/>
                </a:solidFill>
                <a:latin typeface="Calibri"/>
              </a:rPr>
              <a:t>§ 3 BUrlG</a:t>
            </a:r>
          </a:p>
        </p:txBody>
      </p:sp>
      <p:sp>
        <p:nvSpPr>
          <p:cNvPr id="32" name="Rectangle 31"/>
          <p:cNvSpPr/>
          <p:nvPr/>
        </p:nvSpPr>
        <p:spPr>
          <a:xfrm>
            <a:off x="640080" y="3246120"/>
            <a:ext cx="3520440" cy="16459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080" y="3246120"/>
            <a:ext cx="3520440" cy="9144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3355848"/>
            <a:ext cx="3520440" cy="731520"/>
          </a:xfrm>
          <a:prstGeom prst="rect">
            <a:avLst/>
          </a:prstGeom>
          <a:noFill/>
        </p:spPr>
        <p:txBody>
          <a:bodyPr wrap="square" anchor="ctr" tIns="36576" bIns="36576">
            <a:spAutoFit/>
          </a:bodyPr>
          <a:lstStyle/>
          <a:p>
            <a:pPr algn="ctr"/>
            <a:r>
              <a:rPr sz="4000" b="1">
                <a:solidFill>
                  <a:srgbClr val="1F2A44"/>
                </a:solidFill>
                <a:latin typeface="Calibri"/>
              </a:rPr>
              <a:t>schriftlich</a:t>
            </a:r>
          </a:p>
        </p:txBody>
      </p:sp>
      <p:sp>
        <p:nvSpPr>
          <p:cNvPr id="35" name="TextBox 34"/>
          <p:cNvSpPr txBox="1"/>
          <p:nvPr/>
        </p:nvSpPr>
        <p:spPr>
          <a:xfrm>
            <a:off x="685800" y="4114800"/>
            <a:ext cx="3429000" cy="365760"/>
          </a:xfrm>
          <a:prstGeom prst="rect">
            <a:avLst/>
          </a:prstGeom>
          <a:noFill/>
        </p:spPr>
        <p:txBody>
          <a:bodyPr wrap="square" anchor="t" tIns="36576" bIns="36576">
            <a:spAutoFit/>
          </a:bodyPr>
          <a:lstStyle/>
          <a:p>
            <a:pPr algn="ctr"/>
            <a:r>
              <a:rPr sz="2400" b="0">
                <a:solidFill>
                  <a:srgbClr val="1F2A44"/>
                </a:solidFill>
                <a:latin typeface="Calibri"/>
              </a:rPr>
              <a:t>Kündigung, nie E-Mail</a:t>
            </a:r>
          </a:p>
        </p:txBody>
      </p:sp>
      <p:sp>
        <p:nvSpPr>
          <p:cNvPr id="36" name="TextBox 35"/>
          <p:cNvSpPr txBox="1"/>
          <p:nvPr/>
        </p:nvSpPr>
        <p:spPr>
          <a:xfrm>
            <a:off x="640080" y="4480560"/>
            <a:ext cx="3520440" cy="365760"/>
          </a:xfrm>
          <a:prstGeom prst="rect">
            <a:avLst/>
          </a:prstGeom>
          <a:noFill/>
        </p:spPr>
        <p:txBody>
          <a:bodyPr wrap="square" anchor="t" tIns="36576" bIns="36576">
            <a:spAutoFit/>
          </a:bodyPr>
          <a:lstStyle/>
          <a:p>
            <a:pPr algn="ctr"/>
            <a:r>
              <a:rPr sz="2400" b="1">
                <a:solidFill>
                  <a:srgbClr val="7A4B00"/>
                </a:solidFill>
                <a:latin typeface="Calibri"/>
              </a:rPr>
              <a:t>§ 22 BBiG</a:t>
            </a:r>
          </a:p>
        </p:txBody>
      </p:sp>
      <p:sp>
        <p:nvSpPr>
          <p:cNvPr id="37" name="Rectangle 36"/>
          <p:cNvSpPr/>
          <p:nvPr/>
        </p:nvSpPr>
        <p:spPr>
          <a:xfrm>
            <a:off x="4343400" y="3246120"/>
            <a:ext cx="3520440" cy="164592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43400" y="3246120"/>
            <a:ext cx="3520440" cy="914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3355848"/>
            <a:ext cx="3520440" cy="731520"/>
          </a:xfrm>
          <a:prstGeom prst="rect">
            <a:avLst/>
          </a:prstGeom>
          <a:noFill/>
        </p:spPr>
        <p:txBody>
          <a:bodyPr wrap="square" anchor="ctr" tIns="36576" bIns="36576">
            <a:spAutoFit/>
          </a:bodyPr>
          <a:lstStyle/>
          <a:p>
            <a:pPr algn="ctr"/>
            <a:r>
              <a:rPr sz="4000" b="1">
                <a:solidFill>
                  <a:srgbClr val="1F2A44"/>
                </a:solidFill>
                <a:latin typeface="Calibri"/>
              </a:rPr>
              <a:t>8 h</a:t>
            </a:r>
          </a:p>
        </p:txBody>
      </p:sp>
      <p:sp>
        <p:nvSpPr>
          <p:cNvPr id="40" name="TextBox 39"/>
          <p:cNvSpPr txBox="1"/>
          <p:nvPr/>
        </p:nvSpPr>
        <p:spPr>
          <a:xfrm>
            <a:off x="4389120" y="4114800"/>
            <a:ext cx="3429000" cy="365760"/>
          </a:xfrm>
          <a:prstGeom prst="rect">
            <a:avLst/>
          </a:prstGeom>
          <a:noFill/>
        </p:spPr>
        <p:txBody>
          <a:bodyPr wrap="square" anchor="t" tIns="36576" bIns="36576">
            <a:spAutoFit/>
          </a:bodyPr>
          <a:lstStyle/>
          <a:p>
            <a:pPr algn="ctr"/>
            <a:r>
              <a:rPr sz="2400" b="0">
                <a:solidFill>
                  <a:srgbClr val="1F2A44"/>
                </a:solidFill>
                <a:latin typeface="Calibri"/>
              </a:rPr>
              <a:t>täglich, Jugendliche</a:t>
            </a:r>
          </a:p>
        </p:txBody>
      </p:sp>
      <p:sp>
        <p:nvSpPr>
          <p:cNvPr id="41" name="TextBox 40"/>
          <p:cNvSpPr txBox="1"/>
          <p:nvPr/>
        </p:nvSpPr>
        <p:spPr>
          <a:xfrm>
            <a:off x="4343400" y="4480560"/>
            <a:ext cx="3520440" cy="365760"/>
          </a:xfrm>
          <a:prstGeom prst="rect">
            <a:avLst/>
          </a:prstGeom>
          <a:noFill/>
        </p:spPr>
        <p:txBody>
          <a:bodyPr wrap="square" anchor="t" tIns="36576" bIns="36576">
            <a:spAutoFit/>
          </a:bodyPr>
          <a:lstStyle/>
          <a:p>
            <a:pPr algn="ctr"/>
            <a:r>
              <a:rPr sz="2400" b="1">
                <a:solidFill>
                  <a:srgbClr val="7A4B00"/>
                </a:solidFill>
                <a:latin typeface="Calibri"/>
              </a:rPr>
              <a:t>§ 8 JArbSchG</a:t>
            </a:r>
          </a:p>
        </p:txBody>
      </p:sp>
      <p:sp>
        <p:nvSpPr>
          <p:cNvPr id="42" name="Rectangle 41"/>
          <p:cNvSpPr/>
          <p:nvPr/>
        </p:nvSpPr>
        <p:spPr>
          <a:xfrm>
            <a:off x="8046720" y="3246120"/>
            <a:ext cx="3520440" cy="16459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046720" y="3246120"/>
            <a:ext cx="3520440" cy="1645920"/>
          </a:xfrm>
          <a:prstGeom prst="rect">
            <a:avLst/>
          </a:prstGeom>
          <a:noFill/>
        </p:spPr>
        <p:txBody>
          <a:bodyPr wrap="square" anchor="ctr" tIns="36576" bIns="36576">
            <a:spAutoFit/>
          </a:bodyPr>
          <a:lstStyle/>
          <a:p>
            <a:pPr algn="ctr"/>
            <a:r>
              <a:rPr sz="3200" b="1">
                <a:solidFill>
                  <a:srgbClr val="F5A623"/>
                </a:solidFill>
                <a:latin typeface="Calibri"/>
              </a:rPr>
              <a:t>Merkblatt</a:t>
            </a:r>
          </a:p>
          <a:p>
            <a:pPr algn="ctr">
              <a:spcBef>
                <a:spcPts val="960"/>
              </a:spcBef>
            </a:pPr>
            <a:r>
              <a:rPr sz="3200" b="0">
                <a:solidFill>
                  <a:srgbClr val="FFFFFF"/>
                </a:solidFill>
                <a:latin typeface="Calibri"/>
              </a:rPr>
              <a:t>zum Mitnehmen</a:t>
            </a:r>
          </a:p>
        </p:txBody>
      </p:sp>
      <p:sp>
        <p:nvSpPr>
          <p:cNvPr id="44" name="Rectangle 43"/>
          <p:cNvSpPr/>
          <p:nvPr/>
        </p:nvSpPr>
        <p:spPr>
          <a:xfrm>
            <a:off x="640080" y="5029200"/>
            <a:ext cx="7315200" cy="1234440"/>
          </a:xfrm>
          <a:prstGeom prst="rect">
            <a:avLst/>
          </a:prstGeom>
          <a:solidFill>
            <a:srgbClr val="FFF0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40080" y="5029200"/>
            <a:ext cx="109728" cy="1234440"/>
          </a:xfrm>
          <a:prstGeom prst="rect">
            <a:avLst/>
          </a:prstGeom>
          <a:solidFill>
            <a:srgbClr val="F5A6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8680" y="5029200"/>
            <a:ext cx="7040880" cy="1234440"/>
          </a:xfrm>
          <a:prstGeom prst="rect">
            <a:avLst/>
          </a:prstGeom>
          <a:noFill/>
        </p:spPr>
        <p:txBody>
          <a:bodyPr wrap="square" anchor="ctr" tIns="36576" bIns="36576">
            <a:spAutoFit/>
          </a:bodyPr>
          <a:lstStyle/>
          <a:p>
            <a:pPr algn="l"/>
            <a:r>
              <a:rPr sz="2800" b="1">
                <a:solidFill>
                  <a:srgbClr val="1F2A44"/>
                </a:solidFill>
                <a:latin typeface="Calibri"/>
              </a:rPr>
              <a:t>Blitzlicht: </a:t>
            </a:r>
            <a:r>
              <a:rPr sz="2800" b="0">
                <a:solidFill>
                  <a:srgbClr val="1F2A44"/>
                </a:solidFill>
                <a:latin typeface="Calibri"/>
              </a:rPr>
              <a:t>Was nehme ich aus dieser Stunde mit – und was fehlt mir noch?</a:t>
            </a:r>
          </a:p>
        </p:txBody>
      </p:sp>
      <p:sp>
        <p:nvSpPr>
          <p:cNvPr id="47" name="Rectangle 46"/>
          <p:cNvSpPr/>
          <p:nvPr/>
        </p:nvSpPr>
        <p:spPr>
          <a:xfrm>
            <a:off x="8138160" y="5029200"/>
            <a:ext cx="3429000" cy="1234440"/>
          </a:xfrm>
          <a:prstGeom prst="rect">
            <a:avLst/>
          </a:prstGeom>
          <a:solidFill>
            <a:srgbClr val="FFFFFF"/>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8" name="Picture 47" descr="QR-Code zur Übungsseite der Klasse"/>
          <p:cNvPicPr>
            <a:picLocks noChangeAspect="1"/>
          </p:cNvPicPr>
          <p:nvPr/>
        </p:nvPicPr>
        <p:blipFill>
          <a:blip r:embed="rId3"/>
          <a:stretch>
            <a:fillRect/>
          </a:stretch>
        </p:blipFill>
        <p:spPr>
          <a:xfrm>
            <a:off x="8229600" y="5102352"/>
            <a:ext cx="1097280" cy="1097280"/>
          </a:xfrm>
          <a:prstGeom prst="rect">
            <a:avLst/>
          </a:prstGeom>
        </p:spPr>
      </p:pic>
      <p:sp>
        <p:nvSpPr>
          <p:cNvPr id="49" name="TextBox 48"/>
          <p:cNvSpPr txBox="1"/>
          <p:nvPr/>
        </p:nvSpPr>
        <p:spPr>
          <a:xfrm>
            <a:off x="9372600" y="5029200"/>
            <a:ext cx="2194560" cy="1234440"/>
          </a:xfrm>
          <a:prstGeom prst="rect">
            <a:avLst/>
          </a:prstGeom>
          <a:noFill/>
        </p:spPr>
        <p:txBody>
          <a:bodyPr wrap="square" anchor="ctr" tIns="36576" bIns="36576">
            <a:spAutoFit/>
          </a:bodyPr>
          <a:lstStyle/>
          <a:p>
            <a:pPr algn="l"/>
            <a:r>
              <a:rPr sz="2400" b="1">
                <a:solidFill>
                  <a:srgbClr val="1F2A44"/>
                </a:solidFill>
                <a:latin typeface="Calibri"/>
              </a:rPr>
              <a:t>Danke!</a:t>
            </a:r>
          </a:p>
          <a:p>
            <a:pPr algn="l">
              <a:spcBef>
                <a:spcPts val="240"/>
              </a:spcBef>
            </a:pPr>
            <a:r>
              <a:rPr sz="2400" b="0">
                <a:solidFill>
                  <a:srgbClr val="1F2A44"/>
                </a:solidFill>
                <a:latin typeface="Calibri"/>
              </a:rPr>
              <a:t>Weiter üben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1">
                <a:solidFill>
                  <a:srgbClr val="1F2A44"/>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Titel"/>
          <p:cNvSpPr txBox="1"/>
          <p:nvPr/>
        </p:nvSpPr>
        <p:spPr>
          <a:xfrm>
            <a:off x="548640" y="530352"/>
            <a:ext cx="11155680" cy="731520"/>
          </a:xfrm>
          <a:prstGeom prst="rect">
            <a:avLst/>
          </a:prstGeom>
          <a:noFill/>
        </p:spPr>
        <p:txBody>
          <a:bodyPr wrap="square" anchor="ctr" tIns="36576" bIns="36576">
            <a:spAutoFit/>
          </a:bodyPr>
          <a:lstStyle/>
          <a:p>
            <a:pPr algn="l"/>
            <a:r>
              <a:rPr sz="3600" b="1">
                <a:solidFill>
                  <a:srgbClr val="1F2A44"/>
                </a:solidFill>
                <a:latin typeface="Calibri"/>
              </a:rPr>
              <a:t>Plan B: Stimmt oder stimmt nicht?</a:t>
            </a:r>
          </a:p>
        </p:txBody>
      </p:sp>
      <p:sp>
        <p:nvSpPr>
          <p:cNvPr id="16" name="Rectangle 15"/>
          <p:cNvSpPr/>
          <p:nvPr/>
        </p:nvSpPr>
        <p:spPr>
          <a:xfrm>
            <a:off x="640080" y="128016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1280160"/>
            <a:ext cx="548640" cy="457200"/>
          </a:xfrm>
          <a:prstGeom prst="rect">
            <a:avLst/>
          </a:prstGeom>
          <a:noFill/>
        </p:spPr>
        <p:txBody>
          <a:bodyPr wrap="square" anchor="ctr" tIns="36576" bIns="36576">
            <a:spAutoFit/>
          </a:bodyPr>
          <a:lstStyle/>
          <a:p>
            <a:pPr algn="ctr"/>
            <a:r>
              <a:rPr sz="2000" b="1">
                <a:solidFill>
                  <a:srgbClr val="1F2A44"/>
                </a:solidFill>
                <a:latin typeface="Calibri"/>
              </a:rPr>
              <a:t>1</a:t>
            </a:r>
          </a:p>
        </p:txBody>
      </p:sp>
      <p:sp>
        <p:nvSpPr>
          <p:cNvPr id="18" name="Aussage_1"/>
          <p:cNvSpPr txBox="1"/>
          <p:nvPr/>
        </p:nvSpPr>
        <p:spPr>
          <a:xfrm>
            <a:off x="1280160" y="1280160"/>
            <a:ext cx="10149840" cy="457200"/>
          </a:xfrm>
          <a:prstGeom prst="rect">
            <a:avLst/>
          </a:prstGeom>
          <a:noFill/>
        </p:spPr>
        <p:txBody>
          <a:bodyPr wrap="square" anchor="ctr" tIns="36576" bIns="36576">
            <a:spAutoFit/>
          </a:bodyPr>
          <a:lstStyle/>
          <a:p>
            <a:pPr algn="l"/>
            <a:r>
              <a:rPr sz="1800" b="1">
                <a:solidFill>
                  <a:srgbClr val="1F2A44"/>
                </a:solidFill>
                <a:latin typeface="Calibri"/>
              </a:rPr>
              <a:t>Die Probezeit darf höchstens vier Monate dauern.</a:t>
            </a:r>
          </a:p>
        </p:txBody>
      </p:sp>
      <p:sp>
        <p:nvSpPr>
          <p:cNvPr id="19" name="Rectangle 18"/>
          <p:cNvSpPr/>
          <p:nvPr/>
        </p:nvSpPr>
        <p:spPr>
          <a:xfrm>
            <a:off x="640080" y="178308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1783080"/>
            <a:ext cx="548640" cy="457200"/>
          </a:xfrm>
          <a:prstGeom prst="rect">
            <a:avLst/>
          </a:prstGeom>
          <a:noFill/>
        </p:spPr>
        <p:txBody>
          <a:bodyPr wrap="square" anchor="ctr" tIns="36576" bIns="36576">
            <a:spAutoFit/>
          </a:bodyPr>
          <a:lstStyle/>
          <a:p>
            <a:pPr algn="ctr"/>
            <a:r>
              <a:rPr sz="2000" b="1">
                <a:solidFill>
                  <a:srgbClr val="1F2A44"/>
                </a:solidFill>
                <a:latin typeface="Calibri"/>
              </a:rPr>
              <a:t>2</a:t>
            </a:r>
          </a:p>
        </p:txBody>
      </p:sp>
      <p:sp>
        <p:nvSpPr>
          <p:cNvPr id="21" name="Aussage_2"/>
          <p:cNvSpPr txBox="1"/>
          <p:nvPr/>
        </p:nvSpPr>
        <p:spPr>
          <a:xfrm>
            <a:off x="1280160" y="1783080"/>
            <a:ext cx="10149840" cy="457200"/>
          </a:xfrm>
          <a:prstGeom prst="rect">
            <a:avLst/>
          </a:prstGeom>
          <a:noFill/>
        </p:spPr>
        <p:txBody>
          <a:bodyPr wrap="square" anchor="ctr" tIns="36576" bIns="36576">
            <a:spAutoFit/>
          </a:bodyPr>
          <a:lstStyle/>
          <a:p>
            <a:pPr algn="l"/>
            <a:r>
              <a:rPr sz="1800" b="1">
                <a:solidFill>
                  <a:srgbClr val="1F2A44"/>
                </a:solidFill>
                <a:latin typeface="Calibri"/>
              </a:rPr>
              <a:t>Die Probezeit darf sechs Monate dauern, wenn der Azubi zustimmt.</a:t>
            </a:r>
          </a:p>
        </p:txBody>
      </p:sp>
      <p:sp>
        <p:nvSpPr>
          <p:cNvPr id="22" name="Rectangle 21"/>
          <p:cNvSpPr/>
          <p:nvPr/>
        </p:nvSpPr>
        <p:spPr>
          <a:xfrm>
            <a:off x="640080" y="228600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2286000"/>
            <a:ext cx="548640" cy="457200"/>
          </a:xfrm>
          <a:prstGeom prst="rect">
            <a:avLst/>
          </a:prstGeom>
          <a:noFill/>
        </p:spPr>
        <p:txBody>
          <a:bodyPr wrap="square" anchor="ctr" tIns="36576" bIns="36576">
            <a:spAutoFit/>
          </a:bodyPr>
          <a:lstStyle/>
          <a:p>
            <a:pPr algn="ctr"/>
            <a:r>
              <a:rPr sz="2000" b="1">
                <a:solidFill>
                  <a:srgbClr val="1F2A44"/>
                </a:solidFill>
                <a:latin typeface="Calibri"/>
              </a:rPr>
              <a:t>3</a:t>
            </a:r>
          </a:p>
        </p:txBody>
      </p:sp>
      <p:sp>
        <p:nvSpPr>
          <p:cNvPr id="24" name="Aussage_3"/>
          <p:cNvSpPr txBox="1"/>
          <p:nvPr/>
        </p:nvSpPr>
        <p:spPr>
          <a:xfrm>
            <a:off x="1280160" y="2286000"/>
            <a:ext cx="10149840" cy="457200"/>
          </a:xfrm>
          <a:prstGeom prst="rect">
            <a:avLst/>
          </a:prstGeom>
          <a:noFill/>
        </p:spPr>
        <p:txBody>
          <a:bodyPr wrap="square" anchor="ctr" tIns="36576" bIns="36576">
            <a:spAutoFit/>
          </a:bodyPr>
          <a:lstStyle/>
          <a:p>
            <a:pPr algn="l"/>
            <a:r>
              <a:rPr sz="1800" b="1">
                <a:solidFill>
                  <a:srgbClr val="1F2A44"/>
                </a:solidFill>
                <a:latin typeface="Calibri"/>
              </a:rPr>
              <a:t>In der Probezeit kann der Azubi jederzeit ohne Frist kündigen.</a:t>
            </a:r>
          </a:p>
        </p:txBody>
      </p:sp>
      <p:sp>
        <p:nvSpPr>
          <p:cNvPr id="25" name="Rectangle 24"/>
          <p:cNvSpPr/>
          <p:nvPr/>
        </p:nvSpPr>
        <p:spPr>
          <a:xfrm>
            <a:off x="640080" y="278892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788920"/>
            <a:ext cx="548640" cy="457200"/>
          </a:xfrm>
          <a:prstGeom prst="rect">
            <a:avLst/>
          </a:prstGeom>
          <a:noFill/>
        </p:spPr>
        <p:txBody>
          <a:bodyPr wrap="square" anchor="ctr" tIns="36576" bIns="36576">
            <a:spAutoFit/>
          </a:bodyPr>
          <a:lstStyle/>
          <a:p>
            <a:pPr algn="ctr"/>
            <a:r>
              <a:rPr sz="2000" b="1">
                <a:solidFill>
                  <a:srgbClr val="1F2A44"/>
                </a:solidFill>
                <a:latin typeface="Calibri"/>
              </a:rPr>
              <a:t>4</a:t>
            </a:r>
          </a:p>
        </p:txBody>
      </p:sp>
      <p:sp>
        <p:nvSpPr>
          <p:cNvPr id="27" name="Aussage_4"/>
          <p:cNvSpPr txBox="1"/>
          <p:nvPr/>
        </p:nvSpPr>
        <p:spPr>
          <a:xfrm>
            <a:off x="1280160" y="2788920"/>
            <a:ext cx="10149840" cy="457200"/>
          </a:xfrm>
          <a:prstGeom prst="rect">
            <a:avLst/>
          </a:prstGeom>
          <a:noFill/>
        </p:spPr>
        <p:txBody>
          <a:bodyPr wrap="square" anchor="ctr" tIns="36576" bIns="36576">
            <a:spAutoFit/>
          </a:bodyPr>
          <a:lstStyle/>
          <a:p>
            <a:pPr algn="l"/>
            <a:r>
              <a:rPr sz="1800" b="1">
                <a:solidFill>
                  <a:srgbClr val="1F2A44"/>
                </a:solidFill>
                <a:latin typeface="Calibri"/>
              </a:rPr>
              <a:t>Nach der Probezeit darf der Azubi mit vier Wochen Frist kündigen, wenn er den Beruf wechseln will.</a:t>
            </a:r>
          </a:p>
        </p:txBody>
      </p:sp>
      <p:sp>
        <p:nvSpPr>
          <p:cNvPr id="28" name="Rectangle 27"/>
          <p:cNvSpPr/>
          <p:nvPr/>
        </p:nvSpPr>
        <p:spPr>
          <a:xfrm>
            <a:off x="640080" y="329184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3291840"/>
            <a:ext cx="548640" cy="457200"/>
          </a:xfrm>
          <a:prstGeom prst="rect">
            <a:avLst/>
          </a:prstGeom>
          <a:noFill/>
        </p:spPr>
        <p:txBody>
          <a:bodyPr wrap="square" anchor="ctr" tIns="36576" bIns="36576">
            <a:spAutoFit/>
          </a:bodyPr>
          <a:lstStyle/>
          <a:p>
            <a:pPr algn="ctr"/>
            <a:r>
              <a:rPr sz="2000" b="1">
                <a:solidFill>
                  <a:srgbClr val="1F2A44"/>
                </a:solidFill>
                <a:latin typeface="Calibri"/>
              </a:rPr>
              <a:t>5</a:t>
            </a:r>
          </a:p>
        </p:txBody>
      </p:sp>
      <p:sp>
        <p:nvSpPr>
          <p:cNvPr id="30" name="Aussage_5"/>
          <p:cNvSpPr txBox="1"/>
          <p:nvPr/>
        </p:nvSpPr>
        <p:spPr>
          <a:xfrm>
            <a:off x="1280160" y="3291840"/>
            <a:ext cx="10149840" cy="457200"/>
          </a:xfrm>
          <a:prstGeom prst="rect">
            <a:avLst/>
          </a:prstGeom>
          <a:noFill/>
        </p:spPr>
        <p:txBody>
          <a:bodyPr wrap="square" anchor="ctr" tIns="36576" bIns="36576">
            <a:spAutoFit/>
          </a:bodyPr>
          <a:lstStyle/>
          <a:p>
            <a:pPr algn="l"/>
            <a:r>
              <a:rPr sz="1800" b="1">
                <a:solidFill>
                  <a:srgbClr val="1F2A44"/>
                </a:solidFill>
                <a:latin typeface="Calibri"/>
              </a:rPr>
              <a:t>Eine Kündigung per E-Mail ist wirksam, wenn sie rechtzeitig ankommt.</a:t>
            </a:r>
          </a:p>
        </p:txBody>
      </p:sp>
      <p:sp>
        <p:nvSpPr>
          <p:cNvPr id="31" name="Rectangle 30"/>
          <p:cNvSpPr/>
          <p:nvPr/>
        </p:nvSpPr>
        <p:spPr>
          <a:xfrm>
            <a:off x="640080" y="379476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85800" y="3794760"/>
            <a:ext cx="548640" cy="457200"/>
          </a:xfrm>
          <a:prstGeom prst="rect">
            <a:avLst/>
          </a:prstGeom>
          <a:noFill/>
        </p:spPr>
        <p:txBody>
          <a:bodyPr wrap="square" anchor="ctr" tIns="36576" bIns="36576">
            <a:spAutoFit/>
          </a:bodyPr>
          <a:lstStyle/>
          <a:p>
            <a:pPr algn="ctr"/>
            <a:r>
              <a:rPr sz="2000" b="1">
                <a:solidFill>
                  <a:srgbClr val="1F2A44"/>
                </a:solidFill>
                <a:latin typeface="Calibri"/>
              </a:rPr>
              <a:t>6</a:t>
            </a:r>
          </a:p>
        </p:txBody>
      </p:sp>
      <p:sp>
        <p:nvSpPr>
          <p:cNvPr id="33" name="Aussage_6"/>
          <p:cNvSpPr txBox="1"/>
          <p:nvPr/>
        </p:nvSpPr>
        <p:spPr>
          <a:xfrm>
            <a:off x="1280160" y="3794760"/>
            <a:ext cx="10149840" cy="457200"/>
          </a:xfrm>
          <a:prstGeom prst="rect">
            <a:avLst/>
          </a:prstGeom>
          <a:noFill/>
        </p:spPr>
        <p:txBody>
          <a:bodyPr wrap="square" anchor="ctr" tIns="36576" bIns="36576">
            <a:spAutoFit/>
          </a:bodyPr>
          <a:lstStyle/>
          <a:p>
            <a:pPr algn="l"/>
            <a:r>
              <a:rPr sz="1800" b="1">
                <a:solidFill>
                  <a:srgbClr val="1F2A44"/>
                </a:solidFill>
                <a:latin typeface="Calibri"/>
              </a:rPr>
              <a:t>Die Mindestausbildungsvergütung im 1. Jahr beträgt bei Beginn 2026 724 €.</a:t>
            </a:r>
          </a:p>
        </p:txBody>
      </p:sp>
      <p:sp>
        <p:nvSpPr>
          <p:cNvPr id="34" name="Rectangle 33"/>
          <p:cNvSpPr/>
          <p:nvPr/>
        </p:nvSpPr>
        <p:spPr>
          <a:xfrm>
            <a:off x="640080" y="429768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5800" y="4297680"/>
            <a:ext cx="548640" cy="457200"/>
          </a:xfrm>
          <a:prstGeom prst="rect">
            <a:avLst/>
          </a:prstGeom>
          <a:noFill/>
        </p:spPr>
        <p:txBody>
          <a:bodyPr wrap="square" anchor="ctr" tIns="36576" bIns="36576">
            <a:spAutoFit/>
          </a:bodyPr>
          <a:lstStyle/>
          <a:p>
            <a:pPr algn="ctr"/>
            <a:r>
              <a:rPr sz="2000" b="1">
                <a:solidFill>
                  <a:srgbClr val="1F2A44"/>
                </a:solidFill>
                <a:latin typeface="Calibri"/>
              </a:rPr>
              <a:t>7</a:t>
            </a:r>
          </a:p>
        </p:txBody>
      </p:sp>
      <p:sp>
        <p:nvSpPr>
          <p:cNvPr id="36" name="Aussage_7"/>
          <p:cNvSpPr txBox="1"/>
          <p:nvPr/>
        </p:nvSpPr>
        <p:spPr>
          <a:xfrm>
            <a:off x="1280160" y="4297680"/>
            <a:ext cx="10149840" cy="457200"/>
          </a:xfrm>
          <a:prstGeom prst="rect">
            <a:avLst/>
          </a:prstGeom>
          <a:noFill/>
        </p:spPr>
        <p:txBody>
          <a:bodyPr wrap="square" anchor="ctr" tIns="36576" bIns="36576">
            <a:spAutoFit/>
          </a:bodyPr>
          <a:lstStyle/>
          <a:p>
            <a:pPr algn="l"/>
            <a:r>
              <a:rPr sz="1800" b="1">
                <a:solidFill>
                  <a:srgbClr val="1F2A44"/>
                </a:solidFill>
                <a:latin typeface="Calibri"/>
              </a:rPr>
              <a:t>Ein volljähriger Azubi hat mindestens 24 Werktage Urlaub.</a:t>
            </a:r>
          </a:p>
        </p:txBody>
      </p:sp>
      <p:sp>
        <p:nvSpPr>
          <p:cNvPr id="37" name="Rectangle 36"/>
          <p:cNvSpPr/>
          <p:nvPr/>
        </p:nvSpPr>
        <p:spPr>
          <a:xfrm>
            <a:off x="640080" y="480060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800600"/>
            <a:ext cx="548640" cy="457200"/>
          </a:xfrm>
          <a:prstGeom prst="rect">
            <a:avLst/>
          </a:prstGeom>
          <a:noFill/>
        </p:spPr>
        <p:txBody>
          <a:bodyPr wrap="square" anchor="ctr" tIns="36576" bIns="36576">
            <a:spAutoFit/>
          </a:bodyPr>
          <a:lstStyle/>
          <a:p>
            <a:pPr algn="ctr"/>
            <a:r>
              <a:rPr sz="2000" b="1">
                <a:solidFill>
                  <a:srgbClr val="1F2A44"/>
                </a:solidFill>
                <a:latin typeface="Calibri"/>
              </a:rPr>
              <a:t>8</a:t>
            </a:r>
          </a:p>
        </p:txBody>
      </p:sp>
      <p:sp>
        <p:nvSpPr>
          <p:cNvPr id="39" name="Aussage_8"/>
          <p:cNvSpPr txBox="1"/>
          <p:nvPr/>
        </p:nvSpPr>
        <p:spPr>
          <a:xfrm>
            <a:off x="1280160" y="4800600"/>
            <a:ext cx="10149840" cy="457200"/>
          </a:xfrm>
          <a:prstGeom prst="rect">
            <a:avLst/>
          </a:prstGeom>
          <a:noFill/>
        </p:spPr>
        <p:txBody>
          <a:bodyPr wrap="square" anchor="ctr" tIns="36576" bIns="36576">
            <a:spAutoFit/>
          </a:bodyPr>
          <a:lstStyle/>
          <a:p>
            <a:pPr algn="l"/>
            <a:r>
              <a:rPr sz="1800" b="1">
                <a:solidFill>
                  <a:srgbClr val="1F2A44"/>
                </a:solidFill>
                <a:latin typeface="Calibri"/>
              </a:rPr>
              <a:t>Werktage sind nur Montag bis Freitag.</a:t>
            </a:r>
          </a:p>
        </p:txBody>
      </p:sp>
      <p:sp>
        <p:nvSpPr>
          <p:cNvPr id="40" name="Rectangle 39"/>
          <p:cNvSpPr/>
          <p:nvPr/>
        </p:nvSpPr>
        <p:spPr>
          <a:xfrm>
            <a:off x="640080" y="530352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303520"/>
            <a:ext cx="548640" cy="457200"/>
          </a:xfrm>
          <a:prstGeom prst="rect">
            <a:avLst/>
          </a:prstGeom>
          <a:noFill/>
        </p:spPr>
        <p:txBody>
          <a:bodyPr wrap="square" anchor="ctr" tIns="36576" bIns="36576">
            <a:spAutoFit/>
          </a:bodyPr>
          <a:lstStyle/>
          <a:p>
            <a:pPr algn="ctr"/>
            <a:r>
              <a:rPr sz="2000" b="1">
                <a:solidFill>
                  <a:srgbClr val="1F2A44"/>
                </a:solidFill>
                <a:latin typeface="Calibri"/>
              </a:rPr>
              <a:t>9</a:t>
            </a:r>
          </a:p>
        </p:txBody>
      </p:sp>
      <p:sp>
        <p:nvSpPr>
          <p:cNvPr id="42" name="Aussage_9"/>
          <p:cNvSpPr txBox="1"/>
          <p:nvPr/>
        </p:nvSpPr>
        <p:spPr>
          <a:xfrm>
            <a:off x="1280160" y="5303520"/>
            <a:ext cx="10149840" cy="457200"/>
          </a:xfrm>
          <a:prstGeom prst="rect">
            <a:avLst/>
          </a:prstGeom>
          <a:noFill/>
        </p:spPr>
        <p:txBody>
          <a:bodyPr wrap="square" anchor="ctr" tIns="36576" bIns="36576">
            <a:spAutoFit/>
          </a:bodyPr>
          <a:lstStyle/>
          <a:p>
            <a:pPr algn="l"/>
            <a:r>
              <a:rPr sz="1800" b="1">
                <a:solidFill>
                  <a:srgbClr val="1F2A44"/>
                </a:solidFill>
                <a:latin typeface="Calibri"/>
              </a:rPr>
              <a:t>Jugendliche dürfen täglich bis zu 10 Stunden arbeiten.</a:t>
            </a:r>
          </a:p>
        </p:txBody>
      </p:sp>
      <p:sp>
        <p:nvSpPr>
          <p:cNvPr id="43" name="Rectangle 42"/>
          <p:cNvSpPr/>
          <p:nvPr/>
        </p:nvSpPr>
        <p:spPr>
          <a:xfrm>
            <a:off x="640080" y="580644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5806440"/>
            <a:ext cx="548640" cy="457200"/>
          </a:xfrm>
          <a:prstGeom prst="rect">
            <a:avLst/>
          </a:prstGeom>
          <a:noFill/>
        </p:spPr>
        <p:txBody>
          <a:bodyPr wrap="square" anchor="ctr" tIns="36576" bIns="36576">
            <a:spAutoFit/>
          </a:bodyPr>
          <a:lstStyle/>
          <a:p>
            <a:pPr algn="ctr"/>
            <a:r>
              <a:rPr sz="2000" b="1">
                <a:solidFill>
                  <a:srgbClr val="1F2A44"/>
                </a:solidFill>
                <a:latin typeface="Calibri"/>
              </a:rPr>
              <a:t>10</a:t>
            </a:r>
          </a:p>
        </p:txBody>
      </p:sp>
      <p:sp>
        <p:nvSpPr>
          <p:cNvPr id="45" name="Aussage_10"/>
          <p:cNvSpPr txBox="1"/>
          <p:nvPr/>
        </p:nvSpPr>
        <p:spPr>
          <a:xfrm>
            <a:off x="1280160" y="5806440"/>
            <a:ext cx="10149840" cy="457200"/>
          </a:xfrm>
          <a:prstGeom prst="rect">
            <a:avLst/>
          </a:prstGeom>
          <a:noFill/>
        </p:spPr>
        <p:txBody>
          <a:bodyPr wrap="square" anchor="ctr" tIns="36576" bIns="36576">
            <a:spAutoFit/>
          </a:bodyPr>
          <a:lstStyle/>
          <a:p>
            <a:pPr algn="l"/>
            <a:r>
              <a:rPr sz="1800" b="1">
                <a:solidFill>
                  <a:srgbClr val="1F2A44"/>
                </a:solidFill>
                <a:latin typeface="Calibri"/>
              </a:rPr>
              <a:t>Der Betrieb muss den Azubi am Arbeitstag vor der schriftlichen Abschlussprüfung freistellen.</a:t>
            </a:r>
          </a:p>
        </p:txBody>
      </p:sp>
      <p:sp>
        <p:nvSpPr>
          <p:cNvPr id="46" name="TextBox 45"/>
          <p:cNvSpPr txBox="1"/>
          <p:nvPr/>
        </p:nvSpPr>
        <p:spPr>
          <a:xfrm>
            <a:off x="640080" y="6355080"/>
            <a:ext cx="10881360" cy="411480"/>
          </a:xfrm>
          <a:prstGeom prst="rect">
            <a:avLst/>
          </a:prstGeom>
          <a:noFill/>
        </p:spPr>
        <p:txBody>
          <a:bodyPr wrap="square" anchor="t" tIns="36576" bIns="36576">
            <a:spAutoFit/>
          </a:bodyPr>
          <a:lstStyle/>
          <a:p>
            <a:pPr algn="l"/>
            <a:r>
              <a:rPr sz="2400" b="1">
                <a:solidFill>
                  <a:srgbClr val="1F2A44"/>
                </a:solidFill>
                <a:latin typeface="Calibri"/>
              </a:rPr>
              <a:t>Daumen hoch = Stimmt · Daumen runter = Stimmt nicht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1">
                <a:solidFill>
                  <a:srgbClr val="1F2A44"/>
                </a:solidFill>
                <a:latin typeface="Calibri"/>
              </a:rPr>
              <a:t>Aufgaben</a:t>
            </a:r>
          </a:p>
        </p:txBody>
      </p:sp>
      <p:sp>
        <p:nvSpPr>
          <p:cNvPr id="11" name="Rectangle 10"/>
          <p:cNvSpPr/>
          <p:nvPr/>
        </p:nvSpPr>
        <p:spPr>
          <a:xfrm>
            <a:off x="7227933" y="0"/>
            <a:ext cx="2002921"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7"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Plan B: Lösungen</a:t>
            </a:r>
          </a:p>
        </p:txBody>
      </p:sp>
      <p:sp>
        <p:nvSpPr>
          <p:cNvPr id="18" name="Rectangle 17"/>
          <p:cNvSpPr/>
          <p:nvPr/>
        </p:nvSpPr>
        <p:spPr>
          <a:xfrm>
            <a:off x="640080" y="128016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1280160"/>
            <a:ext cx="548640" cy="457200"/>
          </a:xfrm>
          <a:prstGeom prst="rect">
            <a:avLst/>
          </a:prstGeom>
          <a:noFill/>
        </p:spPr>
        <p:txBody>
          <a:bodyPr wrap="square" anchor="ctr" tIns="36576" bIns="36576">
            <a:spAutoFit/>
          </a:bodyPr>
          <a:lstStyle/>
          <a:p>
            <a:pPr algn="ctr"/>
            <a:r>
              <a:rPr sz="2000" b="1">
                <a:solidFill>
                  <a:srgbClr val="1F2A44"/>
                </a:solidFill>
                <a:latin typeface="Calibri"/>
              </a:rPr>
              <a:t>1</a:t>
            </a:r>
          </a:p>
        </p:txBody>
      </p:sp>
      <p:sp>
        <p:nvSpPr>
          <p:cNvPr id="20" name="TextBox 19"/>
          <p:cNvSpPr txBox="1"/>
          <p:nvPr/>
        </p:nvSpPr>
        <p:spPr>
          <a:xfrm>
            <a:off x="1280160" y="1280160"/>
            <a:ext cx="10149840" cy="457200"/>
          </a:xfrm>
          <a:prstGeom prst="rect">
            <a:avLst/>
          </a:prstGeom>
          <a:noFill/>
        </p:spPr>
        <p:txBody>
          <a:bodyPr wrap="square" anchor="ctr" tIns="36576" bIns="36576">
            <a:spAutoFit/>
          </a:bodyPr>
          <a:lstStyle/>
          <a:p>
            <a:pPr algn="l"/>
            <a:r>
              <a:rPr sz="1800" b="1">
                <a:solidFill>
                  <a:srgbClr val="1E7B4F"/>
                </a:solidFill>
                <a:latin typeface="Calibri"/>
              </a:rPr>
              <a:t>✓ Stimmt – </a:t>
            </a:r>
            <a:r>
              <a:rPr sz="1800" b="0">
                <a:solidFill>
                  <a:srgbClr val="1F2A44"/>
                </a:solidFill>
                <a:latin typeface="Calibri"/>
              </a:rPr>
              <a:t>§ 20 BBiG</a:t>
            </a:r>
          </a:p>
        </p:txBody>
      </p:sp>
      <p:sp>
        <p:nvSpPr>
          <p:cNvPr id="21" name="Rectangle 20"/>
          <p:cNvSpPr/>
          <p:nvPr/>
        </p:nvSpPr>
        <p:spPr>
          <a:xfrm>
            <a:off x="640080" y="178308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1783080"/>
            <a:ext cx="548640" cy="457200"/>
          </a:xfrm>
          <a:prstGeom prst="rect">
            <a:avLst/>
          </a:prstGeom>
          <a:noFill/>
        </p:spPr>
        <p:txBody>
          <a:bodyPr wrap="square" anchor="ctr" tIns="36576" bIns="36576">
            <a:spAutoFit/>
          </a:bodyPr>
          <a:lstStyle/>
          <a:p>
            <a:pPr algn="ctr"/>
            <a:r>
              <a:rPr sz="2000" b="1">
                <a:solidFill>
                  <a:srgbClr val="1F2A44"/>
                </a:solidFill>
                <a:latin typeface="Calibri"/>
              </a:rPr>
              <a:t>2</a:t>
            </a:r>
          </a:p>
        </p:txBody>
      </p:sp>
      <p:sp>
        <p:nvSpPr>
          <p:cNvPr id="23" name="TextBox 22"/>
          <p:cNvSpPr txBox="1"/>
          <p:nvPr/>
        </p:nvSpPr>
        <p:spPr>
          <a:xfrm>
            <a:off x="1280160" y="1783080"/>
            <a:ext cx="10149840" cy="457200"/>
          </a:xfrm>
          <a:prstGeom prst="rect">
            <a:avLst/>
          </a:prstGeom>
          <a:noFill/>
        </p:spPr>
        <p:txBody>
          <a:bodyPr wrap="square" anchor="ctr" tIns="36576" bIns="36576">
            <a:spAutoFit/>
          </a:bodyPr>
          <a:lstStyle/>
          <a:p>
            <a:pPr algn="l"/>
            <a:r>
              <a:rPr sz="1800" b="1">
                <a:solidFill>
                  <a:srgbClr val="B3261E"/>
                </a:solidFill>
                <a:latin typeface="Calibri"/>
              </a:rPr>
              <a:t>✗ Stimmt nicht – </a:t>
            </a:r>
            <a:r>
              <a:rPr sz="1800" b="0">
                <a:solidFill>
                  <a:srgbClr val="1F2A44"/>
                </a:solidFill>
                <a:latin typeface="Calibri"/>
              </a:rPr>
              <a:t>höchstens vier Monate (§ 20 BBiG)</a:t>
            </a:r>
          </a:p>
        </p:txBody>
      </p:sp>
      <p:sp>
        <p:nvSpPr>
          <p:cNvPr id="24" name="Rectangle 23"/>
          <p:cNvSpPr/>
          <p:nvPr/>
        </p:nvSpPr>
        <p:spPr>
          <a:xfrm>
            <a:off x="640080" y="228600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2286000"/>
            <a:ext cx="548640" cy="457200"/>
          </a:xfrm>
          <a:prstGeom prst="rect">
            <a:avLst/>
          </a:prstGeom>
          <a:noFill/>
        </p:spPr>
        <p:txBody>
          <a:bodyPr wrap="square" anchor="ctr" tIns="36576" bIns="36576">
            <a:spAutoFit/>
          </a:bodyPr>
          <a:lstStyle/>
          <a:p>
            <a:pPr algn="ctr"/>
            <a:r>
              <a:rPr sz="2000" b="1">
                <a:solidFill>
                  <a:srgbClr val="1F2A44"/>
                </a:solidFill>
                <a:latin typeface="Calibri"/>
              </a:rPr>
              <a:t>3</a:t>
            </a:r>
          </a:p>
        </p:txBody>
      </p:sp>
      <p:sp>
        <p:nvSpPr>
          <p:cNvPr id="26" name="TextBox 25"/>
          <p:cNvSpPr txBox="1"/>
          <p:nvPr/>
        </p:nvSpPr>
        <p:spPr>
          <a:xfrm>
            <a:off x="1280160" y="2286000"/>
            <a:ext cx="10149840" cy="457200"/>
          </a:xfrm>
          <a:prstGeom prst="rect">
            <a:avLst/>
          </a:prstGeom>
          <a:noFill/>
        </p:spPr>
        <p:txBody>
          <a:bodyPr wrap="square" anchor="ctr" tIns="36576" bIns="36576">
            <a:spAutoFit/>
          </a:bodyPr>
          <a:lstStyle/>
          <a:p>
            <a:pPr algn="l"/>
            <a:r>
              <a:rPr sz="1800" b="1">
                <a:solidFill>
                  <a:srgbClr val="1E7B4F"/>
                </a:solidFill>
                <a:latin typeface="Calibri"/>
              </a:rPr>
              <a:t>✓ Stimmt – </a:t>
            </a:r>
            <a:r>
              <a:rPr sz="1800" b="0">
                <a:solidFill>
                  <a:srgbClr val="1F2A44"/>
                </a:solidFill>
                <a:latin typeface="Calibri"/>
              </a:rPr>
              <a:t>§ 22 Abs. 1 BBiG</a:t>
            </a:r>
          </a:p>
        </p:txBody>
      </p:sp>
      <p:sp>
        <p:nvSpPr>
          <p:cNvPr id="27" name="Rectangle 26"/>
          <p:cNvSpPr/>
          <p:nvPr/>
        </p:nvSpPr>
        <p:spPr>
          <a:xfrm>
            <a:off x="640080" y="278892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2788920"/>
            <a:ext cx="548640" cy="457200"/>
          </a:xfrm>
          <a:prstGeom prst="rect">
            <a:avLst/>
          </a:prstGeom>
          <a:noFill/>
        </p:spPr>
        <p:txBody>
          <a:bodyPr wrap="square" anchor="ctr" tIns="36576" bIns="36576">
            <a:spAutoFit/>
          </a:bodyPr>
          <a:lstStyle/>
          <a:p>
            <a:pPr algn="ctr"/>
            <a:r>
              <a:rPr sz="2000" b="1">
                <a:solidFill>
                  <a:srgbClr val="1F2A44"/>
                </a:solidFill>
                <a:latin typeface="Calibri"/>
              </a:rPr>
              <a:t>4</a:t>
            </a:r>
          </a:p>
        </p:txBody>
      </p:sp>
      <p:sp>
        <p:nvSpPr>
          <p:cNvPr id="29" name="TextBox 28"/>
          <p:cNvSpPr txBox="1"/>
          <p:nvPr/>
        </p:nvSpPr>
        <p:spPr>
          <a:xfrm>
            <a:off x="1280160" y="2788920"/>
            <a:ext cx="10149840" cy="457200"/>
          </a:xfrm>
          <a:prstGeom prst="rect">
            <a:avLst/>
          </a:prstGeom>
          <a:noFill/>
        </p:spPr>
        <p:txBody>
          <a:bodyPr wrap="square" anchor="ctr" tIns="36576" bIns="36576">
            <a:spAutoFit/>
          </a:bodyPr>
          <a:lstStyle/>
          <a:p>
            <a:pPr algn="l"/>
            <a:r>
              <a:rPr sz="1800" b="1">
                <a:solidFill>
                  <a:srgbClr val="1E7B4F"/>
                </a:solidFill>
                <a:latin typeface="Calibri"/>
              </a:rPr>
              <a:t>✓ Stimmt – </a:t>
            </a:r>
            <a:r>
              <a:rPr sz="1800" b="0">
                <a:solidFill>
                  <a:srgbClr val="1F2A44"/>
                </a:solidFill>
                <a:latin typeface="Calibri"/>
              </a:rPr>
              <a:t>§ 22 Abs. 2 BBiG</a:t>
            </a:r>
          </a:p>
        </p:txBody>
      </p:sp>
      <p:sp>
        <p:nvSpPr>
          <p:cNvPr id="30" name="Rectangle 29"/>
          <p:cNvSpPr/>
          <p:nvPr/>
        </p:nvSpPr>
        <p:spPr>
          <a:xfrm>
            <a:off x="640080" y="329184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3291840"/>
            <a:ext cx="548640" cy="457200"/>
          </a:xfrm>
          <a:prstGeom prst="rect">
            <a:avLst/>
          </a:prstGeom>
          <a:noFill/>
        </p:spPr>
        <p:txBody>
          <a:bodyPr wrap="square" anchor="ctr" tIns="36576" bIns="36576">
            <a:spAutoFit/>
          </a:bodyPr>
          <a:lstStyle/>
          <a:p>
            <a:pPr algn="ctr"/>
            <a:r>
              <a:rPr sz="2000" b="1">
                <a:solidFill>
                  <a:srgbClr val="1F2A44"/>
                </a:solidFill>
                <a:latin typeface="Calibri"/>
              </a:rPr>
              <a:t>5</a:t>
            </a:r>
          </a:p>
        </p:txBody>
      </p:sp>
      <p:sp>
        <p:nvSpPr>
          <p:cNvPr id="32" name="TextBox 31"/>
          <p:cNvSpPr txBox="1"/>
          <p:nvPr/>
        </p:nvSpPr>
        <p:spPr>
          <a:xfrm>
            <a:off x="1280160" y="3291840"/>
            <a:ext cx="10149840" cy="457200"/>
          </a:xfrm>
          <a:prstGeom prst="rect">
            <a:avLst/>
          </a:prstGeom>
          <a:noFill/>
        </p:spPr>
        <p:txBody>
          <a:bodyPr wrap="square" anchor="ctr" tIns="36576" bIns="36576">
            <a:spAutoFit/>
          </a:bodyPr>
          <a:lstStyle/>
          <a:p>
            <a:pPr algn="l"/>
            <a:r>
              <a:rPr sz="1800" b="1">
                <a:solidFill>
                  <a:srgbClr val="B3261E"/>
                </a:solidFill>
                <a:latin typeface="Calibri"/>
              </a:rPr>
              <a:t>✗ Stimmt nicht – </a:t>
            </a:r>
            <a:r>
              <a:rPr sz="1800" b="0">
                <a:solidFill>
                  <a:srgbClr val="1F2A44"/>
                </a:solidFill>
                <a:latin typeface="Calibri"/>
              </a:rPr>
              <a:t>Sie muss schriftlich erfolgen, die elektronische Form ist ausgeschlossen (§ 22 Abs. 3 BBiG)</a:t>
            </a:r>
          </a:p>
        </p:txBody>
      </p:sp>
      <p:sp>
        <p:nvSpPr>
          <p:cNvPr id="33" name="Rectangle 32"/>
          <p:cNvSpPr/>
          <p:nvPr/>
        </p:nvSpPr>
        <p:spPr>
          <a:xfrm>
            <a:off x="640080" y="379476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794760"/>
            <a:ext cx="548640" cy="457200"/>
          </a:xfrm>
          <a:prstGeom prst="rect">
            <a:avLst/>
          </a:prstGeom>
          <a:noFill/>
        </p:spPr>
        <p:txBody>
          <a:bodyPr wrap="square" anchor="ctr" tIns="36576" bIns="36576">
            <a:spAutoFit/>
          </a:bodyPr>
          <a:lstStyle/>
          <a:p>
            <a:pPr algn="ctr"/>
            <a:r>
              <a:rPr sz="2000" b="1">
                <a:solidFill>
                  <a:srgbClr val="1F2A44"/>
                </a:solidFill>
                <a:latin typeface="Calibri"/>
              </a:rPr>
              <a:t>6</a:t>
            </a:r>
          </a:p>
        </p:txBody>
      </p:sp>
      <p:sp>
        <p:nvSpPr>
          <p:cNvPr id="35" name="TextBox 34"/>
          <p:cNvSpPr txBox="1"/>
          <p:nvPr/>
        </p:nvSpPr>
        <p:spPr>
          <a:xfrm>
            <a:off x="1280160" y="3794760"/>
            <a:ext cx="10149840" cy="457200"/>
          </a:xfrm>
          <a:prstGeom prst="rect">
            <a:avLst/>
          </a:prstGeom>
          <a:noFill/>
        </p:spPr>
        <p:txBody>
          <a:bodyPr wrap="square" anchor="ctr" tIns="36576" bIns="36576">
            <a:spAutoFit/>
          </a:bodyPr>
          <a:lstStyle/>
          <a:p>
            <a:pPr algn="l"/>
            <a:r>
              <a:rPr sz="1800" b="1">
                <a:solidFill>
                  <a:srgbClr val="1E7B4F"/>
                </a:solidFill>
                <a:latin typeface="Calibri"/>
              </a:rPr>
              <a:t>✓ Stimmt – </a:t>
            </a:r>
            <a:r>
              <a:rPr sz="1800" b="0">
                <a:solidFill>
                  <a:srgbClr val="1F2A44"/>
                </a:solidFill>
                <a:latin typeface="Calibri"/>
              </a:rPr>
              <a:t>§ 17 BBiG</a:t>
            </a:r>
          </a:p>
        </p:txBody>
      </p:sp>
      <p:sp>
        <p:nvSpPr>
          <p:cNvPr id="36" name="Rectangle 35"/>
          <p:cNvSpPr/>
          <p:nvPr/>
        </p:nvSpPr>
        <p:spPr>
          <a:xfrm>
            <a:off x="640080" y="429768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4297680"/>
            <a:ext cx="548640" cy="457200"/>
          </a:xfrm>
          <a:prstGeom prst="rect">
            <a:avLst/>
          </a:prstGeom>
          <a:noFill/>
        </p:spPr>
        <p:txBody>
          <a:bodyPr wrap="square" anchor="ctr" tIns="36576" bIns="36576">
            <a:spAutoFit/>
          </a:bodyPr>
          <a:lstStyle/>
          <a:p>
            <a:pPr algn="ctr"/>
            <a:r>
              <a:rPr sz="2000" b="1">
                <a:solidFill>
                  <a:srgbClr val="1F2A44"/>
                </a:solidFill>
                <a:latin typeface="Calibri"/>
              </a:rPr>
              <a:t>7</a:t>
            </a:r>
          </a:p>
        </p:txBody>
      </p:sp>
      <p:sp>
        <p:nvSpPr>
          <p:cNvPr id="38" name="TextBox 37"/>
          <p:cNvSpPr txBox="1"/>
          <p:nvPr/>
        </p:nvSpPr>
        <p:spPr>
          <a:xfrm>
            <a:off x="1280160" y="4297680"/>
            <a:ext cx="10149840" cy="457200"/>
          </a:xfrm>
          <a:prstGeom prst="rect">
            <a:avLst/>
          </a:prstGeom>
          <a:noFill/>
        </p:spPr>
        <p:txBody>
          <a:bodyPr wrap="square" anchor="ctr" tIns="36576" bIns="36576">
            <a:spAutoFit/>
          </a:bodyPr>
          <a:lstStyle/>
          <a:p>
            <a:pPr algn="l"/>
            <a:r>
              <a:rPr sz="1800" b="1">
                <a:solidFill>
                  <a:srgbClr val="1E7B4F"/>
                </a:solidFill>
                <a:latin typeface="Calibri"/>
              </a:rPr>
              <a:t>✓ Stimmt – </a:t>
            </a:r>
            <a:r>
              <a:rPr sz="1800" b="0">
                <a:solidFill>
                  <a:srgbClr val="1F2A44"/>
                </a:solidFill>
                <a:latin typeface="Calibri"/>
              </a:rPr>
              <a:t>§ 3 BUrlG</a:t>
            </a:r>
          </a:p>
        </p:txBody>
      </p:sp>
      <p:sp>
        <p:nvSpPr>
          <p:cNvPr id="39" name="Rectangle 38"/>
          <p:cNvSpPr/>
          <p:nvPr/>
        </p:nvSpPr>
        <p:spPr>
          <a:xfrm>
            <a:off x="640080" y="480060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5800" y="4800600"/>
            <a:ext cx="548640" cy="457200"/>
          </a:xfrm>
          <a:prstGeom prst="rect">
            <a:avLst/>
          </a:prstGeom>
          <a:noFill/>
        </p:spPr>
        <p:txBody>
          <a:bodyPr wrap="square" anchor="ctr" tIns="36576" bIns="36576">
            <a:spAutoFit/>
          </a:bodyPr>
          <a:lstStyle/>
          <a:p>
            <a:pPr algn="ctr"/>
            <a:r>
              <a:rPr sz="2000" b="1">
                <a:solidFill>
                  <a:srgbClr val="1F2A44"/>
                </a:solidFill>
                <a:latin typeface="Calibri"/>
              </a:rPr>
              <a:t>8</a:t>
            </a:r>
          </a:p>
        </p:txBody>
      </p:sp>
      <p:sp>
        <p:nvSpPr>
          <p:cNvPr id="41" name="TextBox 40"/>
          <p:cNvSpPr txBox="1"/>
          <p:nvPr/>
        </p:nvSpPr>
        <p:spPr>
          <a:xfrm>
            <a:off x="1280160" y="4800600"/>
            <a:ext cx="10149840" cy="457200"/>
          </a:xfrm>
          <a:prstGeom prst="rect">
            <a:avLst/>
          </a:prstGeom>
          <a:noFill/>
        </p:spPr>
        <p:txBody>
          <a:bodyPr wrap="square" anchor="ctr" tIns="36576" bIns="36576">
            <a:spAutoFit/>
          </a:bodyPr>
          <a:lstStyle/>
          <a:p>
            <a:pPr algn="l"/>
            <a:r>
              <a:rPr sz="1800" b="1">
                <a:solidFill>
                  <a:srgbClr val="B3261E"/>
                </a:solidFill>
                <a:latin typeface="Calibri"/>
              </a:rPr>
              <a:t>✗ Stimmt nicht – </a:t>
            </a:r>
            <a:r>
              <a:rPr sz="1800" b="0">
                <a:solidFill>
                  <a:srgbClr val="1F2A44"/>
                </a:solidFill>
                <a:latin typeface="Calibri"/>
              </a:rPr>
              <a:t>Werktage sind alle Kalendertage außer Sonntagen und gesetzlichen Feiertagen</a:t>
            </a:r>
          </a:p>
        </p:txBody>
      </p:sp>
      <p:sp>
        <p:nvSpPr>
          <p:cNvPr id="42" name="Rectangle 41"/>
          <p:cNvSpPr/>
          <p:nvPr/>
        </p:nvSpPr>
        <p:spPr>
          <a:xfrm>
            <a:off x="640080" y="530352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303520"/>
            <a:ext cx="548640" cy="457200"/>
          </a:xfrm>
          <a:prstGeom prst="rect">
            <a:avLst/>
          </a:prstGeom>
          <a:noFill/>
        </p:spPr>
        <p:txBody>
          <a:bodyPr wrap="square" anchor="ctr" tIns="36576" bIns="36576">
            <a:spAutoFit/>
          </a:bodyPr>
          <a:lstStyle/>
          <a:p>
            <a:pPr algn="ctr"/>
            <a:r>
              <a:rPr sz="2000" b="1">
                <a:solidFill>
                  <a:srgbClr val="1F2A44"/>
                </a:solidFill>
                <a:latin typeface="Calibri"/>
              </a:rPr>
              <a:t>9</a:t>
            </a:r>
          </a:p>
        </p:txBody>
      </p:sp>
      <p:sp>
        <p:nvSpPr>
          <p:cNvPr id="44" name="TextBox 43"/>
          <p:cNvSpPr txBox="1"/>
          <p:nvPr/>
        </p:nvSpPr>
        <p:spPr>
          <a:xfrm>
            <a:off x="1280160" y="5303520"/>
            <a:ext cx="10149840" cy="457200"/>
          </a:xfrm>
          <a:prstGeom prst="rect">
            <a:avLst/>
          </a:prstGeom>
          <a:noFill/>
        </p:spPr>
        <p:txBody>
          <a:bodyPr wrap="square" anchor="ctr" tIns="36576" bIns="36576">
            <a:spAutoFit/>
          </a:bodyPr>
          <a:lstStyle/>
          <a:p>
            <a:pPr algn="l"/>
            <a:r>
              <a:rPr sz="1800" b="1">
                <a:solidFill>
                  <a:srgbClr val="B3261E"/>
                </a:solidFill>
                <a:latin typeface="Calibri"/>
              </a:rPr>
              <a:t>✗ Stimmt nicht – </a:t>
            </a:r>
            <a:r>
              <a:rPr sz="1800" b="0">
                <a:solidFill>
                  <a:srgbClr val="1F2A44"/>
                </a:solidFill>
                <a:latin typeface="Calibri"/>
              </a:rPr>
              <a:t>höchstens 8 Stunden täglich und 40 pro Woche (§ 8 JArbSchG)</a:t>
            </a:r>
          </a:p>
        </p:txBody>
      </p:sp>
      <p:sp>
        <p:nvSpPr>
          <p:cNvPr id="45" name="Rectangle 44"/>
          <p:cNvSpPr/>
          <p:nvPr/>
        </p:nvSpPr>
        <p:spPr>
          <a:xfrm>
            <a:off x="640080" y="5806440"/>
            <a:ext cx="10881360" cy="45720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806440"/>
            <a:ext cx="548640" cy="457200"/>
          </a:xfrm>
          <a:prstGeom prst="rect">
            <a:avLst/>
          </a:prstGeom>
          <a:noFill/>
        </p:spPr>
        <p:txBody>
          <a:bodyPr wrap="square" anchor="ctr" tIns="36576" bIns="36576">
            <a:spAutoFit/>
          </a:bodyPr>
          <a:lstStyle/>
          <a:p>
            <a:pPr algn="ctr"/>
            <a:r>
              <a:rPr sz="2000" b="1">
                <a:solidFill>
                  <a:srgbClr val="1F2A44"/>
                </a:solidFill>
                <a:latin typeface="Calibri"/>
              </a:rPr>
              <a:t>10</a:t>
            </a:r>
          </a:p>
        </p:txBody>
      </p:sp>
      <p:sp>
        <p:nvSpPr>
          <p:cNvPr id="47" name="TextBox 46"/>
          <p:cNvSpPr txBox="1"/>
          <p:nvPr/>
        </p:nvSpPr>
        <p:spPr>
          <a:xfrm>
            <a:off x="1280160" y="5806440"/>
            <a:ext cx="10149840" cy="457200"/>
          </a:xfrm>
          <a:prstGeom prst="rect">
            <a:avLst/>
          </a:prstGeom>
          <a:noFill/>
        </p:spPr>
        <p:txBody>
          <a:bodyPr wrap="square" anchor="ctr" tIns="36576" bIns="36576">
            <a:spAutoFit/>
          </a:bodyPr>
          <a:lstStyle/>
          <a:p>
            <a:pPr algn="l"/>
            <a:r>
              <a:rPr sz="1800" b="1">
                <a:solidFill>
                  <a:srgbClr val="1E7B4F"/>
                </a:solidFill>
                <a:latin typeface="Calibri"/>
              </a:rPr>
              <a:t>✓ Stimmt – </a:t>
            </a:r>
            <a:r>
              <a:rPr sz="1800" b="0">
                <a:solidFill>
                  <a:srgbClr val="1F2A44"/>
                </a:solidFill>
                <a:latin typeface="Calibri"/>
              </a:rPr>
              <a:t>§ 15 BBiG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1">
                <a:solidFill>
                  <a:srgbClr val="1F2A44"/>
                </a:solidFill>
                <a:latin typeface="Calibri"/>
              </a:rPr>
              <a:t>Besprechen</a:t>
            </a:r>
          </a:p>
        </p:txBody>
      </p:sp>
      <p:sp>
        <p:nvSpPr>
          <p:cNvPr id="13" name="Rectangle 12"/>
          <p:cNvSpPr/>
          <p:nvPr/>
        </p:nvSpPr>
        <p:spPr>
          <a:xfrm>
            <a:off x="9230854" y="0"/>
            <a:ext cx="2960840" cy="457200"/>
          </a:xfrm>
          <a:prstGeom prst="rect">
            <a:avLst/>
          </a:prstGeom>
          <a:solidFill>
            <a:srgbClr val="1F2A44"/>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0">
                <a:solidFill>
                  <a:srgbClr val="FFFFFF"/>
                </a:solidFill>
                <a:latin typeface="Calibri"/>
              </a:rPr>
              <a:t>Quiz &amp; Abschluss</a:t>
            </a:r>
          </a:p>
        </p:txBody>
      </p:sp>
      <p:sp>
        <p:nvSpPr>
          <p:cNvPr id="15" name="Frage"/>
          <p:cNvSpPr txBox="1"/>
          <p:nvPr/>
        </p:nvSpPr>
        <p:spPr>
          <a:xfrm>
            <a:off x="548640" y="502920"/>
            <a:ext cx="11155680" cy="640080"/>
          </a:xfrm>
          <a:prstGeom prst="rect">
            <a:avLst/>
          </a:prstGeom>
          <a:noFill/>
        </p:spPr>
        <p:txBody>
          <a:bodyPr wrap="square" anchor="ctr" tIns="36576" bIns="36576">
            <a:spAutoFit/>
          </a:bodyPr>
          <a:lstStyle/>
          <a:p>
            <a:pPr algn="l"/>
            <a:r>
              <a:rPr sz="3600" b="1">
                <a:solidFill>
                  <a:srgbClr val="1F2A44"/>
                </a:solidFill>
                <a:latin typeface="Calibri"/>
              </a:rPr>
              <a:t>Plan B: Welche Zeilen enthalten einen Fehler?</a:t>
            </a:r>
          </a:p>
        </p:txBody>
      </p:sp>
      <p:sp>
        <p:nvSpPr>
          <p:cNvPr id="16" name="Vertragsauszug"/>
          <p:cNvSpPr/>
          <p:nvPr/>
        </p:nvSpPr>
        <p:spPr>
          <a:xfrm>
            <a:off x="640080" y="1188720"/>
            <a:ext cx="10881360" cy="4983480"/>
          </a:xfrm>
          <a:prstGeom prst="rect">
            <a:avLst/>
          </a:prstGeom>
          <a:solidFill>
            <a:srgbClr val="F6F8FC"/>
          </a:solidFill>
          <a:ln w="19050">
            <a:solidFill>
              <a:srgbClr val="B8C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1188720"/>
            <a:ext cx="10881360" cy="9144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Vertragskopf"/>
          <p:cNvSpPr txBox="1"/>
          <p:nvPr/>
        </p:nvSpPr>
        <p:spPr>
          <a:xfrm>
            <a:off x="731519" y="1325880"/>
            <a:ext cx="10698480" cy="1280160"/>
          </a:xfrm>
          <a:prstGeom prst="rect">
            <a:avLst/>
          </a:prstGeom>
          <a:noFill/>
        </p:spPr>
        <p:txBody>
          <a:bodyPr wrap="square" anchor="t" tIns="36576" bIns="36576">
            <a:spAutoFit/>
          </a:bodyPr>
          <a:lstStyle/>
          <a:p>
            <a:pPr algn="l"/>
            <a:r>
              <a:rPr sz="1800" b="1">
                <a:solidFill>
                  <a:srgbClr val="1F2A44"/>
                </a:solidFill>
                <a:latin typeface="Times New Roman"/>
              </a:rPr>
              <a:t>Berufsausbildungsvertrag (Auszug, fiktiv)</a:t>
            </a:r>
          </a:p>
          <a:p>
            <a:pPr algn="l">
              <a:spcBef>
                <a:spcPts val="180"/>
              </a:spcBef>
            </a:pPr>
            <a:r>
              <a:rPr sz="1800" b="0">
                <a:solidFill>
                  <a:srgbClr val="1F2A44"/>
                </a:solidFill>
                <a:latin typeface="Times New Roman"/>
              </a:rPr>
              <a:t>Ausbildende: Muster GmbH (nicht tarifgebunden)</a:t>
            </a:r>
          </a:p>
          <a:p>
            <a:pPr algn="l">
              <a:spcBef>
                <a:spcPts val="180"/>
              </a:spcBef>
            </a:pPr>
            <a:r>
              <a:rPr sz="1800" b="0">
                <a:solidFill>
                  <a:srgbClr val="1F2A44"/>
                </a:solidFill>
                <a:latin typeface="Times New Roman"/>
              </a:rPr>
              <a:t>Auszubildender: Jonas Muster, geboren am 20.11.2009</a:t>
            </a:r>
          </a:p>
          <a:p>
            <a:pPr algn="l">
              <a:spcBef>
                <a:spcPts val="180"/>
              </a:spcBef>
            </a:pPr>
            <a:r>
              <a:rPr sz="1800" b="0">
                <a:solidFill>
                  <a:srgbClr val="1F2A44"/>
                </a:solidFill>
                <a:latin typeface="Times New Roman"/>
              </a:rPr>
              <a:t>Beruf: Kaufmann für Büromanagement</a:t>
            </a:r>
          </a:p>
        </p:txBody>
      </p:sp>
      <p:sp>
        <p:nvSpPr>
          <p:cNvPr id="19" name="Zeilennummer_1"/>
          <p:cNvSpPr/>
          <p:nvPr/>
        </p:nvSpPr>
        <p:spPr>
          <a:xfrm>
            <a:off x="777240" y="2679191"/>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1</a:t>
            </a:r>
          </a:p>
        </p:txBody>
      </p:sp>
      <p:sp>
        <p:nvSpPr>
          <p:cNvPr id="20" name="Zeile_1"/>
          <p:cNvSpPr txBox="1"/>
          <p:nvPr/>
        </p:nvSpPr>
        <p:spPr>
          <a:xfrm>
            <a:off x="1234440" y="2642615"/>
            <a:ext cx="10149840" cy="402336"/>
          </a:xfrm>
          <a:prstGeom prst="rect">
            <a:avLst/>
          </a:prstGeom>
          <a:noFill/>
        </p:spPr>
        <p:txBody>
          <a:bodyPr wrap="square" anchor="t" tIns="36576" bIns="36576">
            <a:spAutoFit/>
          </a:bodyPr>
          <a:lstStyle/>
          <a:p>
            <a:pPr algn="l"/>
            <a:r>
              <a:rPr sz="1800" b="0">
                <a:solidFill>
                  <a:srgbClr val="1F2A44"/>
                </a:solidFill>
                <a:latin typeface="Times New Roman"/>
              </a:rPr>
              <a:t>§ 1 Beginn und Dauer: Die Ausbildung beginnt am 01.09.2026 und dauert drei Jahre.</a:t>
            </a:r>
          </a:p>
        </p:txBody>
      </p:sp>
      <p:sp>
        <p:nvSpPr>
          <p:cNvPr id="21" name="Zeilennummer_2"/>
          <p:cNvSpPr/>
          <p:nvPr/>
        </p:nvSpPr>
        <p:spPr>
          <a:xfrm>
            <a:off x="777240" y="3108959"/>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2</a:t>
            </a:r>
          </a:p>
        </p:txBody>
      </p:sp>
      <p:sp>
        <p:nvSpPr>
          <p:cNvPr id="22" name="Zeile_2"/>
          <p:cNvSpPr txBox="1"/>
          <p:nvPr/>
        </p:nvSpPr>
        <p:spPr>
          <a:xfrm>
            <a:off x="1234440" y="3072383"/>
            <a:ext cx="10149840" cy="402336"/>
          </a:xfrm>
          <a:prstGeom prst="rect">
            <a:avLst/>
          </a:prstGeom>
          <a:noFill/>
        </p:spPr>
        <p:txBody>
          <a:bodyPr wrap="square" anchor="t" tIns="36576" bIns="36576">
            <a:spAutoFit/>
          </a:bodyPr>
          <a:lstStyle/>
          <a:p>
            <a:pPr algn="l"/>
            <a:r>
              <a:rPr sz="1800" b="0">
                <a:solidFill>
                  <a:srgbClr val="1F2A44"/>
                </a:solidFill>
                <a:latin typeface="Times New Roman"/>
              </a:rPr>
              <a:t>§ 2 Probezeit: Die Probezeit beträgt sechs Monate.</a:t>
            </a:r>
          </a:p>
        </p:txBody>
      </p:sp>
      <p:sp>
        <p:nvSpPr>
          <p:cNvPr id="23" name="Zeilennummer_3"/>
          <p:cNvSpPr/>
          <p:nvPr/>
        </p:nvSpPr>
        <p:spPr>
          <a:xfrm>
            <a:off x="777240" y="3538727"/>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3</a:t>
            </a:r>
          </a:p>
        </p:txBody>
      </p:sp>
      <p:sp>
        <p:nvSpPr>
          <p:cNvPr id="24" name="Zeile_3"/>
          <p:cNvSpPr txBox="1"/>
          <p:nvPr/>
        </p:nvSpPr>
        <p:spPr>
          <a:xfrm>
            <a:off x="1234440" y="3502151"/>
            <a:ext cx="10149840" cy="402336"/>
          </a:xfrm>
          <a:prstGeom prst="rect">
            <a:avLst/>
          </a:prstGeom>
          <a:noFill/>
        </p:spPr>
        <p:txBody>
          <a:bodyPr wrap="square" anchor="t" tIns="36576" bIns="36576">
            <a:spAutoFit/>
          </a:bodyPr>
          <a:lstStyle/>
          <a:p>
            <a:pPr algn="l"/>
            <a:r>
              <a:rPr sz="1800" b="0">
                <a:solidFill>
                  <a:srgbClr val="1F2A44"/>
                </a:solidFill>
                <a:latin typeface="Times New Roman"/>
              </a:rPr>
              <a:t>§ 3 Vergütung: Die monatliche Ausbildungsvergütung beträgt im 1. Ausbildungsjahr 650 € brutto.</a:t>
            </a:r>
          </a:p>
        </p:txBody>
      </p:sp>
      <p:sp>
        <p:nvSpPr>
          <p:cNvPr id="25" name="Zeilennummer_4"/>
          <p:cNvSpPr/>
          <p:nvPr/>
        </p:nvSpPr>
        <p:spPr>
          <a:xfrm>
            <a:off x="777240" y="3968495"/>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4</a:t>
            </a:r>
          </a:p>
        </p:txBody>
      </p:sp>
      <p:sp>
        <p:nvSpPr>
          <p:cNvPr id="26" name="Zeile_4"/>
          <p:cNvSpPr txBox="1"/>
          <p:nvPr/>
        </p:nvSpPr>
        <p:spPr>
          <a:xfrm>
            <a:off x="1234440" y="3931919"/>
            <a:ext cx="10149840" cy="402336"/>
          </a:xfrm>
          <a:prstGeom prst="rect">
            <a:avLst/>
          </a:prstGeom>
          <a:noFill/>
        </p:spPr>
        <p:txBody>
          <a:bodyPr wrap="square" anchor="t" tIns="36576" bIns="36576">
            <a:spAutoFit/>
          </a:bodyPr>
          <a:lstStyle/>
          <a:p>
            <a:pPr algn="l"/>
            <a:r>
              <a:rPr sz="1800" b="0">
                <a:solidFill>
                  <a:srgbClr val="1F2A44"/>
                </a:solidFill>
                <a:latin typeface="Times New Roman"/>
              </a:rPr>
              <a:t>§ 4 Ausbildungszeit: Die tägliche Ausbildungszeit beträgt 9 Stunden.</a:t>
            </a:r>
          </a:p>
        </p:txBody>
      </p:sp>
      <p:sp>
        <p:nvSpPr>
          <p:cNvPr id="27" name="Zeilennummer_5"/>
          <p:cNvSpPr/>
          <p:nvPr/>
        </p:nvSpPr>
        <p:spPr>
          <a:xfrm>
            <a:off x="777240" y="4398263"/>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5</a:t>
            </a:r>
          </a:p>
        </p:txBody>
      </p:sp>
      <p:sp>
        <p:nvSpPr>
          <p:cNvPr id="28" name="Zeile_5"/>
          <p:cNvSpPr txBox="1"/>
          <p:nvPr/>
        </p:nvSpPr>
        <p:spPr>
          <a:xfrm>
            <a:off x="1234440" y="4361687"/>
            <a:ext cx="10149840" cy="402336"/>
          </a:xfrm>
          <a:prstGeom prst="rect">
            <a:avLst/>
          </a:prstGeom>
          <a:noFill/>
        </p:spPr>
        <p:txBody>
          <a:bodyPr wrap="square" anchor="t" tIns="36576" bIns="36576">
            <a:spAutoFit/>
          </a:bodyPr>
          <a:lstStyle/>
          <a:p>
            <a:pPr algn="l"/>
            <a:r>
              <a:rPr sz="1800" b="0">
                <a:solidFill>
                  <a:srgbClr val="1F2A44"/>
                </a:solidFill>
                <a:latin typeface="Times New Roman"/>
              </a:rPr>
              <a:t>§ 5 Urlaub: Der Urlaubsanspruch beträgt 20 Werktage pro Kalenderjahr.</a:t>
            </a:r>
          </a:p>
        </p:txBody>
      </p:sp>
      <p:sp>
        <p:nvSpPr>
          <p:cNvPr id="29" name="Zeilennummer_6"/>
          <p:cNvSpPr/>
          <p:nvPr/>
        </p:nvSpPr>
        <p:spPr>
          <a:xfrm>
            <a:off x="777240" y="4965191"/>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6</a:t>
            </a:r>
          </a:p>
        </p:txBody>
      </p:sp>
      <p:sp>
        <p:nvSpPr>
          <p:cNvPr id="30" name="Zeile_6"/>
          <p:cNvSpPr txBox="1"/>
          <p:nvPr/>
        </p:nvSpPr>
        <p:spPr>
          <a:xfrm>
            <a:off x="1234440" y="4791455"/>
            <a:ext cx="10149840" cy="676656"/>
          </a:xfrm>
          <a:prstGeom prst="rect">
            <a:avLst/>
          </a:prstGeom>
          <a:noFill/>
        </p:spPr>
        <p:txBody>
          <a:bodyPr wrap="square" anchor="t" tIns="36576" bIns="36576">
            <a:spAutoFit/>
          </a:bodyPr>
          <a:lstStyle/>
          <a:p>
            <a:pPr algn="l"/>
            <a:r>
              <a:rPr sz="1800" b="0">
                <a:solidFill>
                  <a:srgbClr val="1F2A44"/>
                </a:solidFill>
                <a:latin typeface="Times New Roman"/>
              </a:rPr>
              <a:t>§ 6 Kündigung: Während der Probezeit kann das Ausbildungsverhältnis nur mit einer Frist von vier Wochen gekündigt werden.</a:t>
            </a:r>
          </a:p>
        </p:txBody>
      </p:sp>
      <p:sp>
        <p:nvSpPr>
          <p:cNvPr id="31" name="Zeilennummer_7"/>
          <p:cNvSpPr/>
          <p:nvPr/>
        </p:nvSpPr>
        <p:spPr>
          <a:xfrm>
            <a:off x="777240" y="5669279"/>
            <a:ext cx="329184" cy="329184"/>
          </a:xfrm>
          <a:prstGeom prst="ellipse">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lIns="0" rIns="0"/>
          <a:lstStyle/>
          <a:p>
            <a:pPr algn="ctr"/>
            <a:r>
              <a:rPr sz="1800" b="1">
                <a:solidFill>
                  <a:srgbClr val="FFFFFF"/>
                </a:solidFill>
                <a:latin typeface="Calibri"/>
              </a:rPr>
              <a:t>7</a:t>
            </a:r>
          </a:p>
        </p:txBody>
      </p:sp>
      <p:sp>
        <p:nvSpPr>
          <p:cNvPr id="32" name="Zeile_7"/>
          <p:cNvSpPr txBox="1"/>
          <p:nvPr/>
        </p:nvSpPr>
        <p:spPr>
          <a:xfrm>
            <a:off x="1234440" y="5495543"/>
            <a:ext cx="10149840" cy="676656"/>
          </a:xfrm>
          <a:prstGeom prst="rect">
            <a:avLst/>
          </a:prstGeom>
          <a:noFill/>
        </p:spPr>
        <p:txBody>
          <a:bodyPr wrap="square" anchor="t" tIns="36576" bIns="36576">
            <a:spAutoFit/>
          </a:bodyPr>
          <a:lstStyle/>
          <a:p>
            <a:pPr algn="l"/>
            <a:r>
              <a:rPr sz="1800" b="0">
                <a:solidFill>
                  <a:srgbClr val="1F2A44"/>
                </a:solidFill>
                <a:latin typeface="Times New Roman"/>
              </a:rPr>
              <a:t>§ 7 Pflichten: Die Ausbildungsmittel stellt der Betrieb kostenlos zur Verfügung. Der Auszubildende führt einen Ausbildungsnachweis.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1">
                <a:solidFill>
                  <a:srgbClr val="1F2A44"/>
                </a:solidFill>
                <a:latin typeface="Calibri"/>
              </a:rPr>
              <a:t>Quiz &amp; Abschluss</a:t>
            </a:r>
          </a:p>
        </p:txBody>
      </p:sp>
      <p:sp>
        <p:nvSpPr>
          <p:cNvPr id="15" name="Titel"/>
          <p:cNvSpPr txBox="1"/>
          <p:nvPr/>
        </p:nvSpPr>
        <p:spPr>
          <a:xfrm>
            <a:off x="548640" y="502920"/>
            <a:ext cx="11155680" cy="640080"/>
          </a:xfrm>
          <a:prstGeom prst="rect">
            <a:avLst/>
          </a:prstGeom>
          <a:noFill/>
        </p:spPr>
        <p:txBody>
          <a:bodyPr wrap="square" anchor="ctr" tIns="36576" bIns="36576">
            <a:spAutoFit/>
          </a:bodyPr>
          <a:lstStyle/>
          <a:p>
            <a:pPr algn="l"/>
            <a:r>
              <a:rPr sz="3600" b="1">
                <a:solidFill>
                  <a:srgbClr val="1F2A44"/>
                </a:solidFill>
                <a:latin typeface="Calibri"/>
              </a:rPr>
              <a:t>Plan B: Mini-Quiz</a:t>
            </a:r>
          </a:p>
        </p:txBody>
      </p:sp>
      <p:sp>
        <p:nvSpPr>
          <p:cNvPr id="16" name="Rectangle 15"/>
          <p:cNvSpPr/>
          <p:nvPr/>
        </p:nvSpPr>
        <p:spPr>
          <a:xfrm>
            <a:off x="640080" y="1188720"/>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 y="1188720"/>
            <a:ext cx="91440" cy="9601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Quizfrage_1"/>
          <p:cNvSpPr txBox="1"/>
          <p:nvPr/>
        </p:nvSpPr>
        <p:spPr>
          <a:xfrm>
            <a:off x="822960" y="1188720"/>
            <a:ext cx="10607040" cy="960120"/>
          </a:xfrm>
          <a:prstGeom prst="rect">
            <a:avLst/>
          </a:prstGeom>
          <a:noFill/>
        </p:spPr>
        <p:txBody>
          <a:bodyPr wrap="square" anchor="ctr" tIns="36576" bIns="36576">
            <a:spAutoFit/>
          </a:bodyPr>
          <a:lstStyle/>
          <a:p>
            <a:pPr algn="l"/>
            <a:r>
              <a:rPr sz="1700" b="1">
                <a:solidFill>
                  <a:srgbClr val="7A4B00"/>
                </a:solidFill>
                <a:latin typeface="Calibri"/>
              </a:rPr>
              <a:t>1  </a:t>
            </a:r>
            <a:r>
              <a:rPr sz="1700" b="1">
                <a:solidFill>
                  <a:srgbClr val="1F2A44"/>
                </a:solidFill>
                <a:latin typeface="Calibri"/>
              </a:rPr>
              <a:t>Eine Auszubildende ist zu Jahresbeginn 15 Jahre alt. Wie viele Werktage Mindesturlaub hat sie?</a:t>
            </a:r>
          </a:p>
          <a:p>
            <a:pPr algn="l">
              <a:spcBef>
                <a:spcPts val="170"/>
              </a:spcBef>
            </a:pPr>
            <a:r>
              <a:rPr sz="1700" b="0">
                <a:solidFill>
                  <a:srgbClr val="1F2A44"/>
                </a:solidFill>
                <a:latin typeface="Calibri"/>
              </a:rPr>
              <a:t>A 24   ·   B 25   ·   C 27   ·   D 30</a:t>
            </a:r>
          </a:p>
        </p:txBody>
      </p:sp>
      <p:sp>
        <p:nvSpPr>
          <p:cNvPr id="19" name="Rectangle 18"/>
          <p:cNvSpPr/>
          <p:nvPr/>
        </p:nvSpPr>
        <p:spPr>
          <a:xfrm>
            <a:off x="640080" y="2212848"/>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40080" y="2212848"/>
            <a:ext cx="91440" cy="9601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Quizfrage_2"/>
          <p:cNvSpPr txBox="1"/>
          <p:nvPr/>
        </p:nvSpPr>
        <p:spPr>
          <a:xfrm>
            <a:off x="822960" y="2212848"/>
            <a:ext cx="10607040" cy="960120"/>
          </a:xfrm>
          <a:prstGeom prst="rect">
            <a:avLst/>
          </a:prstGeom>
          <a:noFill/>
        </p:spPr>
        <p:txBody>
          <a:bodyPr wrap="square" anchor="ctr" tIns="36576" bIns="36576">
            <a:spAutoFit/>
          </a:bodyPr>
          <a:lstStyle/>
          <a:p>
            <a:pPr algn="l"/>
            <a:r>
              <a:rPr sz="1700" b="1">
                <a:solidFill>
                  <a:srgbClr val="7A4B00"/>
                </a:solidFill>
                <a:latin typeface="Calibri"/>
              </a:rPr>
              <a:t>2  </a:t>
            </a:r>
            <a:r>
              <a:rPr sz="1700" b="1">
                <a:solidFill>
                  <a:srgbClr val="1F2A44"/>
                </a:solidFill>
                <a:latin typeface="Calibri"/>
              </a:rPr>
              <a:t>Ein Betrieb will eine Probezeit von sechs Monaten festlegen. Ist das zulässig?</a:t>
            </a:r>
          </a:p>
          <a:p>
            <a:pPr algn="l">
              <a:spcBef>
                <a:spcPts val="170"/>
              </a:spcBef>
            </a:pPr>
            <a:r>
              <a:rPr sz="1700" b="0">
                <a:solidFill>
                  <a:srgbClr val="1F2A44"/>
                </a:solidFill>
                <a:latin typeface="Calibri"/>
              </a:rPr>
              <a:t>A Ja, wenn der Azubi zustimmt   ·   B Ja, in großen Betrieben   ·   C Nein, höchstens vier Monate   ·   D Nein, höchstens drei Monate</a:t>
            </a:r>
          </a:p>
        </p:txBody>
      </p:sp>
      <p:sp>
        <p:nvSpPr>
          <p:cNvPr id="22" name="Rectangle 21"/>
          <p:cNvSpPr/>
          <p:nvPr/>
        </p:nvSpPr>
        <p:spPr>
          <a:xfrm>
            <a:off x="640080" y="3236976"/>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 y="3236976"/>
            <a:ext cx="91440" cy="9601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Quizfrage_3"/>
          <p:cNvSpPr txBox="1"/>
          <p:nvPr/>
        </p:nvSpPr>
        <p:spPr>
          <a:xfrm>
            <a:off x="822960" y="3236976"/>
            <a:ext cx="10607040" cy="960120"/>
          </a:xfrm>
          <a:prstGeom prst="rect">
            <a:avLst/>
          </a:prstGeom>
          <a:noFill/>
        </p:spPr>
        <p:txBody>
          <a:bodyPr wrap="square" anchor="ctr" tIns="36576" bIns="36576">
            <a:spAutoFit/>
          </a:bodyPr>
          <a:lstStyle/>
          <a:p>
            <a:pPr algn="l"/>
            <a:r>
              <a:rPr sz="1700" b="1">
                <a:solidFill>
                  <a:srgbClr val="7A4B00"/>
                </a:solidFill>
                <a:latin typeface="Calibri"/>
              </a:rPr>
              <a:t>3  </a:t>
            </a:r>
            <a:r>
              <a:rPr sz="1700" b="1">
                <a:solidFill>
                  <a:srgbClr val="1F2A44"/>
                </a:solidFill>
                <a:latin typeface="Calibri"/>
              </a:rPr>
              <a:t>Ein Azubi kündigt nach der Probezeit mündlich, weil er den Beruf wechseln will. Ist das wirksam?</a:t>
            </a:r>
          </a:p>
          <a:p>
            <a:pPr algn="l">
              <a:spcBef>
                <a:spcPts val="170"/>
              </a:spcBef>
            </a:pPr>
            <a:r>
              <a:rPr sz="1700" b="0">
                <a:solidFill>
                  <a:srgbClr val="1F2A44"/>
                </a:solidFill>
                <a:latin typeface="Calibri"/>
              </a:rPr>
              <a:t>A Ja, mit vier Wochen Frist   ·   B Ja, ohne Frist   ·   C Nein, die Kündigung muss schriftlich mit Angabe der Gründe erfolgen   ·   D Nein, nur die IHK darf kündigen</a:t>
            </a:r>
          </a:p>
        </p:txBody>
      </p:sp>
      <p:sp>
        <p:nvSpPr>
          <p:cNvPr id="25" name="Rectangle 24"/>
          <p:cNvSpPr/>
          <p:nvPr/>
        </p:nvSpPr>
        <p:spPr>
          <a:xfrm>
            <a:off x="640080" y="4261104"/>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40080" y="4261104"/>
            <a:ext cx="91440" cy="9601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Quizfrage_4"/>
          <p:cNvSpPr txBox="1"/>
          <p:nvPr/>
        </p:nvSpPr>
        <p:spPr>
          <a:xfrm>
            <a:off x="822960" y="4261104"/>
            <a:ext cx="10607040" cy="960120"/>
          </a:xfrm>
          <a:prstGeom prst="rect">
            <a:avLst/>
          </a:prstGeom>
          <a:noFill/>
        </p:spPr>
        <p:txBody>
          <a:bodyPr wrap="square" anchor="ctr" tIns="36576" bIns="36576">
            <a:spAutoFit/>
          </a:bodyPr>
          <a:lstStyle/>
          <a:p>
            <a:pPr algn="l"/>
            <a:r>
              <a:rPr sz="1700" b="1">
                <a:solidFill>
                  <a:srgbClr val="7A4B00"/>
                </a:solidFill>
                <a:latin typeface="Calibri"/>
              </a:rPr>
              <a:t>4  </a:t>
            </a:r>
            <a:r>
              <a:rPr sz="1700" b="1">
                <a:solidFill>
                  <a:srgbClr val="1F2A44"/>
                </a:solidFill>
                <a:latin typeface="Calibri"/>
              </a:rPr>
              <a:t>Ein nicht tarifgebundener Betrieb zahlt im 2. Ausbildungsjahr (Beginn 2026) 800 €. Ist das zulässig?</a:t>
            </a:r>
          </a:p>
          <a:p>
            <a:pPr algn="l">
              <a:spcBef>
                <a:spcPts val="170"/>
              </a:spcBef>
            </a:pPr>
            <a:r>
              <a:rPr sz="1700" b="0">
                <a:solidFill>
                  <a:srgbClr val="1F2A44"/>
                </a:solidFill>
                <a:latin typeface="Calibri"/>
              </a:rPr>
              <a:t>A Ja, weil es mehr als im 1. Jahr ist   ·   B Ja, wenn der Betrieb nicht tarifgebunden ist   ·   C Nein, im 2. Jahr gelten mindestens 854 €   ·   D Nein, im 2. Jahr gelten mindestens 977 €</a:t>
            </a:r>
          </a:p>
        </p:txBody>
      </p:sp>
      <p:sp>
        <p:nvSpPr>
          <p:cNvPr id="28" name="Rectangle 27"/>
          <p:cNvSpPr/>
          <p:nvPr/>
        </p:nvSpPr>
        <p:spPr>
          <a:xfrm>
            <a:off x="640080" y="5285232"/>
            <a:ext cx="10881360" cy="96012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40080" y="5285232"/>
            <a:ext cx="91440" cy="960120"/>
          </a:xfrm>
          <a:prstGeom prst="rect">
            <a:avLst/>
          </a:prstGeom>
          <a:solidFill>
            <a:srgbClr val="34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Quizfrage_5"/>
          <p:cNvSpPr txBox="1"/>
          <p:nvPr/>
        </p:nvSpPr>
        <p:spPr>
          <a:xfrm>
            <a:off x="822960" y="5285232"/>
            <a:ext cx="10607040" cy="960120"/>
          </a:xfrm>
          <a:prstGeom prst="rect">
            <a:avLst/>
          </a:prstGeom>
          <a:noFill/>
        </p:spPr>
        <p:txBody>
          <a:bodyPr wrap="square" anchor="ctr" tIns="36576" bIns="36576">
            <a:spAutoFit/>
          </a:bodyPr>
          <a:lstStyle/>
          <a:p>
            <a:pPr algn="l"/>
            <a:r>
              <a:rPr sz="1700" b="1">
                <a:solidFill>
                  <a:srgbClr val="7A4B00"/>
                </a:solidFill>
                <a:latin typeface="Calibri"/>
              </a:rPr>
              <a:t>5  </a:t>
            </a:r>
            <a:r>
              <a:rPr sz="1700" b="1">
                <a:solidFill>
                  <a:srgbClr val="1F2A44"/>
                </a:solidFill>
                <a:latin typeface="Calibri"/>
              </a:rPr>
              <a:t>Ein volljähriger Azubi soll an einem Tag 10 Stunden arbeiten; im Durchschnitt von sechs Monaten bleibt es bei 8 Stunden. Ist das zulässig?</a:t>
            </a:r>
          </a:p>
          <a:p>
            <a:pPr algn="l">
              <a:spcBef>
                <a:spcPts val="170"/>
              </a:spcBef>
            </a:pPr>
            <a:r>
              <a:rPr sz="1700" b="0">
                <a:solidFill>
                  <a:srgbClr val="1F2A44"/>
                </a:solidFill>
                <a:latin typeface="Calibri"/>
              </a:rPr>
              <a:t>A Nein, höchstens 8 Stunden   ·   B Ja, nach dem Arbeitszeitgesetz, wenn der Durchschnitt von 8 Stunden nicht überschritten wird   ·   C Nein, nur mit Zustimmung der IHK   ·   D Ja, dann sind sogar 12 Stunden erlaubt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Hintergrund"/>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0"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Einstieg</a:t>
            </a:r>
          </a:p>
        </p:txBody>
      </p:sp>
      <p:sp>
        <p:nvSpPr>
          <p:cNvPr id="5" name="Rectangle 4"/>
          <p:cNvSpPr/>
          <p:nvPr/>
        </p:nvSpPr>
        <p:spPr>
          <a:xfrm>
            <a:off x="1741670" y="0"/>
            <a:ext cx="1915837"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41670" y="0"/>
            <a:ext cx="1915837" cy="457200"/>
          </a:xfrm>
          <a:prstGeom prst="rect">
            <a:avLst/>
          </a:prstGeom>
          <a:noFill/>
        </p:spPr>
        <p:txBody>
          <a:bodyPr wrap="none" anchor="ctr" tIns="36576" bIns="36576" lIns="0" rIns="0">
            <a:spAutoFit/>
          </a:bodyPr>
          <a:lstStyle/>
          <a:p>
            <a:pPr algn="ctr"/>
            <a:r>
              <a:rPr sz="2400" b="0">
                <a:solidFill>
                  <a:srgbClr val="FFFFFF"/>
                </a:solidFill>
                <a:latin typeface="Calibri"/>
              </a:rPr>
              <a:t>Fragerunde</a:t>
            </a:r>
          </a:p>
        </p:txBody>
      </p:sp>
      <p:sp>
        <p:nvSpPr>
          <p:cNvPr id="7" name="Rectangle 6"/>
          <p:cNvSpPr/>
          <p:nvPr/>
        </p:nvSpPr>
        <p:spPr>
          <a:xfrm>
            <a:off x="3657508" y="0"/>
            <a:ext cx="1741670"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508" y="0"/>
            <a:ext cx="1741670" cy="457200"/>
          </a:xfrm>
          <a:prstGeom prst="rect">
            <a:avLst/>
          </a:prstGeom>
          <a:noFill/>
        </p:spPr>
        <p:txBody>
          <a:bodyPr wrap="none" anchor="ctr" tIns="36576" bIns="36576" lIns="0" rIns="0">
            <a:spAutoFit/>
          </a:bodyPr>
          <a:lstStyle/>
          <a:p>
            <a:pPr algn="ctr"/>
            <a:r>
              <a:rPr sz="2400" b="0">
                <a:solidFill>
                  <a:srgbClr val="FFFFFF"/>
                </a:solidFill>
                <a:latin typeface="Calibri"/>
              </a:rPr>
              <a:t>Erklären</a:t>
            </a:r>
          </a:p>
        </p:txBody>
      </p:sp>
      <p:sp>
        <p:nvSpPr>
          <p:cNvPr id="9" name="Rectangle 8"/>
          <p:cNvSpPr/>
          <p:nvPr/>
        </p:nvSpPr>
        <p:spPr>
          <a:xfrm>
            <a:off x="5399179" y="0"/>
            <a:ext cx="1828754"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9179" y="0"/>
            <a:ext cx="1828754" cy="457200"/>
          </a:xfrm>
          <a:prstGeom prst="rect">
            <a:avLst/>
          </a:prstGeom>
          <a:noFill/>
        </p:spPr>
        <p:txBody>
          <a:bodyPr wrap="none" anchor="ctr" tIns="36576" bIns="36576" lIns="0" rIns="0">
            <a:spAutoFit/>
          </a:bodyPr>
          <a:lstStyle/>
          <a:p>
            <a:pPr algn="ctr"/>
            <a:r>
              <a:rPr sz="2400" b="0">
                <a:solidFill>
                  <a:srgbClr val="FFFFFF"/>
                </a:solidFill>
                <a:latin typeface="Calibri"/>
              </a:rPr>
              <a:t>Aufgaben</a:t>
            </a:r>
          </a:p>
        </p:txBody>
      </p:sp>
      <p:sp>
        <p:nvSpPr>
          <p:cNvPr id="11" name="Rectangle 10"/>
          <p:cNvSpPr/>
          <p:nvPr/>
        </p:nvSpPr>
        <p:spPr>
          <a:xfrm>
            <a:off x="7227933" y="0"/>
            <a:ext cx="2002921" cy="457200"/>
          </a:xfrm>
          <a:prstGeom prst="rect">
            <a:avLst/>
          </a:prstGeom>
          <a:solidFill>
            <a:srgbClr val="34456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27933" y="0"/>
            <a:ext cx="2002921" cy="457200"/>
          </a:xfrm>
          <a:prstGeom prst="rect">
            <a:avLst/>
          </a:prstGeom>
          <a:noFill/>
        </p:spPr>
        <p:txBody>
          <a:bodyPr wrap="none" anchor="ctr" tIns="36576" bIns="36576" lIns="0" rIns="0">
            <a:spAutoFit/>
          </a:bodyPr>
          <a:lstStyle/>
          <a:p>
            <a:pPr algn="ctr"/>
            <a:r>
              <a:rPr sz="2400" b="0">
                <a:solidFill>
                  <a:srgbClr val="FFFFFF"/>
                </a:solidFill>
                <a:latin typeface="Calibri"/>
              </a:rPr>
              <a:t>Besprechen</a:t>
            </a:r>
          </a:p>
        </p:txBody>
      </p:sp>
      <p:sp>
        <p:nvSpPr>
          <p:cNvPr id="13" name="Rectangle 12"/>
          <p:cNvSpPr/>
          <p:nvPr/>
        </p:nvSpPr>
        <p:spPr>
          <a:xfrm>
            <a:off x="9230854" y="0"/>
            <a:ext cx="2960840" cy="457200"/>
          </a:xfrm>
          <a:prstGeom prst="rect">
            <a:avLst/>
          </a:prstGeom>
          <a:solidFill>
            <a:srgbClr val="F5A623"/>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0854" y="0"/>
            <a:ext cx="2960840" cy="457200"/>
          </a:xfrm>
          <a:prstGeom prst="rect">
            <a:avLst/>
          </a:prstGeom>
          <a:noFill/>
        </p:spPr>
        <p:txBody>
          <a:bodyPr wrap="none" anchor="ctr" tIns="36576" bIns="36576" lIns="0" rIns="0">
            <a:spAutoFit/>
          </a:bodyPr>
          <a:lstStyle/>
          <a:p>
            <a:pPr algn="ctr"/>
            <a:r>
              <a:rPr sz="2400" b="1">
                <a:solidFill>
                  <a:srgbClr val="1F2A44"/>
                </a:solidFill>
                <a:latin typeface="Calibri"/>
              </a:rPr>
              <a:t>Quiz &amp; Abschluss</a:t>
            </a:r>
          </a:p>
        </p:txBody>
      </p:sp>
      <p:sp>
        <p:nvSpPr>
          <p:cNvPr id="15" name="Antwortrahmen"/>
          <p:cNvSpPr/>
          <p:nvPr/>
        </p:nvSpPr>
        <p:spPr>
          <a:xfrm>
            <a:off x="411480" y="566928"/>
            <a:ext cx="11365992" cy="5669280"/>
          </a:xfrm>
          <a:prstGeom prst="rect">
            <a:avLst/>
          </a:prstGeom>
          <a:noFill/>
          <a:ln w="762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Haken: Antwortfolie"/>
          <p:cNvPicPr>
            <a:picLocks noChangeAspect="1"/>
          </p:cNvPicPr>
          <p:nvPr/>
        </p:nvPicPr>
        <p:blipFill>
          <a:blip r:embed="rId3"/>
          <a:stretch>
            <a:fillRect/>
          </a:stretch>
        </p:blipFill>
        <p:spPr>
          <a:xfrm>
            <a:off x="10972800" y="640080"/>
            <a:ext cx="685800" cy="685800"/>
          </a:xfrm>
          <a:prstGeom prst="rect">
            <a:avLst/>
          </a:prstGeom>
        </p:spPr>
      </p:pic>
      <p:sp>
        <p:nvSpPr>
          <p:cNvPr id="17" name="Titel"/>
          <p:cNvSpPr txBox="1"/>
          <p:nvPr/>
        </p:nvSpPr>
        <p:spPr>
          <a:xfrm>
            <a:off x="640080" y="594360"/>
            <a:ext cx="10241280" cy="822960"/>
          </a:xfrm>
          <a:prstGeom prst="rect">
            <a:avLst/>
          </a:prstGeom>
          <a:noFill/>
        </p:spPr>
        <p:txBody>
          <a:bodyPr wrap="square" anchor="ctr" tIns="36576" bIns="36576">
            <a:spAutoFit/>
          </a:bodyPr>
          <a:lstStyle/>
          <a:p>
            <a:pPr algn="l"/>
            <a:r>
              <a:rPr sz="4000" b="1">
                <a:solidFill>
                  <a:srgbClr val="1F2A44"/>
                </a:solidFill>
                <a:latin typeface="Calibri"/>
              </a:rPr>
              <a:t>Plan B: Quiz-Lösungen</a:t>
            </a:r>
          </a:p>
        </p:txBody>
      </p:sp>
      <p:sp>
        <p:nvSpPr>
          <p:cNvPr id="18" name="Rectangle 17"/>
          <p:cNvSpPr/>
          <p:nvPr/>
        </p:nvSpPr>
        <p:spPr>
          <a:xfrm>
            <a:off x="640080" y="1463040"/>
            <a:ext cx="10881360" cy="8412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1463040"/>
            <a:ext cx="10607040" cy="841248"/>
          </a:xfrm>
          <a:prstGeom prst="rect">
            <a:avLst/>
          </a:prstGeom>
          <a:noFill/>
        </p:spPr>
        <p:txBody>
          <a:bodyPr wrap="square" anchor="ctr" tIns="36576" bIns="36576">
            <a:spAutoFit/>
          </a:bodyPr>
          <a:lstStyle/>
          <a:p>
            <a:pPr algn="l"/>
            <a:r>
              <a:rPr sz="2200" b="1">
                <a:solidFill>
                  <a:srgbClr val="1F2A44"/>
                </a:solidFill>
                <a:latin typeface="Calibri"/>
              </a:rPr>
              <a:t>1  D  </a:t>
            </a:r>
            <a:r>
              <a:rPr sz="2200" b="0">
                <a:solidFill>
                  <a:srgbClr val="1F2A44"/>
                </a:solidFill>
                <a:latin typeface="Calibri"/>
              </a:rPr>
              <a:t>30</a:t>
            </a:r>
            <a:r>
              <a:rPr sz="2200" b="0">
                <a:solidFill>
                  <a:srgbClr val="7A4B00"/>
                </a:solidFill>
                <a:latin typeface="Calibri"/>
              </a:rPr>
              <a:t>  (§ 19 JArbSchG (unter 16 Jahren))</a:t>
            </a:r>
          </a:p>
        </p:txBody>
      </p:sp>
      <p:sp>
        <p:nvSpPr>
          <p:cNvPr id="20" name="Rectangle 19"/>
          <p:cNvSpPr/>
          <p:nvPr/>
        </p:nvSpPr>
        <p:spPr>
          <a:xfrm>
            <a:off x="640080" y="2395728"/>
            <a:ext cx="10881360" cy="8412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2395728"/>
            <a:ext cx="10607040" cy="841248"/>
          </a:xfrm>
          <a:prstGeom prst="rect">
            <a:avLst/>
          </a:prstGeom>
          <a:noFill/>
        </p:spPr>
        <p:txBody>
          <a:bodyPr wrap="square" anchor="ctr" tIns="36576" bIns="36576">
            <a:spAutoFit/>
          </a:bodyPr>
          <a:lstStyle/>
          <a:p>
            <a:pPr algn="l"/>
            <a:r>
              <a:rPr sz="2200" b="1">
                <a:solidFill>
                  <a:srgbClr val="1F2A44"/>
                </a:solidFill>
                <a:latin typeface="Calibri"/>
              </a:rPr>
              <a:t>2  C  </a:t>
            </a:r>
            <a:r>
              <a:rPr sz="2200" b="0">
                <a:solidFill>
                  <a:srgbClr val="1F2A44"/>
                </a:solidFill>
                <a:latin typeface="Calibri"/>
              </a:rPr>
              <a:t>Nein, höchstens vier Monate</a:t>
            </a:r>
            <a:r>
              <a:rPr sz="2200" b="0">
                <a:solidFill>
                  <a:srgbClr val="7A4B00"/>
                </a:solidFill>
                <a:latin typeface="Calibri"/>
              </a:rPr>
              <a:t>  (§ 20 BBiG)</a:t>
            </a:r>
          </a:p>
        </p:txBody>
      </p:sp>
      <p:sp>
        <p:nvSpPr>
          <p:cNvPr id="22" name="Rectangle 21"/>
          <p:cNvSpPr/>
          <p:nvPr/>
        </p:nvSpPr>
        <p:spPr>
          <a:xfrm>
            <a:off x="640080" y="3328416"/>
            <a:ext cx="10881360" cy="8412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328416"/>
            <a:ext cx="10607040" cy="841248"/>
          </a:xfrm>
          <a:prstGeom prst="rect">
            <a:avLst/>
          </a:prstGeom>
          <a:noFill/>
        </p:spPr>
        <p:txBody>
          <a:bodyPr wrap="square" anchor="ctr" tIns="36576" bIns="36576">
            <a:spAutoFit/>
          </a:bodyPr>
          <a:lstStyle/>
          <a:p>
            <a:pPr algn="l"/>
            <a:r>
              <a:rPr sz="2200" b="1">
                <a:solidFill>
                  <a:srgbClr val="1F2A44"/>
                </a:solidFill>
                <a:latin typeface="Calibri"/>
              </a:rPr>
              <a:t>3  C  </a:t>
            </a:r>
            <a:r>
              <a:rPr sz="2200" b="0">
                <a:solidFill>
                  <a:srgbClr val="1F2A44"/>
                </a:solidFill>
                <a:latin typeface="Calibri"/>
              </a:rPr>
              <a:t>Nein, die Kündigung muss schriftlich mit Angabe der Gründe erfolgen</a:t>
            </a:r>
            <a:r>
              <a:rPr sz="2200" b="0">
                <a:solidFill>
                  <a:srgbClr val="7A4B00"/>
                </a:solidFill>
                <a:latin typeface="Calibri"/>
              </a:rPr>
              <a:t>  (§ 22 Abs. 2 und 3 BBiG)</a:t>
            </a:r>
          </a:p>
        </p:txBody>
      </p:sp>
      <p:sp>
        <p:nvSpPr>
          <p:cNvPr id="24" name="Rectangle 23"/>
          <p:cNvSpPr/>
          <p:nvPr/>
        </p:nvSpPr>
        <p:spPr>
          <a:xfrm>
            <a:off x="640080" y="4261104"/>
            <a:ext cx="10881360" cy="8412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4261104"/>
            <a:ext cx="10607040" cy="841248"/>
          </a:xfrm>
          <a:prstGeom prst="rect">
            <a:avLst/>
          </a:prstGeom>
          <a:noFill/>
        </p:spPr>
        <p:txBody>
          <a:bodyPr wrap="square" anchor="ctr" tIns="36576" bIns="36576">
            <a:spAutoFit/>
          </a:bodyPr>
          <a:lstStyle/>
          <a:p>
            <a:pPr algn="l"/>
            <a:r>
              <a:rPr sz="2200" b="1">
                <a:solidFill>
                  <a:srgbClr val="1F2A44"/>
                </a:solidFill>
                <a:latin typeface="Calibri"/>
              </a:rPr>
              <a:t>4  C  </a:t>
            </a:r>
            <a:r>
              <a:rPr sz="2200" b="0">
                <a:solidFill>
                  <a:srgbClr val="1F2A44"/>
                </a:solidFill>
                <a:latin typeface="Calibri"/>
              </a:rPr>
              <a:t>Nein, im 2. Jahr gelten mindestens 854 €</a:t>
            </a:r>
            <a:r>
              <a:rPr sz="2200" b="0">
                <a:solidFill>
                  <a:srgbClr val="7A4B00"/>
                </a:solidFill>
                <a:latin typeface="Calibri"/>
              </a:rPr>
              <a:t>  (§ 17 BBiG)</a:t>
            </a:r>
          </a:p>
        </p:txBody>
      </p:sp>
      <p:sp>
        <p:nvSpPr>
          <p:cNvPr id="26" name="Rectangle 25"/>
          <p:cNvSpPr/>
          <p:nvPr/>
        </p:nvSpPr>
        <p:spPr>
          <a:xfrm>
            <a:off x="640080" y="5193792"/>
            <a:ext cx="10881360" cy="84124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193792"/>
            <a:ext cx="10607040" cy="841248"/>
          </a:xfrm>
          <a:prstGeom prst="rect">
            <a:avLst/>
          </a:prstGeom>
          <a:noFill/>
        </p:spPr>
        <p:txBody>
          <a:bodyPr wrap="square" anchor="ctr" tIns="36576" bIns="36576">
            <a:spAutoFit/>
          </a:bodyPr>
          <a:lstStyle/>
          <a:p>
            <a:pPr algn="l"/>
            <a:r>
              <a:rPr sz="2200" b="1">
                <a:solidFill>
                  <a:srgbClr val="1F2A44"/>
                </a:solidFill>
                <a:latin typeface="Calibri"/>
              </a:rPr>
              <a:t>5  B  </a:t>
            </a:r>
            <a:r>
              <a:rPr sz="2200" b="0">
                <a:solidFill>
                  <a:srgbClr val="1F2A44"/>
                </a:solidFill>
                <a:latin typeface="Calibri"/>
              </a:rPr>
              <a:t>Ja, nach dem Arbeitszeitgesetz, wenn der Durchschnitt von 8 Stunden nicht überschritten wird</a:t>
            </a:r>
            <a:r>
              <a:rPr sz="2200" b="0">
                <a:solidFill>
                  <a:srgbClr val="7A4B00"/>
                </a:solidFill>
                <a:latin typeface="Calibri"/>
              </a:rPr>
              <a:t>  (§ 3 ArbZG)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