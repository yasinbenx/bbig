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äsentation" id="{c9d9b2e7-e32e-0de2-16fa-32323a09e4b3}">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Anastasiia
Guten Morgen zusammen. Wir sind Anastasiia, Charlene, Melanie und Yasin, und heute geht es um die Frage: Wie viel Markt – wie viel Staat? Dahinter steckt das Thema Wirtschaftsordnungen. Wir vergleichen vier Länder: Deutschland, Marokko, die Ukraine und Kuba. Ihr seht unten den Messbalken von Markt bis Staat – den werdet ihr in der ganzen Präsentation wiederfinden, und die vier Punkte zeigen, wo wir die Länder grob einordnen.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Anastasiia
Das ist unser Plan. Erstens die Grundlagen: Was ist überhaupt eine Wirtschaftsordnung? Zweitens die Grundformen: Marktwirtschaft, Zentralverwaltungswirtschaft und die Soziale Marktwirtschaft. Drittens die Realität: Wie sieht es in Deutschland, Marokko, der Ukraine und Kuba aus? Viertens ein Praxischeck: Was bedeutet die Wirtschaftsordnung für ein Unternehmen? Fünftens gehen wir von der Theorie bis zur konkreten Café-Gründung. Und sechstens das Fazit: Markt, Staat – oder beides?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Anastasiia
Eine Wirtschaftsordnung legt die grundlegenden Regeln fest, nach denen eine Volkswirtschaft funktioniert. Fünf Fragen helfen uns dabei. Was wird produziert – Lebensmittel, Autos, Wohnungen? Wie wird produziert – entscheiden Unternehmen selbst oder wird zentral geplant? Wer trifft die Entscheidungen – Unternehmen, Verbraucher oder staatliche Stellen? Für wen wird produziert, also wie werden Güter verteilt – über Märkte und Kaufkraft oder durch staatliche Steuerung? Und: Wem gehören die Unternehmen und Produktionsmittel – Privaten oder dem Staat? Je nachdem, wie diese Fragen beantwortet werden, entstehen unterschiedliche Wirtschaftsordnungen.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Charlene
Es gibt zwei Grundformen, die man Idealtypen nennt. Links die freie Marktwirtschaft: Unternehmen und Verbraucher entscheiden, das Eigentum ist überwiegend privat, die Preise entstehen durch Angebot und Nachfrage, geplant wird dezentral durch die Unternehmen, und der Wettbewerb ist das zentrale Steuerungselement. Rechts die Zentralverwaltungswirtschaft: Hier entscheiden zentrale staatliche Stellen, die Produktionsmittel sind überwiegend staatlich, Preise und Mengen können zentral festgelegt werden, die Planung läuft zentral, und der Wettbewerb ist stark eingeschränkt. Wichtig: Reale Wirtschaftsordnungen entsprechen diesen Modellen meist nicht vollständig.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Charlene
Ein einfaches Beispiel: eine Bäckerei. In der Marktwirtschaft entscheidet die Bäckerei selbst: Welche Brote backen wir? Wie viele? Zu welchem Preis? Wo kaufen wir Zutaten? Wie reagieren wir auf Konkurrenz? Die Nachfrage der Kunden beeinflusst diese Entscheidungen. Bei zentraler Planung bestimmt dagegen eine zentrale Stelle die Produktionsmenge, die Ressourcenverteilung, das Sortiment, die Preise und die Verteilung. Nicht die einzelne Bäckerei, sondern die zentrale Planung koordiniert die wesentlichen Entscheidungen. Dieselbe wirtschaftliche Aufgabe, zwei unterschiedliche Wege der Steuerung. Das ist ein vereinfachtes Anschauungsbeispiel.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Charlene
Beide Systeme haben Stärken und Schwächen. Die Marktwirtschaft bringt Wettbewerb, Innovation, große Auswahl, Eigeninitiative und eine flexible Reaktion auf die Nachfrage. Mögliche Probleme sind soziale Ungleichheit, die Marktmacht einzelner Unternehmen, Umweltbelastungen und externe Kosten – und gesellschaftlich wichtige Leistungen werden nicht automatisch ausreichend angeboten. Bei stärkerer Planung können Ressourcen gezielt gesteuert, die Versorgung politisch priorisiert, soziale Ziele direkt verfolgt und langfristig geplant werden. Die Probleme: ein sehr hoher Informationsbedarf, die Gefahr von Fehlplanung, weniger Wettbewerb, langsamere Anpassung und geringere Innovationsanreize.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Melanie
Zwischen den beiden Extremen steht die Soziale Marktwirtschaft. Ihr Leitgedanke: Markt nutzen, Wettbewerb sichern, sozial absichern. Sie verbindet Wettbewerb, Privateigentum und Gewinnorientierung mit sozialem Ausgleich. Der Markt liefert Wettbewerb, Privateigentum, Unternehmensfreiheit, Angebot und Nachfrage und grundsätzlich freie Preisbildung. Der Staat setzt den Rechtsrahmen, schützt den Wettbewerb, sichert soziale Risiken ab, schützt Verbraucher und Beschäftigte und greift bei bestimmten Marktproblemen ein. Der soziale Ausgleich sind Sozialleistungen, die Absicherung von Lebensrisiken, Arbeitnehmerrechte, Teilhabe und Schutz.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Melanie
Noch einmal die Bäckerei, diesmal in der Sozialen Marktwirtschaft. Die Bäckerei entscheidet selbst, im Rahmen der Marktregeln: Was verkaufe ich, zum Beispiel Brötchen, Brot oder Kuchen? Wie viel produziere ich, 50 oder 200 Brötchen? Welchen Preis verlange ich, etwa 0,50 Euro pro Brötchen? Aber sie muss Regeln einhalten: Arbeitsrecht mit Arbeitszeiten und Arbeitsschutz, Lebensmittelrecht mit Hygienevorschriften und Kennzeichnung, den Mindestlohn und das Steuerrecht. Der Staat entscheidet also nicht, wie viele Brötchen die Bäckerei morgen backen muss. Er bestimmt aber einen Teil der Spielregeln. Diese Folie ist ein KI-Inhalt, den wir geprüft haben.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Melanie
Reale Volkswirtschaften sind Mischformen. Auf dem Messbalken seht ihr links mehr Markt, rechts mehr staatliche Lenkung. Deutschland liegt eher links, Marokko etwas weiter in der Mitte, die Ukraine noch etwas weiter Richtung Staat, und Kuba am weitesten rechts. Marktwirtschaftlich geprägte Länder haben Märkte, Wettbewerb und private Unternehmen, der Staat setzt den Rahmen. Stärker staatlich geprägte Systeme geben dem Staat eine größere Rolle, trotzdem können private Unternehmen und Marktmechanismen bestehen. Und: Wirtschaftsordnungen können sich verändern. Entscheidend ist nicht Markt ODER Staat, sondern wie beide miteinander verbunden sind.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Melanie
Jetzt schauen wir auf die vier Länder. Wir stellen allen dieselben sechs Fragen, aber die Länder haben eine unterschiedliche Geschichte, andere Institutionen und aktuelle Herausforderungen. Die Fragen: Eigentum – wem gehören Unternehmen und Produktionsmittel? Entscheidungen – wer entscheidet über Produktion und Investitionen? Preisbildung – am Markt oder staatlich beeinflusst? Wettbewerb – wie frei konkurrieren Unternehmen? Rolle des Staates – setzt er hauptsächlich Regeln oder steuert er unmittelbar? Und soziale Sicherung – wie werden soziale Risiken abgesichert?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Yasin
Deutschland ist eine Soziale Marktwirtschaft. Private Unternehmen und freie Preisbildung prägen den Alltag, der Staat setzt Wettbewerbs-, Arbeits- und Sozialregeln. Tarifautonomie und soziale Sicherung sind wichtige Bausteine. Seit 1949 prägt dieses Modell die Bundesrepublik. Wettbewerb wird staatlich geschützt, zum Beispiel durch Kartellverbot, Missbrauchsaufsicht und Fusionskontrolle. Bei der Tarifautonomie handeln Gewerkschaften und Arbeitgeber Löhne und Arbeitsbedingungen grundsätzlich selbst aus. Die Besonderheit: die Verbindung von Markt und Sozialstaat.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Yasin
Marokko ist eine Marktwirtschaft mit starker Staatsrolle. Private Unternehmen und Märkte sind zentral, zugleich prägt der Staat strategische Bereiche, Infrastruktur und Förderung. Informelle Arbeit bleibt für viele Menschen wirtschaftlich bedeutsam – 69,4 Prozent der Beschäftigung waren 2024 informell. Dazu kommen starke öffentliche Investitionen, besonders in Infrastruktur, und Reformen, die Wettbewerb und private Investitionen stärken sollen. Die Besonderheit: ein großer informeller Sektor neben einer modernen Privatwirtschaft.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Yasin
Die Ukraine ist heute marktwirtschaftlich geprägt, private Unternehmen und Wettbewerb spielen eine wichtige Rolle. Gleichzeitig führen Krieg und Wiederaufbau zu starken staatlichen Eingriffen, während sich das Land wirtschaftlich weiter an die EU annähert. Zur Geschichte: Bis 1991 Planwirtschaft in der Sowjetunion, von 1991 bis 2013 Übergang mit Privatisierung und neuen Märkten, seit 2014 Reformen und eine stärkere EU-Orientierung, seit 2022 Kriegswirtschaft, Wiederaufbau und große Staatsaufgaben. Die heutige Ordnung ist ohne diese historischen Brüche nicht zu verstehen.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Charlene
Kuba ist eine staatsdominierte Planwirtschaft mit zunehmenden Marktöffnungen. Der Staat kontrolliert weiterhin wichtige Wirtschaftsbereiche. Seit den Reformen 2026 erhalten private Unternehmen aber deutlich mehr Spielraum: größere Betriebe, private Banken und private Investitionen sollen möglich werden. Trotzdem bleibt der Staat ein zentraler wirtschaftlicher Akteur. Über 175 Reformmaßnahmen gibt es seit Juni 2026, private Unternehmen mit mehr als 100 Beschäftigten sind möglich, und fast 200 Privatunternehmen haben eine Genehmigung für den Treibstoffhandel. Die Besonderheit: staatliche Dominanz trotz zunehmender Marktöffnung.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Charlene
Jetzt der direkte Vergleich, in drei Teilen. Erste Frage, Eigentum: In Deutschland überwiegend privat, daneben staatliche Unternehmen wie bei der Infrastruktur. In Marokko ebenfalls überwiegend privat, aber viele strategische Bereiche wie Energie sind in staatlicher Hand. In der Ukraine seit 1991 Privatisierung, der Staat behält wichtige strategische Unternehmen. In Kuba überwiegend staatlich, private Unternehmen nur in geringem Umfang. Zweite Frage, Entscheidungen: Deutschland und Marokko entscheiden Unternehmen weitgehend selbst, in Marokko lenkt der Staat in strategischen Bereichen. In der Ukraine greift der Staat seit 2014 und 2022 stärker ein. In Kuba entscheidet der Staat durch zentrale Planung. Diese Tabelle ist ein KI-Inhalt.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Melanie
Dritte Frage, Preisbildung: In Deutschland entstehen Preise am Markt, mit staatlichen Eingriffen in bestimmten Bereichen. In Marokko gibt es überwiegend Marktpreise, aber staatliche Einflussnahme zum Beispiel bei Energie und Grundnahrungsmitteln. In der Ukraine ebenfalls überwiegend Marktpreise, in Krisenzeiten aber Preisregulierungen. In Kuba werden Preise größtenteils staatlich festgelegt, das sind die Planpreise. Vierte Frage, Wettbewerb: Deutschland hat freien Wettbewerb, der Staat verhindert Monopole. In Marokko gibt es Wettbewerb, aber teils starke staatliche Einflussnahme und marktbeherrschende Staatsunternehmen. In der Ukraine ist Wettbewerb durch Krieg und staatliche Eingriffe teils eingeschränkt. In Kuba gibt es kaum Wettbewerb.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Melanie
Fünfte Frage, Rolle des Staates: In Deutschland setzt der Staat den rechtlichen Rahmen und greift in bestimmten Bereichen ein, etwa in der Sozial-, Umwelt- und Wirtschaftspolitik. In Marokko spielt er eine starke lenkende Rolle, vor allem in strategischen Sektoren. In der Ukraine setzt er den Rahmen und greift in Krisenzeiten stärker ein, zum Beispiel bei Verteidigung und Wiederaufbau. In Kuba steuert er die Wirtschaft unmittelbar durch zentrale Planung und Weisungen. Sechste Frage, soziale Sicherung: Deutschland hat ein umfassendes Sozialsystem. Marokko hat staatliche Sozialprogramme, aber geringere Absicherung. Die Ukraine hat ein Sozialsystem, das durch den Krieg stark unter Druck steht. Kuba bietet grundlegende Absicherung, aber mit begrenzten Ressourcen.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Yasin
Jetzt wird es praktisch. Stellt euch vor, ihr wollt ein Café eröffnen. Was bedeutet die Wirtschaftsordnung dann konkret? Vier Fragen: Wer darf gründen? Wer setzt die Preise? Welche Regeln gelten? Und woher kommen die Waren? Schon diese vier Fragen zeigen, wie stark die Ordnung eines Landes unsere Entscheidungen als Unternehmer beeinflusst.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Yasin
Und so sieht das in den vier Ländern aus. In allen vier Ländern ist eine private Gründung möglich. In Deutschland gibt es freie unternehmerische Entscheidungen, aber klare Regeln zu Arbeit, Steuern und Hygiene. In Marokko können Finanzierung, Bürokratie und Formalisierung wichtige Hürden sein. In der Ukraine erhöhen Krieg, Energieversorgung und Wiederaufbau die wirtschaftlichen Risiken. In Kuba ist die private Gründung zunehmend möglich, die Reformen 2026 erweitern den Spielraum, aber staatliche Vorgaben und Versorgungsprobleme bleiben prägend. Auch das ist ein KI-Inhalt.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Yasin
Zum Fazit: Markt und Staat sind kein Entweder-oder. Reale Volkswirtschaften sind Mischformen, und sie unterscheiden sich darin, wie stark Markt und Staat wirtschaftliche Entscheidungen beeinflussen. Staatliche Eingriffe bedeuten nicht automatisch Planwirtschaft, und mehr Privatwirtschaft bedeutet nicht automatisch freie Marktwirtschaft. Wirtschaftsordnungen verändern sich – besonders sichtbar an der Ukraine und an Kuba. Nicht das Etikett entscheidet, sondern die konkrete Mischung aus Markt, Staat und sozialer Absicherung.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alle
Vielen Dank für eure Aufmerksamkeit! Wenn ihr noch Fragen, Kritik oder Feedback habt, freuen wir uns darauf. Das waren Anastasiia, Charlene, Melanie und Yasin.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
Das Glossar ist für Rückfragen gedacht und wird nicht vorgelesen. Bei Fragen zu einem Begriff, zum Beispiel Informeller Sektor oder Tarifautonomie, einfach hierher springen und die Definition vorlesen.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
Zu den Quellen: bpb für die Grundlagen, World Bank für Marokko, die EU-Kommission für die Ukraine, Reuters und AFP für Kuba. Drei Inhalte sind KI-generiert, nämlich die Bäckerei-Infografik, der Länder-Vergleich und die Café-Folie. Wir haben sie anhand der genannten Quellen geprüft.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583680" cy="7315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457200" y="4864608"/>
            <a:ext cx="5486400" cy="201168"/>
          </a:xfrm>
          <a:prstGeom prst="rect">
            <a:avLst/>
          </a:prstGeom>
          <a:noFill/>
          <a:ln/>
        </p:spPr>
        <p:txBody>
          <a:bodyPr wrap="square" lIns="0" tIns="0" rIns="0" bIns="0" rtlCol="0" anchor="ctr"/>
          <a:lstStyle/>
          <a:p>
            <a:pPr indent="0" marL="0">
              <a:buNone/>
            </a:pPr>
            <a:r>
              <a:rPr lang="en-US" sz="1000" dirty="0">
                <a:solidFill>
                  <a:srgbClr val="5B6B82"/>
                </a:solidFill>
              </a:rPr>
              <a:t>Quellen: bpb.de, Wikipedia, 3 KI-Inhalte</a:t>
            </a:r>
            <a:endParaRPr lang="en-US" sz="10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P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5212080" cy="7315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457200" y="4864608"/>
            <a:ext cx="5486400" cy="201168"/>
          </a:xfrm>
          <a:prstGeom prst="rect">
            <a:avLst/>
          </a:prstGeom>
          <a:noFill/>
          <a:ln/>
        </p:spPr>
        <p:txBody>
          <a:bodyPr wrap="square" lIns="0" tIns="0" rIns="0" bIns="0" rtlCol="0" anchor="ctr"/>
          <a:lstStyle/>
          <a:p>
            <a:pPr indent="0" marL="0">
              <a:buNone/>
            </a:pPr>
            <a:r>
              <a:rPr lang="en-US" sz="1000" dirty="0">
                <a:solidFill>
                  <a:srgbClr val="5B6B82"/>
                </a:solidFill>
              </a:rPr>
              <a:t>Quellen: bpb.de, Wikipedia, 3 KI-Inhalte</a:t>
            </a:r>
            <a:endParaRPr lang="en-US" sz="10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SM">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583680" cy="731520"/>
          </a:xfrm>
          <a:prstGeom prst="rect">
            <a:avLst/>
          </a:prstGeom>
          <a:noFill/>
          <a:ln/>
        </p:spPr>
        <p:txBody>
          <a:bodyPr wrap="square" rtlCol="0"/>
          <a:lstStyle>
            <a:lvl1pPr algn="l" indent="0" marL="0">
              <a:buNone/>
              <a:defRPr lang="en-US" sz="2400" b="1" dirty="0">
                <a:solidFill>
                  <a:schemeClr val="tx2"/>
                </a:solidFill>
              </a:defRPr>
            </a:lvl1pPr>
          </a:lstStyle>
          <a:p>
            <a:pPr algn="l" indent="0" marL="0">
              <a:buNone/>
            </a:pPr>
            <a:endParaRPr lang="en-US" sz="2400" dirty="0"/>
          </a:p>
        </p:txBody>
      </p:sp>
      <p:sp>
        <p:nvSpPr>
          <p:cNvPr id="3" name="Text 0"/>
          <p:cNvSpPr/>
          <p:nvPr/>
        </p:nvSpPr>
        <p:spPr>
          <a:xfrm>
            <a:off x="457200" y="4864608"/>
            <a:ext cx="5486400" cy="201168"/>
          </a:xfrm>
          <a:prstGeom prst="rect">
            <a:avLst/>
          </a:prstGeom>
          <a:noFill/>
          <a:ln/>
        </p:spPr>
        <p:txBody>
          <a:bodyPr wrap="square" lIns="0" tIns="0" rIns="0" bIns="0" rtlCol="0" anchor="ctr"/>
          <a:lstStyle/>
          <a:p>
            <a:pPr indent="0" marL="0">
              <a:buNone/>
            </a:pPr>
            <a:r>
              <a:rPr lang="en-US" sz="1000" dirty="0">
                <a:solidFill>
                  <a:srgbClr val="5B6B82"/>
                </a:solidFill>
              </a:rPr>
              <a:t>Quellen: bpb.de, Wikipedia, 3 KI-Inhalte</a:t>
            </a:r>
            <a:endParaRPr lang="en-US" sz="10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PR_SM">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5212080" cy="731520"/>
          </a:xfrm>
          <a:prstGeom prst="rect">
            <a:avLst/>
          </a:prstGeom>
          <a:noFill/>
          <a:ln/>
        </p:spPr>
        <p:txBody>
          <a:bodyPr wrap="square" rtlCol="0"/>
          <a:lstStyle>
            <a:lvl1pPr algn="l" indent="0" marL="0">
              <a:buNone/>
              <a:defRPr lang="en-US" sz="2400" b="1" dirty="0">
                <a:solidFill>
                  <a:schemeClr val="tx2"/>
                </a:solidFill>
              </a:defRPr>
            </a:lvl1pPr>
          </a:lstStyle>
          <a:p>
            <a:pPr algn="l" indent="0" marL="0">
              <a:buNone/>
            </a:pPr>
            <a:endParaRPr lang="en-US" sz="2400" dirty="0"/>
          </a:p>
        </p:txBody>
      </p:sp>
      <p:sp>
        <p:nvSpPr>
          <p:cNvPr id="3" name="Text 0"/>
          <p:cNvSpPr/>
          <p:nvPr/>
        </p:nvSpPr>
        <p:spPr>
          <a:xfrm>
            <a:off x="457200" y="4864608"/>
            <a:ext cx="5486400" cy="201168"/>
          </a:xfrm>
          <a:prstGeom prst="rect">
            <a:avLst/>
          </a:prstGeom>
          <a:noFill/>
          <a:ln/>
        </p:spPr>
        <p:txBody>
          <a:bodyPr wrap="square" lIns="0" tIns="0" rIns="0" bIns="0" rtlCol="0" anchor="ctr"/>
          <a:lstStyle/>
          <a:p>
            <a:pPr indent="0" marL="0">
              <a:buNone/>
            </a:pPr>
            <a:r>
              <a:rPr lang="en-US" sz="1000" dirty="0">
                <a:solidFill>
                  <a:srgbClr val="5B6B82"/>
                </a:solidFill>
              </a:rPr>
              <a:t>Quellen: bpb.de, Wikipedia, 3 KI-Inhalte</a:t>
            </a:r>
            <a:endParaRPr lang="en-US" sz="10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_PL">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749040" y="365760"/>
            <a:ext cx="4937760" cy="7315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457200" y="4864608"/>
            <a:ext cx="5486400" cy="201168"/>
          </a:xfrm>
          <a:prstGeom prst="rect">
            <a:avLst/>
          </a:prstGeom>
          <a:noFill/>
          <a:ln/>
        </p:spPr>
        <p:txBody>
          <a:bodyPr wrap="square" lIns="0" tIns="0" rIns="0" bIns="0" rtlCol="0" anchor="ctr"/>
          <a:lstStyle/>
          <a:p>
            <a:pPr indent="0" marL="0">
              <a:buNone/>
            </a:pPr>
            <a:r>
              <a:rPr lang="en-US" sz="1000" dirty="0">
                <a:solidFill>
                  <a:srgbClr val="5B6B82"/>
                </a:solidFill>
              </a:rPr>
              <a:t>Quellen: bpb.de, Wikipedia, 3 KI-Inhalte</a:t>
            </a:r>
            <a:endParaRPr lang="en-US" sz="10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PANEL">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4800600"/>
          </a:xfrm>
          <a:prstGeom prst="rect">
            <a:avLst/>
          </a:prstGeom>
          <a:solidFill>
            <a:srgbClr val="0B1F3A"/>
          </a:solidFill>
          <a:ln/>
        </p:spPr>
      </p:sp>
      <p:sp>
        <p:nvSpPr>
          <p:cNvPr id="3" name="Text 1"/>
          <p:cNvSpPr/>
          <p:nvPr>
            <p:ph idx="101" type="title" hasCustomPrompt="1"/>
          </p:nvPr>
        </p:nvSpPr>
        <p:spPr>
          <a:xfrm>
            <a:off x="457200" y="457200"/>
            <a:ext cx="3383280" cy="137160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4" name="Text 1"/>
          <p:cNvSpPr/>
          <p:nvPr/>
        </p:nvSpPr>
        <p:spPr>
          <a:xfrm>
            <a:off x="457200" y="4864608"/>
            <a:ext cx="5486400" cy="201168"/>
          </a:xfrm>
          <a:prstGeom prst="rect">
            <a:avLst/>
          </a:prstGeom>
          <a:noFill/>
          <a:ln/>
        </p:spPr>
        <p:txBody>
          <a:bodyPr wrap="square" lIns="0" tIns="0" rIns="0" bIns="0" rtlCol="0" anchor="ctr"/>
          <a:lstStyle/>
          <a:p>
            <a:pPr indent="0" marL="0">
              <a:buNone/>
            </a:pPr>
            <a:r>
              <a:rPr lang="en-US" sz="1000" dirty="0">
                <a:solidFill>
                  <a:srgbClr val="5B6B82"/>
                </a:solidFill>
              </a:rPr>
              <a:t>Quellen: bpb.de, Wikipedia, 3 KI-Inhalte</a:t>
            </a:r>
            <a:endParaRPr lang="en-US" sz="10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ANEL_W">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846320" cy="4800600"/>
          </a:xfrm>
          <a:prstGeom prst="rect">
            <a:avLst/>
          </a:prstGeom>
          <a:solidFill>
            <a:srgbClr val="0B1F3A"/>
          </a:solidFill>
          <a:ln/>
        </p:spPr>
      </p:sp>
      <p:sp>
        <p:nvSpPr>
          <p:cNvPr id="3" name="Text 1"/>
          <p:cNvSpPr/>
          <p:nvPr>
            <p:ph idx="101" type="title" hasCustomPrompt="1"/>
          </p:nvPr>
        </p:nvSpPr>
        <p:spPr>
          <a:xfrm>
            <a:off x="457200" y="548640"/>
            <a:ext cx="4023360" cy="15544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1"/>
          <p:cNvSpPr/>
          <p:nvPr/>
        </p:nvSpPr>
        <p:spPr>
          <a:xfrm>
            <a:off x="457200" y="4864608"/>
            <a:ext cx="5486400" cy="201168"/>
          </a:xfrm>
          <a:prstGeom prst="rect">
            <a:avLst/>
          </a:prstGeom>
          <a:noFill/>
          <a:ln/>
        </p:spPr>
        <p:txBody>
          <a:bodyPr wrap="square" lIns="0" tIns="0" rIns="0" bIns="0" rtlCol="0" anchor="ctr"/>
          <a:lstStyle/>
          <a:p>
            <a:pPr indent="0" marL="0">
              <a:buNone/>
            </a:pPr>
            <a:r>
              <a:rPr lang="en-US" sz="1000" dirty="0">
                <a:solidFill>
                  <a:srgbClr val="5B6B82"/>
                </a:solidFill>
              </a:rPr>
              <a:t>Quellen: bpb.de, Wikipedia, 3 KI-Inhalte</a:t>
            </a:r>
            <a:endParaRPr lang="en-US" sz="10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ARK">
    <p:bg>
      <p:bgPr>
        <a:solidFill>
          <a:srgbClr val="0B1F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583680"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457200" y="4864608"/>
            <a:ext cx="5486400" cy="201168"/>
          </a:xfrm>
          <a:prstGeom prst="rect">
            <a:avLst/>
          </a:prstGeom>
          <a:noFill/>
          <a:ln/>
        </p:spPr>
        <p:txBody>
          <a:bodyPr wrap="square" lIns="0" tIns="0" rIns="0" bIns="0" rtlCol="0" anchor="ctr"/>
          <a:lstStyle/>
          <a:p>
            <a:pPr indent="0" marL="0">
              <a:buNone/>
            </a:pPr>
            <a:r>
              <a:rPr lang="en-US" sz="1000" dirty="0">
                <a:solidFill>
                  <a:srgbClr val="9DB0CC"/>
                </a:solidFill>
              </a:rPr>
              <a:t>Quellen: bpb.de, Wikipedia, 3 KI-Inhalte</a:t>
            </a:r>
            <a:endParaRPr lang="en-US" sz="10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9DB0CC"/>
                </a:solidFill>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p:bg>
      <p:bgPr>
        <a:solidFill>
          <a:srgbClr val="0B1F3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0.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7.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7.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6.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5.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6.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8.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9.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0.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arktstand mit Obst">    </p:cNvPr>
          <p:cNvPicPr>
            <a:picLocks noChangeAspect="1"/>
          </p:cNvPicPr>
          <p:nvPr/>
        </p:nvPicPr>
        <p:blipFill>
          <a:blip r:embed="rId1"/>
          <a:stretch>
            <a:fillRect/>
          </a:stretch>
        </p:blipFill>
        <p:spPr>
          <a:xfrm>
            <a:off x="6126480" y="0"/>
            <a:ext cx="3017520" cy="5143500"/>
          </a:xfrm>
          <a:prstGeom prst="rect">
            <a:avLst/>
          </a:prstGeom>
        </p:spPr>
      </p:pic>
      <p:sp>
        <p:nvSpPr>
          <p:cNvPr id="3" name="Icon-Kreis"/>
          <p:cNvSpPr/>
          <p:nvPr/>
        </p:nvSpPr>
        <p:spPr>
          <a:xfrm>
            <a:off x="457200" y="457200"/>
            <a:ext cx="384048" cy="384048"/>
          </a:xfrm>
          <a:prstGeom prst="ellipse">
            <a:avLst/>
          </a:prstGeom>
          <a:solidFill>
            <a:schemeClr val="accent1"/>
          </a:solidFill>
          <a:ln w="12700">
            <a:solidFill>
              <a:schemeClr val="accent1"/>
            </a:solidFill>
            <a:prstDash val="solid"/>
          </a:ln>
        </p:spPr>
      </p:sp>
      <p:pic>
        <p:nvPicPr>
          <p:cNvPr id="4" name="Image 1" descr="Globe">    </p:cNvPr>
          <p:cNvPicPr>
            <a:picLocks noChangeAspect="1"/>
          </p:cNvPicPr>
          <p:nvPr/>
        </p:nvPicPr>
        <p:blipFill>
          <a:blip r:embed="rId2"/>
          <a:stretch>
            <a:fillRect/>
          </a:stretch>
        </p:blipFill>
        <p:spPr>
          <a:xfrm>
            <a:off x="549372" y="549372"/>
            <a:ext cx="199705" cy="199705"/>
          </a:xfrm>
          <a:prstGeom prst="rect">
            <a:avLst/>
          </a:prstGeom>
        </p:spPr>
      </p:pic>
      <p:sp>
        <p:nvSpPr>
          <p:cNvPr id="5" name="Text 1"/>
          <p:cNvSpPr txBox="1"/>
          <p:nvPr/>
        </p:nvSpPr>
        <p:spPr>
          <a:xfrm>
            <a:off x="960120" y="457200"/>
            <a:ext cx="3657600" cy="384048"/>
          </a:xfrm>
          <a:prstGeom prst="rect">
            <a:avLst/>
          </a:prstGeom>
          <a:noFill/>
          <a:ln/>
        </p:spPr>
        <p:txBody>
          <a:bodyPr wrap="square" lIns="0" tIns="0" rIns="0" bIns="0" rtlCol="0" anchor="ctr"/>
          <a:lstStyle/>
          <a:p>
            <a:pPr indent="0" marL="0">
              <a:buNone/>
            </a:pPr>
            <a:r>
              <a:rPr lang="en-US" sz="1300" b="1" spc="300" kern="0" dirty="0">
                <a:solidFill>
                  <a:schemeClr val="accent1"/>
                </a:solidFill>
              </a:rPr>
              <a:t>POLITIK PRÄSENTATION</a:t>
            </a:r>
            <a:endParaRPr lang="en-US" sz="1300" dirty="0"/>
          </a:p>
        </p:txBody>
      </p:sp>
      <p:sp>
        <p:nvSpPr>
          <p:cNvPr id="6" name="Text 2"/>
          <p:cNvSpPr txBox="1"/>
          <p:nvPr/>
        </p:nvSpPr>
        <p:spPr>
          <a:xfrm>
            <a:off x="457200" y="1097280"/>
            <a:ext cx="5486400" cy="1737360"/>
          </a:xfrm>
          <a:prstGeom prst="rect">
            <a:avLst/>
          </a:prstGeom>
          <a:noFill/>
          <a:ln/>
        </p:spPr>
        <p:txBody>
          <a:bodyPr wrap="square" lIns="0" tIns="0" rIns="0" bIns="0" rtlCol="0" anchor="t"/>
          <a:lstStyle/>
          <a:p>
            <a:pPr indent="0" marL="0">
              <a:buNone/>
            </a:pPr>
            <a:r>
              <a:rPr lang="en-US" sz="3800" b="1" dirty="0">
                <a:solidFill>
                  <a:schemeClr val="bg1"/>
                </a:solidFill>
                <a:latin typeface="Cambria" pitchFamily="34" charset="0"/>
                <a:ea typeface="Cambria" pitchFamily="34" charset="-122"/>
                <a:cs typeface="Cambria" pitchFamily="34" charset="-120"/>
              </a:rPr>
              <a:t>WIRTSCHAFTS-</a:t>
            </a:r>
            <a:endParaRPr lang="en-US" sz="3800" dirty="0"/>
          </a:p>
          <a:p>
            <a:pPr indent="0" marL="0">
              <a:buNone/>
            </a:pPr>
            <a:r>
              <a:rPr lang="en-US" sz="3800" b="1" dirty="0">
                <a:solidFill>
                  <a:schemeClr val="bg1"/>
                </a:solidFill>
                <a:latin typeface="Cambria" pitchFamily="34" charset="0"/>
                <a:ea typeface="Cambria" pitchFamily="34" charset="-122"/>
                <a:cs typeface="Cambria" pitchFamily="34" charset="-120"/>
              </a:rPr>
              <a:t>ORDNUNGEN</a:t>
            </a:r>
            <a:endParaRPr lang="en-US" sz="3800" dirty="0"/>
          </a:p>
          <a:p>
            <a:pPr indent="0" marL="0">
              <a:buNone/>
            </a:pPr>
            <a:r>
              <a:rPr lang="en-US" sz="3800" b="1" dirty="0">
                <a:solidFill>
                  <a:schemeClr val="bg1"/>
                </a:solidFill>
                <a:latin typeface="Cambria" pitchFamily="34" charset="0"/>
                <a:ea typeface="Cambria" pitchFamily="34" charset="-122"/>
                <a:cs typeface="Cambria" pitchFamily="34" charset="-120"/>
              </a:rPr>
              <a:t>IM VERGLEICH</a:t>
            </a:r>
            <a:endParaRPr lang="en-US" sz="3800" dirty="0"/>
          </a:p>
        </p:txBody>
      </p:sp>
      <p:sp>
        <p:nvSpPr>
          <p:cNvPr id="7" name="Text 3"/>
          <p:cNvSpPr txBox="1"/>
          <p:nvPr/>
        </p:nvSpPr>
        <p:spPr>
          <a:xfrm>
            <a:off x="457200" y="2926080"/>
            <a:ext cx="5486400" cy="365760"/>
          </a:xfrm>
          <a:prstGeom prst="rect">
            <a:avLst/>
          </a:prstGeom>
          <a:noFill/>
          <a:ln/>
        </p:spPr>
        <p:txBody>
          <a:bodyPr wrap="square" lIns="0" tIns="0" rIns="0" bIns="0" rtlCol="0" anchor="t"/>
          <a:lstStyle/>
          <a:p>
            <a:pPr indent="0" marL="0">
              <a:buNone/>
            </a:pPr>
            <a:r>
              <a:rPr lang="en-US" sz="1800" b="1" dirty="0">
                <a:solidFill>
                  <a:schemeClr val="accent1"/>
                </a:solidFill>
              </a:rPr>
              <a:t>WIE VIEL MARKT – WIE VIEL STAAT?</a:t>
            </a:r>
            <a:endParaRPr lang="en-US" sz="1800" dirty="0"/>
          </a:p>
        </p:txBody>
      </p:sp>
      <p:sp>
        <p:nvSpPr>
          <p:cNvPr id="8" name="Text 4"/>
          <p:cNvSpPr txBox="1"/>
          <p:nvPr/>
        </p:nvSpPr>
        <p:spPr>
          <a:xfrm>
            <a:off x="457200" y="3611880"/>
            <a:ext cx="2606040" cy="201168"/>
          </a:xfrm>
          <a:prstGeom prst="rect">
            <a:avLst/>
          </a:prstGeom>
          <a:noFill/>
          <a:ln/>
        </p:spPr>
        <p:txBody>
          <a:bodyPr wrap="square" lIns="0" tIns="0" rIns="0" bIns="0" rtlCol="0" anchor="t"/>
          <a:lstStyle/>
          <a:p>
            <a:pPr indent="0" marL="0">
              <a:buNone/>
            </a:pPr>
            <a:r>
              <a:rPr lang="en-US" sz="1200" b="1" spc="200" kern="0" dirty="0">
                <a:solidFill>
                  <a:srgbClr val="9DB8E0"/>
                </a:solidFill>
              </a:rPr>
              <a:t>MARKT</a:t>
            </a:r>
            <a:endParaRPr lang="en-US" sz="1200" dirty="0"/>
          </a:p>
        </p:txBody>
      </p:sp>
      <p:sp>
        <p:nvSpPr>
          <p:cNvPr id="9" name="Text 5"/>
          <p:cNvSpPr txBox="1"/>
          <p:nvPr/>
        </p:nvSpPr>
        <p:spPr>
          <a:xfrm>
            <a:off x="3063240" y="3611880"/>
            <a:ext cx="2606040" cy="201168"/>
          </a:xfrm>
          <a:prstGeom prst="rect">
            <a:avLst/>
          </a:prstGeom>
          <a:noFill/>
          <a:ln/>
        </p:spPr>
        <p:txBody>
          <a:bodyPr wrap="square" lIns="0" tIns="0" rIns="0" bIns="0" rtlCol="0" anchor="t"/>
          <a:lstStyle/>
          <a:p>
            <a:pPr algn="r" indent="0" marL="0">
              <a:buNone/>
            </a:pPr>
            <a:r>
              <a:rPr lang="en-US" sz="1200" b="1" spc="200" kern="0" dirty="0">
                <a:solidFill>
                  <a:schemeClr val="accent1"/>
                </a:solidFill>
              </a:rPr>
              <a:t>STAAT</a:t>
            </a:r>
            <a:endParaRPr lang="en-US" sz="1200" dirty="0"/>
          </a:p>
        </p:txBody>
      </p:sp>
      <p:sp>
        <p:nvSpPr>
          <p:cNvPr id="10" name="Messbalken Markt"/>
          <p:cNvSpPr/>
          <p:nvPr/>
        </p:nvSpPr>
        <p:spPr>
          <a:xfrm>
            <a:off x="457200" y="4069080"/>
            <a:ext cx="2606040" cy="64008"/>
          </a:xfrm>
          <a:prstGeom prst="rect">
            <a:avLst/>
          </a:prstGeom>
          <a:solidFill>
            <a:srgbClr val="9DB8E0"/>
          </a:solidFill>
          <a:ln/>
        </p:spPr>
      </p:sp>
      <p:sp>
        <p:nvSpPr>
          <p:cNvPr id="11" name="Messbalken Staat"/>
          <p:cNvSpPr/>
          <p:nvPr/>
        </p:nvSpPr>
        <p:spPr>
          <a:xfrm>
            <a:off x="3063240" y="4069080"/>
            <a:ext cx="2606040" cy="64008"/>
          </a:xfrm>
          <a:prstGeom prst="rect">
            <a:avLst/>
          </a:prstGeom>
          <a:solidFill>
            <a:schemeClr val="accent1"/>
          </a:solidFill>
          <a:ln/>
        </p:spPr>
      </p:sp>
      <p:sp>
        <p:nvSpPr>
          <p:cNvPr id="12" name="Messpunkt"/>
          <p:cNvSpPr/>
          <p:nvPr/>
        </p:nvSpPr>
        <p:spPr>
          <a:xfrm>
            <a:off x="1218895" y="3872484"/>
            <a:ext cx="457200" cy="457200"/>
          </a:xfrm>
          <a:prstGeom prst="ellipse">
            <a:avLst/>
          </a:prstGeom>
          <a:solidFill>
            <a:schemeClr val="bg1"/>
          </a:solidFill>
          <a:ln w="25400">
            <a:solidFill>
              <a:schemeClr val="bg1"/>
            </a:solidFill>
            <a:prstDash val="solid"/>
          </a:ln>
        </p:spPr>
      </p:sp>
      <p:sp>
        <p:nvSpPr>
          <p:cNvPr id="13" name="Text 9"/>
          <p:cNvSpPr txBox="1"/>
          <p:nvPr/>
        </p:nvSpPr>
        <p:spPr>
          <a:xfrm>
            <a:off x="1218895" y="3872484"/>
            <a:ext cx="457200" cy="457200"/>
          </a:xfrm>
          <a:prstGeom prst="rect">
            <a:avLst/>
          </a:prstGeom>
          <a:noFill/>
          <a:ln/>
        </p:spPr>
        <p:txBody>
          <a:bodyPr wrap="square" lIns="0" tIns="0" rIns="0" bIns="0" rtlCol="0" anchor="ctr"/>
          <a:lstStyle/>
          <a:p>
            <a:pPr algn="ctr" indent="0" marL="0">
              <a:buNone/>
            </a:pPr>
            <a:r>
              <a:rPr lang="en-US" sz="1100" b="1" dirty="0">
                <a:solidFill>
                  <a:schemeClr val="tx2"/>
                </a:solidFill>
              </a:rPr>
              <a:t>DE</a:t>
            </a:r>
            <a:endParaRPr lang="en-US" sz="1100" dirty="0"/>
          </a:p>
        </p:txBody>
      </p:sp>
      <p:sp>
        <p:nvSpPr>
          <p:cNvPr id="14" name="Messpunkt"/>
          <p:cNvSpPr/>
          <p:nvPr/>
        </p:nvSpPr>
        <p:spPr>
          <a:xfrm>
            <a:off x="2417674" y="3872484"/>
            <a:ext cx="457200" cy="457200"/>
          </a:xfrm>
          <a:prstGeom prst="ellipse">
            <a:avLst/>
          </a:prstGeom>
          <a:solidFill>
            <a:schemeClr val="bg1"/>
          </a:solidFill>
          <a:ln w="25400">
            <a:solidFill>
              <a:schemeClr val="bg1"/>
            </a:solidFill>
            <a:prstDash val="solid"/>
          </a:ln>
        </p:spPr>
      </p:sp>
      <p:sp>
        <p:nvSpPr>
          <p:cNvPr id="15" name="Text 11"/>
          <p:cNvSpPr txBox="1"/>
          <p:nvPr/>
        </p:nvSpPr>
        <p:spPr>
          <a:xfrm>
            <a:off x="2417674" y="3872484"/>
            <a:ext cx="457200" cy="457200"/>
          </a:xfrm>
          <a:prstGeom prst="rect">
            <a:avLst/>
          </a:prstGeom>
          <a:noFill/>
          <a:ln/>
        </p:spPr>
        <p:txBody>
          <a:bodyPr wrap="square" lIns="0" tIns="0" rIns="0" bIns="0" rtlCol="0" anchor="ctr"/>
          <a:lstStyle/>
          <a:p>
            <a:pPr algn="ctr" indent="0" marL="0">
              <a:buNone/>
            </a:pPr>
            <a:r>
              <a:rPr lang="en-US" sz="1100" b="1" dirty="0">
                <a:solidFill>
                  <a:schemeClr val="tx2"/>
                </a:solidFill>
              </a:rPr>
              <a:t>MA</a:t>
            </a:r>
            <a:endParaRPr lang="en-US" sz="1100" dirty="0"/>
          </a:p>
        </p:txBody>
      </p:sp>
      <p:sp>
        <p:nvSpPr>
          <p:cNvPr id="16" name="Messpunkt"/>
          <p:cNvSpPr/>
          <p:nvPr/>
        </p:nvSpPr>
        <p:spPr>
          <a:xfrm>
            <a:off x="3616452" y="3872484"/>
            <a:ext cx="457200" cy="457200"/>
          </a:xfrm>
          <a:prstGeom prst="ellipse">
            <a:avLst/>
          </a:prstGeom>
          <a:solidFill>
            <a:schemeClr val="bg1"/>
          </a:solidFill>
          <a:ln w="25400">
            <a:solidFill>
              <a:schemeClr val="bg1"/>
            </a:solidFill>
            <a:prstDash val="solid"/>
          </a:ln>
        </p:spPr>
      </p:sp>
      <p:sp>
        <p:nvSpPr>
          <p:cNvPr id="17" name="Text 13"/>
          <p:cNvSpPr txBox="1"/>
          <p:nvPr/>
        </p:nvSpPr>
        <p:spPr>
          <a:xfrm>
            <a:off x="3616452" y="3872484"/>
            <a:ext cx="457200" cy="457200"/>
          </a:xfrm>
          <a:prstGeom prst="rect">
            <a:avLst/>
          </a:prstGeom>
          <a:noFill/>
          <a:ln/>
        </p:spPr>
        <p:txBody>
          <a:bodyPr wrap="square" lIns="0" tIns="0" rIns="0" bIns="0" rtlCol="0" anchor="ctr"/>
          <a:lstStyle/>
          <a:p>
            <a:pPr algn="ctr" indent="0" marL="0">
              <a:buNone/>
            </a:pPr>
            <a:r>
              <a:rPr lang="en-US" sz="1100" b="1" dirty="0">
                <a:solidFill>
                  <a:schemeClr val="tx2"/>
                </a:solidFill>
              </a:rPr>
              <a:t>UA</a:t>
            </a:r>
            <a:endParaRPr lang="en-US" sz="1100" dirty="0"/>
          </a:p>
        </p:txBody>
      </p:sp>
      <p:sp>
        <p:nvSpPr>
          <p:cNvPr id="18" name="Messpunkt"/>
          <p:cNvSpPr/>
          <p:nvPr/>
        </p:nvSpPr>
        <p:spPr>
          <a:xfrm>
            <a:off x="4763110" y="3872484"/>
            <a:ext cx="457200" cy="457200"/>
          </a:xfrm>
          <a:prstGeom prst="ellipse">
            <a:avLst/>
          </a:prstGeom>
          <a:solidFill>
            <a:schemeClr val="bg1"/>
          </a:solidFill>
          <a:ln w="25400">
            <a:solidFill>
              <a:schemeClr val="bg1"/>
            </a:solidFill>
            <a:prstDash val="solid"/>
          </a:ln>
        </p:spPr>
      </p:sp>
      <p:sp>
        <p:nvSpPr>
          <p:cNvPr id="19" name="Text 15"/>
          <p:cNvSpPr txBox="1"/>
          <p:nvPr/>
        </p:nvSpPr>
        <p:spPr>
          <a:xfrm>
            <a:off x="4763110" y="3872484"/>
            <a:ext cx="457200" cy="457200"/>
          </a:xfrm>
          <a:prstGeom prst="rect">
            <a:avLst/>
          </a:prstGeom>
          <a:noFill/>
          <a:ln/>
        </p:spPr>
        <p:txBody>
          <a:bodyPr wrap="square" lIns="0" tIns="0" rIns="0" bIns="0" rtlCol="0" anchor="ctr"/>
          <a:lstStyle/>
          <a:p>
            <a:pPr algn="ctr" indent="0" marL="0">
              <a:buNone/>
            </a:pPr>
            <a:r>
              <a:rPr lang="en-US" sz="1100" b="1" dirty="0">
                <a:solidFill>
                  <a:schemeClr val="tx2"/>
                </a:solidFill>
              </a:rPr>
              <a:t>KU</a:t>
            </a:r>
            <a:endParaRPr lang="en-US" sz="1100" dirty="0"/>
          </a:p>
        </p:txBody>
      </p:sp>
      <p:sp>
        <p:nvSpPr>
          <p:cNvPr id="20" name="Text 16"/>
          <p:cNvSpPr txBox="1"/>
          <p:nvPr/>
        </p:nvSpPr>
        <p:spPr>
          <a:xfrm>
            <a:off x="457200" y="4526280"/>
            <a:ext cx="5486400" cy="320040"/>
          </a:xfrm>
          <a:prstGeom prst="rect">
            <a:avLst/>
          </a:prstGeom>
          <a:noFill/>
          <a:ln/>
        </p:spPr>
        <p:txBody>
          <a:bodyPr wrap="square" lIns="0" tIns="0" rIns="0" bIns="0" rtlCol="0" anchor="t"/>
          <a:lstStyle/>
          <a:p>
            <a:pPr indent="0" marL="0">
              <a:buNone/>
            </a:pPr>
            <a:r>
              <a:rPr lang="en-US" sz="1500" dirty="0">
                <a:solidFill>
                  <a:schemeClr val="bg1"/>
                </a:solidFill>
              </a:rPr>
              <a:t>Deutschland · Marokko · Ukraine · Kuba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583680" cy="731520"/>
          </a:xfrm>
          <a:prstGeom prst="rect">
            <a:avLst/>
          </a:prstGeom>
          <a:noFill/>
          <a:ln/>
        </p:spPr>
        <p:txBody>
          <a:bodyPr wrap="square" lIns="0" tIns="0" rIns="0" bIns="0" rtlCol="0" anchor="ctr"/>
          <a:lstStyle/>
          <a:p>
            <a:pPr algn="l" indent="0" marL="0">
              <a:buNone/>
            </a:pPr>
            <a:r>
              <a:rPr lang="en-US" sz="3000" b="1" dirty="0">
                <a:solidFill>
                  <a:schemeClr val="tx2"/>
                </a:solidFill>
              </a:rPr>
              <a:t>Agenda</a:t>
            </a:r>
            <a:endParaRPr lang="en-US" sz="3000" dirty="0"/>
          </a:p>
        </p:txBody>
      </p:sp>
      <p:sp>
        <p:nvSpPr>
          <p:cNvPr id="3" name="Text 1"/>
          <p:cNvSpPr txBox="1"/>
          <p:nvPr/>
        </p:nvSpPr>
        <p:spPr>
          <a:xfrm>
            <a:off x="457200" y="1051560"/>
            <a:ext cx="5486400" cy="274320"/>
          </a:xfrm>
          <a:prstGeom prst="rect">
            <a:avLst/>
          </a:prstGeom>
          <a:noFill/>
          <a:ln/>
        </p:spPr>
        <p:txBody>
          <a:bodyPr wrap="square" lIns="0" tIns="0" rIns="0" bIns="0" rtlCol="0" anchor="t"/>
          <a:lstStyle/>
          <a:p>
            <a:pPr indent="0" marL="0">
              <a:buNone/>
            </a:pPr>
            <a:r>
              <a:rPr lang="en-US" sz="1500" b="1" spc="200" kern="0" dirty="0">
                <a:solidFill>
                  <a:schemeClr val="accent4"/>
                </a:solidFill>
              </a:rPr>
              <a:t>WIRTSCHAFTSORDNUNGEN</a:t>
            </a:r>
            <a:endParaRPr lang="en-US" sz="1500" dirty="0"/>
          </a:p>
        </p:txBody>
      </p:sp>
      <p:sp>
        <p:nvSpPr>
          <p:cNvPr id="4" name="Text 2"/>
          <p:cNvSpPr txBox="1"/>
          <p:nvPr/>
        </p:nvSpPr>
        <p:spPr>
          <a:xfrm>
            <a:off x="7178040" y="384048"/>
            <a:ext cx="754380" cy="201168"/>
          </a:xfrm>
          <a:prstGeom prst="rect">
            <a:avLst/>
          </a:prstGeom>
          <a:noFill/>
          <a:ln/>
        </p:spPr>
        <p:txBody>
          <a:bodyPr wrap="square" lIns="0" tIns="0" rIns="0" bIns="0" rtlCol="0" anchor="t"/>
          <a:lstStyle/>
          <a:p>
            <a:pPr indent="0" marL="0">
              <a:buNone/>
            </a:pPr>
            <a:r>
              <a:rPr lang="en-US" sz="1000" b="1" spc="200" kern="0" dirty="0">
                <a:solidFill>
                  <a:schemeClr val="tx2"/>
                </a:solidFill>
              </a:rPr>
              <a:t>MARKT</a:t>
            </a:r>
            <a:endParaRPr lang="en-US" sz="1000" dirty="0"/>
          </a:p>
        </p:txBody>
      </p:sp>
      <p:sp>
        <p:nvSpPr>
          <p:cNvPr id="5" name="Text 3"/>
          <p:cNvSpPr txBox="1"/>
          <p:nvPr/>
        </p:nvSpPr>
        <p:spPr>
          <a:xfrm>
            <a:off x="7932420" y="384048"/>
            <a:ext cx="754380" cy="201168"/>
          </a:xfrm>
          <a:prstGeom prst="rect">
            <a:avLst/>
          </a:prstGeom>
          <a:noFill/>
          <a:ln/>
        </p:spPr>
        <p:txBody>
          <a:bodyPr wrap="square" lIns="0" tIns="0" rIns="0" bIns="0" rtlCol="0" anchor="t"/>
          <a:lstStyle/>
          <a:p>
            <a:pPr algn="r" indent="0" marL="0">
              <a:buNone/>
            </a:pPr>
            <a:r>
              <a:rPr lang="en-US" sz="1000" b="1" spc="200" kern="0" dirty="0">
                <a:solidFill>
                  <a:schemeClr val="accent1"/>
                </a:solidFill>
              </a:rPr>
              <a:t>STAAT</a:t>
            </a:r>
            <a:endParaRPr lang="en-US" sz="1000" dirty="0"/>
          </a:p>
        </p:txBody>
      </p:sp>
      <p:sp>
        <p:nvSpPr>
          <p:cNvPr id="6" name="Messbalken Markt"/>
          <p:cNvSpPr/>
          <p:nvPr/>
        </p:nvSpPr>
        <p:spPr>
          <a:xfrm>
            <a:off x="7178040" y="713232"/>
            <a:ext cx="754380" cy="45720"/>
          </a:xfrm>
          <a:prstGeom prst="rect">
            <a:avLst/>
          </a:prstGeom>
          <a:solidFill>
            <a:srgbClr val="0B1F3A"/>
          </a:solidFill>
          <a:ln/>
        </p:spPr>
      </p:sp>
      <p:sp>
        <p:nvSpPr>
          <p:cNvPr id="7" name="Messbalken Staat"/>
          <p:cNvSpPr/>
          <p:nvPr/>
        </p:nvSpPr>
        <p:spPr>
          <a:xfrm>
            <a:off x="7932420" y="713232"/>
            <a:ext cx="754380" cy="45720"/>
          </a:xfrm>
          <a:prstGeom prst="rect">
            <a:avLst/>
          </a:prstGeom>
          <a:solidFill>
            <a:schemeClr val="accent1"/>
          </a:solidFill>
          <a:ln/>
        </p:spPr>
      </p:sp>
      <p:sp>
        <p:nvSpPr>
          <p:cNvPr id="8" name="Messpunkt"/>
          <p:cNvSpPr/>
          <p:nvPr/>
        </p:nvSpPr>
        <p:spPr>
          <a:xfrm>
            <a:off x="7840980" y="644652"/>
            <a:ext cx="182880" cy="182880"/>
          </a:xfrm>
          <a:prstGeom prst="ellipse">
            <a:avLst/>
          </a:prstGeom>
          <a:solidFill>
            <a:schemeClr val="bg1"/>
          </a:solidFill>
          <a:ln w="19050">
            <a:solidFill>
              <a:schemeClr val="tx2"/>
            </a:solidFill>
            <a:prstDash val="solid"/>
          </a:ln>
        </p:spPr>
      </p:sp>
      <p:sp>
        <p:nvSpPr>
          <p:cNvPr id="9" name="Agenda-Feld 01"/>
          <p:cNvSpPr/>
          <p:nvPr/>
        </p:nvSpPr>
        <p:spPr>
          <a:xfrm>
            <a:off x="457200" y="1554480"/>
            <a:ext cx="4023360" cy="914400"/>
          </a:xfrm>
          <a:prstGeom prst="rect">
            <a:avLst/>
          </a:prstGeom>
          <a:solidFill>
            <a:schemeClr val="bg2"/>
          </a:solidFill>
          <a:ln/>
        </p:spPr>
      </p:sp>
      <p:sp>
        <p:nvSpPr>
          <p:cNvPr id="10" name="Text 8"/>
          <p:cNvSpPr txBox="1"/>
          <p:nvPr/>
        </p:nvSpPr>
        <p:spPr>
          <a:xfrm>
            <a:off x="594360" y="1554480"/>
            <a:ext cx="822960" cy="9144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01</a:t>
            </a:r>
            <a:endParaRPr lang="en-US" sz="3200" dirty="0"/>
          </a:p>
        </p:txBody>
      </p:sp>
      <p:sp>
        <p:nvSpPr>
          <p:cNvPr id="11" name="Text 9"/>
          <p:cNvSpPr txBox="1"/>
          <p:nvPr/>
        </p:nvSpPr>
        <p:spPr>
          <a:xfrm>
            <a:off x="1417320" y="1554480"/>
            <a:ext cx="2971800" cy="914400"/>
          </a:xfrm>
          <a:prstGeom prst="rect">
            <a:avLst/>
          </a:prstGeom>
          <a:noFill/>
          <a:ln/>
        </p:spPr>
        <p:txBody>
          <a:bodyPr wrap="square" lIns="0" tIns="0" rIns="0" bIns="0" rtlCol="0" anchor="ctr"/>
          <a:lstStyle/>
          <a:p>
            <a:pPr indent="0" marL="0">
              <a:buNone/>
            </a:pPr>
            <a:r>
              <a:rPr lang="en-US" sz="1300" b="1" dirty="0">
                <a:solidFill>
                  <a:schemeClr val="tx2"/>
                </a:solidFill>
              </a:rPr>
              <a:t>GRUNDLAGEN</a:t>
            </a:r>
            <a:endParaRPr lang="en-US" sz="1300" dirty="0"/>
          </a:p>
          <a:p>
            <a:pPr indent="0" marL="0">
              <a:buNone/>
            </a:pPr>
            <a:r>
              <a:rPr lang="en-US" sz="1400" dirty="0">
                <a:solidFill>
                  <a:srgbClr val="000000"/>
                </a:solidFill>
              </a:rPr>
              <a:t>Was ist eine Wirtschaftsordnung?</a:t>
            </a:r>
            <a:endParaRPr lang="en-US" sz="1300" dirty="0"/>
          </a:p>
        </p:txBody>
      </p:sp>
      <p:sp>
        <p:nvSpPr>
          <p:cNvPr id="12" name="Agenda-Feld 02"/>
          <p:cNvSpPr/>
          <p:nvPr/>
        </p:nvSpPr>
        <p:spPr>
          <a:xfrm>
            <a:off x="4663440" y="1554480"/>
            <a:ext cx="4023360" cy="914400"/>
          </a:xfrm>
          <a:prstGeom prst="rect">
            <a:avLst/>
          </a:prstGeom>
          <a:solidFill>
            <a:schemeClr val="bg2"/>
          </a:solidFill>
          <a:ln/>
        </p:spPr>
      </p:sp>
      <p:sp>
        <p:nvSpPr>
          <p:cNvPr id="13" name="Text 11"/>
          <p:cNvSpPr txBox="1"/>
          <p:nvPr/>
        </p:nvSpPr>
        <p:spPr>
          <a:xfrm>
            <a:off x="4800600" y="1554480"/>
            <a:ext cx="822960" cy="9144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02</a:t>
            </a:r>
            <a:endParaRPr lang="en-US" sz="3200" dirty="0"/>
          </a:p>
        </p:txBody>
      </p:sp>
      <p:sp>
        <p:nvSpPr>
          <p:cNvPr id="14" name="Text 12"/>
          <p:cNvSpPr txBox="1"/>
          <p:nvPr/>
        </p:nvSpPr>
        <p:spPr>
          <a:xfrm>
            <a:off x="5623560" y="1554480"/>
            <a:ext cx="2971800" cy="914400"/>
          </a:xfrm>
          <a:prstGeom prst="rect">
            <a:avLst/>
          </a:prstGeom>
          <a:noFill/>
          <a:ln/>
        </p:spPr>
        <p:txBody>
          <a:bodyPr wrap="square" lIns="0" tIns="0" rIns="0" bIns="0" rtlCol="0" anchor="ctr"/>
          <a:lstStyle/>
          <a:p>
            <a:pPr indent="0" marL="0">
              <a:buNone/>
            </a:pPr>
            <a:r>
              <a:rPr lang="en-US" sz="1300" b="1" dirty="0">
                <a:solidFill>
                  <a:schemeClr val="tx2"/>
                </a:solidFill>
              </a:rPr>
              <a:t>GRUNDFORMEN</a:t>
            </a:r>
            <a:endParaRPr lang="en-US" sz="1300" dirty="0"/>
          </a:p>
          <a:p>
            <a:pPr indent="0" marL="0">
              <a:buNone/>
            </a:pPr>
            <a:r>
              <a:rPr lang="en-US" sz="1400" dirty="0">
                <a:solidFill>
                  <a:srgbClr val="000000"/>
                </a:solidFill>
              </a:rPr>
              <a:t>Marktwirtschaft · Zentralverwaltungswirtschaft · Soziale Marktwirtschaft</a:t>
            </a:r>
            <a:endParaRPr lang="en-US" sz="1300" dirty="0"/>
          </a:p>
        </p:txBody>
      </p:sp>
      <p:sp>
        <p:nvSpPr>
          <p:cNvPr id="15" name="Agenda-Feld 03"/>
          <p:cNvSpPr/>
          <p:nvPr/>
        </p:nvSpPr>
        <p:spPr>
          <a:xfrm>
            <a:off x="457200" y="2606040"/>
            <a:ext cx="4023360" cy="914400"/>
          </a:xfrm>
          <a:prstGeom prst="rect">
            <a:avLst/>
          </a:prstGeom>
          <a:solidFill>
            <a:schemeClr val="bg2"/>
          </a:solidFill>
          <a:ln/>
        </p:spPr>
      </p:sp>
      <p:sp>
        <p:nvSpPr>
          <p:cNvPr id="16" name="Text 14"/>
          <p:cNvSpPr txBox="1"/>
          <p:nvPr/>
        </p:nvSpPr>
        <p:spPr>
          <a:xfrm>
            <a:off x="594360" y="2606040"/>
            <a:ext cx="822960" cy="9144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03</a:t>
            </a:r>
            <a:endParaRPr lang="en-US" sz="3200" dirty="0"/>
          </a:p>
        </p:txBody>
      </p:sp>
      <p:sp>
        <p:nvSpPr>
          <p:cNvPr id="17" name="Text 15"/>
          <p:cNvSpPr txBox="1"/>
          <p:nvPr/>
        </p:nvSpPr>
        <p:spPr>
          <a:xfrm>
            <a:off x="1417320" y="2606040"/>
            <a:ext cx="2971800" cy="914400"/>
          </a:xfrm>
          <a:prstGeom prst="rect">
            <a:avLst/>
          </a:prstGeom>
          <a:noFill/>
          <a:ln/>
        </p:spPr>
        <p:txBody>
          <a:bodyPr wrap="square" lIns="0" tIns="0" rIns="0" bIns="0" rtlCol="0" anchor="ctr"/>
          <a:lstStyle/>
          <a:p>
            <a:pPr indent="0" marL="0">
              <a:buNone/>
            </a:pPr>
            <a:r>
              <a:rPr lang="en-US" sz="1300" b="1" dirty="0">
                <a:solidFill>
                  <a:schemeClr val="tx2"/>
                </a:solidFill>
              </a:rPr>
              <a:t>REALITÄT</a:t>
            </a:r>
            <a:endParaRPr lang="en-US" sz="1300" dirty="0"/>
          </a:p>
          <a:p>
            <a:pPr indent="0" marL="0">
              <a:buNone/>
            </a:pPr>
            <a:r>
              <a:rPr lang="en-US" sz="1400" dirty="0">
                <a:solidFill>
                  <a:srgbClr val="000000"/>
                </a:solidFill>
              </a:rPr>
              <a:t>Deutschland · Marokko · Ukraine · Kuba</a:t>
            </a:r>
            <a:endParaRPr lang="en-US" sz="1300" dirty="0"/>
          </a:p>
        </p:txBody>
      </p:sp>
      <p:sp>
        <p:nvSpPr>
          <p:cNvPr id="18" name="Agenda-Feld 04"/>
          <p:cNvSpPr/>
          <p:nvPr/>
        </p:nvSpPr>
        <p:spPr>
          <a:xfrm>
            <a:off x="4663440" y="2606040"/>
            <a:ext cx="4023360" cy="914400"/>
          </a:xfrm>
          <a:prstGeom prst="rect">
            <a:avLst/>
          </a:prstGeom>
          <a:solidFill>
            <a:schemeClr val="bg2"/>
          </a:solidFill>
          <a:ln/>
        </p:spPr>
      </p:sp>
      <p:sp>
        <p:nvSpPr>
          <p:cNvPr id="19" name="Text 17"/>
          <p:cNvSpPr txBox="1"/>
          <p:nvPr/>
        </p:nvSpPr>
        <p:spPr>
          <a:xfrm>
            <a:off x="4800600" y="2606040"/>
            <a:ext cx="822960" cy="9144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04</a:t>
            </a:r>
            <a:endParaRPr lang="en-US" sz="3200" dirty="0"/>
          </a:p>
        </p:txBody>
      </p:sp>
      <p:sp>
        <p:nvSpPr>
          <p:cNvPr id="20" name="Text 18"/>
          <p:cNvSpPr txBox="1"/>
          <p:nvPr/>
        </p:nvSpPr>
        <p:spPr>
          <a:xfrm>
            <a:off x="5623560" y="2606040"/>
            <a:ext cx="2971800" cy="914400"/>
          </a:xfrm>
          <a:prstGeom prst="rect">
            <a:avLst/>
          </a:prstGeom>
          <a:noFill/>
          <a:ln/>
        </p:spPr>
        <p:txBody>
          <a:bodyPr wrap="square" lIns="0" tIns="0" rIns="0" bIns="0" rtlCol="0" anchor="ctr"/>
          <a:lstStyle/>
          <a:p>
            <a:pPr indent="0" marL="0">
              <a:buNone/>
            </a:pPr>
            <a:r>
              <a:rPr lang="en-US" sz="1300" b="1" dirty="0">
                <a:solidFill>
                  <a:schemeClr val="tx2"/>
                </a:solidFill>
              </a:rPr>
              <a:t>PRAXISCHECK</a:t>
            </a:r>
            <a:endParaRPr lang="en-US" sz="1300" dirty="0"/>
          </a:p>
          <a:p>
            <a:pPr indent="0" marL="0">
              <a:buNone/>
            </a:pPr>
            <a:r>
              <a:rPr lang="en-US" sz="1400" dirty="0">
                <a:solidFill>
                  <a:srgbClr val="000000"/>
                </a:solidFill>
              </a:rPr>
              <a:t>Was bedeutet die Wirtschaftsordnung für ein Unternehmen?</a:t>
            </a:r>
            <a:endParaRPr lang="en-US" sz="1300" dirty="0"/>
          </a:p>
        </p:txBody>
      </p:sp>
      <p:sp>
        <p:nvSpPr>
          <p:cNvPr id="21" name="Agenda-Feld 05"/>
          <p:cNvSpPr/>
          <p:nvPr/>
        </p:nvSpPr>
        <p:spPr>
          <a:xfrm>
            <a:off x="457200" y="3657600"/>
            <a:ext cx="4023360" cy="914400"/>
          </a:xfrm>
          <a:prstGeom prst="rect">
            <a:avLst/>
          </a:prstGeom>
          <a:solidFill>
            <a:schemeClr val="bg2"/>
          </a:solidFill>
          <a:ln/>
        </p:spPr>
      </p:sp>
      <p:sp>
        <p:nvSpPr>
          <p:cNvPr id="22" name="Text 20"/>
          <p:cNvSpPr txBox="1"/>
          <p:nvPr/>
        </p:nvSpPr>
        <p:spPr>
          <a:xfrm>
            <a:off x="594360" y="3657600"/>
            <a:ext cx="822960" cy="9144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05</a:t>
            </a:r>
            <a:endParaRPr lang="en-US" sz="3200" dirty="0"/>
          </a:p>
        </p:txBody>
      </p:sp>
      <p:sp>
        <p:nvSpPr>
          <p:cNvPr id="23" name="Text 21"/>
          <p:cNvSpPr txBox="1"/>
          <p:nvPr/>
        </p:nvSpPr>
        <p:spPr>
          <a:xfrm>
            <a:off x="1417320" y="3657600"/>
            <a:ext cx="2971800" cy="914400"/>
          </a:xfrm>
          <a:prstGeom prst="rect">
            <a:avLst/>
          </a:prstGeom>
          <a:noFill/>
          <a:ln/>
        </p:spPr>
        <p:txBody>
          <a:bodyPr wrap="square" lIns="0" tIns="0" rIns="0" bIns="0" rtlCol="0" anchor="ctr"/>
          <a:lstStyle/>
          <a:p>
            <a:pPr indent="0" marL="0">
              <a:buNone/>
            </a:pPr>
            <a:r>
              <a:rPr lang="en-US" sz="1400" b="1" dirty="0">
                <a:solidFill>
                  <a:schemeClr val="tx2"/>
                </a:solidFill>
              </a:rPr>
              <a:t>Von der Theorie bis zur konkreten Café-Gründung</a:t>
            </a:r>
            <a:endParaRPr lang="en-US" sz="1400" dirty="0"/>
          </a:p>
        </p:txBody>
      </p:sp>
      <p:sp>
        <p:nvSpPr>
          <p:cNvPr id="24" name="Agenda-Feld 06"/>
          <p:cNvSpPr/>
          <p:nvPr/>
        </p:nvSpPr>
        <p:spPr>
          <a:xfrm>
            <a:off x="4663440" y="3657600"/>
            <a:ext cx="4023360" cy="914400"/>
          </a:xfrm>
          <a:prstGeom prst="rect">
            <a:avLst/>
          </a:prstGeom>
          <a:solidFill>
            <a:schemeClr val="bg2"/>
          </a:solidFill>
          <a:ln/>
        </p:spPr>
      </p:sp>
      <p:sp>
        <p:nvSpPr>
          <p:cNvPr id="25" name="Text 23"/>
          <p:cNvSpPr txBox="1"/>
          <p:nvPr/>
        </p:nvSpPr>
        <p:spPr>
          <a:xfrm>
            <a:off x="4800600" y="3657600"/>
            <a:ext cx="822960" cy="9144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06</a:t>
            </a:r>
            <a:endParaRPr lang="en-US" sz="3200" dirty="0"/>
          </a:p>
        </p:txBody>
      </p:sp>
      <p:sp>
        <p:nvSpPr>
          <p:cNvPr id="26" name="Text 24"/>
          <p:cNvSpPr txBox="1"/>
          <p:nvPr/>
        </p:nvSpPr>
        <p:spPr>
          <a:xfrm>
            <a:off x="5623560" y="3657600"/>
            <a:ext cx="2971800" cy="914400"/>
          </a:xfrm>
          <a:prstGeom prst="rect">
            <a:avLst/>
          </a:prstGeom>
          <a:noFill/>
          <a:ln/>
        </p:spPr>
        <p:txBody>
          <a:bodyPr wrap="square" lIns="0" tIns="0" rIns="0" bIns="0" rtlCol="0" anchor="ctr"/>
          <a:lstStyle/>
          <a:p>
            <a:pPr indent="0" marL="0">
              <a:buNone/>
            </a:pPr>
            <a:r>
              <a:rPr lang="en-US" sz="1300" b="1" dirty="0">
                <a:solidFill>
                  <a:schemeClr val="tx2"/>
                </a:solidFill>
              </a:rPr>
              <a:t>FAZIT</a:t>
            </a:r>
            <a:endParaRPr lang="en-US" sz="1300" dirty="0"/>
          </a:p>
          <a:p>
            <a:pPr indent="0" marL="0">
              <a:buNone/>
            </a:pPr>
            <a:r>
              <a:rPr lang="en-US" sz="1400" dirty="0">
                <a:solidFill>
                  <a:srgbClr val="000000"/>
                </a:solidFill>
              </a:rPr>
              <a:t>Markt, Staat - oder beides?</a:t>
            </a:r>
            <a:endParaRPr lang="en-US" sz="13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583680" cy="731520"/>
          </a:xfrm>
          <a:prstGeom prst="rect">
            <a:avLst/>
          </a:prstGeom>
          <a:noFill/>
          <a:ln/>
        </p:spPr>
        <p:txBody>
          <a:bodyPr wrap="square" lIns="0" tIns="0" rIns="0" bIns="0" rtlCol="0" anchor="ctr"/>
          <a:lstStyle/>
          <a:p>
            <a:pPr algn="l" indent="0" marL="0">
              <a:buNone/>
            </a:pPr>
            <a:r>
              <a:rPr lang="en-US" sz="3000" b="1" dirty="0">
                <a:solidFill>
                  <a:schemeClr val="tx2"/>
                </a:solidFill>
              </a:rPr>
              <a:t>Was ist eine Wirtschaftsordnung?</a:t>
            </a:r>
            <a:endParaRPr lang="en-US" sz="3000" dirty="0"/>
          </a:p>
        </p:txBody>
      </p:sp>
      <p:sp>
        <p:nvSpPr>
          <p:cNvPr id="3" name="Text 1"/>
          <p:cNvSpPr txBox="1"/>
          <p:nvPr/>
        </p:nvSpPr>
        <p:spPr>
          <a:xfrm>
            <a:off x="7178040" y="384048"/>
            <a:ext cx="754380" cy="201168"/>
          </a:xfrm>
          <a:prstGeom prst="rect">
            <a:avLst/>
          </a:prstGeom>
          <a:noFill/>
          <a:ln/>
        </p:spPr>
        <p:txBody>
          <a:bodyPr wrap="square" lIns="0" tIns="0" rIns="0" bIns="0" rtlCol="0" anchor="t"/>
          <a:lstStyle/>
          <a:p>
            <a:pPr indent="0" marL="0">
              <a:buNone/>
            </a:pPr>
            <a:r>
              <a:rPr lang="en-US" sz="1000" b="1" spc="200" kern="0" dirty="0">
                <a:solidFill>
                  <a:schemeClr val="tx2"/>
                </a:solidFill>
              </a:rPr>
              <a:t>MARKT</a:t>
            </a:r>
            <a:endParaRPr lang="en-US" sz="1000" dirty="0"/>
          </a:p>
        </p:txBody>
      </p:sp>
      <p:sp>
        <p:nvSpPr>
          <p:cNvPr id="4" name="Text 2"/>
          <p:cNvSpPr txBox="1"/>
          <p:nvPr/>
        </p:nvSpPr>
        <p:spPr>
          <a:xfrm>
            <a:off x="7932420" y="384048"/>
            <a:ext cx="754380" cy="201168"/>
          </a:xfrm>
          <a:prstGeom prst="rect">
            <a:avLst/>
          </a:prstGeom>
          <a:noFill/>
          <a:ln/>
        </p:spPr>
        <p:txBody>
          <a:bodyPr wrap="square" lIns="0" tIns="0" rIns="0" bIns="0" rtlCol="0" anchor="t"/>
          <a:lstStyle/>
          <a:p>
            <a:pPr algn="r" indent="0" marL="0">
              <a:buNone/>
            </a:pPr>
            <a:r>
              <a:rPr lang="en-US" sz="1000" b="1" spc="200" kern="0" dirty="0">
                <a:solidFill>
                  <a:schemeClr val="accent1"/>
                </a:solidFill>
              </a:rPr>
              <a:t>STAAT</a:t>
            </a:r>
            <a:endParaRPr lang="en-US" sz="1000" dirty="0"/>
          </a:p>
        </p:txBody>
      </p:sp>
      <p:sp>
        <p:nvSpPr>
          <p:cNvPr id="5" name="Messbalken Markt"/>
          <p:cNvSpPr/>
          <p:nvPr/>
        </p:nvSpPr>
        <p:spPr>
          <a:xfrm>
            <a:off x="7178040" y="713232"/>
            <a:ext cx="754380" cy="45720"/>
          </a:xfrm>
          <a:prstGeom prst="rect">
            <a:avLst/>
          </a:prstGeom>
          <a:solidFill>
            <a:srgbClr val="0B1F3A"/>
          </a:solidFill>
          <a:ln/>
        </p:spPr>
      </p:sp>
      <p:sp>
        <p:nvSpPr>
          <p:cNvPr id="6" name="Messbalken Staat"/>
          <p:cNvSpPr/>
          <p:nvPr/>
        </p:nvSpPr>
        <p:spPr>
          <a:xfrm>
            <a:off x="7932420" y="713232"/>
            <a:ext cx="754380" cy="45720"/>
          </a:xfrm>
          <a:prstGeom prst="rect">
            <a:avLst/>
          </a:prstGeom>
          <a:solidFill>
            <a:schemeClr val="accent1"/>
          </a:solidFill>
          <a:ln/>
        </p:spPr>
      </p:sp>
      <p:sp>
        <p:nvSpPr>
          <p:cNvPr id="7" name="Messpunkt"/>
          <p:cNvSpPr/>
          <p:nvPr/>
        </p:nvSpPr>
        <p:spPr>
          <a:xfrm>
            <a:off x="7840980" y="644652"/>
            <a:ext cx="182880" cy="182880"/>
          </a:xfrm>
          <a:prstGeom prst="ellipse">
            <a:avLst/>
          </a:prstGeom>
          <a:solidFill>
            <a:schemeClr val="bg1"/>
          </a:solidFill>
          <a:ln w="19050">
            <a:solidFill>
              <a:schemeClr val="tx2"/>
            </a:solidFill>
            <a:prstDash val="solid"/>
          </a:ln>
        </p:spPr>
      </p:sp>
      <p:sp>
        <p:nvSpPr>
          <p:cNvPr id="8" name="Kernaussage-Block"/>
          <p:cNvSpPr/>
          <p:nvPr/>
        </p:nvSpPr>
        <p:spPr>
          <a:xfrm>
            <a:off x="457200" y="1280160"/>
            <a:ext cx="3383280" cy="3429000"/>
          </a:xfrm>
          <a:prstGeom prst="rect">
            <a:avLst/>
          </a:prstGeom>
          <a:solidFill>
            <a:schemeClr val="tx2"/>
          </a:solidFill>
          <a:ln/>
        </p:spPr>
      </p:sp>
      <p:sp>
        <p:nvSpPr>
          <p:cNvPr id="9" name="Text 7"/>
          <p:cNvSpPr txBox="1"/>
          <p:nvPr/>
        </p:nvSpPr>
        <p:spPr>
          <a:xfrm>
            <a:off x="685800" y="1508760"/>
            <a:ext cx="2926080" cy="1463040"/>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Sie legt die grundlegenden Regeln fest, nach denen eine Volkswirtschaft funktioniert.</a:t>
            </a:r>
            <a:endParaRPr lang="en-US" sz="1900" dirty="0"/>
          </a:p>
        </p:txBody>
      </p:sp>
      <p:sp>
        <p:nvSpPr>
          <p:cNvPr id="10" name="Text 8"/>
          <p:cNvSpPr txBox="1"/>
          <p:nvPr/>
        </p:nvSpPr>
        <p:spPr>
          <a:xfrm>
            <a:off x="685800" y="3063240"/>
            <a:ext cx="2926080" cy="1463040"/>
          </a:xfrm>
          <a:prstGeom prst="rect">
            <a:avLst/>
          </a:prstGeom>
          <a:noFill/>
          <a:ln/>
        </p:spPr>
        <p:txBody>
          <a:bodyPr wrap="square" lIns="0" tIns="0" rIns="0" bIns="0" rtlCol="0" anchor="t"/>
          <a:lstStyle/>
          <a:p>
            <a:pPr indent="0" marL="0">
              <a:buNone/>
            </a:pPr>
            <a:r>
              <a:rPr lang="en-US" sz="1600" dirty="0">
                <a:solidFill>
                  <a:schemeClr val="accent6"/>
                </a:solidFill>
              </a:rPr>
              <a:t>Je nachdem, wie diese Fragen beantwortet werden, entstehen unterschiedliche Wirtschaftsordnungen.</a:t>
            </a:r>
            <a:endParaRPr lang="en-US" sz="1600" dirty="0"/>
          </a:p>
        </p:txBody>
      </p:sp>
      <p:sp>
        <p:nvSpPr>
          <p:cNvPr id="11" name="Frage-Zeile"/>
          <p:cNvSpPr/>
          <p:nvPr/>
        </p:nvSpPr>
        <p:spPr>
          <a:xfrm>
            <a:off x="4069080" y="1280160"/>
            <a:ext cx="4617720" cy="640080"/>
          </a:xfrm>
          <a:prstGeom prst="rect">
            <a:avLst/>
          </a:prstGeom>
          <a:solidFill>
            <a:schemeClr val="bg2"/>
          </a:solidFill>
          <a:ln/>
        </p:spPr>
      </p:sp>
      <p:sp>
        <p:nvSpPr>
          <p:cNvPr id="12" name="Icon-Kreis"/>
          <p:cNvSpPr/>
          <p:nvPr/>
        </p:nvSpPr>
        <p:spPr>
          <a:xfrm>
            <a:off x="4187952" y="1389888"/>
            <a:ext cx="402336" cy="402336"/>
          </a:xfrm>
          <a:prstGeom prst="ellipse">
            <a:avLst/>
          </a:prstGeom>
          <a:solidFill>
            <a:schemeClr val="tx2"/>
          </a:solidFill>
          <a:ln w="12700">
            <a:solidFill>
              <a:schemeClr val="tx2"/>
            </a:solidFill>
            <a:prstDash val="solid"/>
          </a:ln>
        </p:spPr>
      </p:sp>
      <p:pic>
        <p:nvPicPr>
          <p:cNvPr id="13" name="Image 0" descr="Cogs">    </p:cNvPr>
          <p:cNvPicPr>
            <a:picLocks noChangeAspect="1"/>
          </p:cNvPicPr>
          <p:nvPr/>
        </p:nvPicPr>
        <p:blipFill>
          <a:blip r:embed="rId1"/>
          <a:stretch>
            <a:fillRect/>
          </a:stretch>
        </p:blipFill>
        <p:spPr>
          <a:xfrm>
            <a:off x="4284513" y="1486449"/>
            <a:ext cx="209215" cy="209215"/>
          </a:xfrm>
          <a:prstGeom prst="rect">
            <a:avLst/>
          </a:prstGeom>
        </p:spPr>
      </p:pic>
      <p:sp>
        <p:nvSpPr>
          <p:cNvPr id="14" name="Text 11"/>
          <p:cNvSpPr txBox="1"/>
          <p:nvPr/>
        </p:nvSpPr>
        <p:spPr>
          <a:xfrm>
            <a:off x="4709160" y="1280160"/>
            <a:ext cx="3931920" cy="640080"/>
          </a:xfrm>
          <a:prstGeom prst="rect">
            <a:avLst/>
          </a:prstGeom>
          <a:noFill/>
          <a:ln/>
        </p:spPr>
        <p:txBody>
          <a:bodyPr wrap="square" lIns="0" tIns="0" rIns="0" bIns="0" rtlCol="0" anchor="ctr"/>
          <a:lstStyle/>
          <a:p>
            <a:pPr indent="0" marL="0">
              <a:buNone/>
            </a:pPr>
            <a:r>
              <a:rPr lang="en-US" sz="1300" b="1" dirty="0">
                <a:solidFill>
                  <a:schemeClr val="accent1"/>
                </a:solidFill>
              </a:rPr>
              <a:t>WAS ?  </a:t>
            </a:r>
            <a:pPr indent="0" marL="0">
              <a:buNone/>
            </a:pPr>
            <a:r>
              <a:rPr lang="en-US" sz="1300" b="1" dirty="0">
                <a:solidFill>
                  <a:schemeClr val="tx2"/>
                </a:solidFill>
              </a:rPr>
              <a:t>Was wird produziert?</a:t>
            </a:r>
            <a:endParaRPr lang="en-US" sz="1300" dirty="0"/>
          </a:p>
          <a:p>
            <a:pPr indent="0" marL="0">
              <a:buNone/>
            </a:pPr>
            <a:r>
              <a:rPr lang="en-US" sz="1300" dirty="0">
                <a:solidFill>
                  <a:schemeClr val="tx1"/>
                </a:solidFill>
              </a:rPr>
              <a:t>Lebensmittel, Autos, Wohnungen …</a:t>
            </a:r>
            <a:endParaRPr lang="en-US" sz="1300" dirty="0"/>
          </a:p>
        </p:txBody>
      </p:sp>
      <p:sp>
        <p:nvSpPr>
          <p:cNvPr id="15" name="Frage-Zeile"/>
          <p:cNvSpPr/>
          <p:nvPr/>
        </p:nvSpPr>
        <p:spPr>
          <a:xfrm>
            <a:off x="4069080" y="1965960"/>
            <a:ext cx="4617720" cy="640080"/>
          </a:xfrm>
          <a:prstGeom prst="rect">
            <a:avLst/>
          </a:prstGeom>
          <a:solidFill>
            <a:schemeClr val="bg2"/>
          </a:solidFill>
          <a:ln/>
        </p:spPr>
      </p:sp>
      <p:sp>
        <p:nvSpPr>
          <p:cNvPr id="16" name="Icon-Kreis"/>
          <p:cNvSpPr/>
          <p:nvPr/>
        </p:nvSpPr>
        <p:spPr>
          <a:xfrm>
            <a:off x="4187952" y="2075688"/>
            <a:ext cx="402336" cy="402336"/>
          </a:xfrm>
          <a:prstGeom prst="ellipse">
            <a:avLst/>
          </a:prstGeom>
          <a:solidFill>
            <a:schemeClr val="tx2"/>
          </a:solidFill>
          <a:ln w="12700">
            <a:solidFill>
              <a:schemeClr val="tx2"/>
            </a:solidFill>
            <a:prstDash val="solid"/>
          </a:ln>
        </p:spPr>
      </p:sp>
      <p:pic>
        <p:nvPicPr>
          <p:cNvPr id="17" name="Image 1" descr="Industry">    </p:cNvPr>
          <p:cNvPicPr>
            <a:picLocks noChangeAspect="1"/>
          </p:cNvPicPr>
          <p:nvPr/>
        </p:nvPicPr>
        <p:blipFill>
          <a:blip r:embed="rId2"/>
          <a:stretch>
            <a:fillRect/>
          </a:stretch>
        </p:blipFill>
        <p:spPr>
          <a:xfrm>
            <a:off x="4284513" y="2172249"/>
            <a:ext cx="209215" cy="209215"/>
          </a:xfrm>
          <a:prstGeom prst="rect">
            <a:avLst/>
          </a:prstGeom>
        </p:spPr>
      </p:pic>
      <p:sp>
        <p:nvSpPr>
          <p:cNvPr id="18" name="Text 14"/>
          <p:cNvSpPr txBox="1"/>
          <p:nvPr/>
        </p:nvSpPr>
        <p:spPr>
          <a:xfrm>
            <a:off x="4709160" y="1965960"/>
            <a:ext cx="3931920" cy="640080"/>
          </a:xfrm>
          <a:prstGeom prst="rect">
            <a:avLst/>
          </a:prstGeom>
          <a:noFill/>
          <a:ln/>
        </p:spPr>
        <p:txBody>
          <a:bodyPr wrap="square" lIns="0" tIns="0" rIns="0" bIns="0" rtlCol="0" anchor="ctr"/>
          <a:lstStyle/>
          <a:p>
            <a:pPr indent="0" marL="0">
              <a:buNone/>
            </a:pPr>
            <a:r>
              <a:rPr lang="en-US" sz="1300" b="1" dirty="0">
                <a:solidFill>
                  <a:schemeClr val="accent1"/>
                </a:solidFill>
              </a:rPr>
              <a:t>WIE ?  </a:t>
            </a:r>
            <a:pPr indent="0" marL="0">
              <a:buNone/>
            </a:pPr>
            <a:r>
              <a:rPr lang="en-US" sz="1300" b="1" dirty="0">
                <a:solidFill>
                  <a:schemeClr val="tx2"/>
                </a:solidFill>
              </a:rPr>
              <a:t>Wie wird produziert?</a:t>
            </a:r>
            <a:endParaRPr lang="en-US" sz="1300" dirty="0"/>
          </a:p>
          <a:p>
            <a:pPr indent="0" marL="0">
              <a:buNone/>
            </a:pPr>
            <a:r>
              <a:rPr lang="en-US" sz="1300" dirty="0">
                <a:solidFill>
                  <a:schemeClr val="tx1"/>
                </a:solidFill>
              </a:rPr>
              <a:t>Entscheiden Unternehmen selbst oder wird zentral geplant?</a:t>
            </a:r>
            <a:endParaRPr lang="en-US" sz="1300" dirty="0"/>
          </a:p>
        </p:txBody>
      </p:sp>
      <p:sp>
        <p:nvSpPr>
          <p:cNvPr id="19" name="Frage-Zeile"/>
          <p:cNvSpPr/>
          <p:nvPr/>
        </p:nvSpPr>
        <p:spPr>
          <a:xfrm>
            <a:off x="4069080" y="2651760"/>
            <a:ext cx="4617720" cy="640080"/>
          </a:xfrm>
          <a:prstGeom prst="rect">
            <a:avLst/>
          </a:prstGeom>
          <a:solidFill>
            <a:schemeClr val="bg2"/>
          </a:solidFill>
          <a:ln/>
        </p:spPr>
      </p:sp>
      <p:sp>
        <p:nvSpPr>
          <p:cNvPr id="20" name="Icon-Kreis"/>
          <p:cNvSpPr/>
          <p:nvPr/>
        </p:nvSpPr>
        <p:spPr>
          <a:xfrm>
            <a:off x="4187952" y="2761488"/>
            <a:ext cx="402336" cy="402336"/>
          </a:xfrm>
          <a:prstGeom prst="ellipse">
            <a:avLst/>
          </a:prstGeom>
          <a:solidFill>
            <a:schemeClr val="tx2"/>
          </a:solidFill>
          <a:ln w="12700">
            <a:solidFill>
              <a:schemeClr val="tx2"/>
            </a:solidFill>
            <a:prstDash val="solid"/>
          </a:ln>
        </p:spPr>
      </p:sp>
      <p:pic>
        <p:nvPicPr>
          <p:cNvPr id="21" name="Image 2" descr="Users">    </p:cNvPr>
          <p:cNvPicPr>
            <a:picLocks noChangeAspect="1"/>
          </p:cNvPicPr>
          <p:nvPr/>
        </p:nvPicPr>
        <p:blipFill>
          <a:blip r:embed="rId3"/>
          <a:stretch>
            <a:fillRect/>
          </a:stretch>
        </p:blipFill>
        <p:spPr>
          <a:xfrm>
            <a:off x="4284513" y="2858049"/>
            <a:ext cx="209215" cy="209215"/>
          </a:xfrm>
          <a:prstGeom prst="rect">
            <a:avLst/>
          </a:prstGeom>
        </p:spPr>
      </p:pic>
      <p:sp>
        <p:nvSpPr>
          <p:cNvPr id="22" name="Text 17"/>
          <p:cNvSpPr txBox="1"/>
          <p:nvPr/>
        </p:nvSpPr>
        <p:spPr>
          <a:xfrm>
            <a:off x="4709160" y="2651760"/>
            <a:ext cx="3931920" cy="640080"/>
          </a:xfrm>
          <a:prstGeom prst="rect">
            <a:avLst/>
          </a:prstGeom>
          <a:noFill/>
          <a:ln/>
        </p:spPr>
        <p:txBody>
          <a:bodyPr wrap="square" lIns="0" tIns="0" rIns="0" bIns="0" rtlCol="0" anchor="ctr"/>
          <a:lstStyle/>
          <a:p>
            <a:pPr indent="0" marL="0">
              <a:buNone/>
            </a:pPr>
            <a:r>
              <a:rPr lang="en-US" sz="1300" b="1" dirty="0">
                <a:solidFill>
                  <a:schemeClr val="accent1"/>
                </a:solidFill>
              </a:rPr>
              <a:t>WER ?  </a:t>
            </a:r>
            <a:pPr indent="0" marL="0">
              <a:buNone/>
            </a:pPr>
            <a:r>
              <a:rPr lang="en-US" sz="1300" b="1" dirty="0">
                <a:solidFill>
                  <a:schemeClr val="tx2"/>
                </a:solidFill>
              </a:rPr>
              <a:t>Wer trifft wirtschaftliche Entscheidungen?</a:t>
            </a:r>
            <a:endParaRPr lang="en-US" sz="1300" dirty="0"/>
          </a:p>
          <a:p>
            <a:pPr indent="0" marL="0">
              <a:buNone/>
            </a:pPr>
            <a:r>
              <a:rPr lang="en-US" sz="1300" dirty="0">
                <a:solidFill>
                  <a:schemeClr val="tx1"/>
                </a:solidFill>
              </a:rPr>
              <a:t>Unternehmen, Verbraucher oder staatliche Stellen?</a:t>
            </a:r>
            <a:endParaRPr lang="en-US" sz="1300" dirty="0"/>
          </a:p>
        </p:txBody>
      </p:sp>
      <p:sp>
        <p:nvSpPr>
          <p:cNvPr id="23" name="Frage-Zeile"/>
          <p:cNvSpPr/>
          <p:nvPr/>
        </p:nvSpPr>
        <p:spPr>
          <a:xfrm>
            <a:off x="4069080" y="3337560"/>
            <a:ext cx="4617720" cy="640080"/>
          </a:xfrm>
          <a:prstGeom prst="rect">
            <a:avLst/>
          </a:prstGeom>
          <a:solidFill>
            <a:schemeClr val="bg2"/>
          </a:solidFill>
          <a:ln/>
        </p:spPr>
      </p:sp>
      <p:sp>
        <p:nvSpPr>
          <p:cNvPr id="24" name="Icon-Kreis"/>
          <p:cNvSpPr/>
          <p:nvPr/>
        </p:nvSpPr>
        <p:spPr>
          <a:xfrm>
            <a:off x="4187952" y="3447288"/>
            <a:ext cx="402336" cy="402336"/>
          </a:xfrm>
          <a:prstGeom prst="ellipse">
            <a:avLst/>
          </a:prstGeom>
          <a:solidFill>
            <a:schemeClr val="tx2"/>
          </a:solidFill>
          <a:ln w="12700">
            <a:solidFill>
              <a:schemeClr val="tx2"/>
            </a:solidFill>
            <a:prstDash val="solid"/>
          </a:ln>
        </p:spPr>
      </p:sp>
      <p:pic>
        <p:nvPicPr>
          <p:cNvPr id="25" name="Image 3" descr="HandsHelping">    </p:cNvPr>
          <p:cNvPicPr>
            <a:picLocks noChangeAspect="1"/>
          </p:cNvPicPr>
          <p:nvPr/>
        </p:nvPicPr>
        <p:blipFill>
          <a:blip r:embed="rId4"/>
          <a:stretch>
            <a:fillRect/>
          </a:stretch>
        </p:blipFill>
        <p:spPr>
          <a:xfrm>
            <a:off x="4284513" y="3543849"/>
            <a:ext cx="209215" cy="209215"/>
          </a:xfrm>
          <a:prstGeom prst="rect">
            <a:avLst/>
          </a:prstGeom>
        </p:spPr>
      </p:pic>
      <p:sp>
        <p:nvSpPr>
          <p:cNvPr id="26" name="Text 20"/>
          <p:cNvSpPr txBox="1"/>
          <p:nvPr/>
        </p:nvSpPr>
        <p:spPr>
          <a:xfrm>
            <a:off x="4709160" y="3337560"/>
            <a:ext cx="3931920" cy="640080"/>
          </a:xfrm>
          <a:prstGeom prst="rect">
            <a:avLst/>
          </a:prstGeom>
          <a:noFill/>
          <a:ln/>
        </p:spPr>
        <p:txBody>
          <a:bodyPr wrap="square" lIns="0" tIns="0" rIns="0" bIns="0" rtlCol="0" anchor="ctr"/>
          <a:lstStyle/>
          <a:p>
            <a:pPr indent="0" marL="0">
              <a:buNone/>
            </a:pPr>
            <a:r>
              <a:rPr lang="en-US" sz="1300" b="1" dirty="0">
                <a:solidFill>
                  <a:schemeClr val="accent1"/>
                </a:solidFill>
              </a:rPr>
              <a:t>FÜR WEN ?  </a:t>
            </a:r>
            <a:pPr indent="0" marL="0">
              <a:buNone/>
            </a:pPr>
            <a:r>
              <a:rPr lang="en-US" sz="1300" b="1" dirty="0">
                <a:solidFill>
                  <a:schemeClr val="tx2"/>
                </a:solidFill>
              </a:rPr>
              <a:t>Wie werden Güter verteilt?</a:t>
            </a:r>
            <a:endParaRPr lang="en-US" sz="1300" dirty="0"/>
          </a:p>
          <a:p>
            <a:pPr indent="0" marL="0">
              <a:buNone/>
            </a:pPr>
            <a:r>
              <a:rPr lang="en-US" sz="1300" dirty="0">
                <a:solidFill>
                  <a:schemeClr val="tx1"/>
                </a:solidFill>
              </a:rPr>
              <a:t>Über Märkte und Kaufkraft oder durch staatliche Steuerung?</a:t>
            </a:r>
            <a:endParaRPr lang="en-US" sz="1300" dirty="0"/>
          </a:p>
        </p:txBody>
      </p:sp>
      <p:sp>
        <p:nvSpPr>
          <p:cNvPr id="27" name="Frage-Zeile"/>
          <p:cNvSpPr/>
          <p:nvPr/>
        </p:nvSpPr>
        <p:spPr>
          <a:xfrm>
            <a:off x="4069080" y="4023360"/>
            <a:ext cx="4617720" cy="640080"/>
          </a:xfrm>
          <a:prstGeom prst="rect">
            <a:avLst/>
          </a:prstGeom>
          <a:solidFill>
            <a:schemeClr val="bg2"/>
          </a:solidFill>
          <a:ln/>
        </p:spPr>
      </p:sp>
      <p:sp>
        <p:nvSpPr>
          <p:cNvPr id="28" name="Icon-Kreis"/>
          <p:cNvSpPr/>
          <p:nvPr/>
        </p:nvSpPr>
        <p:spPr>
          <a:xfrm>
            <a:off x="4187952" y="4133088"/>
            <a:ext cx="402336" cy="402336"/>
          </a:xfrm>
          <a:prstGeom prst="ellipse">
            <a:avLst/>
          </a:prstGeom>
          <a:solidFill>
            <a:schemeClr val="tx2"/>
          </a:solidFill>
          <a:ln w="12700">
            <a:solidFill>
              <a:schemeClr val="tx2"/>
            </a:solidFill>
            <a:prstDash val="solid"/>
          </a:ln>
        </p:spPr>
      </p:sp>
      <p:pic>
        <p:nvPicPr>
          <p:cNvPr id="29" name="Image 4" descr="Key">    </p:cNvPr>
          <p:cNvPicPr>
            <a:picLocks noChangeAspect="1"/>
          </p:cNvPicPr>
          <p:nvPr/>
        </p:nvPicPr>
        <p:blipFill>
          <a:blip r:embed="rId5"/>
          <a:stretch>
            <a:fillRect/>
          </a:stretch>
        </p:blipFill>
        <p:spPr>
          <a:xfrm>
            <a:off x="4284513" y="4229649"/>
            <a:ext cx="209215" cy="209215"/>
          </a:xfrm>
          <a:prstGeom prst="rect">
            <a:avLst/>
          </a:prstGeom>
        </p:spPr>
      </p:pic>
      <p:sp>
        <p:nvSpPr>
          <p:cNvPr id="30" name="Text 23"/>
          <p:cNvSpPr txBox="1"/>
          <p:nvPr/>
        </p:nvSpPr>
        <p:spPr>
          <a:xfrm>
            <a:off x="4709160" y="4023360"/>
            <a:ext cx="3931920" cy="640080"/>
          </a:xfrm>
          <a:prstGeom prst="rect">
            <a:avLst/>
          </a:prstGeom>
          <a:noFill/>
          <a:ln/>
        </p:spPr>
        <p:txBody>
          <a:bodyPr wrap="square" lIns="0" tIns="0" rIns="0" bIns="0" rtlCol="0" anchor="ctr"/>
          <a:lstStyle/>
          <a:p>
            <a:pPr indent="0" marL="0">
              <a:buNone/>
            </a:pPr>
            <a:r>
              <a:rPr lang="en-US" sz="1300" b="1" dirty="0">
                <a:solidFill>
                  <a:schemeClr val="accent1"/>
                </a:solidFill>
              </a:rPr>
              <a:t>WEM GEHÖRT ES ?  </a:t>
            </a:r>
            <a:pPr indent="0" marL="0">
              <a:buNone/>
            </a:pPr>
            <a:r>
              <a:rPr lang="en-US" sz="1300" b="1" dirty="0">
                <a:solidFill>
                  <a:schemeClr val="tx2"/>
                </a:solidFill>
              </a:rPr>
              <a:t>Wem gehören Unternehmen und Produktionsmittel?</a:t>
            </a:r>
            <a:endParaRPr lang="en-US" sz="1300" dirty="0"/>
          </a:p>
          <a:p>
            <a:pPr indent="0" marL="0">
              <a:buNone/>
            </a:pPr>
            <a:r>
              <a:rPr lang="en-US" sz="1300" dirty="0">
                <a:solidFill>
                  <a:schemeClr val="tx1"/>
                </a:solidFill>
              </a:rPr>
              <a:t>Privaten Eigentümern oder dem Staat?</a:t>
            </a:r>
            <a:endParaRPr lang="en-US" sz="13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583680" cy="731520"/>
          </a:xfrm>
          <a:prstGeom prst="rect">
            <a:avLst/>
          </a:prstGeom>
          <a:noFill/>
          <a:ln/>
        </p:spPr>
        <p:txBody>
          <a:bodyPr wrap="square" lIns="0" tIns="0" rIns="0" bIns="0" rtlCol="0" anchor="ctr"/>
          <a:lstStyle/>
          <a:p>
            <a:pPr algn="l" indent="0" marL="0">
              <a:buNone/>
            </a:pPr>
            <a:r>
              <a:rPr lang="en-US" sz="3000" b="1" dirty="0">
                <a:solidFill>
                  <a:schemeClr val="tx2"/>
                </a:solidFill>
              </a:rPr>
              <a:t>Zwei idealtypische Grundformen</a:t>
            </a:r>
            <a:endParaRPr lang="en-US" sz="3000" dirty="0"/>
          </a:p>
        </p:txBody>
      </p:sp>
      <p:sp>
        <p:nvSpPr>
          <p:cNvPr id="3" name="Text 1"/>
          <p:cNvSpPr txBox="1"/>
          <p:nvPr/>
        </p:nvSpPr>
        <p:spPr>
          <a:xfrm>
            <a:off x="7178040" y="384048"/>
            <a:ext cx="754380" cy="201168"/>
          </a:xfrm>
          <a:prstGeom prst="rect">
            <a:avLst/>
          </a:prstGeom>
          <a:noFill/>
          <a:ln/>
        </p:spPr>
        <p:txBody>
          <a:bodyPr wrap="square" lIns="0" tIns="0" rIns="0" bIns="0" rtlCol="0" anchor="t"/>
          <a:lstStyle/>
          <a:p>
            <a:pPr indent="0" marL="0">
              <a:buNone/>
            </a:pPr>
            <a:r>
              <a:rPr lang="en-US" sz="1000" b="1" spc="200" kern="0" dirty="0">
                <a:solidFill>
                  <a:schemeClr val="tx2"/>
                </a:solidFill>
              </a:rPr>
              <a:t>MARKT</a:t>
            </a:r>
            <a:endParaRPr lang="en-US" sz="1000" dirty="0"/>
          </a:p>
        </p:txBody>
      </p:sp>
      <p:sp>
        <p:nvSpPr>
          <p:cNvPr id="4" name="Text 2"/>
          <p:cNvSpPr txBox="1"/>
          <p:nvPr/>
        </p:nvSpPr>
        <p:spPr>
          <a:xfrm>
            <a:off x="7932420" y="384048"/>
            <a:ext cx="754380" cy="201168"/>
          </a:xfrm>
          <a:prstGeom prst="rect">
            <a:avLst/>
          </a:prstGeom>
          <a:noFill/>
          <a:ln/>
        </p:spPr>
        <p:txBody>
          <a:bodyPr wrap="square" lIns="0" tIns="0" rIns="0" bIns="0" rtlCol="0" anchor="t"/>
          <a:lstStyle/>
          <a:p>
            <a:pPr algn="r" indent="0" marL="0">
              <a:buNone/>
            </a:pPr>
            <a:r>
              <a:rPr lang="en-US" sz="1000" b="1" spc="200" kern="0" dirty="0">
                <a:solidFill>
                  <a:schemeClr val="accent1"/>
                </a:solidFill>
              </a:rPr>
              <a:t>STAAT</a:t>
            </a:r>
            <a:endParaRPr lang="en-US" sz="1000" dirty="0"/>
          </a:p>
        </p:txBody>
      </p:sp>
      <p:sp>
        <p:nvSpPr>
          <p:cNvPr id="5" name="Messbalken Markt"/>
          <p:cNvSpPr/>
          <p:nvPr/>
        </p:nvSpPr>
        <p:spPr>
          <a:xfrm>
            <a:off x="7178040" y="713232"/>
            <a:ext cx="754380" cy="45720"/>
          </a:xfrm>
          <a:prstGeom prst="rect">
            <a:avLst/>
          </a:prstGeom>
          <a:solidFill>
            <a:srgbClr val="0B1F3A"/>
          </a:solidFill>
          <a:ln/>
        </p:spPr>
      </p:sp>
      <p:sp>
        <p:nvSpPr>
          <p:cNvPr id="6" name="Messbalken Staat"/>
          <p:cNvSpPr/>
          <p:nvPr/>
        </p:nvSpPr>
        <p:spPr>
          <a:xfrm>
            <a:off x="7932420" y="713232"/>
            <a:ext cx="754380" cy="45720"/>
          </a:xfrm>
          <a:prstGeom prst="rect">
            <a:avLst/>
          </a:prstGeom>
          <a:solidFill>
            <a:schemeClr val="accent1"/>
          </a:solidFill>
          <a:ln/>
        </p:spPr>
      </p:sp>
      <p:sp>
        <p:nvSpPr>
          <p:cNvPr id="7" name="Messpunkt"/>
          <p:cNvSpPr/>
          <p:nvPr/>
        </p:nvSpPr>
        <p:spPr>
          <a:xfrm>
            <a:off x="7146950" y="644652"/>
            <a:ext cx="182880" cy="182880"/>
          </a:xfrm>
          <a:prstGeom prst="ellipse">
            <a:avLst/>
          </a:prstGeom>
          <a:solidFill>
            <a:schemeClr val="tx2"/>
          </a:solidFill>
          <a:ln w="19050">
            <a:solidFill>
              <a:schemeClr val="tx2"/>
            </a:solidFill>
            <a:prstDash val="solid"/>
          </a:ln>
        </p:spPr>
      </p:sp>
      <p:sp>
        <p:nvSpPr>
          <p:cNvPr id="8" name="Messpunkt"/>
          <p:cNvSpPr/>
          <p:nvPr/>
        </p:nvSpPr>
        <p:spPr>
          <a:xfrm>
            <a:off x="8535010" y="644652"/>
            <a:ext cx="182880" cy="182880"/>
          </a:xfrm>
          <a:prstGeom prst="ellipse">
            <a:avLst/>
          </a:prstGeom>
          <a:solidFill>
            <a:schemeClr val="accent1"/>
          </a:solidFill>
          <a:ln w="19050">
            <a:solidFill>
              <a:schemeClr val="tx2"/>
            </a:solidFill>
            <a:prstDash val="solid"/>
          </a:ln>
        </p:spPr>
      </p:sp>
      <p:sp>
        <p:nvSpPr>
          <p:cNvPr id="9" name="Kopf Markt"/>
          <p:cNvSpPr/>
          <p:nvPr/>
        </p:nvSpPr>
        <p:spPr>
          <a:xfrm>
            <a:off x="457200" y="1234440"/>
            <a:ext cx="3429000" cy="457200"/>
          </a:xfrm>
          <a:prstGeom prst="rect">
            <a:avLst/>
          </a:prstGeom>
          <a:solidFill>
            <a:schemeClr val="tx2"/>
          </a:solidFill>
          <a:ln/>
        </p:spPr>
      </p:sp>
      <p:sp>
        <p:nvSpPr>
          <p:cNvPr id="10" name="Text 8"/>
          <p:cNvSpPr txBox="1"/>
          <p:nvPr/>
        </p:nvSpPr>
        <p:spPr>
          <a:xfrm>
            <a:off x="457200" y="1234440"/>
            <a:ext cx="3429000" cy="457200"/>
          </a:xfrm>
          <a:prstGeom prst="rect">
            <a:avLst/>
          </a:prstGeom>
          <a:noFill/>
          <a:ln/>
        </p:spPr>
        <p:txBody>
          <a:bodyPr wrap="square" lIns="0" tIns="0" rIns="0" bIns="0" rtlCol="0" anchor="ctr"/>
          <a:lstStyle/>
          <a:p>
            <a:pPr algn="ctr" indent="0" marL="0">
              <a:buNone/>
            </a:pPr>
            <a:r>
              <a:rPr lang="en-US" sz="1500" b="1" dirty="0">
                <a:solidFill>
                  <a:schemeClr val="bg1"/>
                </a:solidFill>
              </a:rPr>
              <a:t>FREIE MARKTWIRTSCHAFT</a:t>
            </a:r>
            <a:endParaRPr lang="en-US" sz="1500" dirty="0"/>
          </a:p>
        </p:txBody>
      </p:sp>
      <p:sp>
        <p:nvSpPr>
          <p:cNvPr id="11" name="Kopf Plan"/>
          <p:cNvSpPr/>
          <p:nvPr/>
        </p:nvSpPr>
        <p:spPr>
          <a:xfrm>
            <a:off x="5257800" y="1234440"/>
            <a:ext cx="3429000" cy="457200"/>
          </a:xfrm>
          <a:prstGeom prst="rect">
            <a:avLst/>
          </a:prstGeom>
          <a:solidFill>
            <a:schemeClr val="accent1"/>
          </a:solidFill>
          <a:ln/>
        </p:spPr>
      </p:sp>
      <p:sp>
        <p:nvSpPr>
          <p:cNvPr id="12" name="Text 10"/>
          <p:cNvSpPr txBox="1"/>
          <p:nvPr/>
        </p:nvSpPr>
        <p:spPr>
          <a:xfrm>
            <a:off x="5257800" y="1234440"/>
            <a:ext cx="3429000" cy="457200"/>
          </a:xfrm>
          <a:prstGeom prst="rect">
            <a:avLst/>
          </a:prstGeom>
          <a:noFill/>
          <a:ln/>
        </p:spPr>
        <p:txBody>
          <a:bodyPr wrap="square" lIns="0" tIns="0" rIns="0" bIns="0" rtlCol="0" anchor="ctr"/>
          <a:lstStyle/>
          <a:p>
            <a:pPr algn="ctr" indent="0" marL="0">
              <a:buNone/>
            </a:pPr>
            <a:r>
              <a:rPr lang="en-US" sz="1400" b="1" dirty="0">
                <a:solidFill>
                  <a:schemeClr val="bg1"/>
                </a:solidFill>
              </a:rPr>
              <a:t>ZENTRALVERWALTUNGSWIRTSCHAFT</a:t>
            </a:r>
            <a:endParaRPr lang="en-US" sz="1400" dirty="0"/>
          </a:p>
        </p:txBody>
      </p:sp>
      <p:sp>
        <p:nvSpPr>
          <p:cNvPr id="13" name="Zelle Markt"/>
          <p:cNvSpPr/>
          <p:nvPr/>
        </p:nvSpPr>
        <p:spPr>
          <a:xfrm>
            <a:off x="457200" y="1783080"/>
            <a:ext cx="3429000" cy="420624"/>
          </a:xfrm>
          <a:prstGeom prst="rect">
            <a:avLst/>
          </a:prstGeom>
          <a:solidFill>
            <a:schemeClr val="bg2"/>
          </a:solidFill>
          <a:ln/>
        </p:spPr>
      </p:sp>
      <p:sp>
        <p:nvSpPr>
          <p:cNvPr id="14" name="Text 12"/>
          <p:cNvSpPr txBox="1"/>
          <p:nvPr/>
        </p:nvSpPr>
        <p:spPr>
          <a:xfrm>
            <a:off x="594360" y="1783080"/>
            <a:ext cx="3200400" cy="420624"/>
          </a:xfrm>
          <a:prstGeom prst="rect">
            <a:avLst/>
          </a:prstGeom>
          <a:noFill/>
          <a:ln/>
        </p:spPr>
        <p:txBody>
          <a:bodyPr wrap="square" lIns="0" tIns="0" rIns="0" bIns="0" rtlCol="0" anchor="ctr"/>
          <a:lstStyle/>
          <a:p>
            <a:pPr indent="0" marL="0">
              <a:buNone/>
            </a:pPr>
            <a:r>
              <a:rPr lang="en-US" sz="1400" b="1" dirty="0">
                <a:solidFill>
                  <a:schemeClr val="tx2"/>
                </a:solidFill>
              </a:rPr>
              <a:t>Unternehmen &amp; Verbraucher</a:t>
            </a:r>
            <a:endParaRPr lang="en-US" sz="1400" dirty="0"/>
          </a:p>
        </p:txBody>
      </p:sp>
      <p:sp>
        <p:nvSpPr>
          <p:cNvPr id="15" name="Text 13"/>
          <p:cNvSpPr txBox="1"/>
          <p:nvPr/>
        </p:nvSpPr>
        <p:spPr>
          <a:xfrm>
            <a:off x="3886200" y="1783080"/>
            <a:ext cx="1371600" cy="420624"/>
          </a:xfrm>
          <a:prstGeom prst="rect">
            <a:avLst/>
          </a:prstGeom>
          <a:noFill/>
          <a:ln/>
        </p:spPr>
        <p:txBody>
          <a:bodyPr wrap="square" lIns="0" tIns="0" rIns="0" bIns="0" rtlCol="0" anchor="ctr"/>
          <a:lstStyle/>
          <a:p>
            <a:pPr algn="ctr" indent="0" marL="0">
              <a:buNone/>
            </a:pPr>
            <a:r>
              <a:rPr lang="en-US" sz="1000" b="1" dirty="0">
                <a:solidFill>
                  <a:srgbClr val="5B6B82"/>
                </a:solidFill>
              </a:rPr>
              <a:t>WER ENTSCHEIDET?</a:t>
            </a:r>
            <a:endParaRPr lang="en-US" sz="1000" dirty="0"/>
          </a:p>
        </p:txBody>
      </p:sp>
      <p:sp>
        <p:nvSpPr>
          <p:cNvPr id="16" name="Zelle Plan"/>
          <p:cNvSpPr/>
          <p:nvPr/>
        </p:nvSpPr>
        <p:spPr>
          <a:xfrm>
            <a:off x="5257800" y="1783080"/>
            <a:ext cx="3429000" cy="420624"/>
          </a:xfrm>
          <a:prstGeom prst="rect">
            <a:avLst/>
          </a:prstGeom>
          <a:solidFill>
            <a:schemeClr val="accent1">
              <a:alpha val="12000"/>
            </a:schemeClr>
          </a:solidFill>
          <a:ln/>
        </p:spPr>
      </p:sp>
      <p:sp>
        <p:nvSpPr>
          <p:cNvPr id="17" name="Text 15"/>
          <p:cNvSpPr txBox="1"/>
          <p:nvPr/>
        </p:nvSpPr>
        <p:spPr>
          <a:xfrm>
            <a:off x="5394960" y="1783080"/>
            <a:ext cx="3200400" cy="420624"/>
          </a:xfrm>
          <a:prstGeom prst="rect">
            <a:avLst/>
          </a:prstGeom>
          <a:noFill/>
          <a:ln/>
        </p:spPr>
        <p:txBody>
          <a:bodyPr wrap="square" lIns="0" tIns="0" rIns="0" bIns="0" rtlCol="0" anchor="ctr"/>
          <a:lstStyle/>
          <a:p>
            <a:pPr indent="0" marL="0">
              <a:buNone/>
            </a:pPr>
            <a:r>
              <a:rPr lang="en-US" sz="1400" b="1" dirty="0">
                <a:solidFill>
                  <a:schemeClr val="tx2"/>
                </a:solidFill>
              </a:rPr>
              <a:t>zentrale staatliche Stellen</a:t>
            </a:r>
            <a:endParaRPr lang="en-US" sz="1400" dirty="0"/>
          </a:p>
        </p:txBody>
      </p:sp>
      <p:sp>
        <p:nvSpPr>
          <p:cNvPr id="18" name="Zelle Markt"/>
          <p:cNvSpPr/>
          <p:nvPr/>
        </p:nvSpPr>
        <p:spPr>
          <a:xfrm>
            <a:off x="457200" y="2258568"/>
            <a:ext cx="3429000" cy="420624"/>
          </a:xfrm>
          <a:prstGeom prst="rect">
            <a:avLst/>
          </a:prstGeom>
          <a:solidFill>
            <a:schemeClr val="bg2"/>
          </a:solidFill>
          <a:ln/>
        </p:spPr>
      </p:sp>
      <p:sp>
        <p:nvSpPr>
          <p:cNvPr id="19" name="Text 17"/>
          <p:cNvSpPr txBox="1"/>
          <p:nvPr/>
        </p:nvSpPr>
        <p:spPr>
          <a:xfrm>
            <a:off x="594360" y="2258568"/>
            <a:ext cx="3200400" cy="420624"/>
          </a:xfrm>
          <a:prstGeom prst="rect">
            <a:avLst/>
          </a:prstGeom>
          <a:noFill/>
          <a:ln/>
        </p:spPr>
        <p:txBody>
          <a:bodyPr wrap="square" lIns="0" tIns="0" rIns="0" bIns="0" rtlCol="0" anchor="ctr"/>
          <a:lstStyle/>
          <a:p>
            <a:pPr indent="0" marL="0">
              <a:buNone/>
            </a:pPr>
            <a:r>
              <a:rPr lang="en-US" sz="1400" b="1" dirty="0">
                <a:solidFill>
                  <a:schemeClr val="tx2"/>
                </a:solidFill>
              </a:rPr>
              <a:t>überwiegend privat</a:t>
            </a:r>
            <a:endParaRPr lang="en-US" sz="1400" dirty="0"/>
          </a:p>
        </p:txBody>
      </p:sp>
      <p:sp>
        <p:nvSpPr>
          <p:cNvPr id="20" name="Text 18"/>
          <p:cNvSpPr txBox="1"/>
          <p:nvPr/>
        </p:nvSpPr>
        <p:spPr>
          <a:xfrm>
            <a:off x="3886200" y="2258568"/>
            <a:ext cx="1371600" cy="420624"/>
          </a:xfrm>
          <a:prstGeom prst="rect">
            <a:avLst/>
          </a:prstGeom>
          <a:noFill/>
          <a:ln/>
        </p:spPr>
        <p:txBody>
          <a:bodyPr wrap="square" lIns="0" tIns="0" rIns="0" bIns="0" rtlCol="0" anchor="ctr"/>
          <a:lstStyle/>
          <a:p>
            <a:pPr algn="ctr" indent="0" marL="0">
              <a:buNone/>
            </a:pPr>
            <a:r>
              <a:rPr lang="en-US" sz="1000" b="1" dirty="0">
                <a:solidFill>
                  <a:srgbClr val="5B6B82"/>
                </a:solidFill>
              </a:rPr>
              <a:t>EIGENTUM</a:t>
            </a:r>
            <a:endParaRPr lang="en-US" sz="1000" dirty="0"/>
          </a:p>
        </p:txBody>
      </p:sp>
      <p:sp>
        <p:nvSpPr>
          <p:cNvPr id="21" name="Zelle Plan"/>
          <p:cNvSpPr/>
          <p:nvPr/>
        </p:nvSpPr>
        <p:spPr>
          <a:xfrm>
            <a:off x="5257800" y="2258568"/>
            <a:ext cx="3429000" cy="420624"/>
          </a:xfrm>
          <a:prstGeom prst="rect">
            <a:avLst/>
          </a:prstGeom>
          <a:solidFill>
            <a:schemeClr val="accent1">
              <a:alpha val="12000"/>
            </a:schemeClr>
          </a:solidFill>
          <a:ln/>
        </p:spPr>
      </p:sp>
      <p:sp>
        <p:nvSpPr>
          <p:cNvPr id="22" name="Text 20"/>
          <p:cNvSpPr txBox="1"/>
          <p:nvPr/>
        </p:nvSpPr>
        <p:spPr>
          <a:xfrm>
            <a:off x="5394960" y="2258568"/>
            <a:ext cx="3200400" cy="420624"/>
          </a:xfrm>
          <a:prstGeom prst="rect">
            <a:avLst/>
          </a:prstGeom>
          <a:noFill/>
          <a:ln/>
        </p:spPr>
        <p:txBody>
          <a:bodyPr wrap="square" lIns="0" tIns="0" rIns="0" bIns="0" rtlCol="0" anchor="ctr"/>
          <a:lstStyle/>
          <a:p>
            <a:pPr indent="0" marL="0">
              <a:buNone/>
            </a:pPr>
            <a:r>
              <a:rPr lang="en-US" sz="1400" b="1" dirty="0">
                <a:solidFill>
                  <a:schemeClr val="tx2"/>
                </a:solidFill>
              </a:rPr>
              <a:t>Produktionsmittel überwiegend staatlich</a:t>
            </a:r>
            <a:endParaRPr lang="en-US" sz="1400" dirty="0"/>
          </a:p>
        </p:txBody>
      </p:sp>
      <p:sp>
        <p:nvSpPr>
          <p:cNvPr id="23" name="Zelle Markt"/>
          <p:cNvSpPr/>
          <p:nvPr/>
        </p:nvSpPr>
        <p:spPr>
          <a:xfrm>
            <a:off x="457200" y="2734056"/>
            <a:ext cx="3429000" cy="420624"/>
          </a:xfrm>
          <a:prstGeom prst="rect">
            <a:avLst/>
          </a:prstGeom>
          <a:solidFill>
            <a:schemeClr val="bg2"/>
          </a:solidFill>
          <a:ln/>
        </p:spPr>
      </p:sp>
      <p:sp>
        <p:nvSpPr>
          <p:cNvPr id="24" name="Text 22"/>
          <p:cNvSpPr txBox="1"/>
          <p:nvPr/>
        </p:nvSpPr>
        <p:spPr>
          <a:xfrm>
            <a:off x="594360" y="2734056"/>
            <a:ext cx="3200400" cy="420624"/>
          </a:xfrm>
          <a:prstGeom prst="rect">
            <a:avLst/>
          </a:prstGeom>
          <a:noFill/>
          <a:ln/>
        </p:spPr>
        <p:txBody>
          <a:bodyPr wrap="square" lIns="0" tIns="0" rIns="0" bIns="0" rtlCol="0" anchor="ctr"/>
          <a:lstStyle/>
          <a:p>
            <a:pPr indent="0" marL="0">
              <a:buNone/>
            </a:pPr>
            <a:r>
              <a:rPr lang="en-US" sz="1400" b="1" dirty="0">
                <a:solidFill>
                  <a:schemeClr val="tx2"/>
                </a:solidFill>
              </a:rPr>
              <a:t>Angebot &amp; Nachfrage</a:t>
            </a:r>
            <a:endParaRPr lang="en-US" sz="1400" dirty="0"/>
          </a:p>
        </p:txBody>
      </p:sp>
      <p:sp>
        <p:nvSpPr>
          <p:cNvPr id="25" name="Text 23"/>
          <p:cNvSpPr txBox="1"/>
          <p:nvPr/>
        </p:nvSpPr>
        <p:spPr>
          <a:xfrm>
            <a:off x="3886200" y="2734056"/>
            <a:ext cx="1371600" cy="420624"/>
          </a:xfrm>
          <a:prstGeom prst="rect">
            <a:avLst/>
          </a:prstGeom>
          <a:noFill/>
          <a:ln/>
        </p:spPr>
        <p:txBody>
          <a:bodyPr wrap="square" lIns="0" tIns="0" rIns="0" bIns="0" rtlCol="0" anchor="ctr"/>
          <a:lstStyle/>
          <a:p>
            <a:pPr algn="ctr" indent="0" marL="0">
              <a:buNone/>
            </a:pPr>
            <a:r>
              <a:rPr lang="en-US" sz="1000" b="1" dirty="0">
                <a:solidFill>
                  <a:srgbClr val="5B6B82"/>
                </a:solidFill>
              </a:rPr>
              <a:t>PREISE</a:t>
            </a:r>
            <a:endParaRPr lang="en-US" sz="1000" dirty="0"/>
          </a:p>
        </p:txBody>
      </p:sp>
      <p:sp>
        <p:nvSpPr>
          <p:cNvPr id="26" name="Zelle Plan"/>
          <p:cNvSpPr/>
          <p:nvPr/>
        </p:nvSpPr>
        <p:spPr>
          <a:xfrm>
            <a:off x="5257800" y="2734056"/>
            <a:ext cx="3429000" cy="420624"/>
          </a:xfrm>
          <a:prstGeom prst="rect">
            <a:avLst/>
          </a:prstGeom>
          <a:solidFill>
            <a:schemeClr val="accent1">
              <a:alpha val="12000"/>
            </a:schemeClr>
          </a:solidFill>
          <a:ln/>
        </p:spPr>
      </p:sp>
      <p:sp>
        <p:nvSpPr>
          <p:cNvPr id="27" name="Text 25"/>
          <p:cNvSpPr txBox="1"/>
          <p:nvPr/>
        </p:nvSpPr>
        <p:spPr>
          <a:xfrm>
            <a:off x="5394960" y="2734056"/>
            <a:ext cx="3200400" cy="420624"/>
          </a:xfrm>
          <a:prstGeom prst="rect">
            <a:avLst/>
          </a:prstGeom>
          <a:noFill/>
          <a:ln/>
        </p:spPr>
        <p:txBody>
          <a:bodyPr wrap="square" lIns="0" tIns="0" rIns="0" bIns="0" rtlCol="0" anchor="ctr"/>
          <a:lstStyle/>
          <a:p>
            <a:pPr indent="0" marL="0">
              <a:buNone/>
            </a:pPr>
            <a:r>
              <a:rPr lang="en-US" sz="1400" b="1" dirty="0">
                <a:solidFill>
                  <a:schemeClr val="tx2"/>
                </a:solidFill>
              </a:rPr>
              <a:t>Preise &amp; Mengen können zentral festgelegt werden</a:t>
            </a:r>
            <a:endParaRPr lang="en-US" sz="1400" dirty="0"/>
          </a:p>
        </p:txBody>
      </p:sp>
      <p:sp>
        <p:nvSpPr>
          <p:cNvPr id="28" name="Zelle Markt"/>
          <p:cNvSpPr/>
          <p:nvPr/>
        </p:nvSpPr>
        <p:spPr>
          <a:xfrm>
            <a:off x="457200" y="3209544"/>
            <a:ext cx="3429000" cy="420624"/>
          </a:xfrm>
          <a:prstGeom prst="rect">
            <a:avLst/>
          </a:prstGeom>
          <a:solidFill>
            <a:schemeClr val="bg2"/>
          </a:solidFill>
          <a:ln/>
        </p:spPr>
      </p:sp>
      <p:sp>
        <p:nvSpPr>
          <p:cNvPr id="29" name="Text 27"/>
          <p:cNvSpPr txBox="1"/>
          <p:nvPr/>
        </p:nvSpPr>
        <p:spPr>
          <a:xfrm>
            <a:off x="594360" y="3209544"/>
            <a:ext cx="3200400" cy="420624"/>
          </a:xfrm>
          <a:prstGeom prst="rect">
            <a:avLst/>
          </a:prstGeom>
          <a:noFill/>
          <a:ln/>
        </p:spPr>
        <p:txBody>
          <a:bodyPr wrap="square" lIns="0" tIns="0" rIns="0" bIns="0" rtlCol="0" anchor="ctr"/>
          <a:lstStyle/>
          <a:p>
            <a:pPr indent="0" marL="0">
              <a:buNone/>
            </a:pPr>
            <a:r>
              <a:rPr lang="en-US" sz="1400" b="1" dirty="0">
                <a:solidFill>
                  <a:schemeClr val="tx2"/>
                </a:solidFill>
              </a:rPr>
              <a:t>dezentral durch Unternehmen</a:t>
            </a:r>
            <a:endParaRPr lang="en-US" sz="1400" dirty="0"/>
          </a:p>
        </p:txBody>
      </p:sp>
      <p:sp>
        <p:nvSpPr>
          <p:cNvPr id="30" name="Text 28"/>
          <p:cNvSpPr txBox="1"/>
          <p:nvPr/>
        </p:nvSpPr>
        <p:spPr>
          <a:xfrm>
            <a:off x="3886200" y="3209544"/>
            <a:ext cx="1371600" cy="420624"/>
          </a:xfrm>
          <a:prstGeom prst="rect">
            <a:avLst/>
          </a:prstGeom>
          <a:noFill/>
          <a:ln/>
        </p:spPr>
        <p:txBody>
          <a:bodyPr wrap="square" lIns="0" tIns="0" rIns="0" bIns="0" rtlCol="0" anchor="ctr"/>
          <a:lstStyle/>
          <a:p>
            <a:pPr algn="ctr" indent="0" marL="0">
              <a:buNone/>
            </a:pPr>
            <a:r>
              <a:rPr lang="en-US" sz="1000" b="1" dirty="0">
                <a:solidFill>
                  <a:srgbClr val="5B6B82"/>
                </a:solidFill>
              </a:rPr>
              <a:t>PLANUNG</a:t>
            </a:r>
            <a:endParaRPr lang="en-US" sz="1000" dirty="0"/>
          </a:p>
        </p:txBody>
      </p:sp>
      <p:sp>
        <p:nvSpPr>
          <p:cNvPr id="31" name="Zelle Plan"/>
          <p:cNvSpPr/>
          <p:nvPr/>
        </p:nvSpPr>
        <p:spPr>
          <a:xfrm>
            <a:off x="5257800" y="3209544"/>
            <a:ext cx="3429000" cy="420624"/>
          </a:xfrm>
          <a:prstGeom prst="rect">
            <a:avLst/>
          </a:prstGeom>
          <a:solidFill>
            <a:schemeClr val="accent1">
              <a:alpha val="12000"/>
            </a:schemeClr>
          </a:solidFill>
          <a:ln/>
        </p:spPr>
      </p:sp>
      <p:sp>
        <p:nvSpPr>
          <p:cNvPr id="32" name="Text 30"/>
          <p:cNvSpPr txBox="1"/>
          <p:nvPr/>
        </p:nvSpPr>
        <p:spPr>
          <a:xfrm>
            <a:off x="5394960" y="3209544"/>
            <a:ext cx="3200400" cy="420624"/>
          </a:xfrm>
          <a:prstGeom prst="rect">
            <a:avLst/>
          </a:prstGeom>
          <a:noFill/>
          <a:ln/>
        </p:spPr>
        <p:txBody>
          <a:bodyPr wrap="square" lIns="0" tIns="0" rIns="0" bIns="0" rtlCol="0" anchor="ctr"/>
          <a:lstStyle/>
          <a:p>
            <a:pPr indent="0" marL="0">
              <a:buNone/>
            </a:pPr>
            <a:r>
              <a:rPr lang="en-US" sz="1400" b="1" dirty="0">
                <a:solidFill>
                  <a:schemeClr val="tx2"/>
                </a:solidFill>
              </a:rPr>
              <a:t>zentral</a:t>
            </a:r>
            <a:endParaRPr lang="en-US" sz="1400" dirty="0"/>
          </a:p>
        </p:txBody>
      </p:sp>
      <p:sp>
        <p:nvSpPr>
          <p:cNvPr id="33" name="Zelle Markt"/>
          <p:cNvSpPr/>
          <p:nvPr/>
        </p:nvSpPr>
        <p:spPr>
          <a:xfrm>
            <a:off x="457200" y="3685032"/>
            <a:ext cx="3429000" cy="420624"/>
          </a:xfrm>
          <a:prstGeom prst="rect">
            <a:avLst/>
          </a:prstGeom>
          <a:solidFill>
            <a:schemeClr val="bg2"/>
          </a:solidFill>
          <a:ln/>
        </p:spPr>
      </p:sp>
      <p:sp>
        <p:nvSpPr>
          <p:cNvPr id="34" name="Text 32"/>
          <p:cNvSpPr txBox="1"/>
          <p:nvPr/>
        </p:nvSpPr>
        <p:spPr>
          <a:xfrm>
            <a:off x="594360" y="3685032"/>
            <a:ext cx="3200400" cy="420624"/>
          </a:xfrm>
          <a:prstGeom prst="rect">
            <a:avLst/>
          </a:prstGeom>
          <a:noFill/>
          <a:ln/>
        </p:spPr>
        <p:txBody>
          <a:bodyPr wrap="square" lIns="0" tIns="0" rIns="0" bIns="0" rtlCol="0" anchor="ctr"/>
          <a:lstStyle/>
          <a:p>
            <a:pPr indent="0" marL="0">
              <a:buNone/>
            </a:pPr>
            <a:r>
              <a:rPr lang="en-US" sz="1400" b="1" dirty="0">
                <a:solidFill>
                  <a:schemeClr val="tx2"/>
                </a:solidFill>
              </a:rPr>
              <a:t>zentrales Steuerungselement</a:t>
            </a:r>
            <a:endParaRPr lang="en-US" sz="1400" dirty="0"/>
          </a:p>
        </p:txBody>
      </p:sp>
      <p:sp>
        <p:nvSpPr>
          <p:cNvPr id="35" name="Text 33"/>
          <p:cNvSpPr txBox="1"/>
          <p:nvPr/>
        </p:nvSpPr>
        <p:spPr>
          <a:xfrm>
            <a:off x="3886200" y="3685032"/>
            <a:ext cx="1371600" cy="420624"/>
          </a:xfrm>
          <a:prstGeom prst="rect">
            <a:avLst/>
          </a:prstGeom>
          <a:noFill/>
          <a:ln/>
        </p:spPr>
        <p:txBody>
          <a:bodyPr wrap="square" lIns="0" tIns="0" rIns="0" bIns="0" rtlCol="0" anchor="ctr"/>
          <a:lstStyle/>
          <a:p>
            <a:pPr algn="ctr" indent="0" marL="0">
              <a:buNone/>
            </a:pPr>
            <a:r>
              <a:rPr lang="en-US" sz="1000" b="1" dirty="0">
                <a:solidFill>
                  <a:srgbClr val="5B6B82"/>
                </a:solidFill>
              </a:rPr>
              <a:t>WETTBEWERB</a:t>
            </a:r>
            <a:endParaRPr lang="en-US" sz="1000" dirty="0"/>
          </a:p>
        </p:txBody>
      </p:sp>
      <p:sp>
        <p:nvSpPr>
          <p:cNvPr id="36" name="Zelle Plan"/>
          <p:cNvSpPr/>
          <p:nvPr/>
        </p:nvSpPr>
        <p:spPr>
          <a:xfrm>
            <a:off x="5257800" y="3685032"/>
            <a:ext cx="3429000" cy="420624"/>
          </a:xfrm>
          <a:prstGeom prst="rect">
            <a:avLst/>
          </a:prstGeom>
          <a:solidFill>
            <a:schemeClr val="accent1">
              <a:alpha val="12000"/>
            </a:schemeClr>
          </a:solidFill>
          <a:ln/>
        </p:spPr>
      </p:sp>
      <p:sp>
        <p:nvSpPr>
          <p:cNvPr id="37" name="Text 35"/>
          <p:cNvSpPr txBox="1"/>
          <p:nvPr/>
        </p:nvSpPr>
        <p:spPr>
          <a:xfrm>
            <a:off x="5394960" y="3685032"/>
            <a:ext cx="3200400" cy="420624"/>
          </a:xfrm>
          <a:prstGeom prst="rect">
            <a:avLst/>
          </a:prstGeom>
          <a:noFill/>
          <a:ln/>
        </p:spPr>
        <p:txBody>
          <a:bodyPr wrap="square" lIns="0" tIns="0" rIns="0" bIns="0" rtlCol="0" anchor="ctr"/>
          <a:lstStyle/>
          <a:p>
            <a:pPr indent="0" marL="0">
              <a:buNone/>
            </a:pPr>
            <a:r>
              <a:rPr lang="en-US" sz="1400" b="1" dirty="0">
                <a:solidFill>
                  <a:schemeClr val="tx2"/>
                </a:solidFill>
              </a:rPr>
              <a:t>stark eingeschränkt</a:t>
            </a:r>
            <a:endParaRPr lang="en-US" sz="1400" dirty="0"/>
          </a:p>
        </p:txBody>
      </p:sp>
      <p:sp>
        <p:nvSpPr>
          <p:cNvPr id="38" name="Hinweis-Leiste"/>
          <p:cNvSpPr/>
          <p:nvPr/>
        </p:nvSpPr>
        <p:spPr>
          <a:xfrm>
            <a:off x="457200" y="4297680"/>
            <a:ext cx="8229600" cy="411480"/>
          </a:xfrm>
          <a:prstGeom prst="rect">
            <a:avLst/>
          </a:prstGeom>
          <a:solidFill>
            <a:schemeClr val="tx2"/>
          </a:solidFill>
          <a:ln/>
        </p:spPr>
      </p:sp>
      <p:sp>
        <p:nvSpPr>
          <p:cNvPr id="39" name="Text 37"/>
          <p:cNvSpPr txBox="1"/>
          <p:nvPr/>
        </p:nvSpPr>
        <p:spPr>
          <a:xfrm>
            <a:off x="457200" y="4297680"/>
            <a:ext cx="8229600" cy="411480"/>
          </a:xfrm>
          <a:prstGeom prst="rect">
            <a:avLst/>
          </a:prstGeom>
          <a:noFill/>
          <a:ln/>
        </p:spPr>
        <p:txBody>
          <a:bodyPr wrap="square" lIns="0" tIns="0" rIns="0" bIns="0" rtlCol="0" anchor="ctr"/>
          <a:lstStyle/>
          <a:p>
            <a:pPr algn="ctr" indent="0" marL="0">
              <a:buNone/>
            </a:pPr>
            <a:r>
              <a:rPr lang="en-US" sz="1500" b="1" dirty="0">
                <a:solidFill>
                  <a:schemeClr val="bg1"/>
                </a:solidFill>
              </a:rPr>
              <a:t>Reale Wirtschaftsordnungen entsprechen diesen Modellen meist nicht vollständig.</a:t>
            </a:r>
            <a:endParaRPr lang="en-US" sz="15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583680" cy="731520"/>
          </a:xfrm>
          <a:prstGeom prst="rect">
            <a:avLst/>
          </a:prstGeom>
          <a:noFill/>
          <a:ln/>
        </p:spPr>
        <p:txBody>
          <a:bodyPr wrap="square" lIns="0" tIns="0" rIns="0" bIns="0" rtlCol="0" anchor="ctr"/>
          <a:lstStyle/>
          <a:p>
            <a:pPr algn="l" indent="0" marL="0">
              <a:buNone/>
            </a:pPr>
            <a:r>
              <a:rPr lang="en-US" sz="3000" b="1" dirty="0">
                <a:solidFill>
                  <a:schemeClr val="tx2"/>
                </a:solidFill>
              </a:rPr>
              <a:t>Eine Bäckerei – zwei Systeme</a:t>
            </a:r>
            <a:endParaRPr lang="en-US" sz="3000" dirty="0"/>
          </a:p>
        </p:txBody>
      </p:sp>
      <p:sp>
        <p:nvSpPr>
          <p:cNvPr id="3" name="Text 1"/>
          <p:cNvSpPr txBox="1"/>
          <p:nvPr/>
        </p:nvSpPr>
        <p:spPr>
          <a:xfrm>
            <a:off x="7178040" y="384048"/>
            <a:ext cx="754380" cy="201168"/>
          </a:xfrm>
          <a:prstGeom prst="rect">
            <a:avLst/>
          </a:prstGeom>
          <a:noFill/>
          <a:ln/>
        </p:spPr>
        <p:txBody>
          <a:bodyPr wrap="square" lIns="0" tIns="0" rIns="0" bIns="0" rtlCol="0" anchor="t"/>
          <a:lstStyle/>
          <a:p>
            <a:pPr indent="0" marL="0">
              <a:buNone/>
            </a:pPr>
            <a:r>
              <a:rPr lang="en-US" sz="1000" b="1" spc="200" kern="0" dirty="0">
                <a:solidFill>
                  <a:schemeClr val="tx2"/>
                </a:solidFill>
              </a:rPr>
              <a:t>MARKT</a:t>
            </a:r>
            <a:endParaRPr lang="en-US" sz="1000" dirty="0"/>
          </a:p>
        </p:txBody>
      </p:sp>
      <p:sp>
        <p:nvSpPr>
          <p:cNvPr id="4" name="Text 2"/>
          <p:cNvSpPr txBox="1"/>
          <p:nvPr/>
        </p:nvSpPr>
        <p:spPr>
          <a:xfrm>
            <a:off x="7932420" y="384048"/>
            <a:ext cx="754380" cy="201168"/>
          </a:xfrm>
          <a:prstGeom prst="rect">
            <a:avLst/>
          </a:prstGeom>
          <a:noFill/>
          <a:ln/>
        </p:spPr>
        <p:txBody>
          <a:bodyPr wrap="square" lIns="0" tIns="0" rIns="0" bIns="0" rtlCol="0" anchor="t"/>
          <a:lstStyle/>
          <a:p>
            <a:pPr algn="r" indent="0" marL="0">
              <a:buNone/>
            </a:pPr>
            <a:r>
              <a:rPr lang="en-US" sz="1000" b="1" spc="200" kern="0" dirty="0">
                <a:solidFill>
                  <a:schemeClr val="accent1"/>
                </a:solidFill>
              </a:rPr>
              <a:t>STAAT</a:t>
            </a:r>
            <a:endParaRPr lang="en-US" sz="1000" dirty="0"/>
          </a:p>
        </p:txBody>
      </p:sp>
      <p:sp>
        <p:nvSpPr>
          <p:cNvPr id="5" name="Messbalken Markt"/>
          <p:cNvSpPr/>
          <p:nvPr/>
        </p:nvSpPr>
        <p:spPr>
          <a:xfrm>
            <a:off x="7178040" y="713232"/>
            <a:ext cx="754380" cy="45720"/>
          </a:xfrm>
          <a:prstGeom prst="rect">
            <a:avLst/>
          </a:prstGeom>
          <a:solidFill>
            <a:srgbClr val="0B1F3A"/>
          </a:solidFill>
          <a:ln/>
        </p:spPr>
      </p:sp>
      <p:sp>
        <p:nvSpPr>
          <p:cNvPr id="6" name="Messbalken Staat"/>
          <p:cNvSpPr/>
          <p:nvPr/>
        </p:nvSpPr>
        <p:spPr>
          <a:xfrm>
            <a:off x="7932420" y="713232"/>
            <a:ext cx="754380" cy="45720"/>
          </a:xfrm>
          <a:prstGeom prst="rect">
            <a:avLst/>
          </a:prstGeom>
          <a:solidFill>
            <a:schemeClr val="accent1"/>
          </a:solidFill>
          <a:ln/>
        </p:spPr>
      </p:sp>
      <p:sp>
        <p:nvSpPr>
          <p:cNvPr id="7" name="Messpunkt"/>
          <p:cNvSpPr/>
          <p:nvPr/>
        </p:nvSpPr>
        <p:spPr>
          <a:xfrm>
            <a:off x="7146950" y="644652"/>
            <a:ext cx="182880" cy="182880"/>
          </a:xfrm>
          <a:prstGeom prst="ellipse">
            <a:avLst/>
          </a:prstGeom>
          <a:solidFill>
            <a:schemeClr val="tx2"/>
          </a:solidFill>
          <a:ln w="19050">
            <a:solidFill>
              <a:schemeClr val="tx2"/>
            </a:solidFill>
            <a:prstDash val="solid"/>
          </a:ln>
        </p:spPr>
      </p:sp>
      <p:sp>
        <p:nvSpPr>
          <p:cNvPr id="8" name="Messpunkt"/>
          <p:cNvSpPr/>
          <p:nvPr/>
        </p:nvSpPr>
        <p:spPr>
          <a:xfrm>
            <a:off x="8535010" y="644652"/>
            <a:ext cx="182880" cy="182880"/>
          </a:xfrm>
          <a:prstGeom prst="ellipse">
            <a:avLst/>
          </a:prstGeom>
          <a:solidFill>
            <a:schemeClr val="accent1"/>
          </a:solidFill>
          <a:ln w="19050">
            <a:solidFill>
              <a:schemeClr val="tx2"/>
            </a:solidFill>
            <a:prstDash val="solid"/>
          </a:ln>
        </p:spPr>
      </p:sp>
      <p:sp>
        <p:nvSpPr>
          <p:cNvPr id="9" name="Panel MARKTWIRTSCHAFTLICH GEDACHT"/>
          <p:cNvSpPr/>
          <p:nvPr/>
        </p:nvSpPr>
        <p:spPr>
          <a:xfrm>
            <a:off x="457200" y="1234440"/>
            <a:ext cx="4023360" cy="2788920"/>
          </a:xfrm>
          <a:prstGeom prst="rect">
            <a:avLst/>
          </a:prstGeom>
          <a:solidFill>
            <a:schemeClr val="tx2"/>
          </a:solidFill>
          <a:ln/>
        </p:spPr>
      </p:sp>
      <p:sp>
        <p:nvSpPr>
          <p:cNvPr id="10" name="Text 8"/>
          <p:cNvSpPr txBox="1"/>
          <p:nvPr/>
        </p:nvSpPr>
        <p:spPr>
          <a:xfrm>
            <a:off x="685800" y="1325880"/>
            <a:ext cx="3566160" cy="320040"/>
          </a:xfrm>
          <a:prstGeom prst="rect">
            <a:avLst/>
          </a:prstGeom>
          <a:noFill/>
          <a:ln/>
        </p:spPr>
        <p:txBody>
          <a:bodyPr wrap="square" lIns="0" tIns="0" rIns="0" bIns="0" rtlCol="0" anchor="t"/>
          <a:lstStyle/>
          <a:p>
            <a:pPr indent="0" marL="0">
              <a:buNone/>
            </a:pPr>
            <a:r>
              <a:rPr lang="en-US" sz="1400" b="1" spc="100" kern="0" dirty="0">
                <a:solidFill>
                  <a:schemeClr val="accent6"/>
                </a:solidFill>
              </a:rPr>
              <a:t>MARKTWIRTSCHAFTLICH GEDACHT</a:t>
            </a:r>
            <a:endParaRPr lang="en-US" sz="1400" dirty="0"/>
          </a:p>
        </p:txBody>
      </p:sp>
      <p:sp>
        <p:nvSpPr>
          <p:cNvPr id="11" name="Text 9"/>
          <p:cNvSpPr txBox="1"/>
          <p:nvPr/>
        </p:nvSpPr>
        <p:spPr>
          <a:xfrm>
            <a:off x="685800" y="1691640"/>
            <a:ext cx="3611880" cy="2286000"/>
          </a:xfrm>
          <a:prstGeom prst="rect">
            <a:avLst/>
          </a:prstGeom>
          <a:noFill/>
          <a:ln/>
        </p:spPr>
        <p:txBody>
          <a:bodyPr wrap="square" lIns="0" tIns="0" rIns="0" bIns="0" rtlCol="0" anchor="t"/>
          <a:lstStyle/>
          <a:p>
            <a:pPr indent="0" marL="0">
              <a:spcAft>
                <a:spcPts val="400"/>
              </a:spcAft>
              <a:buNone/>
            </a:pPr>
            <a:r>
              <a:rPr lang="en-US" sz="1400" b="1" dirty="0">
                <a:solidFill>
                  <a:schemeClr val="bg1"/>
                </a:solidFill>
              </a:rPr>
              <a:t>Die Bäckerei entscheidet:</a:t>
            </a:r>
            <a:endParaRPr lang="en-US" sz="1400" dirty="0"/>
          </a:p>
          <a:p>
            <a:pPr indent="0" marL="0">
              <a:buNone/>
            </a:pPr>
            <a:r>
              <a:rPr lang="en-US" sz="1400" dirty="0">
                <a:solidFill>
                  <a:schemeClr val="bg1"/>
                </a:solidFill>
              </a:rPr>
              <a:t>→  Welche Brote backen wir?</a:t>
            </a:r>
            <a:endParaRPr lang="en-US" sz="1400" dirty="0"/>
          </a:p>
          <a:p>
            <a:pPr indent="0" marL="0">
              <a:buNone/>
            </a:pPr>
            <a:r>
              <a:rPr lang="en-US" sz="1400" dirty="0">
                <a:solidFill>
                  <a:schemeClr val="bg1"/>
                </a:solidFill>
              </a:rPr>
              <a:t>→  Wie viele?</a:t>
            </a:r>
            <a:endParaRPr lang="en-US" sz="1400" dirty="0"/>
          </a:p>
          <a:p>
            <a:pPr indent="0" marL="0">
              <a:buNone/>
            </a:pPr>
            <a:r>
              <a:rPr lang="en-US" sz="1400" dirty="0">
                <a:solidFill>
                  <a:schemeClr val="bg1"/>
                </a:solidFill>
              </a:rPr>
              <a:t>→  Zu welchem Preis?</a:t>
            </a:r>
            <a:endParaRPr lang="en-US" sz="1400" dirty="0"/>
          </a:p>
          <a:p>
            <a:pPr indent="0" marL="0">
              <a:buNone/>
            </a:pPr>
            <a:r>
              <a:rPr lang="en-US" sz="1400" dirty="0">
                <a:solidFill>
                  <a:schemeClr val="bg1"/>
                </a:solidFill>
              </a:rPr>
              <a:t>→  Wo kaufen wir Zutaten?</a:t>
            </a:r>
            <a:endParaRPr lang="en-US" sz="1400" dirty="0"/>
          </a:p>
          <a:p>
            <a:pPr indent="0" marL="0">
              <a:buNone/>
            </a:pPr>
            <a:r>
              <a:rPr lang="en-US" sz="1400" dirty="0">
                <a:solidFill>
                  <a:schemeClr val="bg1"/>
                </a:solidFill>
              </a:rPr>
              <a:t>→  Wie reagieren wir auf Konkurrenz?</a:t>
            </a:r>
            <a:endParaRPr lang="en-US" sz="1400" dirty="0"/>
          </a:p>
          <a:p>
            <a:pPr indent="0" marL="0">
              <a:spcBef>
                <a:spcPts val="600"/>
              </a:spcBef>
              <a:buNone/>
            </a:pPr>
            <a:r>
              <a:rPr lang="en-US" sz="1400" b="1" dirty="0">
                <a:solidFill>
                  <a:schemeClr val="accent6"/>
                </a:solidFill>
              </a:rPr>
              <a:t>Die Nachfrage der Kunden beeinflusst die Entscheidungen.</a:t>
            </a:r>
            <a:endParaRPr lang="en-US" sz="1400" dirty="0"/>
          </a:p>
        </p:txBody>
      </p:sp>
      <p:sp>
        <p:nvSpPr>
          <p:cNvPr id="12" name="Panel Plan"/>
          <p:cNvSpPr/>
          <p:nvPr/>
        </p:nvSpPr>
        <p:spPr>
          <a:xfrm>
            <a:off x="4663440" y="1234440"/>
            <a:ext cx="4023360" cy="2788920"/>
          </a:xfrm>
          <a:prstGeom prst="rect">
            <a:avLst/>
          </a:prstGeom>
          <a:solidFill>
            <a:schemeClr val="accent1">
              <a:alpha val="14000"/>
            </a:schemeClr>
          </a:solidFill>
          <a:ln/>
        </p:spPr>
      </p:sp>
      <p:sp>
        <p:nvSpPr>
          <p:cNvPr id="13" name="Text 11"/>
          <p:cNvSpPr txBox="1"/>
          <p:nvPr/>
        </p:nvSpPr>
        <p:spPr>
          <a:xfrm>
            <a:off x="4892040" y="1325880"/>
            <a:ext cx="3566160" cy="320040"/>
          </a:xfrm>
          <a:prstGeom prst="rect">
            <a:avLst/>
          </a:prstGeom>
          <a:noFill/>
          <a:ln/>
        </p:spPr>
        <p:txBody>
          <a:bodyPr wrap="square" lIns="0" tIns="0" rIns="0" bIns="0" rtlCol="0" anchor="t"/>
          <a:lstStyle/>
          <a:p>
            <a:pPr indent="0" marL="0">
              <a:buNone/>
            </a:pPr>
            <a:r>
              <a:rPr lang="en-US" sz="1400" b="1" spc="100" kern="0" dirty="0">
                <a:solidFill>
                  <a:schemeClr val="accent4"/>
                </a:solidFill>
              </a:rPr>
              <a:t>ZENTRAL GEPLANT GEDACHT</a:t>
            </a:r>
            <a:endParaRPr lang="en-US" sz="1400" dirty="0"/>
          </a:p>
        </p:txBody>
      </p:sp>
      <p:sp>
        <p:nvSpPr>
          <p:cNvPr id="14" name="Text 12"/>
          <p:cNvSpPr txBox="1"/>
          <p:nvPr/>
        </p:nvSpPr>
        <p:spPr>
          <a:xfrm>
            <a:off x="4892040" y="1691640"/>
            <a:ext cx="3611880" cy="2286000"/>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Eine zentrale Planung kann bestimmen:</a:t>
            </a:r>
            <a:endParaRPr lang="en-US" sz="1400" dirty="0"/>
          </a:p>
          <a:p>
            <a:pPr indent="0" marL="0">
              <a:buNone/>
            </a:pPr>
            <a:r>
              <a:rPr lang="en-US" sz="1400" dirty="0">
                <a:solidFill>
                  <a:schemeClr val="tx2"/>
                </a:solidFill>
              </a:rPr>
              <a:t>→  Produktionsmenge</a:t>
            </a:r>
            <a:endParaRPr lang="en-US" sz="1400" dirty="0"/>
          </a:p>
          <a:p>
            <a:pPr indent="0" marL="0">
              <a:buNone/>
            </a:pPr>
            <a:r>
              <a:rPr lang="en-US" sz="1400" dirty="0">
                <a:solidFill>
                  <a:schemeClr val="tx2"/>
                </a:solidFill>
              </a:rPr>
              <a:t>→  Ressourcenverteilung</a:t>
            </a:r>
            <a:endParaRPr lang="en-US" sz="1400" dirty="0"/>
          </a:p>
          <a:p>
            <a:pPr indent="0" marL="0">
              <a:buNone/>
            </a:pPr>
            <a:r>
              <a:rPr lang="en-US" sz="1400" dirty="0">
                <a:solidFill>
                  <a:schemeClr val="tx2"/>
                </a:solidFill>
              </a:rPr>
              <a:t>→  Sortiment</a:t>
            </a:r>
            <a:endParaRPr lang="en-US" sz="1400" dirty="0"/>
          </a:p>
          <a:p>
            <a:pPr indent="0" marL="0">
              <a:buNone/>
            </a:pPr>
            <a:r>
              <a:rPr lang="en-US" sz="1400" dirty="0">
                <a:solidFill>
                  <a:schemeClr val="tx2"/>
                </a:solidFill>
              </a:rPr>
              <a:t>→  Preise</a:t>
            </a:r>
            <a:endParaRPr lang="en-US" sz="1400" dirty="0"/>
          </a:p>
          <a:p>
            <a:pPr indent="0" marL="0">
              <a:buNone/>
            </a:pPr>
            <a:r>
              <a:rPr lang="en-US" sz="1400" dirty="0">
                <a:solidFill>
                  <a:schemeClr val="tx2"/>
                </a:solidFill>
              </a:rPr>
              <a:t>→  Verteilung</a:t>
            </a:r>
            <a:endParaRPr lang="en-US" sz="1400" dirty="0"/>
          </a:p>
          <a:p>
            <a:pPr indent="0" marL="0">
              <a:spcBef>
                <a:spcPts val="600"/>
              </a:spcBef>
              <a:buNone/>
            </a:pPr>
            <a:r>
              <a:rPr lang="en-US" sz="1400" b="1" dirty="0">
                <a:solidFill>
                  <a:schemeClr val="accent4"/>
                </a:solidFill>
              </a:rPr>
              <a:t>Nicht die einzelne Bäckerei, sondern die zentrale Planung koordiniert wesentliche Entscheidungen.</a:t>
            </a:r>
            <a:endParaRPr lang="en-US" sz="1400" dirty="0"/>
          </a:p>
        </p:txBody>
      </p:sp>
      <p:sp>
        <p:nvSpPr>
          <p:cNvPr id="15" name="Icon-Kreis"/>
          <p:cNvSpPr/>
          <p:nvPr/>
        </p:nvSpPr>
        <p:spPr>
          <a:xfrm>
            <a:off x="457200" y="4133088"/>
            <a:ext cx="457200" cy="457200"/>
          </a:xfrm>
          <a:prstGeom prst="ellipse">
            <a:avLst/>
          </a:prstGeom>
          <a:solidFill>
            <a:schemeClr val="accent1"/>
          </a:solidFill>
          <a:ln w="12700">
            <a:solidFill>
              <a:schemeClr val="accent1"/>
            </a:solidFill>
            <a:prstDash val="solid"/>
          </a:ln>
        </p:spPr>
      </p:sp>
      <p:pic>
        <p:nvPicPr>
          <p:cNvPr id="16" name="Image 0" descr="Lightbulb">    </p:cNvPr>
          <p:cNvPicPr>
            <a:picLocks noChangeAspect="1"/>
          </p:cNvPicPr>
          <p:nvPr/>
        </p:nvPicPr>
        <p:blipFill>
          <a:blip r:embed="rId1"/>
          <a:stretch>
            <a:fillRect/>
          </a:stretch>
        </p:blipFill>
        <p:spPr>
          <a:xfrm>
            <a:off x="566928" y="4242816"/>
            <a:ext cx="237744" cy="237744"/>
          </a:xfrm>
          <a:prstGeom prst="rect">
            <a:avLst/>
          </a:prstGeom>
        </p:spPr>
      </p:pic>
      <p:sp>
        <p:nvSpPr>
          <p:cNvPr id="17" name="Text 14"/>
          <p:cNvSpPr txBox="1"/>
          <p:nvPr/>
        </p:nvSpPr>
        <p:spPr>
          <a:xfrm>
            <a:off x="1051560" y="4133088"/>
            <a:ext cx="7635240" cy="457200"/>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Dieselbe wirtschaftliche Aufgabe - zwei unterschiedliche Wege der Steuerung.*</a:t>
            </a:r>
            <a:endParaRPr lang="en-US" sz="1500" dirty="0"/>
          </a:p>
        </p:txBody>
      </p:sp>
      <p:sp>
        <p:nvSpPr>
          <p:cNvPr id="18" name="Text 15"/>
          <p:cNvSpPr txBox="1"/>
          <p:nvPr/>
        </p:nvSpPr>
        <p:spPr>
          <a:xfrm>
            <a:off x="457200" y="4645152"/>
            <a:ext cx="8138160" cy="182880"/>
          </a:xfrm>
          <a:prstGeom prst="rect">
            <a:avLst/>
          </a:prstGeom>
          <a:noFill/>
          <a:ln/>
        </p:spPr>
        <p:txBody>
          <a:bodyPr wrap="square" lIns="0" tIns="0" rIns="0" bIns="0" rtlCol="0" anchor="t"/>
          <a:lstStyle/>
          <a:p>
            <a:pPr indent="0" marL="0">
              <a:buNone/>
            </a:pPr>
            <a:r>
              <a:rPr lang="en-US" sz="1000" dirty="0">
                <a:solidFill>
                  <a:srgbClr val="5B6B82"/>
                </a:solidFill>
              </a:rPr>
              <a:t>*vereinfachtes Anschauungsbeispiel. Die zugrunde liegenden Unterschiede entsprechen den Idealtypen von Markt- und Zentralverwaltungswirtschaft.</a:t>
            </a:r>
            <a:endParaRPr lang="en-US" sz="10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583680" cy="731520"/>
          </a:xfrm>
          <a:prstGeom prst="rect">
            <a:avLst/>
          </a:prstGeom>
          <a:noFill/>
          <a:ln/>
        </p:spPr>
        <p:txBody>
          <a:bodyPr wrap="square" lIns="0" tIns="0" rIns="0" bIns="0" rtlCol="0" anchor="ctr"/>
          <a:lstStyle/>
          <a:p>
            <a:pPr algn="l" indent="0" marL="0">
              <a:buNone/>
            </a:pPr>
            <a:r>
              <a:rPr lang="en-US" sz="2400" b="1" dirty="0">
                <a:solidFill>
                  <a:schemeClr val="tx2"/>
                </a:solidFill>
              </a:rPr>
              <a:t>Markt oder Planung – Vorteile und Nachteile</a:t>
            </a:r>
            <a:endParaRPr lang="en-US" sz="2400" dirty="0"/>
          </a:p>
        </p:txBody>
      </p:sp>
      <p:sp>
        <p:nvSpPr>
          <p:cNvPr id="3" name="Text 1"/>
          <p:cNvSpPr txBox="1"/>
          <p:nvPr/>
        </p:nvSpPr>
        <p:spPr>
          <a:xfrm>
            <a:off x="7178040" y="384048"/>
            <a:ext cx="754380" cy="201168"/>
          </a:xfrm>
          <a:prstGeom prst="rect">
            <a:avLst/>
          </a:prstGeom>
          <a:noFill/>
          <a:ln/>
        </p:spPr>
        <p:txBody>
          <a:bodyPr wrap="square" lIns="0" tIns="0" rIns="0" bIns="0" rtlCol="0" anchor="t"/>
          <a:lstStyle/>
          <a:p>
            <a:pPr indent="0" marL="0">
              <a:buNone/>
            </a:pPr>
            <a:r>
              <a:rPr lang="en-US" sz="1000" b="1" spc="200" kern="0" dirty="0">
                <a:solidFill>
                  <a:schemeClr val="tx2"/>
                </a:solidFill>
              </a:rPr>
              <a:t>MARKT</a:t>
            </a:r>
            <a:endParaRPr lang="en-US" sz="1000" dirty="0"/>
          </a:p>
        </p:txBody>
      </p:sp>
      <p:sp>
        <p:nvSpPr>
          <p:cNvPr id="4" name="Text 2"/>
          <p:cNvSpPr txBox="1"/>
          <p:nvPr/>
        </p:nvSpPr>
        <p:spPr>
          <a:xfrm>
            <a:off x="7932420" y="384048"/>
            <a:ext cx="754380" cy="201168"/>
          </a:xfrm>
          <a:prstGeom prst="rect">
            <a:avLst/>
          </a:prstGeom>
          <a:noFill/>
          <a:ln/>
        </p:spPr>
        <p:txBody>
          <a:bodyPr wrap="square" lIns="0" tIns="0" rIns="0" bIns="0" rtlCol="0" anchor="t"/>
          <a:lstStyle/>
          <a:p>
            <a:pPr algn="r" indent="0" marL="0">
              <a:buNone/>
            </a:pPr>
            <a:r>
              <a:rPr lang="en-US" sz="1000" b="1" spc="200" kern="0" dirty="0">
                <a:solidFill>
                  <a:schemeClr val="accent1"/>
                </a:solidFill>
              </a:rPr>
              <a:t>STAAT</a:t>
            </a:r>
            <a:endParaRPr lang="en-US" sz="1000" dirty="0"/>
          </a:p>
        </p:txBody>
      </p:sp>
      <p:sp>
        <p:nvSpPr>
          <p:cNvPr id="5" name="Messbalken Markt"/>
          <p:cNvSpPr/>
          <p:nvPr/>
        </p:nvSpPr>
        <p:spPr>
          <a:xfrm>
            <a:off x="7178040" y="713232"/>
            <a:ext cx="754380" cy="45720"/>
          </a:xfrm>
          <a:prstGeom prst="rect">
            <a:avLst/>
          </a:prstGeom>
          <a:solidFill>
            <a:srgbClr val="0B1F3A"/>
          </a:solidFill>
          <a:ln/>
        </p:spPr>
      </p:sp>
      <p:sp>
        <p:nvSpPr>
          <p:cNvPr id="6" name="Messbalken Staat"/>
          <p:cNvSpPr/>
          <p:nvPr/>
        </p:nvSpPr>
        <p:spPr>
          <a:xfrm>
            <a:off x="7932420" y="713232"/>
            <a:ext cx="754380" cy="45720"/>
          </a:xfrm>
          <a:prstGeom prst="rect">
            <a:avLst/>
          </a:prstGeom>
          <a:solidFill>
            <a:schemeClr val="accent1"/>
          </a:solidFill>
          <a:ln/>
        </p:spPr>
      </p:sp>
      <p:sp>
        <p:nvSpPr>
          <p:cNvPr id="7" name="Messpunkt"/>
          <p:cNvSpPr/>
          <p:nvPr/>
        </p:nvSpPr>
        <p:spPr>
          <a:xfrm>
            <a:off x="7146950" y="644652"/>
            <a:ext cx="182880" cy="182880"/>
          </a:xfrm>
          <a:prstGeom prst="ellipse">
            <a:avLst/>
          </a:prstGeom>
          <a:solidFill>
            <a:schemeClr val="tx2"/>
          </a:solidFill>
          <a:ln w="19050">
            <a:solidFill>
              <a:schemeClr val="tx2"/>
            </a:solidFill>
            <a:prstDash val="solid"/>
          </a:ln>
        </p:spPr>
      </p:sp>
      <p:sp>
        <p:nvSpPr>
          <p:cNvPr id="8" name="Messpunkt"/>
          <p:cNvSpPr/>
          <p:nvPr/>
        </p:nvSpPr>
        <p:spPr>
          <a:xfrm>
            <a:off x="8535010" y="644652"/>
            <a:ext cx="182880" cy="182880"/>
          </a:xfrm>
          <a:prstGeom prst="ellipse">
            <a:avLst/>
          </a:prstGeom>
          <a:solidFill>
            <a:schemeClr val="accent1"/>
          </a:solidFill>
          <a:ln w="19050">
            <a:solidFill>
              <a:schemeClr val="tx2"/>
            </a:solidFill>
            <a:prstDash val="solid"/>
          </a:ln>
        </p:spPr>
      </p:sp>
      <p:sp>
        <p:nvSpPr>
          <p:cNvPr id="9" name="Kopf MARKTWIRTSCHAFTLICHE STEUERUNG"/>
          <p:cNvSpPr/>
          <p:nvPr/>
        </p:nvSpPr>
        <p:spPr>
          <a:xfrm>
            <a:off x="457200" y="1188720"/>
            <a:ext cx="4023360" cy="457200"/>
          </a:xfrm>
          <a:prstGeom prst="rect">
            <a:avLst/>
          </a:prstGeom>
          <a:solidFill>
            <a:schemeClr val="tx2"/>
          </a:solidFill>
          <a:ln/>
        </p:spPr>
      </p:sp>
      <p:sp>
        <p:nvSpPr>
          <p:cNvPr id="10" name="Text 8"/>
          <p:cNvSpPr txBox="1"/>
          <p:nvPr/>
        </p:nvSpPr>
        <p:spPr>
          <a:xfrm>
            <a:off x="457200" y="1188720"/>
            <a:ext cx="4023360" cy="457200"/>
          </a:xfrm>
          <a:prstGeom prst="rect">
            <a:avLst/>
          </a:prstGeom>
          <a:noFill/>
          <a:ln/>
        </p:spPr>
        <p:txBody>
          <a:bodyPr wrap="square" lIns="0" tIns="0" rIns="0" bIns="0" rtlCol="0" anchor="ctr"/>
          <a:lstStyle/>
          <a:p>
            <a:pPr algn="ctr" indent="0" marL="0">
              <a:buNone/>
            </a:pPr>
            <a:r>
              <a:rPr lang="en-US" sz="1500" b="1" spc="100" kern="0" dirty="0">
                <a:solidFill>
                  <a:schemeClr val="bg1"/>
                </a:solidFill>
              </a:rPr>
              <a:t>MARKTWIRTSCHAFTLICHE STEUERUNG</a:t>
            </a:r>
            <a:endParaRPr lang="en-US" sz="1500" dirty="0"/>
          </a:p>
        </p:txBody>
      </p:sp>
      <p:sp>
        <p:nvSpPr>
          <p:cNvPr id="11" name="Feld MARKTWIRTSCHAFTLICHE STEUERUNG"/>
          <p:cNvSpPr/>
          <p:nvPr/>
        </p:nvSpPr>
        <p:spPr>
          <a:xfrm>
            <a:off x="457200" y="1691640"/>
            <a:ext cx="4023360" cy="3017520"/>
          </a:xfrm>
          <a:prstGeom prst="rect">
            <a:avLst/>
          </a:prstGeom>
          <a:solidFill>
            <a:schemeClr val="bg2"/>
          </a:solidFill>
          <a:ln/>
        </p:spPr>
      </p:sp>
      <p:sp>
        <p:nvSpPr>
          <p:cNvPr id="12" name="Text 10"/>
          <p:cNvSpPr txBox="1"/>
          <p:nvPr/>
        </p:nvSpPr>
        <p:spPr>
          <a:xfrm>
            <a:off x="685800" y="1783080"/>
            <a:ext cx="3611880" cy="2834640"/>
          </a:xfrm>
          <a:prstGeom prst="rect">
            <a:avLst/>
          </a:prstGeom>
          <a:noFill/>
          <a:ln/>
        </p:spPr>
        <p:txBody>
          <a:bodyPr wrap="square" lIns="0" tIns="0" rIns="0" bIns="0" rtlCol="0" anchor="t"/>
          <a:lstStyle/>
          <a:p>
            <a:pPr indent="0" marL="0">
              <a:spcAft>
                <a:spcPts val="300"/>
              </a:spcAft>
              <a:buNone/>
            </a:pPr>
            <a:r>
              <a:rPr lang="en-US" sz="1400" b="1" dirty="0">
                <a:solidFill>
                  <a:schemeClr val="tx2"/>
                </a:solidFill>
              </a:rPr>
              <a:t>Mögliche Vorteile:</a:t>
            </a:r>
            <a:endParaRPr lang="en-US" sz="1400" dirty="0"/>
          </a:p>
          <a:p>
            <a:pPr indent="0" marL="0">
              <a:buNone/>
            </a:pPr>
            <a:r>
              <a:rPr lang="en-US" sz="1400" dirty="0">
                <a:solidFill>
                  <a:schemeClr val="tx1"/>
                </a:solidFill>
              </a:rPr>
              <a:t>+  Wettbewerb</a:t>
            </a:r>
            <a:endParaRPr lang="en-US" sz="1400" dirty="0"/>
          </a:p>
          <a:p>
            <a:pPr indent="0" marL="0">
              <a:buNone/>
            </a:pPr>
            <a:r>
              <a:rPr lang="en-US" sz="1400" dirty="0">
                <a:solidFill>
                  <a:schemeClr val="tx1"/>
                </a:solidFill>
              </a:rPr>
              <a:t>+  Innovation</a:t>
            </a:r>
            <a:endParaRPr lang="en-US" sz="1400" dirty="0"/>
          </a:p>
          <a:p>
            <a:pPr indent="0" marL="0">
              <a:buNone/>
            </a:pPr>
            <a:r>
              <a:rPr lang="en-US" sz="1400" dirty="0">
                <a:solidFill>
                  <a:schemeClr val="tx1"/>
                </a:solidFill>
              </a:rPr>
              <a:t>+  große Auswahl</a:t>
            </a:r>
            <a:endParaRPr lang="en-US" sz="1400" dirty="0"/>
          </a:p>
          <a:p>
            <a:pPr indent="0" marL="0">
              <a:buNone/>
            </a:pPr>
            <a:r>
              <a:rPr lang="en-US" sz="1400" dirty="0">
                <a:solidFill>
                  <a:schemeClr val="tx1"/>
                </a:solidFill>
              </a:rPr>
              <a:t>+  Eigeninitiative</a:t>
            </a:r>
            <a:endParaRPr lang="en-US" sz="1400" dirty="0"/>
          </a:p>
          <a:p>
            <a:pPr indent="0" marL="0">
              <a:buNone/>
            </a:pPr>
            <a:r>
              <a:rPr lang="en-US" sz="1400" dirty="0">
                <a:solidFill>
                  <a:schemeClr val="tx1"/>
                </a:solidFill>
              </a:rPr>
              <a:t>+  flexible Reaktion auf Nachfrage</a:t>
            </a:r>
            <a:endParaRPr lang="en-US" sz="1400" dirty="0"/>
          </a:p>
          <a:p>
            <a:pPr indent="0" marL="0">
              <a:spcBef>
                <a:spcPts val="800"/>
              </a:spcBef>
              <a:spcAft>
                <a:spcPts val="300"/>
              </a:spcAft>
              <a:buNone/>
            </a:pPr>
            <a:r>
              <a:rPr lang="en-US" sz="1400" b="1" dirty="0">
                <a:solidFill>
                  <a:schemeClr val="accent4"/>
                </a:solidFill>
              </a:rPr>
              <a:t>Mögliche Probleme:</a:t>
            </a:r>
            <a:endParaRPr lang="en-US" sz="1400" dirty="0"/>
          </a:p>
          <a:p>
            <a:pPr indent="0" marL="0">
              <a:buNone/>
            </a:pPr>
            <a:r>
              <a:rPr lang="en-US" sz="1400" dirty="0">
                <a:solidFill>
                  <a:schemeClr val="tx1"/>
                </a:solidFill>
              </a:rPr>
              <a:t>–  soziale Ungleichheit</a:t>
            </a:r>
            <a:endParaRPr lang="en-US" sz="1400" dirty="0"/>
          </a:p>
          <a:p>
            <a:pPr indent="0" marL="0">
              <a:buNone/>
            </a:pPr>
            <a:r>
              <a:rPr lang="en-US" sz="1400" dirty="0">
                <a:solidFill>
                  <a:schemeClr val="tx1"/>
                </a:solidFill>
              </a:rPr>
              <a:t>–  Marktmacht einzelner Unternehmen</a:t>
            </a:r>
            <a:endParaRPr lang="en-US" sz="1400" dirty="0"/>
          </a:p>
          <a:p>
            <a:pPr indent="0" marL="0">
              <a:buNone/>
            </a:pPr>
            <a:r>
              <a:rPr lang="en-US" sz="1400" dirty="0">
                <a:solidFill>
                  <a:schemeClr val="tx1"/>
                </a:solidFill>
              </a:rPr>
              <a:t>–  Umweltbelastungen / externe Kosten</a:t>
            </a:r>
            <a:endParaRPr lang="en-US" sz="1400" dirty="0"/>
          </a:p>
          <a:p>
            <a:pPr indent="0" marL="0">
              <a:buNone/>
            </a:pPr>
            <a:r>
              <a:rPr lang="en-US" sz="1400" dirty="0">
                <a:solidFill>
                  <a:schemeClr val="tx1"/>
                </a:solidFill>
              </a:rPr>
              <a:t>–  gesellschaftlich wichtige Leistungen werden nicht automatisch ausreichend angeboten</a:t>
            </a:r>
            <a:endParaRPr lang="en-US" sz="1400" dirty="0"/>
          </a:p>
        </p:txBody>
      </p:sp>
      <p:sp>
        <p:nvSpPr>
          <p:cNvPr id="13" name="Kopf STÄRKERE ZENTRALE PLANUNG"/>
          <p:cNvSpPr/>
          <p:nvPr/>
        </p:nvSpPr>
        <p:spPr>
          <a:xfrm>
            <a:off x="4663440" y="1188720"/>
            <a:ext cx="4023360" cy="457200"/>
          </a:xfrm>
          <a:prstGeom prst="rect">
            <a:avLst/>
          </a:prstGeom>
          <a:solidFill>
            <a:schemeClr val="accent1"/>
          </a:solidFill>
          <a:ln/>
        </p:spPr>
      </p:sp>
      <p:sp>
        <p:nvSpPr>
          <p:cNvPr id="14" name="Text 12"/>
          <p:cNvSpPr txBox="1"/>
          <p:nvPr/>
        </p:nvSpPr>
        <p:spPr>
          <a:xfrm>
            <a:off x="4663440" y="1188720"/>
            <a:ext cx="4023360" cy="457200"/>
          </a:xfrm>
          <a:prstGeom prst="rect">
            <a:avLst/>
          </a:prstGeom>
          <a:noFill/>
          <a:ln/>
        </p:spPr>
        <p:txBody>
          <a:bodyPr wrap="square" lIns="0" tIns="0" rIns="0" bIns="0" rtlCol="0" anchor="ctr"/>
          <a:lstStyle/>
          <a:p>
            <a:pPr algn="ctr" indent="0" marL="0">
              <a:buNone/>
            </a:pPr>
            <a:r>
              <a:rPr lang="en-US" sz="1500" b="1" spc="100" kern="0" dirty="0">
                <a:solidFill>
                  <a:schemeClr val="bg1"/>
                </a:solidFill>
              </a:rPr>
              <a:t>STÄRKERE ZENTRALE PLANUNG</a:t>
            </a:r>
            <a:endParaRPr lang="en-US" sz="1500" dirty="0"/>
          </a:p>
        </p:txBody>
      </p:sp>
      <p:sp>
        <p:nvSpPr>
          <p:cNvPr id="15" name="Feld STÄRKERE ZENTRALE PLANUNG"/>
          <p:cNvSpPr/>
          <p:nvPr/>
        </p:nvSpPr>
        <p:spPr>
          <a:xfrm>
            <a:off x="4663440" y="1691640"/>
            <a:ext cx="4023360" cy="3017520"/>
          </a:xfrm>
          <a:prstGeom prst="rect">
            <a:avLst/>
          </a:prstGeom>
          <a:solidFill>
            <a:schemeClr val="bg2"/>
          </a:solidFill>
          <a:ln/>
        </p:spPr>
      </p:sp>
      <p:sp>
        <p:nvSpPr>
          <p:cNvPr id="16" name="Text 14"/>
          <p:cNvSpPr txBox="1"/>
          <p:nvPr/>
        </p:nvSpPr>
        <p:spPr>
          <a:xfrm>
            <a:off x="4892040" y="1783080"/>
            <a:ext cx="3611880" cy="2834640"/>
          </a:xfrm>
          <a:prstGeom prst="rect">
            <a:avLst/>
          </a:prstGeom>
          <a:noFill/>
          <a:ln/>
        </p:spPr>
        <p:txBody>
          <a:bodyPr wrap="square" lIns="0" tIns="0" rIns="0" bIns="0" rtlCol="0" anchor="t"/>
          <a:lstStyle/>
          <a:p>
            <a:pPr indent="0" marL="0">
              <a:spcAft>
                <a:spcPts val="300"/>
              </a:spcAft>
              <a:buNone/>
            </a:pPr>
            <a:r>
              <a:rPr lang="en-US" sz="1400" b="1" dirty="0">
                <a:solidFill>
                  <a:schemeClr val="tx2"/>
                </a:solidFill>
              </a:rPr>
              <a:t>Mögliche Vorteile:</a:t>
            </a:r>
            <a:endParaRPr lang="en-US" sz="1400" dirty="0"/>
          </a:p>
          <a:p>
            <a:pPr indent="0" marL="0">
              <a:buNone/>
            </a:pPr>
            <a:r>
              <a:rPr lang="en-US" sz="1400" dirty="0">
                <a:solidFill>
                  <a:schemeClr val="tx1"/>
                </a:solidFill>
              </a:rPr>
              <a:t>+  Ressourcen können gezielt gesteuert werden</a:t>
            </a:r>
            <a:endParaRPr lang="en-US" sz="1400" dirty="0"/>
          </a:p>
          <a:p>
            <a:pPr indent="0" marL="0">
              <a:buNone/>
            </a:pPr>
            <a:r>
              <a:rPr lang="en-US" sz="1400" dirty="0">
                <a:solidFill>
                  <a:schemeClr val="tx1"/>
                </a:solidFill>
              </a:rPr>
              <a:t>+  Versorgung kann politisch priorisiert werden</a:t>
            </a:r>
            <a:endParaRPr lang="en-US" sz="1400" dirty="0"/>
          </a:p>
          <a:p>
            <a:pPr indent="0" marL="0">
              <a:buNone/>
            </a:pPr>
            <a:r>
              <a:rPr lang="en-US" sz="1400" dirty="0">
                <a:solidFill>
                  <a:schemeClr val="tx1"/>
                </a:solidFill>
              </a:rPr>
              <a:t>+  soziale Ziele können direkt verfolgt werden</a:t>
            </a:r>
            <a:endParaRPr lang="en-US" sz="1400" dirty="0"/>
          </a:p>
          <a:p>
            <a:pPr indent="0" marL="0">
              <a:buNone/>
            </a:pPr>
            <a:r>
              <a:rPr lang="en-US" sz="1400" dirty="0">
                <a:solidFill>
                  <a:schemeClr val="tx1"/>
                </a:solidFill>
              </a:rPr>
              <a:t>+  langfristige Planung</a:t>
            </a:r>
            <a:endParaRPr lang="en-US" sz="1400" dirty="0"/>
          </a:p>
          <a:p>
            <a:pPr indent="0" marL="0">
              <a:spcBef>
                <a:spcPts val="800"/>
              </a:spcBef>
              <a:spcAft>
                <a:spcPts val="300"/>
              </a:spcAft>
              <a:buNone/>
            </a:pPr>
            <a:r>
              <a:rPr lang="en-US" sz="1400" b="1" dirty="0">
                <a:solidFill>
                  <a:schemeClr val="accent4"/>
                </a:solidFill>
              </a:rPr>
              <a:t>Mögliche Probleme:</a:t>
            </a:r>
            <a:endParaRPr lang="en-US" sz="1400" dirty="0"/>
          </a:p>
          <a:p>
            <a:pPr indent="0" marL="0">
              <a:buNone/>
            </a:pPr>
            <a:r>
              <a:rPr lang="en-US" sz="1400" dirty="0">
                <a:solidFill>
                  <a:schemeClr val="tx1"/>
                </a:solidFill>
              </a:rPr>
              <a:t>–  sehr hoher Informationsbedarf</a:t>
            </a:r>
            <a:endParaRPr lang="en-US" sz="1400" dirty="0"/>
          </a:p>
          <a:p>
            <a:pPr indent="0" marL="0">
              <a:buNone/>
            </a:pPr>
            <a:r>
              <a:rPr lang="en-US" sz="1400" dirty="0">
                <a:solidFill>
                  <a:schemeClr val="tx1"/>
                </a:solidFill>
              </a:rPr>
              <a:t>–  Gefahr von Fehlplanung</a:t>
            </a:r>
            <a:endParaRPr lang="en-US" sz="1400" dirty="0"/>
          </a:p>
          <a:p>
            <a:pPr indent="0" marL="0">
              <a:buNone/>
            </a:pPr>
            <a:r>
              <a:rPr lang="en-US" sz="1400" dirty="0">
                <a:solidFill>
                  <a:schemeClr val="tx1"/>
                </a:solidFill>
              </a:rPr>
              <a:t>–  weniger Wettbewerb</a:t>
            </a:r>
            <a:endParaRPr lang="en-US" sz="1400" dirty="0"/>
          </a:p>
          <a:p>
            <a:pPr indent="0" marL="0">
              <a:buNone/>
            </a:pPr>
            <a:r>
              <a:rPr lang="en-US" sz="1400" dirty="0">
                <a:solidFill>
                  <a:schemeClr val="tx1"/>
                </a:solidFill>
              </a:rPr>
              <a:t>–  langsamere Anpassung</a:t>
            </a:r>
            <a:endParaRPr lang="en-US" sz="1400" dirty="0"/>
          </a:p>
          <a:p>
            <a:pPr indent="0" marL="0">
              <a:buNone/>
            </a:pPr>
            <a:r>
              <a:rPr lang="en-US" sz="1400" dirty="0">
                <a:solidFill>
                  <a:schemeClr val="tx1"/>
                </a:solidFill>
              </a:rPr>
              <a:t>–  geringere Innovationsanreize</a:t>
            </a:r>
            <a:endParaRPr lang="en-US" sz="14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457200"/>
            <a:ext cx="3383280" cy="1371600"/>
          </a:xfrm>
          <a:prstGeom prst="rect">
            <a:avLst/>
          </a:prstGeom>
          <a:noFill/>
          <a:ln/>
        </p:spPr>
        <p:txBody>
          <a:bodyPr wrap="square" lIns="0" tIns="0" rIns="0" bIns="0" rtlCol="0" anchor="t"/>
          <a:lstStyle/>
          <a:p>
            <a:pPr algn="l" indent="0" marL="0">
              <a:buNone/>
            </a:pPr>
            <a:r>
              <a:rPr lang="en-US" sz="2800" b="1" dirty="0">
                <a:solidFill>
                  <a:schemeClr val="bg1"/>
                </a:solidFill>
              </a:rPr>
              <a:t>SOZIALE MARKTWIRTSCHAFT</a:t>
            </a:r>
            <a:endParaRPr lang="en-US" sz="2800" dirty="0"/>
          </a:p>
        </p:txBody>
      </p:sp>
      <p:sp>
        <p:nvSpPr>
          <p:cNvPr id="3" name="Text 1"/>
          <p:cNvSpPr txBox="1"/>
          <p:nvPr/>
        </p:nvSpPr>
        <p:spPr>
          <a:xfrm>
            <a:off x="7178040" y="384048"/>
            <a:ext cx="754380" cy="201168"/>
          </a:xfrm>
          <a:prstGeom prst="rect">
            <a:avLst/>
          </a:prstGeom>
          <a:noFill/>
          <a:ln/>
        </p:spPr>
        <p:txBody>
          <a:bodyPr wrap="square" lIns="0" tIns="0" rIns="0" bIns="0" rtlCol="0" anchor="t"/>
          <a:lstStyle/>
          <a:p>
            <a:pPr indent="0" marL="0">
              <a:buNone/>
            </a:pPr>
            <a:r>
              <a:rPr lang="en-US" sz="1000" b="1" spc="200" kern="0" dirty="0">
                <a:solidFill>
                  <a:schemeClr val="tx2"/>
                </a:solidFill>
              </a:rPr>
              <a:t>MARKT</a:t>
            </a:r>
            <a:endParaRPr lang="en-US" sz="1000" dirty="0"/>
          </a:p>
        </p:txBody>
      </p:sp>
      <p:sp>
        <p:nvSpPr>
          <p:cNvPr id="4" name="Text 2"/>
          <p:cNvSpPr txBox="1"/>
          <p:nvPr/>
        </p:nvSpPr>
        <p:spPr>
          <a:xfrm>
            <a:off x="7932420" y="384048"/>
            <a:ext cx="754380" cy="201168"/>
          </a:xfrm>
          <a:prstGeom prst="rect">
            <a:avLst/>
          </a:prstGeom>
          <a:noFill/>
          <a:ln/>
        </p:spPr>
        <p:txBody>
          <a:bodyPr wrap="square" lIns="0" tIns="0" rIns="0" bIns="0" rtlCol="0" anchor="t"/>
          <a:lstStyle/>
          <a:p>
            <a:pPr algn="r" indent="0" marL="0">
              <a:buNone/>
            </a:pPr>
            <a:r>
              <a:rPr lang="en-US" sz="1000" b="1" spc="200" kern="0" dirty="0">
                <a:solidFill>
                  <a:schemeClr val="accent1"/>
                </a:solidFill>
              </a:rPr>
              <a:t>STAAT</a:t>
            </a:r>
            <a:endParaRPr lang="en-US" sz="1000" dirty="0"/>
          </a:p>
        </p:txBody>
      </p:sp>
      <p:sp>
        <p:nvSpPr>
          <p:cNvPr id="5" name="Messbalken Markt"/>
          <p:cNvSpPr/>
          <p:nvPr/>
        </p:nvSpPr>
        <p:spPr>
          <a:xfrm>
            <a:off x="7178040" y="713232"/>
            <a:ext cx="754380" cy="45720"/>
          </a:xfrm>
          <a:prstGeom prst="rect">
            <a:avLst/>
          </a:prstGeom>
          <a:solidFill>
            <a:srgbClr val="0B1F3A"/>
          </a:solidFill>
          <a:ln/>
        </p:spPr>
      </p:sp>
      <p:sp>
        <p:nvSpPr>
          <p:cNvPr id="6" name="Messbalken Staat"/>
          <p:cNvSpPr/>
          <p:nvPr/>
        </p:nvSpPr>
        <p:spPr>
          <a:xfrm>
            <a:off x="7932420" y="713232"/>
            <a:ext cx="754380" cy="45720"/>
          </a:xfrm>
          <a:prstGeom prst="rect">
            <a:avLst/>
          </a:prstGeom>
          <a:solidFill>
            <a:schemeClr val="accent1"/>
          </a:solidFill>
          <a:ln/>
        </p:spPr>
      </p:sp>
      <p:sp>
        <p:nvSpPr>
          <p:cNvPr id="7" name="Messpunkt"/>
          <p:cNvSpPr/>
          <p:nvPr/>
        </p:nvSpPr>
        <p:spPr>
          <a:xfrm>
            <a:off x="7539228" y="644652"/>
            <a:ext cx="182880" cy="182880"/>
          </a:xfrm>
          <a:prstGeom prst="ellipse">
            <a:avLst/>
          </a:prstGeom>
          <a:solidFill>
            <a:schemeClr val="bg1"/>
          </a:solidFill>
          <a:ln w="19050">
            <a:solidFill>
              <a:schemeClr val="tx2"/>
            </a:solidFill>
            <a:prstDash val="solid"/>
          </a:ln>
        </p:spPr>
      </p:sp>
      <p:sp>
        <p:nvSpPr>
          <p:cNvPr id="8" name="Text 6"/>
          <p:cNvSpPr txBox="1"/>
          <p:nvPr/>
        </p:nvSpPr>
        <p:spPr>
          <a:xfrm>
            <a:off x="457200" y="1920240"/>
            <a:ext cx="3383280" cy="640080"/>
          </a:xfrm>
          <a:prstGeom prst="rect">
            <a:avLst/>
          </a:prstGeom>
          <a:noFill/>
          <a:ln/>
        </p:spPr>
        <p:txBody>
          <a:bodyPr wrap="square" lIns="0" tIns="0" rIns="0" bIns="0" rtlCol="0" anchor="t"/>
          <a:lstStyle/>
          <a:p>
            <a:pPr indent="0" marL="0">
              <a:buNone/>
            </a:pPr>
            <a:r>
              <a:rPr lang="en-US" sz="1400" b="1" spc="100" kern="0" dirty="0">
                <a:solidFill>
                  <a:schemeClr val="accent1"/>
                </a:solidFill>
              </a:rPr>
              <a:t>MARKT NUTZEN – WETTBEWERB SICHERN – SOZIAL ABSICHERN</a:t>
            </a:r>
            <a:endParaRPr lang="en-US" sz="1400" dirty="0"/>
          </a:p>
        </p:txBody>
      </p:sp>
      <p:sp>
        <p:nvSpPr>
          <p:cNvPr id="9" name="Text 7"/>
          <p:cNvSpPr txBox="1"/>
          <p:nvPr/>
        </p:nvSpPr>
        <p:spPr>
          <a:xfrm>
            <a:off x="457200" y="2743200"/>
            <a:ext cx="3383280" cy="1828800"/>
          </a:xfrm>
          <a:prstGeom prst="rect">
            <a:avLst/>
          </a:prstGeom>
          <a:noFill/>
          <a:ln/>
        </p:spPr>
        <p:txBody>
          <a:bodyPr wrap="square" lIns="0" tIns="0" rIns="0" bIns="0" rtlCol="0" anchor="t"/>
          <a:lstStyle/>
          <a:p>
            <a:pPr indent="0" marL="0">
              <a:buNone/>
            </a:pPr>
            <a:r>
              <a:rPr lang="en-US" sz="1600" dirty="0">
                <a:solidFill>
                  <a:schemeClr val="bg1"/>
                </a:solidFill>
              </a:rPr>
              <a:t>Das Konzept der Sozialen Marktwirtschaft verbindet Wettbewerb, Privateigentum und Gewinnorientierung mit sozialem Ausgleich.</a:t>
            </a:r>
            <a:endParaRPr lang="en-US" sz="1600" dirty="0"/>
          </a:p>
        </p:txBody>
      </p:sp>
      <p:sp>
        <p:nvSpPr>
          <p:cNvPr id="10" name="Säule DER MARKT"/>
          <p:cNvSpPr/>
          <p:nvPr/>
        </p:nvSpPr>
        <p:spPr>
          <a:xfrm>
            <a:off x="4526280" y="1097280"/>
            <a:ext cx="4160520" cy="1097280"/>
          </a:xfrm>
          <a:prstGeom prst="rect">
            <a:avLst/>
          </a:prstGeom>
          <a:solidFill>
            <a:schemeClr val="bg2"/>
          </a:solidFill>
          <a:ln/>
        </p:spPr>
      </p:sp>
      <p:sp>
        <p:nvSpPr>
          <p:cNvPr id="11" name="Icon-Kreis"/>
          <p:cNvSpPr/>
          <p:nvPr/>
        </p:nvSpPr>
        <p:spPr>
          <a:xfrm>
            <a:off x="4663440" y="1234440"/>
            <a:ext cx="457200" cy="457200"/>
          </a:xfrm>
          <a:prstGeom prst="ellipse">
            <a:avLst/>
          </a:prstGeom>
          <a:solidFill>
            <a:schemeClr val="tx2"/>
          </a:solidFill>
          <a:ln w="12700">
            <a:solidFill>
              <a:schemeClr val="tx2"/>
            </a:solidFill>
            <a:prstDash val="solid"/>
          </a:ln>
        </p:spPr>
      </p:sp>
      <p:pic>
        <p:nvPicPr>
          <p:cNvPr id="12" name="Image 0" descr="Industry">    </p:cNvPr>
          <p:cNvPicPr>
            <a:picLocks noChangeAspect="1"/>
          </p:cNvPicPr>
          <p:nvPr/>
        </p:nvPicPr>
        <p:blipFill>
          <a:blip r:embed="rId1"/>
          <a:stretch>
            <a:fillRect/>
          </a:stretch>
        </p:blipFill>
        <p:spPr>
          <a:xfrm>
            <a:off x="4773168" y="1344168"/>
            <a:ext cx="237744" cy="237744"/>
          </a:xfrm>
          <a:prstGeom prst="rect">
            <a:avLst/>
          </a:prstGeom>
        </p:spPr>
      </p:pic>
      <p:sp>
        <p:nvSpPr>
          <p:cNvPr id="13" name="Text 10"/>
          <p:cNvSpPr txBox="1"/>
          <p:nvPr/>
        </p:nvSpPr>
        <p:spPr>
          <a:xfrm>
            <a:off x="5257800" y="1188720"/>
            <a:ext cx="3291840" cy="256032"/>
          </a:xfrm>
          <a:prstGeom prst="rect">
            <a:avLst/>
          </a:prstGeom>
          <a:noFill/>
          <a:ln/>
        </p:spPr>
        <p:txBody>
          <a:bodyPr wrap="square" lIns="0" tIns="0" rIns="0" bIns="0" rtlCol="0" anchor="t"/>
          <a:lstStyle/>
          <a:p>
            <a:pPr indent="0" marL="0">
              <a:buNone/>
            </a:pPr>
            <a:r>
              <a:rPr lang="en-US" sz="1400" b="1" spc="100" kern="0" dirty="0">
                <a:solidFill>
                  <a:schemeClr val="accent4"/>
                </a:solidFill>
              </a:rPr>
              <a:t>DER MARKT</a:t>
            </a:r>
            <a:endParaRPr lang="en-US" sz="1400" dirty="0"/>
          </a:p>
        </p:txBody>
      </p:sp>
      <p:sp>
        <p:nvSpPr>
          <p:cNvPr id="14" name="Text 11"/>
          <p:cNvSpPr txBox="1"/>
          <p:nvPr/>
        </p:nvSpPr>
        <p:spPr>
          <a:xfrm>
            <a:off x="5257800" y="1444752"/>
            <a:ext cx="3337560" cy="713232"/>
          </a:xfrm>
          <a:prstGeom prst="rect">
            <a:avLst/>
          </a:prstGeom>
          <a:noFill/>
          <a:ln/>
        </p:spPr>
        <p:txBody>
          <a:bodyPr wrap="square" lIns="0" tIns="0" rIns="0" bIns="0" rtlCol="0" anchor="t"/>
          <a:lstStyle/>
          <a:p>
            <a:pPr indent="0" marL="0">
              <a:buNone/>
            </a:pPr>
            <a:r>
              <a:rPr lang="en-US" sz="1300" dirty="0">
                <a:solidFill>
                  <a:schemeClr val="tx1"/>
                </a:solidFill>
              </a:rPr>
              <a:t>Wettbewerb, Privateigentum, Unternehmensfreiheit, Angebot &amp; Nachfrage, grundsätzlich freie Preisbildung</a:t>
            </a:r>
            <a:endParaRPr lang="en-US" sz="1300" dirty="0"/>
          </a:p>
        </p:txBody>
      </p:sp>
      <p:sp>
        <p:nvSpPr>
          <p:cNvPr id="15" name="Säule DER STAAT"/>
          <p:cNvSpPr/>
          <p:nvPr/>
        </p:nvSpPr>
        <p:spPr>
          <a:xfrm>
            <a:off x="4526280" y="2331720"/>
            <a:ext cx="4160520" cy="1234440"/>
          </a:xfrm>
          <a:prstGeom prst="rect">
            <a:avLst/>
          </a:prstGeom>
          <a:solidFill>
            <a:schemeClr val="bg2"/>
          </a:solidFill>
          <a:ln/>
        </p:spPr>
      </p:sp>
      <p:sp>
        <p:nvSpPr>
          <p:cNvPr id="16" name="Icon-Kreis"/>
          <p:cNvSpPr/>
          <p:nvPr/>
        </p:nvSpPr>
        <p:spPr>
          <a:xfrm>
            <a:off x="4663440" y="2468880"/>
            <a:ext cx="457200" cy="457200"/>
          </a:xfrm>
          <a:prstGeom prst="ellipse">
            <a:avLst/>
          </a:prstGeom>
          <a:solidFill>
            <a:schemeClr val="accent1"/>
          </a:solidFill>
          <a:ln w="12700">
            <a:solidFill>
              <a:schemeClr val="accent1"/>
            </a:solidFill>
            <a:prstDash val="solid"/>
          </a:ln>
        </p:spPr>
      </p:sp>
      <p:pic>
        <p:nvPicPr>
          <p:cNvPr id="17" name="Image 1" descr="BalanceScale">    </p:cNvPr>
          <p:cNvPicPr>
            <a:picLocks noChangeAspect="1"/>
          </p:cNvPicPr>
          <p:nvPr/>
        </p:nvPicPr>
        <p:blipFill>
          <a:blip r:embed="rId2"/>
          <a:stretch>
            <a:fillRect/>
          </a:stretch>
        </p:blipFill>
        <p:spPr>
          <a:xfrm>
            <a:off x="4773168" y="2578608"/>
            <a:ext cx="237744" cy="237744"/>
          </a:xfrm>
          <a:prstGeom prst="rect">
            <a:avLst/>
          </a:prstGeom>
        </p:spPr>
      </p:pic>
      <p:sp>
        <p:nvSpPr>
          <p:cNvPr id="18" name="Text 14"/>
          <p:cNvSpPr txBox="1"/>
          <p:nvPr/>
        </p:nvSpPr>
        <p:spPr>
          <a:xfrm>
            <a:off x="5257800" y="2423160"/>
            <a:ext cx="3291840" cy="256032"/>
          </a:xfrm>
          <a:prstGeom prst="rect">
            <a:avLst/>
          </a:prstGeom>
          <a:noFill/>
          <a:ln/>
        </p:spPr>
        <p:txBody>
          <a:bodyPr wrap="square" lIns="0" tIns="0" rIns="0" bIns="0" rtlCol="0" anchor="t"/>
          <a:lstStyle/>
          <a:p>
            <a:pPr indent="0" marL="0">
              <a:buNone/>
            </a:pPr>
            <a:r>
              <a:rPr lang="en-US" sz="1400" b="1" spc="100" kern="0" dirty="0">
                <a:solidFill>
                  <a:schemeClr val="accent4"/>
                </a:solidFill>
              </a:rPr>
              <a:t>DER STAAT</a:t>
            </a:r>
            <a:endParaRPr lang="en-US" sz="1400" dirty="0"/>
          </a:p>
        </p:txBody>
      </p:sp>
      <p:sp>
        <p:nvSpPr>
          <p:cNvPr id="19" name="Text 15"/>
          <p:cNvSpPr txBox="1"/>
          <p:nvPr/>
        </p:nvSpPr>
        <p:spPr>
          <a:xfrm>
            <a:off x="5257800" y="2679192"/>
            <a:ext cx="3337560" cy="850392"/>
          </a:xfrm>
          <a:prstGeom prst="rect">
            <a:avLst/>
          </a:prstGeom>
          <a:noFill/>
          <a:ln/>
        </p:spPr>
        <p:txBody>
          <a:bodyPr wrap="square" lIns="0" tIns="0" rIns="0" bIns="0" rtlCol="0" anchor="t"/>
          <a:lstStyle/>
          <a:p>
            <a:pPr indent="0" marL="0">
              <a:buNone/>
            </a:pPr>
            <a:r>
              <a:rPr lang="en-US" sz="1300" dirty="0">
                <a:solidFill>
                  <a:schemeClr val="tx1"/>
                </a:solidFill>
              </a:rPr>
              <a:t>setzt den Rechtsrahmen, schützt den Wettbewerb, sichert soziale Risiken ab, schützt Verbraucher und Beschäftigte, greift bei bestimmten Marktproblemen ein</a:t>
            </a:r>
            <a:endParaRPr lang="en-US" sz="1300" dirty="0"/>
          </a:p>
        </p:txBody>
      </p:sp>
      <p:sp>
        <p:nvSpPr>
          <p:cNvPr id="20" name="Säule SOZIALER AUSGLEICH"/>
          <p:cNvSpPr/>
          <p:nvPr/>
        </p:nvSpPr>
        <p:spPr>
          <a:xfrm>
            <a:off x="4526280" y="3657600"/>
            <a:ext cx="4160520" cy="1051560"/>
          </a:xfrm>
          <a:prstGeom prst="rect">
            <a:avLst/>
          </a:prstGeom>
          <a:solidFill>
            <a:schemeClr val="bg2"/>
          </a:solidFill>
          <a:ln/>
        </p:spPr>
      </p:sp>
      <p:sp>
        <p:nvSpPr>
          <p:cNvPr id="21" name="Icon-Kreis"/>
          <p:cNvSpPr/>
          <p:nvPr/>
        </p:nvSpPr>
        <p:spPr>
          <a:xfrm>
            <a:off x="4663440" y="3794760"/>
            <a:ext cx="457200" cy="457200"/>
          </a:xfrm>
          <a:prstGeom prst="ellipse">
            <a:avLst/>
          </a:prstGeom>
          <a:solidFill>
            <a:schemeClr val="tx2"/>
          </a:solidFill>
          <a:ln w="12700">
            <a:solidFill>
              <a:schemeClr val="tx2"/>
            </a:solidFill>
            <a:prstDash val="solid"/>
          </a:ln>
        </p:spPr>
      </p:sp>
      <p:pic>
        <p:nvPicPr>
          <p:cNvPr id="22" name="Image 2" descr="HandsHelping">    </p:cNvPr>
          <p:cNvPicPr>
            <a:picLocks noChangeAspect="1"/>
          </p:cNvPicPr>
          <p:nvPr/>
        </p:nvPicPr>
        <p:blipFill>
          <a:blip r:embed="rId3"/>
          <a:stretch>
            <a:fillRect/>
          </a:stretch>
        </p:blipFill>
        <p:spPr>
          <a:xfrm>
            <a:off x="4773168" y="3904488"/>
            <a:ext cx="237744" cy="237744"/>
          </a:xfrm>
          <a:prstGeom prst="rect">
            <a:avLst/>
          </a:prstGeom>
        </p:spPr>
      </p:pic>
      <p:sp>
        <p:nvSpPr>
          <p:cNvPr id="23" name="Text 18"/>
          <p:cNvSpPr txBox="1"/>
          <p:nvPr/>
        </p:nvSpPr>
        <p:spPr>
          <a:xfrm>
            <a:off x="5257800" y="3749040"/>
            <a:ext cx="3291840" cy="256032"/>
          </a:xfrm>
          <a:prstGeom prst="rect">
            <a:avLst/>
          </a:prstGeom>
          <a:noFill/>
          <a:ln/>
        </p:spPr>
        <p:txBody>
          <a:bodyPr wrap="square" lIns="0" tIns="0" rIns="0" bIns="0" rtlCol="0" anchor="t"/>
          <a:lstStyle/>
          <a:p>
            <a:pPr indent="0" marL="0">
              <a:buNone/>
            </a:pPr>
            <a:r>
              <a:rPr lang="en-US" sz="1400" b="1" spc="100" kern="0" dirty="0">
                <a:solidFill>
                  <a:schemeClr val="accent4"/>
                </a:solidFill>
              </a:rPr>
              <a:t>SOZIALER AUSGLEICH</a:t>
            </a:r>
            <a:endParaRPr lang="en-US" sz="1400" dirty="0"/>
          </a:p>
        </p:txBody>
      </p:sp>
      <p:sp>
        <p:nvSpPr>
          <p:cNvPr id="24" name="Text 19"/>
          <p:cNvSpPr txBox="1"/>
          <p:nvPr/>
        </p:nvSpPr>
        <p:spPr>
          <a:xfrm>
            <a:off x="5257800" y="4005072"/>
            <a:ext cx="3337560" cy="667512"/>
          </a:xfrm>
          <a:prstGeom prst="rect">
            <a:avLst/>
          </a:prstGeom>
          <a:noFill/>
          <a:ln/>
        </p:spPr>
        <p:txBody>
          <a:bodyPr wrap="square" lIns="0" tIns="0" rIns="0" bIns="0" rtlCol="0" anchor="t"/>
          <a:lstStyle/>
          <a:p>
            <a:pPr indent="0" marL="0">
              <a:buNone/>
            </a:pPr>
            <a:r>
              <a:rPr lang="en-US" sz="1300" dirty="0">
                <a:solidFill>
                  <a:schemeClr val="tx1"/>
                </a:solidFill>
              </a:rPr>
              <a:t>Sozialleistungen, Absicherung von Lebensrisiken, Arbeitnehmerrechte, Teilhabe und Schutz</a:t>
            </a:r>
            <a:endParaRPr lang="en-US" sz="13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583680" cy="731520"/>
          </a:xfrm>
          <a:prstGeom prst="rect">
            <a:avLst/>
          </a:prstGeom>
          <a:noFill/>
          <a:ln/>
        </p:spPr>
        <p:txBody>
          <a:bodyPr wrap="square" lIns="0" tIns="0" rIns="0" bIns="0" rtlCol="0" anchor="ctr"/>
          <a:lstStyle/>
          <a:p>
            <a:pPr algn="l" indent="0" marL="0">
              <a:buNone/>
            </a:pPr>
            <a:r>
              <a:rPr lang="en-US" sz="2400" b="1" dirty="0">
                <a:solidFill>
                  <a:schemeClr val="tx2"/>
                </a:solidFill>
              </a:rPr>
              <a:t>Die Bäckerei in der Sozialen Marktwirtschaft</a:t>
            </a:r>
            <a:endParaRPr lang="en-US" sz="2400" dirty="0"/>
          </a:p>
        </p:txBody>
      </p:sp>
      <p:sp>
        <p:nvSpPr>
          <p:cNvPr id="3" name="Text 1"/>
          <p:cNvSpPr txBox="1"/>
          <p:nvPr/>
        </p:nvSpPr>
        <p:spPr>
          <a:xfrm>
            <a:off x="7178040" y="384048"/>
            <a:ext cx="754380" cy="201168"/>
          </a:xfrm>
          <a:prstGeom prst="rect">
            <a:avLst/>
          </a:prstGeom>
          <a:noFill/>
          <a:ln/>
        </p:spPr>
        <p:txBody>
          <a:bodyPr wrap="square" lIns="0" tIns="0" rIns="0" bIns="0" rtlCol="0" anchor="t"/>
          <a:lstStyle/>
          <a:p>
            <a:pPr indent="0" marL="0">
              <a:buNone/>
            </a:pPr>
            <a:r>
              <a:rPr lang="en-US" sz="1000" b="1" spc="200" kern="0" dirty="0">
                <a:solidFill>
                  <a:schemeClr val="tx2"/>
                </a:solidFill>
              </a:rPr>
              <a:t>MARKT</a:t>
            </a:r>
            <a:endParaRPr lang="en-US" sz="1000" dirty="0"/>
          </a:p>
        </p:txBody>
      </p:sp>
      <p:sp>
        <p:nvSpPr>
          <p:cNvPr id="4" name="Text 2"/>
          <p:cNvSpPr txBox="1"/>
          <p:nvPr/>
        </p:nvSpPr>
        <p:spPr>
          <a:xfrm>
            <a:off x="7932420" y="384048"/>
            <a:ext cx="754380" cy="201168"/>
          </a:xfrm>
          <a:prstGeom prst="rect">
            <a:avLst/>
          </a:prstGeom>
          <a:noFill/>
          <a:ln/>
        </p:spPr>
        <p:txBody>
          <a:bodyPr wrap="square" lIns="0" tIns="0" rIns="0" bIns="0" rtlCol="0" anchor="t"/>
          <a:lstStyle/>
          <a:p>
            <a:pPr algn="r" indent="0" marL="0">
              <a:buNone/>
            </a:pPr>
            <a:r>
              <a:rPr lang="en-US" sz="1000" b="1" spc="200" kern="0" dirty="0">
                <a:solidFill>
                  <a:schemeClr val="accent1"/>
                </a:solidFill>
              </a:rPr>
              <a:t>STAAT</a:t>
            </a:r>
            <a:endParaRPr lang="en-US" sz="1000" dirty="0"/>
          </a:p>
        </p:txBody>
      </p:sp>
      <p:sp>
        <p:nvSpPr>
          <p:cNvPr id="5" name="Messbalken Markt"/>
          <p:cNvSpPr/>
          <p:nvPr/>
        </p:nvSpPr>
        <p:spPr>
          <a:xfrm>
            <a:off x="7178040" y="713232"/>
            <a:ext cx="754380" cy="45720"/>
          </a:xfrm>
          <a:prstGeom prst="rect">
            <a:avLst/>
          </a:prstGeom>
          <a:solidFill>
            <a:srgbClr val="0B1F3A"/>
          </a:solidFill>
          <a:ln/>
        </p:spPr>
      </p:sp>
      <p:sp>
        <p:nvSpPr>
          <p:cNvPr id="6" name="Messbalken Staat"/>
          <p:cNvSpPr/>
          <p:nvPr/>
        </p:nvSpPr>
        <p:spPr>
          <a:xfrm>
            <a:off x="7932420" y="713232"/>
            <a:ext cx="754380" cy="45720"/>
          </a:xfrm>
          <a:prstGeom prst="rect">
            <a:avLst/>
          </a:prstGeom>
          <a:solidFill>
            <a:schemeClr val="accent1"/>
          </a:solidFill>
          <a:ln/>
        </p:spPr>
      </p:sp>
      <p:sp>
        <p:nvSpPr>
          <p:cNvPr id="7" name="Messpunkt"/>
          <p:cNvSpPr/>
          <p:nvPr/>
        </p:nvSpPr>
        <p:spPr>
          <a:xfrm>
            <a:off x="7539228" y="644652"/>
            <a:ext cx="182880" cy="182880"/>
          </a:xfrm>
          <a:prstGeom prst="ellipse">
            <a:avLst/>
          </a:prstGeom>
          <a:solidFill>
            <a:schemeClr val="bg1"/>
          </a:solidFill>
          <a:ln w="19050">
            <a:solidFill>
              <a:schemeClr val="tx2"/>
            </a:solidFill>
            <a:prstDash val="solid"/>
          </a:ln>
        </p:spPr>
      </p:sp>
      <p:sp>
        <p:nvSpPr>
          <p:cNvPr id="8" name="KI-Kennzeichnung"/>
          <p:cNvSpPr/>
          <p:nvPr/>
        </p:nvSpPr>
        <p:spPr>
          <a:xfrm>
            <a:off x="6309360" y="4828032"/>
            <a:ext cx="868680" cy="219456"/>
          </a:xfrm>
          <a:prstGeom prst="rect">
            <a:avLst/>
          </a:prstGeom>
          <a:solidFill>
            <a:schemeClr val="accent1"/>
          </a:solidFill>
          <a:ln/>
        </p:spPr>
      </p:sp>
      <p:sp>
        <p:nvSpPr>
          <p:cNvPr id="9" name="Text 7"/>
          <p:cNvSpPr txBox="1"/>
          <p:nvPr/>
        </p:nvSpPr>
        <p:spPr>
          <a:xfrm>
            <a:off x="6309360" y="4828032"/>
            <a:ext cx="868680" cy="219456"/>
          </a:xfrm>
          <a:prstGeom prst="rect">
            <a:avLst/>
          </a:prstGeom>
          <a:noFill/>
          <a:ln/>
        </p:spPr>
        <p:txBody>
          <a:bodyPr wrap="square" lIns="0" tIns="0" rIns="0" bIns="0" rtlCol="0" anchor="ctr"/>
          <a:lstStyle/>
          <a:p>
            <a:pPr algn="ctr" indent="0" marL="0">
              <a:buNone/>
            </a:pPr>
            <a:r>
              <a:rPr lang="en-US" sz="1000" b="1" dirty="0">
                <a:solidFill>
                  <a:schemeClr val="bg1"/>
                </a:solidFill>
              </a:rPr>
              <a:t>KI-INHALT</a:t>
            </a:r>
            <a:endParaRPr lang="en-US" sz="1000" dirty="0"/>
          </a:p>
        </p:txBody>
      </p:sp>
      <p:sp>
        <p:nvSpPr>
          <p:cNvPr id="10" name="Text 8"/>
          <p:cNvSpPr txBox="1"/>
          <p:nvPr/>
        </p:nvSpPr>
        <p:spPr>
          <a:xfrm>
            <a:off x="457200" y="1188720"/>
            <a:ext cx="3611880" cy="274320"/>
          </a:xfrm>
          <a:prstGeom prst="rect">
            <a:avLst/>
          </a:prstGeom>
          <a:noFill/>
          <a:ln/>
        </p:spPr>
        <p:txBody>
          <a:bodyPr wrap="square" lIns="0" tIns="0" rIns="0" bIns="0" rtlCol="0" anchor="t"/>
          <a:lstStyle/>
          <a:p>
            <a:pPr indent="0" marL="0">
              <a:buNone/>
            </a:pPr>
            <a:r>
              <a:rPr lang="en-US" sz="1400" b="1" spc="100" kern="0" dirty="0">
                <a:solidFill>
                  <a:schemeClr val="tx2"/>
                </a:solidFill>
              </a:rPr>
              <a:t>DIE BÄCKEREI ENTSCHEIDET SELBST:</a:t>
            </a:r>
            <a:endParaRPr lang="en-US" sz="1400" dirty="0"/>
          </a:p>
        </p:txBody>
      </p:sp>
      <p:sp>
        <p:nvSpPr>
          <p:cNvPr id="11" name="Text 9"/>
          <p:cNvSpPr txBox="1"/>
          <p:nvPr/>
        </p:nvSpPr>
        <p:spPr>
          <a:xfrm>
            <a:off x="457200" y="1481328"/>
            <a:ext cx="3611880" cy="457200"/>
          </a:xfrm>
          <a:prstGeom prst="rect">
            <a:avLst/>
          </a:prstGeom>
          <a:noFill/>
          <a:ln/>
        </p:spPr>
        <p:txBody>
          <a:bodyPr wrap="square" lIns="0" tIns="0" rIns="0" bIns="0" rtlCol="0" anchor="t"/>
          <a:lstStyle/>
          <a:p>
            <a:pPr indent="0" marL="0">
              <a:buNone/>
            </a:pPr>
            <a:r>
              <a:rPr lang="en-US" sz="1200" dirty="0">
                <a:solidFill>
                  <a:srgbClr val="5B6B82"/>
                </a:solidFill>
              </a:rPr>
              <a:t>Im Rahmen der Marktregeln trifft die Bäckerei eigene wirtschaftliche Entscheidungen.</a:t>
            </a:r>
            <a:endParaRPr lang="en-US" sz="1200" dirty="0"/>
          </a:p>
        </p:txBody>
      </p:sp>
      <p:sp>
        <p:nvSpPr>
          <p:cNvPr id="12" name="Entscheidung 1"/>
          <p:cNvSpPr/>
          <p:nvPr/>
        </p:nvSpPr>
        <p:spPr>
          <a:xfrm>
            <a:off x="457200" y="2011680"/>
            <a:ext cx="3611880" cy="566928"/>
          </a:xfrm>
          <a:prstGeom prst="rect">
            <a:avLst/>
          </a:prstGeom>
          <a:solidFill>
            <a:schemeClr val="bg2"/>
          </a:solidFill>
          <a:ln/>
        </p:spPr>
      </p:sp>
      <p:sp>
        <p:nvSpPr>
          <p:cNvPr id="13" name="Text 11"/>
          <p:cNvSpPr txBox="1"/>
          <p:nvPr/>
        </p:nvSpPr>
        <p:spPr>
          <a:xfrm>
            <a:off x="594360" y="2011680"/>
            <a:ext cx="3383280" cy="566928"/>
          </a:xfrm>
          <a:prstGeom prst="rect">
            <a:avLst/>
          </a:prstGeom>
          <a:noFill/>
          <a:ln/>
        </p:spPr>
        <p:txBody>
          <a:bodyPr wrap="square" lIns="0" tIns="0" rIns="0" bIns="0" rtlCol="0" anchor="ctr"/>
          <a:lstStyle/>
          <a:p>
            <a:pPr indent="0" marL="0">
              <a:buNone/>
            </a:pPr>
            <a:r>
              <a:rPr lang="en-US" sz="1400" b="1" dirty="0">
                <a:solidFill>
                  <a:schemeClr val="tx2"/>
                </a:solidFill>
              </a:rPr>
              <a:t>Was verkaufe ich?</a:t>
            </a:r>
            <a:endParaRPr lang="en-US" sz="1400" dirty="0"/>
          </a:p>
          <a:p>
            <a:pPr indent="0" marL="0">
              <a:buNone/>
            </a:pPr>
            <a:r>
              <a:rPr lang="en-US" sz="1200" dirty="0">
                <a:solidFill>
                  <a:srgbClr val="5B6B82"/>
                </a:solidFill>
              </a:rPr>
              <a:t>z. B. Brötchen, Brot, Kuchen</a:t>
            </a:r>
            <a:endParaRPr lang="en-US" sz="1400" dirty="0"/>
          </a:p>
        </p:txBody>
      </p:sp>
      <p:sp>
        <p:nvSpPr>
          <p:cNvPr id="14" name="Entscheidung 2"/>
          <p:cNvSpPr/>
          <p:nvPr/>
        </p:nvSpPr>
        <p:spPr>
          <a:xfrm>
            <a:off x="457200" y="2651760"/>
            <a:ext cx="3611880" cy="566928"/>
          </a:xfrm>
          <a:prstGeom prst="rect">
            <a:avLst/>
          </a:prstGeom>
          <a:solidFill>
            <a:schemeClr val="bg2"/>
          </a:solidFill>
          <a:ln/>
        </p:spPr>
      </p:sp>
      <p:sp>
        <p:nvSpPr>
          <p:cNvPr id="15" name="Text 13"/>
          <p:cNvSpPr txBox="1"/>
          <p:nvPr/>
        </p:nvSpPr>
        <p:spPr>
          <a:xfrm>
            <a:off x="594360" y="2651760"/>
            <a:ext cx="3383280" cy="566928"/>
          </a:xfrm>
          <a:prstGeom prst="rect">
            <a:avLst/>
          </a:prstGeom>
          <a:noFill/>
          <a:ln/>
        </p:spPr>
        <p:txBody>
          <a:bodyPr wrap="square" lIns="0" tIns="0" rIns="0" bIns="0" rtlCol="0" anchor="ctr"/>
          <a:lstStyle/>
          <a:p>
            <a:pPr indent="0" marL="0">
              <a:buNone/>
            </a:pPr>
            <a:r>
              <a:rPr lang="en-US" sz="1400" b="1" dirty="0">
                <a:solidFill>
                  <a:schemeClr val="tx2"/>
                </a:solidFill>
              </a:rPr>
              <a:t>Wie viel produziere ich?</a:t>
            </a:r>
            <a:endParaRPr lang="en-US" sz="1400" dirty="0"/>
          </a:p>
          <a:p>
            <a:pPr indent="0" marL="0">
              <a:buNone/>
            </a:pPr>
            <a:r>
              <a:rPr lang="en-US" sz="1200" dirty="0">
                <a:solidFill>
                  <a:srgbClr val="5B6B82"/>
                </a:solidFill>
              </a:rPr>
              <a:t>z. B. 50 Brötchen oder 200 Brötchen?</a:t>
            </a:r>
            <a:endParaRPr lang="en-US" sz="1400" dirty="0"/>
          </a:p>
        </p:txBody>
      </p:sp>
      <p:sp>
        <p:nvSpPr>
          <p:cNvPr id="16" name="Entscheidung 3"/>
          <p:cNvSpPr/>
          <p:nvPr/>
        </p:nvSpPr>
        <p:spPr>
          <a:xfrm>
            <a:off x="457200" y="3291840"/>
            <a:ext cx="3611880" cy="566928"/>
          </a:xfrm>
          <a:prstGeom prst="rect">
            <a:avLst/>
          </a:prstGeom>
          <a:solidFill>
            <a:schemeClr val="bg2"/>
          </a:solidFill>
          <a:ln/>
        </p:spPr>
      </p:sp>
      <p:sp>
        <p:nvSpPr>
          <p:cNvPr id="17" name="Text 15"/>
          <p:cNvSpPr txBox="1"/>
          <p:nvPr/>
        </p:nvSpPr>
        <p:spPr>
          <a:xfrm>
            <a:off x="594360" y="3291840"/>
            <a:ext cx="3383280" cy="566928"/>
          </a:xfrm>
          <a:prstGeom prst="rect">
            <a:avLst/>
          </a:prstGeom>
          <a:noFill/>
          <a:ln/>
        </p:spPr>
        <p:txBody>
          <a:bodyPr wrap="square" lIns="0" tIns="0" rIns="0" bIns="0" rtlCol="0" anchor="ctr"/>
          <a:lstStyle/>
          <a:p>
            <a:pPr indent="0" marL="0">
              <a:buNone/>
            </a:pPr>
            <a:r>
              <a:rPr lang="en-US" sz="1400" b="1" dirty="0">
                <a:solidFill>
                  <a:schemeClr val="tx2"/>
                </a:solidFill>
              </a:rPr>
              <a:t>Welchen Preis verlange ich?</a:t>
            </a:r>
            <a:endParaRPr lang="en-US" sz="1400" dirty="0"/>
          </a:p>
          <a:p>
            <a:pPr indent="0" marL="0">
              <a:buNone/>
            </a:pPr>
            <a:r>
              <a:rPr lang="en-US" sz="1200" dirty="0">
                <a:solidFill>
                  <a:srgbClr val="5B6B82"/>
                </a:solidFill>
              </a:rPr>
              <a:t>z. B. 0,50 € pro Brötchen?</a:t>
            </a:r>
            <a:endParaRPr lang="en-US" sz="1400" dirty="0"/>
          </a:p>
        </p:txBody>
      </p:sp>
      <p:sp>
        <p:nvSpPr>
          <p:cNvPr id="18" name="Text 16"/>
          <p:cNvSpPr txBox="1"/>
          <p:nvPr/>
        </p:nvSpPr>
        <p:spPr>
          <a:xfrm>
            <a:off x="4663440" y="1188720"/>
            <a:ext cx="4023360" cy="274320"/>
          </a:xfrm>
          <a:prstGeom prst="rect">
            <a:avLst/>
          </a:prstGeom>
          <a:noFill/>
          <a:ln/>
        </p:spPr>
        <p:txBody>
          <a:bodyPr wrap="square" lIns="0" tIns="0" rIns="0" bIns="0" rtlCol="0" anchor="t"/>
          <a:lstStyle/>
          <a:p>
            <a:pPr indent="0" marL="0">
              <a:buNone/>
            </a:pPr>
            <a:r>
              <a:rPr lang="en-US" sz="1400" b="1" spc="100" kern="0" dirty="0">
                <a:solidFill>
                  <a:schemeClr val="accent4"/>
                </a:solidFill>
              </a:rPr>
              <a:t>ABER SIE MUSS REGELN EINHALTEN:</a:t>
            </a:r>
            <a:endParaRPr lang="en-US" sz="1400" dirty="0"/>
          </a:p>
        </p:txBody>
      </p:sp>
      <p:sp>
        <p:nvSpPr>
          <p:cNvPr id="19" name="Text 17"/>
          <p:cNvSpPr txBox="1"/>
          <p:nvPr/>
        </p:nvSpPr>
        <p:spPr>
          <a:xfrm>
            <a:off x="4663440" y="1481328"/>
            <a:ext cx="4023360" cy="457200"/>
          </a:xfrm>
          <a:prstGeom prst="rect">
            <a:avLst/>
          </a:prstGeom>
          <a:noFill/>
          <a:ln/>
        </p:spPr>
        <p:txBody>
          <a:bodyPr wrap="square" lIns="0" tIns="0" rIns="0" bIns="0" rtlCol="0" anchor="t"/>
          <a:lstStyle/>
          <a:p>
            <a:pPr indent="0" marL="0">
              <a:buNone/>
            </a:pPr>
            <a:r>
              <a:rPr lang="en-US" sz="1200" dirty="0">
                <a:solidFill>
                  <a:srgbClr val="5B6B82"/>
                </a:solidFill>
              </a:rPr>
              <a:t>Der Staat setzt den rechtlichen Rahmen, innerhalb dessen die Bäckerei wirtschaftet.</a:t>
            </a:r>
            <a:endParaRPr lang="en-US" sz="1200" dirty="0"/>
          </a:p>
        </p:txBody>
      </p:sp>
      <p:sp>
        <p:nvSpPr>
          <p:cNvPr id="20" name="Regel 1"/>
          <p:cNvSpPr/>
          <p:nvPr/>
        </p:nvSpPr>
        <p:spPr>
          <a:xfrm>
            <a:off x="4663440" y="2011680"/>
            <a:ext cx="4023360" cy="411480"/>
          </a:xfrm>
          <a:prstGeom prst="rect">
            <a:avLst/>
          </a:prstGeom>
          <a:solidFill>
            <a:schemeClr val="accent1">
              <a:alpha val="12000"/>
            </a:schemeClr>
          </a:solidFill>
          <a:ln/>
        </p:spPr>
      </p:sp>
      <p:sp>
        <p:nvSpPr>
          <p:cNvPr id="21" name="Text 19"/>
          <p:cNvSpPr txBox="1"/>
          <p:nvPr/>
        </p:nvSpPr>
        <p:spPr>
          <a:xfrm>
            <a:off x="4754880" y="2011680"/>
            <a:ext cx="3840480" cy="411480"/>
          </a:xfrm>
          <a:prstGeom prst="rect">
            <a:avLst/>
          </a:prstGeom>
          <a:noFill/>
          <a:ln/>
        </p:spPr>
        <p:txBody>
          <a:bodyPr wrap="square" lIns="0" tIns="0" rIns="0" bIns="0" rtlCol="0" anchor="ctr"/>
          <a:lstStyle/>
          <a:p>
            <a:pPr indent="0" marL="0">
              <a:buNone/>
            </a:pPr>
            <a:r>
              <a:rPr lang="en-US" sz="1200" b="1" dirty="0">
                <a:solidFill>
                  <a:schemeClr val="tx2"/>
                </a:solidFill>
              </a:rPr>
              <a:t>Arbeitsrecht  </a:t>
            </a:r>
            <a:pPr indent="0" marL="0">
              <a:buNone/>
            </a:pPr>
            <a:r>
              <a:rPr lang="en-US" sz="1100" dirty="0">
                <a:solidFill>
                  <a:schemeClr val="tx1"/>
                </a:solidFill>
              </a:rPr>
              <a:t>Arbeitszeiten · Arbeitsschutz · Beschäftigungsbedingungen</a:t>
            </a:r>
            <a:endParaRPr lang="en-US" sz="1200" dirty="0"/>
          </a:p>
        </p:txBody>
      </p:sp>
      <p:sp>
        <p:nvSpPr>
          <p:cNvPr id="22" name="Regel 2"/>
          <p:cNvSpPr/>
          <p:nvPr/>
        </p:nvSpPr>
        <p:spPr>
          <a:xfrm>
            <a:off x="4663440" y="2468880"/>
            <a:ext cx="4023360" cy="411480"/>
          </a:xfrm>
          <a:prstGeom prst="rect">
            <a:avLst/>
          </a:prstGeom>
          <a:solidFill>
            <a:schemeClr val="accent1">
              <a:alpha val="12000"/>
            </a:schemeClr>
          </a:solidFill>
          <a:ln/>
        </p:spPr>
      </p:sp>
      <p:sp>
        <p:nvSpPr>
          <p:cNvPr id="23" name="Text 21"/>
          <p:cNvSpPr txBox="1"/>
          <p:nvPr/>
        </p:nvSpPr>
        <p:spPr>
          <a:xfrm>
            <a:off x="4754880" y="2468880"/>
            <a:ext cx="3840480" cy="411480"/>
          </a:xfrm>
          <a:prstGeom prst="rect">
            <a:avLst/>
          </a:prstGeom>
          <a:noFill/>
          <a:ln/>
        </p:spPr>
        <p:txBody>
          <a:bodyPr wrap="square" lIns="0" tIns="0" rIns="0" bIns="0" rtlCol="0" anchor="ctr"/>
          <a:lstStyle/>
          <a:p>
            <a:pPr indent="0" marL="0">
              <a:buNone/>
            </a:pPr>
            <a:r>
              <a:rPr lang="en-US" sz="1200" b="1" dirty="0">
                <a:solidFill>
                  <a:schemeClr val="tx2"/>
                </a:solidFill>
              </a:rPr>
              <a:t>Lebensmittelrecht  </a:t>
            </a:r>
            <a:pPr indent="0" marL="0">
              <a:buNone/>
            </a:pPr>
            <a:r>
              <a:rPr lang="en-US" sz="1100" dirty="0">
                <a:solidFill>
                  <a:schemeClr val="tx1"/>
                </a:solidFill>
              </a:rPr>
              <a:t>Hygienevorschriften · Qualität und Sicherheit · Kennzeichnung von Zutaten</a:t>
            </a:r>
            <a:endParaRPr lang="en-US" sz="1200" dirty="0"/>
          </a:p>
        </p:txBody>
      </p:sp>
      <p:sp>
        <p:nvSpPr>
          <p:cNvPr id="24" name="Regel 3"/>
          <p:cNvSpPr/>
          <p:nvPr/>
        </p:nvSpPr>
        <p:spPr>
          <a:xfrm>
            <a:off x="4663440" y="2926080"/>
            <a:ext cx="4023360" cy="411480"/>
          </a:xfrm>
          <a:prstGeom prst="rect">
            <a:avLst/>
          </a:prstGeom>
          <a:solidFill>
            <a:schemeClr val="accent1">
              <a:alpha val="12000"/>
            </a:schemeClr>
          </a:solidFill>
          <a:ln/>
        </p:spPr>
      </p:sp>
      <p:sp>
        <p:nvSpPr>
          <p:cNvPr id="25" name="Text 23"/>
          <p:cNvSpPr txBox="1"/>
          <p:nvPr/>
        </p:nvSpPr>
        <p:spPr>
          <a:xfrm>
            <a:off x="4754880" y="2926080"/>
            <a:ext cx="3840480" cy="411480"/>
          </a:xfrm>
          <a:prstGeom prst="rect">
            <a:avLst/>
          </a:prstGeom>
          <a:noFill/>
          <a:ln/>
        </p:spPr>
        <p:txBody>
          <a:bodyPr wrap="square" lIns="0" tIns="0" rIns="0" bIns="0" rtlCol="0" anchor="ctr"/>
          <a:lstStyle/>
          <a:p>
            <a:pPr indent="0" marL="0">
              <a:buNone/>
            </a:pPr>
            <a:r>
              <a:rPr lang="en-US" sz="1200" b="1" dirty="0">
                <a:solidFill>
                  <a:schemeClr val="tx2"/>
                </a:solidFill>
              </a:rPr>
              <a:t>Mindestlohn  </a:t>
            </a:r>
            <a:pPr indent="0" marL="0">
              <a:buNone/>
            </a:pPr>
            <a:r>
              <a:rPr lang="en-US" sz="1100" dirty="0">
                <a:solidFill>
                  <a:schemeClr val="tx1"/>
                </a:solidFill>
              </a:rPr>
              <a:t>gesetzlich festgelegter Mindestlohn · faire Bezahlung</a:t>
            </a:r>
            <a:endParaRPr lang="en-US" sz="1200" dirty="0"/>
          </a:p>
        </p:txBody>
      </p:sp>
      <p:sp>
        <p:nvSpPr>
          <p:cNvPr id="26" name="Regel 4"/>
          <p:cNvSpPr/>
          <p:nvPr/>
        </p:nvSpPr>
        <p:spPr>
          <a:xfrm>
            <a:off x="4663440" y="3383280"/>
            <a:ext cx="4023360" cy="411480"/>
          </a:xfrm>
          <a:prstGeom prst="rect">
            <a:avLst/>
          </a:prstGeom>
          <a:solidFill>
            <a:schemeClr val="accent1">
              <a:alpha val="12000"/>
            </a:schemeClr>
          </a:solidFill>
          <a:ln/>
        </p:spPr>
      </p:sp>
      <p:sp>
        <p:nvSpPr>
          <p:cNvPr id="27" name="Text 25"/>
          <p:cNvSpPr txBox="1"/>
          <p:nvPr/>
        </p:nvSpPr>
        <p:spPr>
          <a:xfrm>
            <a:off x="4754880" y="3383280"/>
            <a:ext cx="3840480" cy="411480"/>
          </a:xfrm>
          <a:prstGeom prst="rect">
            <a:avLst/>
          </a:prstGeom>
          <a:noFill/>
          <a:ln/>
        </p:spPr>
        <p:txBody>
          <a:bodyPr wrap="square" lIns="0" tIns="0" rIns="0" bIns="0" rtlCol="0" anchor="ctr"/>
          <a:lstStyle/>
          <a:p>
            <a:pPr indent="0" marL="0">
              <a:buNone/>
            </a:pPr>
            <a:r>
              <a:rPr lang="en-US" sz="1200" b="1" dirty="0">
                <a:solidFill>
                  <a:schemeClr val="tx2"/>
                </a:solidFill>
              </a:rPr>
              <a:t>Steuerrecht  </a:t>
            </a:r>
            <a:pPr indent="0" marL="0">
              <a:buNone/>
            </a:pPr>
            <a:r>
              <a:rPr lang="en-US" sz="1100" dirty="0">
                <a:solidFill>
                  <a:schemeClr val="tx1"/>
                </a:solidFill>
              </a:rPr>
              <a:t>Umsatzsteuer auf Produkte · Einkommen- und Gewerbesteuer · ordnungsgemäße Buchführung</a:t>
            </a:r>
            <a:endParaRPr lang="en-US" sz="1200" dirty="0"/>
          </a:p>
        </p:txBody>
      </p:sp>
      <p:sp>
        <p:nvSpPr>
          <p:cNvPr id="28" name="Icon-Kreis"/>
          <p:cNvSpPr/>
          <p:nvPr/>
        </p:nvSpPr>
        <p:spPr>
          <a:xfrm>
            <a:off x="4114800" y="2743200"/>
            <a:ext cx="457200" cy="457200"/>
          </a:xfrm>
          <a:prstGeom prst="ellipse">
            <a:avLst/>
          </a:prstGeom>
          <a:solidFill>
            <a:schemeClr val="accent1"/>
          </a:solidFill>
          <a:ln w="12700">
            <a:solidFill>
              <a:schemeClr val="accent1"/>
            </a:solidFill>
            <a:prstDash val="solid"/>
          </a:ln>
        </p:spPr>
      </p:sp>
      <p:pic>
        <p:nvPicPr>
          <p:cNvPr id="29" name="Image 0" descr="Store">    </p:cNvPr>
          <p:cNvPicPr>
            <a:picLocks noChangeAspect="1"/>
          </p:cNvPicPr>
          <p:nvPr/>
        </p:nvPicPr>
        <p:blipFill>
          <a:blip r:embed="rId1"/>
          <a:stretch>
            <a:fillRect/>
          </a:stretch>
        </p:blipFill>
        <p:spPr>
          <a:xfrm>
            <a:off x="4224528" y="2852928"/>
            <a:ext cx="237744" cy="237744"/>
          </a:xfrm>
          <a:prstGeom prst="rect">
            <a:avLst/>
          </a:prstGeom>
        </p:spPr>
      </p:pic>
      <p:sp>
        <p:nvSpPr>
          <p:cNvPr id="30" name="Kernaussage"/>
          <p:cNvSpPr/>
          <p:nvPr/>
        </p:nvSpPr>
        <p:spPr>
          <a:xfrm>
            <a:off x="457200" y="3977640"/>
            <a:ext cx="8229600" cy="749808"/>
          </a:xfrm>
          <a:prstGeom prst="rect">
            <a:avLst/>
          </a:prstGeom>
          <a:solidFill>
            <a:schemeClr val="tx2"/>
          </a:solidFill>
          <a:ln/>
        </p:spPr>
      </p:sp>
      <p:sp>
        <p:nvSpPr>
          <p:cNvPr id="31" name="Text 28"/>
          <p:cNvSpPr txBox="1"/>
          <p:nvPr/>
        </p:nvSpPr>
        <p:spPr>
          <a:xfrm>
            <a:off x="685800" y="3977640"/>
            <a:ext cx="7772400" cy="749808"/>
          </a:xfrm>
          <a:prstGeom prst="rect">
            <a:avLst/>
          </a:prstGeom>
          <a:noFill/>
          <a:ln/>
        </p:spPr>
        <p:txBody>
          <a:bodyPr wrap="square" lIns="0" tIns="0" rIns="0" bIns="0" rtlCol="0" anchor="ctr"/>
          <a:lstStyle/>
          <a:p>
            <a:pPr indent="0" marL="0">
              <a:buNone/>
            </a:pPr>
            <a:r>
              <a:rPr lang="en-US" sz="1500" b="1" dirty="0">
                <a:solidFill>
                  <a:schemeClr val="bg1"/>
                </a:solidFill>
              </a:rPr>
              <a:t>Der Staat entscheidet also nicht, wie viele Brötchen die Bäckerei morgen backen muss. Er bestimmt aber einen Teil der Spielregeln, innerhalb derer die Bäckerei wirtschaftet.</a:t>
            </a:r>
            <a:endParaRPr lang="en-US" sz="15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583680" cy="731520"/>
          </a:xfrm>
          <a:prstGeom prst="rect">
            <a:avLst/>
          </a:prstGeom>
          <a:noFill/>
          <a:ln/>
        </p:spPr>
        <p:txBody>
          <a:bodyPr wrap="square" lIns="0" tIns="0" rIns="0" bIns="0" rtlCol="0" anchor="ctr"/>
          <a:lstStyle/>
          <a:p>
            <a:pPr algn="l" indent="0" marL="0">
              <a:buNone/>
            </a:pPr>
            <a:r>
              <a:rPr lang="en-US" sz="3000" b="1" dirty="0">
                <a:solidFill>
                  <a:schemeClr val="tx2"/>
                </a:solidFill>
              </a:rPr>
              <a:t>Theorie trifft Wirklichkeit</a:t>
            </a:r>
            <a:endParaRPr lang="en-US" sz="3000" dirty="0"/>
          </a:p>
        </p:txBody>
      </p:sp>
      <p:sp>
        <p:nvSpPr>
          <p:cNvPr id="3" name="Text 1"/>
          <p:cNvSpPr txBox="1"/>
          <p:nvPr/>
        </p:nvSpPr>
        <p:spPr>
          <a:xfrm>
            <a:off x="457200" y="1024128"/>
            <a:ext cx="6400800" cy="274320"/>
          </a:xfrm>
          <a:prstGeom prst="rect">
            <a:avLst/>
          </a:prstGeom>
          <a:noFill/>
          <a:ln/>
        </p:spPr>
        <p:txBody>
          <a:bodyPr wrap="square" lIns="0" tIns="0" rIns="0" bIns="0" rtlCol="0" anchor="t"/>
          <a:lstStyle/>
          <a:p>
            <a:pPr indent="0" marL="0">
              <a:buNone/>
            </a:pPr>
            <a:r>
              <a:rPr lang="en-US" sz="1500" b="1" spc="100" kern="0" dirty="0">
                <a:solidFill>
                  <a:schemeClr val="accent4"/>
                </a:solidFill>
              </a:rPr>
              <a:t>REALE VOLKSWIRTSCHAFTEN SIND MISCHFORMEN</a:t>
            </a:r>
            <a:endParaRPr lang="en-US" sz="1500" dirty="0"/>
          </a:p>
        </p:txBody>
      </p:sp>
      <p:sp>
        <p:nvSpPr>
          <p:cNvPr id="4" name="Spektrum Markt"/>
          <p:cNvSpPr/>
          <p:nvPr/>
        </p:nvSpPr>
        <p:spPr>
          <a:xfrm>
            <a:off x="640080" y="2468880"/>
            <a:ext cx="3931920" cy="73152"/>
          </a:xfrm>
          <a:prstGeom prst="rect">
            <a:avLst/>
          </a:prstGeom>
          <a:solidFill>
            <a:schemeClr val="tx2"/>
          </a:solidFill>
          <a:ln/>
        </p:spPr>
      </p:sp>
      <p:sp>
        <p:nvSpPr>
          <p:cNvPr id="5" name="Spektrum Staat"/>
          <p:cNvSpPr/>
          <p:nvPr/>
        </p:nvSpPr>
        <p:spPr>
          <a:xfrm>
            <a:off x="4572000" y="2468880"/>
            <a:ext cx="3931920" cy="73152"/>
          </a:xfrm>
          <a:prstGeom prst="rect">
            <a:avLst/>
          </a:prstGeom>
          <a:solidFill>
            <a:schemeClr val="accent1"/>
          </a:solidFill>
          <a:ln/>
        </p:spPr>
      </p:sp>
      <p:sp>
        <p:nvSpPr>
          <p:cNvPr id="6" name="Endpunkt Markt"/>
          <p:cNvSpPr/>
          <p:nvPr/>
        </p:nvSpPr>
        <p:spPr>
          <a:xfrm>
            <a:off x="530352" y="2395728"/>
            <a:ext cx="219456" cy="219456"/>
          </a:xfrm>
          <a:prstGeom prst="ellipse">
            <a:avLst/>
          </a:prstGeom>
          <a:solidFill>
            <a:schemeClr val="tx2"/>
          </a:solidFill>
          <a:ln w="12700">
            <a:solidFill>
              <a:schemeClr val="tx2"/>
            </a:solidFill>
            <a:prstDash val="solid"/>
          </a:ln>
        </p:spPr>
      </p:sp>
      <p:sp>
        <p:nvSpPr>
          <p:cNvPr id="7" name="Endpunkt Staat"/>
          <p:cNvSpPr/>
          <p:nvPr/>
        </p:nvSpPr>
        <p:spPr>
          <a:xfrm>
            <a:off x="8394192" y="2395728"/>
            <a:ext cx="219456" cy="219456"/>
          </a:xfrm>
          <a:prstGeom prst="ellipse">
            <a:avLst/>
          </a:prstGeom>
          <a:solidFill>
            <a:schemeClr val="accent1"/>
          </a:solidFill>
          <a:ln w="12700">
            <a:solidFill>
              <a:schemeClr val="accent1"/>
            </a:solidFill>
            <a:prstDash val="solid"/>
          </a:ln>
        </p:spPr>
      </p:sp>
      <p:sp>
        <p:nvSpPr>
          <p:cNvPr id="8" name="Länderbox Deutschland"/>
          <p:cNvSpPr/>
          <p:nvPr/>
        </p:nvSpPr>
        <p:spPr>
          <a:xfrm>
            <a:off x="1402690" y="1783080"/>
            <a:ext cx="1463040" cy="365760"/>
          </a:xfrm>
          <a:prstGeom prst="rect">
            <a:avLst/>
          </a:prstGeom>
          <a:solidFill>
            <a:schemeClr val="bg2"/>
          </a:solidFill>
          <a:ln/>
        </p:spPr>
      </p:sp>
      <p:sp>
        <p:nvSpPr>
          <p:cNvPr id="9" name="Text 7"/>
          <p:cNvSpPr txBox="1"/>
          <p:nvPr/>
        </p:nvSpPr>
        <p:spPr>
          <a:xfrm>
            <a:off x="1402690" y="1783080"/>
            <a:ext cx="1463040" cy="365760"/>
          </a:xfrm>
          <a:prstGeom prst="rect">
            <a:avLst/>
          </a:prstGeom>
          <a:noFill/>
          <a:ln/>
        </p:spPr>
        <p:txBody>
          <a:bodyPr wrap="square" lIns="0" tIns="0" rIns="0" bIns="0" rtlCol="0" anchor="ctr"/>
          <a:lstStyle/>
          <a:p>
            <a:pPr algn="ctr" indent="0" marL="0">
              <a:buNone/>
            </a:pPr>
            <a:r>
              <a:rPr lang="en-US" sz="1400" b="1" dirty="0">
                <a:solidFill>
                  <a:schemeClr val="tx2"/>
                </a:solidFill>
              </a:rPr>
              <a:t>Deutschland</a:t>
            </a:r>
            <a:endParaRPr lang="en-US" sz="1400" dirty="0"/>
          </a:p>
        </p:txBody>
      </p:sp>
      <p:sp>
        <p:nvSpPr>
          <p:cNvPr id="10" name="Verbinder"/>
          <p:cNvSpPr/>
          <p:nvPr/>
        </p:nvSpPr>
        <p:spPr>
          <a:xfrm>
            <a:off x="2125066" y="2148840"/>
            <a:ext cx="18288" cy="274320"/>
          </a:xfrm>
          <a:prstGeom prst="rect">
            <a:avLst/>
          </a:prstGeom>
          <a:solidFill>
            <a:schemeClr val="tx2"/>
          </a:solidFill>
          <a:ln/>
        </p:spPr>
      </p:sp>
      <p:sp>
        <p:nvSpPr>
          <p:cNvPr id="11" name="Messpunkt Deutschland"/>
          <p:cNvSpPr/>
          <p:nvPr/>
        </p:nvSpPr>
        <p:spPr>
          <a:xfrm>
            <a:off x="2033626" y="2404872"/>
            <a:ext cx="201168" cy="201168"/>
          </a:xfrm>
          <a:prstGeom prst="ellipse">
            <a:avLst/>
          </a:prstGeom>
          <a:solidFill>
            <a:schemeClr val="bg1"/>
          </a:solidFill>
          <a:ln w="25400">
            <a:solidFill>
              <a:schemeClr val="tx2"/>
            </a:solidFill>
            <a:prstDash val="solid"/>
          </a:ln>
        </p:spPr>
      </p:sp>
      <p:sp>
        <p:nvSpPr>
          <p:cNvPr id="12" name="Länderbox Marokko"/>
          <p:cNvSpPr/>
          <p:nvPr/>
        </p:nvSpPr>
        <p:spPr>
          <a:xfrm>
            <a:off x="3211373" y="1371600"/>
            <a:ext cx="1463040" cy="365760"/>
          </a:xfrm>
          <a:prstGeom prst="rect">
            <a:avLst/>
          </a:prstGeom>
          <a:solidFill>
            <a:schemeClr val="bg2"/>
          </a:solidFill>
          <a:ln/>
        </p:spPr>
      </p:sp>
      <p:sp>
        <p:nvSpPr>
          <p:cNvPr id="13" name="Text 11"/>
          <p:cNvSpPr txBox="1"/>
          <p:nvPr/>
        </p:nvSpPr>
        <p:spPr>
          <a:xfrm>
            <a:off x="3211373" y="1371600"/>
            <a:ext cx="1463040" cy="365760"/>
          </a:xfrm>
          <a:prstGeom prst="rect">
            <a:avLst/>
          </a:prstGeom>
          <a:noFill/>
          <a:ln/>
        </p:spPr>
        <p:txBody>
          <a:bodyPr wrap="square" lIns="0" tIns="0" rIns="0" bIns="0" rtlCol="0" anchor="ctr"/>
          <a:lstStyle/>
          <a:p>
            <a:pPr algn="ctr" indent="0" marL="0">
              <a:buNone/>
            </a:pPr>
            <a:r>
              <a:rPr lang="en-US" sz="1400" b="1" dirty="0">
                <a:solidFill>
                  <a:schemeClr val="tx2"/>
                </a:solidFill>
              </a:rPr>
              <a:t>Marokko</a:t>
            </a:r>
            <a:endParaRPr lang="en-US" sz="1400" dirty="0"/>
          </a:p>
        </p:txBody>
      </p:sp>
      <p:sp>
        <p:nvSpPr>
          <p:cNvPr id="14" name="Verbinder"/>
          <p:cNvSpPr/>
          <p:nvPr/>
        </p:nvSpPr>
        <p:spPr>
          <a:xfrm>
            <a:off x="3933749" y="1737360"/>
            <a:ext cx="18288" cy="685800"/>
          </a:xfrm>
          <a:prstGeom prst="rect">
            <a:avLst/>
          </a:prstGeom>
          <a:solidFill>
            <a:schemeClr val="tx2"/>
          </a:solidFill>
          <a:ln/>
        </p:spPr>
      </p:sp>
      <p:sp>
        <p:nvSpPr>
          <p:cNvPr id="15" name="Messpunkt Marokko"/>
          <p:cNvSpPr/>
          <p:nvPr/>
        </p:nvSpPr>
        <p:spPr>
          <a:xfrm>
            <a:off x="3842309" y="2404872"/>
            <a:ext cx="201168" cy="201168"/>
          </a:xfrm>
          <a:prstGeom prst="ellipse">
            <a:avLst/>
          </a:prstGeom>
          <a:solidFill>
            <a:schemeClr val="bg1"/>
          </a:solidFill>
          <a:ln w="25400">
            <a:solidFill>
              <a:schemeClr val="tx2"/>
            </a:solidFill>
            <a:prstDash val="solid"/>
          </a:ln>
        </p:spPr>
      </p:sp>
      <p:sp>
        <p:nvSpPr>
          <p:cNvPr id="16" name="Länderbox Ukraine"/>
          <p:cNvSpPr/>
          <p:nvPr/>
        </p:nvSpPr>
        <p:spPr>
          <a:xfrm>
            <a:off x="5020056" y="1783080"/>
            <a:ext cx="1463040" cy="365760"/>
          </a:xfrm>
          <a:prstGeom prst="rect">
            <a:avLst/>
          </a:prstGeom>
          <a:solidFill>
            <a:schemeClr val="bg2"/>
          </a:solidFill>
          <a:ln/>
        </p:spPr>
      </p:sp>
      <p:sp>
        <p:nvSpPr>
          <p:cNvPr id="17" name="Text 15"/>
          <p:cNvSpPr txBox="1"/>
          <p:nvPr/>
        </p:nvSpPr>
        <p:spPr>
          <a:xfrm>
            <a:off x="5020056" y="1783080"/>
            <a:ext cx="1463040" cy="365760"/>
          </a:xfrm>
          <a:prstGeom prst="rect">
            <a:avLst/>
          </a:prstGeom>
          <a:noFill/>
          <a:ln/>
        </p:spPr>
        <p:txBody>
          <a:bodyPr wrap="square" lIns="0" tIns="0" rIns="0" bIns="0" rtlCol="0" anchor="ctr"/>
          <a:lstStyle/>
          <a:p>
            <a:pPr algn="ctr" indent="0" marL="0">
              <a:buNone/>
            </a:pPr>
            <a:r>
              <a:rPr lang="en-US" sz="1400" b="1" dirty="0">
                <a:solidFill>
                  <a:schemeClr val="tx2"/>
                </a:solidFill>
              </a:rPr>
              <a:t>Ukraine</a:t>
            </a:r>
            <a:endParaRPr lang="en-US" sz="1400" dirty="0"/>
          </a:p>
        </p:txBody>
      </p:sp>
      <p:sp>
        <p:nvSpPr>
          <p:cNvPr id="18" name="Verbinder"/>
          <p:cNvSpPr/>
          <p:nvPr/>
        </p:nvSpPr>
        <p:spPr>
          <a:xfrm>
            <a:off x="5742432" y="2148840"/>
            <a:ext cx="18288" cy="274320"/>
          </a:xfrm>
          <a:prstGeom prst="rect">
            <a:avLst/>
          </a:prstGeom>
          <a:solidFill>
            <a:schemeClr val="tx2"/>
          </a:solidFill>
          <a:ln/>
        </p:spPr>
      </p:sp>
      <p:sp>
        <p:nvSpPr>
          <p:cNvPr id="19" name="Messpunkt Ukraine"/>
          <p:cNvSpPr/>
          <p:nvPr/>
        </p:nvSpPr>
        <p:spPr>
          <a:xfrm>
            <a:off x="5650992" y="2404872"/>
            <a:ext cx="201168" cy="201168"/>
          </a:xfrm>
          <a:prstGeom prst="ellipse">
            <a:avLst/>
          </a:prstGeom>
          <a:solidFill>
            <a:schemeClr val="bg1"/>
          </a:solidFill>
          <a:ln w="25400">
            <a:solidFill>
              <a:schemeClr val="tx2"/>
            </a:solidFill>
            <a:prstDash val="solid"/>
          </a:ln>
        </p:spPr>
      </p:sp>
      <p:sp>
        <p:nvSpPr>
          <p:cNvPr id="20" name="Länderbox Kuba"/>
          <p:cNvSpPr/>
          <p:nvPr/>
        </p:nvSpPr>
        <p:spPr>
          <a:xfrm>
            <a:off x="6750101" y="1371600"/>
            <a:ext cx="1463040" cy="365760"/>
          </a:xfrm>
          <a:prstGeom prst="rect">
            <a:avLst/>
          </a:prstGeom>
          <a:solidFill>
            <a:schemeClr val="bg2"/>
          </a:solidFill>
          <a:ln/>
        </p:spPr>
      </p:sp>
      <p:sp>
        <p:nvSpPr>
          <p:cNvPr id="21" name="Text 19"/>
          <p:cNvSpPr txBox="1"/>
          <p:nvPr/>
        </p:nvSpPr>
        <p:spPr>
          <a:xfrm>
            <a:off x="6750101" y="1371600"/>
            <a:ext cx="1463040" cy="365760"/>
          </a:xfrm>
          <a:prstGeom prst="rect">
            <a:avLst/>
          </a:prstGeom>
          <a:noFill/>
          <a:ln/>
        </p:spPr>
        <p:txBody>
          <a:bodyPr wrap="square" lIns="0" tIns="0" rIns="0" bIns="0" rtlCol="0" anchor="ctr"/>
          <a:lstStyle/>
          <a:p>
            <a:pPr algn="ctr" indent="0" marL="0">
              <a:buNone/>
            </a:pPr>
            <a:r>
              <a:rPr lang="en-US" sz="1400" b="1" dirty="0">
                <a:solidFill>
                  <a:schemeClr val="tx2"/>
                </a:solidFill>
              </a:rPr>
              <a:t>Kuba</a:t>
            </a:r>
            <a:endParaRPr lang="en-US" sz="1400" dirty="0"/>
          </a:p>
        </p:txBody>
      </p:sp>
      <p:sp>
        <p:nvSpPr>
          <p:cNvPr id="22" name="Verbinder"/>
          <p:cNvSpPr/>
          <p:nvPr/>
        </p:nvSpPr>
        <p:spPr>
          <a:xfrm>
            <a:off x="7472477" y="1737360"/>
            <a:ext cx="18288" cy="685800"/>
          </a:xfrm>
          <a:prstGeom prst="rect">
            <a:avLst/>
          </a:prstGeom>
          <a:solidFill>
            <a:schemeClr val="tx2"/>
          </a:solidFill>
          <a:ln/>
        </p:spPr>
      </p:sp>
      <p:sp>
        <p:nvSpPr>
          <p:cNvPr id="23" name="Messpunkt Kuba"/>
          <p:cNvSpPr/>
          <p:nvPr/>
        </p:nvSpPr>
        <p:spPr>
          <a:xfrm>
            <a:off x="7381037" y="2404872"/>
            <a:ext cx="201168" cy="201168"/>
          </a:xfrm>
          <a:prstGeom prst="ellipse">
            <a:avLst/>
          </a:prstGeom>
          <a:solidFill>
            <a:schemeClr val="bg1"/>
          </a:solidFill>
          <a:ln w="25400">
            <a:solidFill>
              <a:schemeClr val="tx2"/>
            </a:solidFill>
            <a:prstDash val="solid"/>
          </a:ln>
        </p:spPr>
      </p:sp>
      <p:sp>
        <p:nvSpPr>
          <p:cNvPr id="24" name="Marke Mehr Markt"/>
          <p:cNvSpPr/>
          <p:nvPr/>
        </p:nvSpPr>
        <p:spPr>
          <a:xfrm>
            <a:off x="457200" y="2743200"/>
            <a:ext cx="1417320" cy="329184"/>
          </a:xfrm>
          <a:prstGeom prst="rect">
            <a:avLst/>
          </a:prstGeom>
          <a:solidFill>
            <a:schemeClr val="tx2"/>
          </a:solidFill>
          <a:ln/>
        </p:spPr>
      </p:sp>
      <p:sp>
        <p:nvSpPr>
          <p:cNvPr id="25" name="Text 23"/>
          <p:cNvSpPr txBox="1"/>
          <p:nvPr/>
        </p:nvSpPr>
        <p:spPr>
          <a:xfrm>
            <a:off x="457200" y="2743200"/>
            <a:ext cx="1417320" cy="329184"/>
          </a:xfrm>
          <a:prstGeom prst="rect">
            <a:avLst/>
          </a:prstGeom>
          <a:noFill/>
          <a:ln/>
        </p:spPr>
        <p:txBody>
          <a:bodyPr wrap="square" lIns="0" tIns="0" rIns="0" bIns="0" rtlCol="0" anchor="ctr"/>
          <a:lstStyle/>
          <a:p>
            <a:pPr algn="ctr" indent="0" marL="0">
              <a:buNone/>
            </a:pPr>
            <a:r>
              <a:rPr lang="en-US" sz="1300" b="1" dirty="0">
                <a:solidFill>
                  <a:schemeClr val="bg1"/>
                </a:solidFill>
              </a:rPr>
              <a:t>Mehr Markt</a:t>
            </a:r>
            <a:endParaRPr lang="en-US" sz="1300" dirty="0"/>
          </a:p>
        </p:txBody>
      </p:sp>
      <p:sp>
        <p:nvSpPr>
          <p:cNvPr id="26" name="Marke Mehr staatliche Lenkung"/>
          <p:cNvSpPr/>
          <p:nvPr/>
        </p:nvSpPr>
        <p:spPr>
          <a:xfrm>
            <a:off x="6400800" y="2743200"/>
            <a:ext cx="2286000" cy="329184"/>
          </a:xfrm>
          <a:prstGeom prst="rect">
            <a:avLst/>
          </a:prstGeom>
          <a:solidFill>
            <a:schemeClr val="accent1"/>
          </a:solidFill>
          <a:ln/>
        </p:spPr>
      </p:sp>
      <p:sp>
        <p:nvSpPr>
          <p:cNvPr id="27" name="Text 25"/>
          <p:cNvSpPr txBox="1"/>
          <p:nvPr/>
        </p:nvSpPr>
        <p:spPr>
          <a:xfrm>
            <a:off x="6400800" y="2743200"/>
            <a:ext cx="2286000" cy="329184"/>
          </a:xfrm>
          <a:prstGeom prst="rect">
            <a:avLst/>
          </a:prstGeom>
          <a:noFill/>
          <a:ln/>
        </p:spPr>
        <p:txBody>
          <a:bodyPr wrap="square" lIns="0" tIns="0" rIns="0" bIns="0" rtlCol="0" anchor="ctr"/>
          <a:lstStyle/>
          <a:p>
            <a:pPr algn="ctr" indent="0" marL="0">
              <a:buNone/>
            </a:pPr>
            <a:r>
              <a:rPr lang="en-US" sz="1300" b="1" dirty="0">
                <a:solidFill>
                  <a:schemeClr val="bg1"/>
                </a:solidFill>
              </a:rPr>
              <a:t>Mehr staatliche Lenkung</a:t>
            </a:r>
            <a:endParaRPr lang="en-US" sz="1300" dirty="0"/>
          </a:p>
        </p:txBody>
      </p:sp>
      <p:sp>
        <p:nvSpPr>
          <p:cNvPr id="28" name="Text 26"/>
          <p:cNvSpPr txBox="1"/>
          <p:nvPr/>
        </p:nvSpPr>
        <p:spPr>
          <a:xfrm>
            <a:off x="2743200" y="2779776"/>
            <a:ext cx="3657600" cy="274320"/>
          </a:xfrm>
          <a:prstGeom prst="rect">
            <a:avLst/>
          </a:prstGeom>
          <a:noFill/>
          <a:ln/>
        </p:spPr>
        <p:txBody>
          <a:bodyPr wrap="square" lIns="0" tIns="0" rIns="0" bIns="0" rtlCol="0" anchor="t"/>
          <a:lstStyle/>
          <a:p>
            <a:pPr algn="ctr" indent="0" marL="0">
              <a:buNone/>
            </a:pPr>
            <a:r>
              <a:rPr lang="en-US" sz="1300" i="1" dirty="0">
                <a:solidFill>
                  <a:schemeClr val="tx2"/>
                </a:solidFill>
              </a:rPr>
              <a:t>Wirtschaftsordnungen können sich verändern.</a:t>
            </a:r>
            <a:endParaRPr lang="en-US" sz="1300" dirty="0"/>
          </a:p>
        </p:txBody>
      </p:sp>
      <p:sp>
        <p:nvSpPr>
          <p:cNvPr id="29" name="Box Markt"/>
          <p:cNvSpPr/>
          <p:nvPr/>
        </p:nvSpPr>
        <p:spPr>
          <a:xfrm>
            <a:off x="457200" y="3246120"/>
            <a:ext cx="4023360" cy="1051560"/>
          </a:xfrm>
          <a:prstGeom prst="rect">
            <a:avLst/>
          </a:prstGeom>
          <a:solidFill>
            <a:schemeClr val="bg2"/>
          </a:solidFill>
          <a:ln/>
        </p:spPr>
      </p:sp>
      <p:sp>
        <p:nvSpPr>
          <p:cNvPr id="30" name="Text 28"/>
          <p:cNvSpPr txBox="1"/>
          <p:nvPr/>
        </p:nvSpPr>
        <p:spPr>
          <a:xfrm>
            <a:off x="594360" y="3310128"/>
            <a:ext cx="3749040" cy="228600"/>
          </a:xfrm>
          <a:prstGeom prst="rect">
            <a:avLst/>
          </a:prstGeom>
          <a:noFill/>
          <a:ln/>
        </p:spPr>
        <p:txBody>
          <a:bodyPr wrap="square" lIns="0" tIns="0" rIns="0" bIns="0" rtlCol="0" anchor="t"/>
          <a:lstStyle/>
          <a:p>
            <a:pPr indent="0" marL="0">
              <a:buNone/>
            </a:pPr>
            <a:r>
              <a:rPr lang="en-US" sz="1200" b="1" spc="100" kern="0" dirty="0">
                <a:solidFill>
                  <a:schemeClr val="tx2"/>
                </a:solidFill>
              </a:rPr>
              <a:t>MARKTWIRTSCHAFTLICH GEPRÄGTE LÄNDER</a:t>
            </a:r>
            <a:endParaRPr lang="en-US" sz="1200" dirty="0"/>
          </a:p>
        </p:txBody>
      </p:sp>
      <p:sp>
        <p:nvSpPr>
          <p:cNvPr id="31" name="Text 29"/>
          <p:cNvSpPr txBox="1"/>
          <p:nvPr/>
        </p:nvSpPr>
        <p:spPr>
          <a:xfrm>
            <a:off x="594360" y="3566160"/>
            <a:ext cx="3794760" cy="731520"/>
          </a:xfrm>
          <a:prstGeom prst="rect">
            <a:avLst/>
          </a:prstGeom>
          <a:noFill/>
          <a:ln/>
        </p:spPr>
        <p:txBody>
          <a:bodyPr wrap="square" lIns="0" tIns="0" rIns="0" bIns="0" rtlCol="0" anchor="t"/>
          <a:lstStyle/>
          <a:p>
            <a:pPr indent="0" marL="0">
              <a:buNone/>
            </a:pPr>
            <a:r>
              <a:rPr lang="en-US" sz="1200" dirty="0">
                <a:solidFill>
                  <a:schemeClr val="tx1"/>
                </a:solidFill>
              </a:rPr>
              <a:t>Märkte, Wettbewerb und private Unternehmen prägen die Wirtschaft. Der Staat setzt den rechtlichen Rahmen und greift z. B. durch Gesetze, Steuern oder Regulierungen ein.</a:t>
            </a:r>
            <a:endParaRPr lang="en-US" sz="1200" dirty="0"/>
          </a:p>
        </p:txBody>
      </p:sp>
      <p:sp>
        <p:nvSpPr>
          <p:cNvPr id="32" name="Box Staat"/>
          <p:cNvSpPr/>
          <p:nvPr/>
        </p:nvSpPr>
        <p:spPr>
          <a:xfrm>
            <a:off x="4663440" y="3246120"/>
            <a:ext cx="4023360" cy="1051560"/>
          </a:xfrm>
          <a:prstGeom prst="rect">
            <a:avLst/>
          </a:prstGeom>
          <a:solidFill>
            <a:schemeClr val="accent1">
              <a:alpha val="12000"/>
            </a:schemeClr>
          </a:solidFill>
          <a:ln/>
        </p:spPr>
      </p:sp>
      <p:sp>
        <p:nvSpPr>
          <p:cNvPr id="33" name="Text 31"/>
          <p:cNvSpPr txBox="1"/>
          <p:nvPr/>
        </p:nvSpPr>
        <p:spPr>
          <a:xfrm>
            <a:off x="4800600" y="3310128"/>
            <a:ext cx="3749040" cy="228600"/>
          </a:xfrm>
          <a:prstGeom prst="rect">
            <a:avLst/>
          </a:prstGeom>
          <a:noFill/>
          <a:ln/>
        </p:spPr>
        <p:txBody>
          <a:bodyPr wrap="square" lIns="0" tIns="0" rIns="0" bIns="0" rtlCol="0" anchor="t"/>
          <a:lstStyle/>
          <a:p>
            <a:pPr indent="0" marL="0">
              <a:buNone/>
            </a:pPr>
            <a:r>
              <a:rPr lang="en-US" sz="1200" b="1" spc="100" kern="0" dirty="0">
                <a:solidFill>
                  <a:schemeClr val="accent4"/>
                </a:solidFill>
              </a:rPr>
              <a:t>STÄRKER STAATLICH GEPRÄGTE SYSTEME</a:t>
            </a:r>
            <a:endParaRPr lang="en-US" sz="1200" dirty="0"/>
          </a:p>
        </p:txBody>
      </p:sp>
      <p:sp>
        <p:nvSpPr>
          <p:cNvPr id="34" name="Text 32"/>
          <p:cNvSpPr txBox="1"/>
          <p:nvPr/>
        </p:nvSpPr>
        <p:spPr>
          <a:xfrm>
            <a:off x="4800600" y="3566160"/>
            <a:ext cx="3794760" cy="731520"/>
          </a:xfrm>
          <a:prstGeom prst="rect">
            <a:avLst/>
          </a:prstGeom>
          <a:noFill/>
          <a:ln/>
        </p:spPr>
        <p:txBody>
          <a:bodyPr wrap="square" lIns="0" tIns="0" rIns="0" bIns="0" rtlCol="0" anchor="t"/>
          <a:lstStyle/>
          <a:p>
            <a:pPr indent="0" marL="0">
              <a:buNone/>
            </a:pPr>
            <a:r>
              <a:rPr lang="en-US" sz="1200" dirty="0">
                <a:solidFill>
                  <a:schemeClr val="tx1"/>
                </a:solidFill>
              </a:rPr>
              <a:t>Der Staat übernimmt eine größere Rolle bei der wirtschaftlichen Steuerung. Trotzdem können private Unternehmen und Marktmechanismen bestehen.</a:t>
            </a:r>
            <a:endParaRPr lang="en-US" sz="1200" dirty="0"/>
          </a:p>
        </p:txBody>
      </p:sp>
      <p:sp>
        <p:nvSpPr>
          <p:cNvPr id="35" name="Kernaussage"/>
          <p:cNvSpPr/>
          <p:nvPr/>
        </p:nvSpPr>
        <p:spPr>
          <a:xfrm>
            <a:off x="457200" y="4370832"/>
            <a:ext cx="8229600" cy="411480"/>
          </a:xfrm>
          <a:prstGeom prst="rect">
            <a:avLst/>
          </a:prstGeom>
          <a:solidFill>
            <a:schemeClr val="tx2"/>
          </a:solidFill>
          <a:ln/>
        </p:spPr>
      </p:sp>
      <p:sp>
        <p:nvSpPr>
          <p:cNvPr id="36" name="Text 34"/>
          <p:cNvSpPr txBox="1"/>
          <p:nvPr/>
        </p:nvSpPr>
        <p:spPr>
          <a:xfrm>
            <a:off x="457200" y="4370832"/>
            <a:ext cx="8229600" cy="411480"/>
          </a:xfrm>
          <a:prstGeom prst="rect">
            <a:avLst/>
          </a:prstGeom>
          <a:noFill/>
          <a:ln/>
        </p:spPr>
        <p:txBody>
          <a:bodyPr wrap="square" lIns="0" tIns="0" rIns="0" bIns="0" rtlCol="0" anchor="ctr"/>
          <a:lstStyle/>
          <a:p>
            <a:pPr algn="ctr" indent="0" marL="0">
              <a:buNone/>
            </a:pPr>
            <a:r>
              <a:rPr lang="en-US" sz="1500" b="1" dirty="0">
                <a:solidFill>
                  <a:schemeClr val="bg1"/>
                </a:solidFill>
              </a:rPr>
              <a:t>Entscheidend ist nicht Markt ODER Staat, sondern wie beide miteinander verbunden sind.</a:t>
            </a:r>
            <a:endParaRPr lang="en-US" sz="15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457200"/>
            <a:ext cx="3383280" cy="1371600"/>
          </a:xfrm>
          <a:prstGeom prst="rect">
            <a:avLst/>
          </a:prstGeom>
          <a:noFill/>
          <a:ln/>
        </p:spPr>
        <p:txBody>
          <a:bodyPr wrap="square" lIns="0" tIns="0" rIns="0" bIns="0" rtlCol="0" anchor="t"/>
          <a:lstStyle/>
          <a:p>
            <a:pPr algn="l" indent="0" marL="0">
              <a:buNone/>
            </a:pPr>
            <a:r>
              <a:rPr lang="en-US" sz="2800" b="1" dirty="0">
                <a:solidFill>
                  <a:schemeClr val="bg1"/>
                </a:solidFill>
              </a:rPr>
              <a:t>VIER LÄNDER, VIER PERSPEKTIVEN</a:t>
            </a:r>
            <a:endParaRPr lang="en-US" sz="2800" dirty="0"/>
          </a:p>
        </p:txBody>
      </p:sp>
      <p:sp>
        <p:nvSpPr>
          <p:cNvPr id="3" name="Text 1"/>
          <p:cNvSpPr txBox="1"/>
          <p:nvPr/>
        </p:nvSpPr>
        <p:spPr>
          <a:xfrm>
            <a:off x="457200" y="1920240"/>
            <a:ext cx="3383280" cy="1097280"/>
          </a:xfrm>
          <a:prstGeom prst="rect">
            <a:avLst/>
          </a:prstGeom>
          <a:noFill/>
          <a:ln/>
        </p:spPr>
        <p:txBody>
          <a:bodyPr wrap="square" lIns="0" tIns="0" rIns="0" bIns="0" rtlCol="0" anchor="t"/>
          <a:lstStyle/>
          <a:p>
            <a:pPr indent="0" marL="0">
              <a:buNone/>
            </a:pPr>
            <a:r>
              <a:rPr lang="en-US" sz="1500" dirty="0">
                <a:solidFill>
                  <a:schemeClr val="bg1"/>
                </a:solidFill>
              </a:rPr>
              <a:t>Gleiche Vergleichsfragen. Unterschiedliche Geschichte, Institutionen und aktuelle Herausforderungen.</a:t>
            </a:r>
            <a:endParaRPr lang="en-US" sz="1500" dirty="0"/>
          </a:p>
        </p:txBody>
      </p:sp>
      <p:pic>
        <p:nvPicPr>
          <p:cNvPr id="4" name="Image 0" descr="Marktstand mit Lebensmitteln">    </p:cNvPr>
          <p:cNvPicPr>
            <a:picLocks noChangeAspect="1"/>
          </p:cNvPicPr>
          <p:nvPr/>
        </p:nvPicPr>
        <p:blipFill>
          <a:blip r:embed="rId1"/>
          <a:stretch>
            <a:fillRect/>
          </a:stretch>
        </p:blipFill>
        <p:spPr>
          <a:xfrm>
            <a:off x="457200" y="3063240"/>
            <a:ext cx="3291840" cy="1554480"/>
          </a:xfrm>
          <a:prstGeom prst="rect">
            <a:avLst/>
          </a:prstGeom>
        </p:spPr>
      </p:pic>
      <p:sp>
        <p:nvSpPr>
          <p:cNvPr id="5" name="Text 2"/>
          <p:cNvSpPr txBox="1"/>
          <p:nvPr/>
        </p:nvSpPr>
        <p:spPr>
          <a:xfrm>
            <a:off x="4572000" y="411480"/>
            <a:ext cx="640080" cy="64008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01</a:t>
            </a:r>
            <a:endParaRPr lang="en-US" sz="2600" dirty="0"/>
          </a:p>
        </p:txBody>
      </p:sp>
      <p:sp>
        <p:nvSpPr>
          <p:cNvPr id="6" name="Text 3"/>
          <p:cNvSpPr txBox="1"/>
          <p:nvPr/>
        </p:nvSpPr>
        <p:spPr>
          <a:xfrm>
            <a:off x="5257800" y="411480"/>
            <a:ext cx="3429000" cy="640080"/>
          </a:xfrm>
          <a:prstGeom prst="rect">
            <a:avLst/>
          </a:prstGeom>
          <a:noFill/>
          <a:ln/>
        </p:spPr>
        <p:txBody>
          <a:bodyPr wrap="square" lIns="0" tIns="0" rIns="0" bIns="0" rtlCol="0" anchor="ctr"/>
          <a:lstStyle/>
          <a:p>
            <a:pPr indent="0" marL="0">
              <a:buNone/>
            </a:pPr>
            <a:r>
              <a:rPr lang="en-US" sz="1200" b="1" spc="100" kern="0" dirty="0">
                <a:solidFill>
                  <a:schemeClr val="tx2"/>
                </a:solidFill>
              </a:rPr>
              <a:t>EIGENTUM</a:t>
            </a:r>
            <a:endParaRPr lang="en-US" sz="1200" dirty="0"/>
          </a:p>
          <a:p>
            <a:pPr indent="0" marL="0">
              <a:buNone/>
            </a:pPr>
            <a:r>
              <a:rPr lang="en-US" sz="1400" dirty="0">
                <a:solidFill>
                  <a:schemeClr val="tx1"/>
                </a:solidFill>
              </a:rPr>
              <a:t>Wem gehören Unternehmen und Produktionsmittel?</a:t>
            </a:r>
            <a:endParaRPr lang="en-US" sz="1200" dirty="0"/>
          </a:p>
        </p:txBody>
      </p:sp>
      <p:sp>
        <p:nvSpPr>
          <p:cNvPr id="7" name="Text 4"/>
          <p:cNvSpPr txBox="1"/>
          <p:nvPr/>
        </p:nvSpPr>
        <p:spPr>
          <a:xfrm>
            <a:off x="4572000" y="1115568"/>
            <a:ext cx="640080" cy="64008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02</a:t>
            </a:r>
            <a:endParaRPr lang="en-US" sz="2600" dirty="0"/>
          </a:p>
        </p:txBody>
      </p:sp>
      <p:sp>
        <p:nvSpPr>
          <p:cNvPr id="8" name="Text 5"/>
          <p:cNvSpPr txBox="1"/>
          <p:nvPr/>
        </p:nvSpPr>
        <p:spPr>
          <a:xfrm>
            <a:off x="5257800" y="1115568"/>
            <a:ext cx="3429000" cy="640080"/>
          </a:xfrm>
          <a:prstGeom prst="rect">
            <a:avLst/>
          </a:prstGeom>
          <a:noFill/>
          <a:ln/>
        </p:spPr>
        <p:txBody>
          <a:bodyPr wrap="square" lIns="0" tIns="0" rIns="0" bIns="0" rtlCol="0" anchor="ctr"/>
          <a:lstStyle/>
          <a:p>
            <a:pPr indent="0" marL="0">
              <a:buNone/>
            </a:pPr>
            <a:r>
              <a:rPr lang="en-US" sz="1200" b="1" spc="100" kern="0" dirty="0">
                <a:solidFill>
                  <a:schemeClr val="tx2"/>
                </a:solidFill>
              </a:rPr>
              <a:t>ENTSCHEIDUNGEN</a:t>
            </a:r>
            <a:endParaRPr lang="en-US" sz="1200" dirty="0"/>
          </a:p>
          <a:p>
            <a:pPr indent="0" marL="0">
              <a:buNone/>
            </a:pPr>
            <a:r>
              <a:rPr lang="en-US" sz="1400" dirty="0">
                <a:solidFill>
                  <a:schemeClr val="tx1"/>
                </a:solidFill>
              </a:rPr>
              <a:t>Wer entscheidet über Produktion und Investitionen?</a:t>
            </a:r>
            <a:endParaRPr lang="en-US" sz="1200" dirty="0"/>
          </a:p>
        </p:txBody>
      </p:sp>
      <p:sp>
        <p:nvSpPr>
          <p:cNvPr id="9" name="Text 6"/>
          <p:cNvSpPr txBox="1"/>
          <p:nvPr/>
        </p:nvSpPr>
        <p:spPr>
          <a:xfrm>
            <a:off x="4572000" y="1819656"/>
            <a:ext cx="640080" cy="64008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03</a:t>
            </a:r>
            <a:endParaRPr lang="en-US" sz="2600" dirty="0"/>
          </a:p>
        </p:txBody>
      </p:sp>
      <p:sp>
        <p:nvSpPr>
          <p:cNvPr id="10" name="Text 7"/>
          <p:cNvSpPr txBox="1"/>
          <p:nvPr/>
        </p:nvSpPr>
        <p:spPr>
          <a:xfrm>
            <a:off x="5257800" y="1819656"/>
            <a:ext cx="3429000" cy="640080"/>
          </a:xfrm>
          <a:prstGeom prst="rect">
            <a:avLst/>
          </a:prstGeom>
          <a:noFill/>
          <a:ln/>
        </p:spPr>
        <p:txBody>
          <a:bodyPr wrap="square" lIns="0" tIns="0" rIns="0" bIns="0" rtlCol="0" anchor="ctr"/>
          <a:lstStyle/>
          <a:p>
            <a:pPr indent="0" marL="0">
              <a:buNone/>
            </a:pPr>
            <a:r>
              <a:rPr lang="en-US" sz="1200" b="1" spc="100" kern="0" dirty="0">
                <a:solidFill>
                  <a:schemeClr val="tx2"/>
                </a:solidFill>
              </a:rPr>
              <a:t>PREISBILDUNG</a:t>
            </a:r>
            <a:endParaRPr lang="en-US" sz="1200" dirty="0"/>
          </a:p>
          <a:p>
            <a:pPr indent="0" marL="0">
              <a:buNone/>
            </a:pPr>
            <a:r>
              <a:rPr lang="en-US" sz="1400" dirty="0">
                <a:solidFill>
                  <a:schemeClr val="tx1"/>
                </a:solidFill>
              </a:rPr>
              <a:t>Entstehen Preise am Markt oder werden sie staatlich beeinflusst bzw. vorgegeben?</a:t>
            </a:r>
            <a:endParaRPr lang="en-US" sz="1200" dirty="0"/>
          </a:p>
        </p:txBody>
      </p:sp>
      <p:sp>
        <p:nvSpPr>
          <p:cNvPr id="11" name="Text 8"/>
          <p:cNvSpPr txBox="1"/>
          <p:nvPr/>
        </p:nvSpPr>
        <p:spPr>
          <a:xfrm>
            <a:off x="4572000" y="2523744"/>
            <a:ext cx="640080" cy="64008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04</a:t>
            </a:r>
            <a:endParaRPr lang="en-US" sz="2600" dirty="0"/>
          </a:p>
        </p:txBody>
      </p:sp>
      <p:sp>
        <p:nvSpPr>
          <p:cNvPr id="12" name="Text 9"/>
          <p:cNvSpPr txBox="1"/>
          <p:nvPr/>
        </p:nvSpPr>
        <p:spPr>
          <a:xfrm>
            <a:off x="5257800" y="2523744"/>
            <a:ext cx="3429000" cy="640080"/>
          </a:xfrm>
          <a:prstGeom prst="rect">
            <a:avLst/>
          </a:prstGeom>
          <a:noFill/>
          <a:ln/>
        </p:spPr>
        <p:txBody>
          <a:bodyPr wrap="square" lIns="0" tIns="0" rIns="0" bIns="0" rtlCol="0" anchor="ctr"/>
          <a:lstStyle/>
          <a:p>
            <a:pPr indent="0" marL="0">
              <a:buNone/>
            </a:pPr>
            <a:r>
              <a:rPr lang="en-US" sz="1200" b="1" spc="100" kern="0" dirty="0">
                <a:solidFill>
                  <a:schemeClr val="tx2"/>
                </a:solidFill>
              </a:rPr>
              <a:t>WETTBEWERB</a:t>
            </a:r>
            <a:endParaRPr lang="en-US" sz="1200" dirty="0"/>
          </a:p>
          <a:p>
            <a:pPr indent="0" marL="0">
              <a:buNone/>
            </a:pPr>
            <a:r>
              <a:rPr lang="en-US" sz="1400" dirty="0">
                <a:solidFill>
                  <a:schemeClr val="tx1"/>
                </a:solidFill>
              </a:rPr>
              <a:t>Wie frei konkurrieren Unternehmen?</a:t>
            </a:r>
            <a:endParaRPr lang="en-US" sz="1200" dirty="0"/>
          </a:p>
        </p:txBody>
      </p:sp>
      <p:sp>
        <p:nvSpPr>
          <p:cNvPr id="13" name="Text 10"/>
          <p:cNvSpPr txBox="1"/>
          <p:nvPr/>
        </p:nvSpPr>
        <p:spPr>
          <a:xfrm>
            <a:off x="4572000" y="3227832"/>
            <a:ext cx="640080" cy="64008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05</a:t>
            </a:r>
            <a:endParaRPr lang="en-US" sz="2600" dirty="0"/>
          </a:p>
        </p:txBody>
      </p:sp>
      <p:sp>
        <p:nvSpPr>
          <p:cNvPr id="14" name="Text 11"/>
          <p:cNvSpPr txBox="1"/>
          <p:nvPr/>
        </p:nvSpPr>
        <p:spPr>
          <a:xfrm>
            <a:off x="5257800" y="3227832"/>
            <a:ext cx="3429000" cy="640080"/>
          </a:xfrm>
          <a:prstGeom prst="rect">
            <a:avLst/>
          </a:prstGeom>
          <a:noFill/>
          <a:ln/>
        </p:spPr>
        <p:txBody>
          <a:bodyPr wrap="square" lIns="0" tIns="0" rIns="0" bIns="0" rtlCol="0" anchor="ctr"/>
          <a:lstStyle/>
          <a:p>
            <a:pPr indent="0" marL="0">
              <a:buNone/>
            </a:pPr>
            <a:r>
              <a:rPr lang="en-US" sz="1200" b="1" spc="100" kern="0" dirty="0">
                <a:solidFill>
                  <a:schemeClr val="tx2"/>
                </a:solidFill>
              </a:rPr>
              <a:t>ROLLE DES STAATES</a:t>
            </a:r>
            <a:endParaRPr lang="en-US" sz="1200" dirty="0"/>
          </a:p>
          <a:p>
            <a:pPr indent="0" marL="0">
              <a:buNone/>
            </a:pPr>
            <a:r>
              <a:rPr lang="en-US" sz="1400" dirty="0">
                <a:solidFill>
                  <a:schemeClr val="tx1"/>
                </a:solidFill>
              </a:rPr>
              <a:t>Setzt der Staat hauptsächlich Regeln oder steuert er wirtschaftliche Prozesse unmittelbar?</a:t>
            </a:r>
            <a:endParaRPr lang="en-US" sz="1200" dirty="0"/>
          </a:p>
        </p:txBody>
      </p:sp>
      <p:sp>
        <p:nvSpPr>
          <p:cNvPr id="15" name="Text 12"/>
          <p:cNvSpPr txBox="1"/>
          <p:nvPr/>
        </p:nvSpPr>
        <p:spPr>
          <a:xfrm>
            <a:off x="4572000" y="3931920"/>
            <a:ext cx="640080" cy="64008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06</a:t>
            </a:r>
            <a:endParaRPr lang="en-US" sz="2600" dirty="0"/>
          </a:p>
        </p:txBody>
      </p:sp>
      <p:sp>
        <p:nvSpPr>
          <p:cNvPr id="16" name="Text 13"/>
          <p:cNvSpPr txBox="1"/>
          <p:nvPr/>
        </p:nvSpPr>
        <p:spPr>
          <a:xfrm>
            <a:off x="5257800" y="3931920"/>
            <a:ext cx="3429000" cy="640080"/>
          </a:xfrm>
          <a:prstGeom prst="rect">
            <a:avLst/>
          </a:prstGeom>
          <a:noFill/>
          <a:ln/>
        </p:spPr>
        <p:txBody>
          <a:bodyPr wrap="square" lIns="0" tIns="0" rIns="0" bIns="0" rtlCol="0" anchor="ctr"/>
          <a:lstStyle/>
          <a:p>
            <a:pPr indent="0" marL="0">
              <a:buNone/>
            </a:pPr>
            <a:r>
              <a:rPr lang="en-US" sz="1200" b="1" spc="100" kern="0" dirty="0">
                <a:solidFill>
                  <a:schemeClr val="tx2"/>
                </a:solidFill>
              </a:rPr>
              <a:t>SOZIALE SICHERUNG</a:t>
            </a:r>
            <a:endParaRPr lang="en-US" sz="1200" dirty="0"/>
          </a:p>
          <a:p>
            <a:pPr indent="0" marL="0">
              <a:buNone/>
            </a:pPr>
            <a:r>
              <a:rPr lang="en-US" sz="1400" dirty="0">
                <a:solidFill>
                  <a:schemeClr val="tx1"/>
                </a:solidFill>
              </a:rPr>
              <a:t>Wie werden soziale Risiken abgesichert?</a:t>
            </a:r>
            <a:endParaRPr lang="en-US" sz="12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5212080" cy="731520"/>
          </a:xfrm>
          <a:prstGeom prst="rect">
            <a:avLst/>
          </a:prstGeom>
          <a:noFill/>
          <a:ln/>
        </p:spPr>
        <p:txBody>
          <a:bodyPr wrap="square" lIns="0" tIns="0" rIns="0" bIns="0" rtlCol="0" anchor="ctr"/>
          <a:lstStyle/>
          <a:p>
            <a:pPr algn="l" indent="0" marL="0">
              <a:buNone/>
            </a:pPr>
            <a:r>
              <a:rPr lang="en-US" sz="3000" b="1" dirty="0">
                <a:solidFill>
                  <a:schemeClr val="tx2"/>
                </a:solidFill>
              </a:rPr>
              <a:t>Deutschland</a:t>
            </a:r>
            <a:endParaRPr lang="en-US" sz="3000" dirty="0"/>
          </a:p>
        </p:txBody>
      </p:sp>
      <p:pic>
        <p:nvPicPr>
          <p:cNvPr id="3" name="Image 0" descr="Bäckerei-Café in einer deutschen Altstadt">    </p:cNvPr>
          <p:cNvPicPr>
            <a:picLocks noChangeAspect="1"/>
          </p:cNvPicPr>
          <p:nvPr/>
        </p:nvPicPr>
        <p:blipFill>
          <a:blip r:embed="rId1"/>
          <a:stretch>
            <a:fillRect/>
          </a:stretch>
        </p:blipFill>
        <p:spPr>
          <a:xfrm>
            <a:off x="5852160" y="0"/>
            <a:ext cx="3291840" cy="4800600"/>
          </a:xfrm>
          <a:prstGeom prst="rect">
            <a:avLst/>
          </a:prstGeom>
        </p:spPr>
      </p:pic>
      <p:sp>
        <p:nvSpPr>
          <p:cNvPr id="4" name="Foto-Chip Deutschland"/>
          <p:cNvSpPr/>
          <p:nvPr/>
        </p:nvSpPr>
        <p:spPr>
          <a:xfrm>
            <a:off x="5852160" y="3931920"/>
            <a:ext cx="3291840" cy="868680"/>
          </a:xfrm>
          <a:prstGeom prst="rect">
            <a:avLst/>
          </a:prstGeom>
          <a:solidFill>
            <a:schemeClr val="tx2"/>
          </a:solidFill>
          <a:ln/>
        </p:spPr>
      </p:sp>
      <p:sp>
        <p:nvSpPr>
          <p:cNvPr id="5" name="Text 2"/>
          <p:cNvSpPr txBox="1"/>
          <p:nvPr/>
        </p:nvSpPr>
        <p:spPr>
          <a:xfrm>
            <a:off x="6035040" y="4005072"/>
            <a:ext cx="2926080" cy="228600"/>
          </a:xfrm>
          <a:prstGeom prst="rect">
            <a:avLst/>
          </a:prstGeom>
          <a:noFill/>
          <a:ln/>
        </p:spPr>
        <p:txBody>
          <a:bodyPr wrap="square" lIns="0" tIns="0" rIns="0" bIns="0" rtlCol="0" anchor="t"/>
          <a:lstStyle/>
          <a:p>
            <a:pPr indent="0" marL="0">
              <a:buNone/>
            </a:pPr>
            <a:r>
              <a:rPr lang="en-US" sz="1200" b="1" spc="200" kern="0" dirty="0">
                <a:solidFill>
                  <a:schemeClr val="bg1"/>
                </a:solidFill>
              </a:rPr>
              <a:t>DEUTSCHLAND</a:t>
            </a:r>
            <a:endParaRPr lang="en-US" sz="1200" dirty="0"/>
          </a:p>
        </p:txBody>
      </p:sp>
      <p:sp>
        <p:nvSpPr>
          <p:cNvPr id="6" name="Text 3"/>
          <p:cNvSpPr txBox="1"/>
          <p:nvPr/>
        </p:nvSpPr>
        <p:spPr>
          <a:xfrm>
            <a:off x="6035040" y="4224528"/>
            <a:ext cx="1463040" cy="201168"/>
          </a:xfrm>
          <a:prstGeom prst="rect">
            <a:avLst/>
          </a:prstGeom>
          <a:noFill/>
          <a:ln/>
        </p:spPr>
        <p:txBody>
          <a:bodyPr wrap="square" lIns="0" tIns="0" rIns="0" bIns="0" rtlCol="0" anchor="t"/>
          <a:lstStyle/>
          <a:p>
            <a:pPr indent="0" marL="0">
              <a:buNone/>
            </a:pPr>
            <a:r>
              <a:rPr lang="en-US" sz="1000" b="1" spc="200" kern="0" dirty="0">
                <a:solidFill>
                  <a:srgbClr val="9DB8E0"/>
                </a:solidFill>
              </a:rPr>
              <a:t>MARKT</a:t>
            </a:r>
            <a:endParaRPr lang="en-US" sz="1000" dirty="0"/>
          </a:p>
        </p:txBody>
      </p:sp>
      <p:sp>
        <p:nvSpPr>
          <p:cNvPr id="7" name="Text 4"/>
          <p:cNvSpPr txBox="1"/>
          <p:nvPr/>
        </p:nvSpPr>
        <p:spPr>
          <a:xfrm>
            <a:off x="7498080" y="4224528"/>
            <a:ext cx="1463040" cy="201168"/>
          </a:xfrm>
          <a:prstGeom prst="rect">
            <a:avLst/>
          </a:prstGeom>
          <a:noFill/>
          <a:ln/>
        </p:spPr>
        <p:txBody>
          <a:bodyPr wrap="square" lIns="0" tIns="0" rIns="0" bIns="0" rtlCol="0" anchor="t"/>
          <a:lstStyle/>
          <a:p>
            <a:pPr algn="r" indent="0" marL="0">
              <a:buNone/>
            </a:pPr>
            <a:r>
              <a:rPr lang="en-US" sz="1000" b="1" spc="200" kern="0" dirty="0">
                <a:solidFill>
                  <a:schemeClr val="accent1"/>
                </a:solidFill>
              </a:rPr>
              <a:t>STAAT</a:t>
            </a:r>
            <a:endParaRPr lang="en-US" sz="1000" dirty="0"/>
          </a:p>
        </p:txBody>
      </p:sp>
      <p:sp>
        <p:nvSpPr>
          <p:cNvPr id="8" name="Messbalken Markt"/>
          <p:cNvSpPr/>
          <p:nvPr/>
        </p:nvSpPr>
        <p:spPr>
          <a:xfrm>
            <a:off x="6035040" y="4553712"/>
            <a:ext cx="1463040" cy="45720"/>
          </a:xfrm>
          <a:prstGeom prst="rect">
            <a:avLst/>
          </a:prstGeom>
          <a:solidFill>
            <a:srgbClr val="9DB8E0"/>
          </a:solidFill>
          <a:ln/>
        </p:spPr>
      </p:sp>
      <p:sp>
        <p:nvSpPr>
          <p:cNvPr id="9" name="Messbalken Staat"/>
          <p:cNvSpPr/>
          <p:nvPr/>
        </p:nvSpPr>
        <p:spPr>
          <a:xfrm>
            <a:off x="7498080" y="4553712"/>
            <a:ext cx="1463040" cy="45720"/>
          </a:xfrm>
          <a:prstGeom prst="rect">
            <a:avLst/>
          </a:prstGeom>
          <a:solidFill>
            <a:schemeClr val="accent1"/>
          </a:solidFill>
          <a:ln/>
        </p:spPr>
      </p:sp>
      <p:sp>
        <p:nvSpPr>
          <p:cNvPr id="10" name="Messpunkt"/>
          <p:cNvSpPr/>
          <p:nvPr/>
        </p:nvSpPr>
        <p:spPr>
          <a:xfrm>
            <a:off x="6499555" y="4485132"/>
            <a:ext cx="182880" cy="182880"/>
          </a:xfrm>
          <a:prstGeom prst="ellipse">
            <a:avLst/>
          </a:prstGeom>
          <a:solidFill>
            <a:schemeClr val="bg1"/>
          </a:solidFill>
          <a:ln w="19050">
            <a:solidFill>
              <a:schemeClr val="bg1"/>
            </a:solidFill>
            <a:prstDash val="solid"/>
          </a:ln>
        </p:spPr>
      </p:sp>
      <p:sp>
        <p:nvSpPr>
          <p:cNvPr id="11" name="Text 8"/>
          <p:cNvSpPr txBox="1"/>
          <p:nvPr/>
        </p:nvSpPr>
        <p:spPr>
          <a:xfrm>
            <a:off x="457200" y="1097280"/>
            <a:ext cx="5120640" cy="274320"/>
          </a:xfrm>
          <a:prstGeom prst="rect">
            <a:avLst/>
          </a:prstGeom>
          <a:noFill/>
          <a:ln/>
        </p:spPr>
        <p:txBody>
          <a:bodyPr wrap="square" lIns="0" tIns="0" rIns="0" bIns="0" rtlCol="0" anchor="t"/>
          <a:lstStyle/>
          <a:p>
            <a:pPr indent="0" marL="0">
              <a:buNone/>
            </a:pPr>
            <a:r>
              <a:rPr lang="en-US" sz="1500" b="1" dirty="0">
                <a:solidFill>
                  <a:schemeClr val="accent4"/>
                </a:solidFill>
              </a:rPr>
              <a:t>Soziale Marktwirtschaft</a:t>
            </a:r>
            <a:endParaRPr lang="en-US" sz="1500" dirty="0"/>
          </a:p>
        </p:txBody>
      </p:sp>
      <p:sp>
        <p:nvSpPr>
          <p:cNvPr id="12" name="Text 9"/>
          <p:cNvSpPr txBox="1"/>
          <p:nvPr/>
        </p:nvSpPr>
        <p:spPr>
          <a:xfrm>
            <a:off x="457200" y="1463040"/>
            <a:ext cx="5120640" cy="914400"/>
          </a:xfrm>
          <a:prstGeom prst="rect">
            <a:avLst/>
          </a:prstGeom>
          <a:noFill/>
          <a:ln/>
        </p:spPr>
        <p:txBody>
          <a:bodyPr wrap="square" lIns="0" tIns="0" rIns="0" bIns="0" rtlCol="0" anchor="t"/>
          <a:lstStyle/>
          <a:p>
            <a:pPr indent="0" marL="0">
              <a:buNone/>
            </a:pPr>
            <a:r>
              <a:rPr lang="en-US" sz="1400" dirty="0">
                <a:solidFill>
                  <a:schemeClr val="tx1"/>
                </a:solidFill>
              </a:rPr>
              <a:t>Private Unternehmen und freie Preisbildung prägen den Alltag. Der Staat setzt Wettbewerbs-, Arbeits- und Sozialregeln. Tarifautonomie und soziale Sicherung sind wichtige Bausteine.</a:t>
            </a:r>
            <a:endParaRPr lang="en-US" sz="1400" dirty="0"/>
          </a:p>
        </p:txBody>
      </p:sp>
      <p:sp>
        <p:nvSpPr>
          <p:cNvPr id="13" name="Text 10"/>
          <p:cNvSpPr txBox="1"/>
          <p:nvPr/>
        </p:nvSpPr>
        <p:spPr>
          <a:xfrm>
            <a:off x="457200" y="2468880"/>
            <a:ext cx="5120640" cy="1554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Seit 1949 prägt die Soziale Marktwirtschaft die Bundesrepublik.</a:t>
            </a:r>
            <a:endParaRPr lang="en-US" sz="1400" dirty="0"/>
          </a:p>
          <a:p>
            <a:pPr marL="177800" indent="-177800">
              <a:spcAft>
                <a:spcPts val="500"/>
              </a:spcAft>
              <a:buSzPct val="100000"/>
              <a:buChar char="•"/>
            </a:pPr>
            <a:r>
              <a:rPr lang="en-US" sz="1400" dirty="0">
                <a:solidFill>
                  <a:schemeClr val="tx1"/>
                </a:solidFill>
              </a:rPr>
              <a:t>Wettbewerb wird staatlich geschützt, z. B. durch Kartellverbot, Missbrauchsaufsicht und Fusionskontrolle.</a:t>
            </a:r>
            <a:endParaRPr lang="en-US" sz="1400" dirty="0"/>
          </a:p>
          <a:p>
            <a:pPr marL="177800" indent="-177800">
              <a:spcAft>
                <a:spcPts val="500"/>
              </a:spcAft>
              <a:buSzPct val="100000"/>
              <a:buChar char="•"/>
            </a:pPr>
            <a:r>
              <a:rPr lang="en-US" sz="1400" dirty="0">
                <a:solidFill>
                  <a:schemeClr val="tx1"/>
                </a:solidFill>
              </a:rPr>
              <a:t>Tarifautonomie: Gewerkschaften und Arbeitgeber handeln Löhne und Arbeitsbedingungen grundsätzlich selbst aus.</a:t>
            </a:r>
            <a:endParaRPr lang="en-US" sz="1400" dirty="0"/>
          </a:p>
        </p:txBody>
      </p:sp>
      <p:sp>
        <p:nvSpPr>
          <p:cNvPr id="14" name="Besonderheit"/>
          <p:cNvSpPr/>
          <p:nvPr/>
        </p:nvSpPr>
        <p:spPr>
          <a:xfrm>
            <a:off x="457200" y="4114800"/>
            <a:ext cx="5120640" cy="566928"/>
          </a:xfrm>
          <a:prstGeom prst="rect">
            <a:avLst/>
          </a:prstGeom>
          <a:solidFill>
            <a:schemeClr val="tx2"/>
          </a:solidFill>
          <a:ln/>
        </p:spPr>
      </p:sp>
      <p:sp>
        <p:nvSpPr>
          <p:cNvPr id="15" name="Text 12"/>
          <p:cNvSpPr txBox="1"/>
          <p:nvPr/>
        </p:nvSpPr>
        <p:spPr>
          <a:xfrm>
            <a:off x="640080" y="4114800"/>
            <a:ext cx="4754880" cy="566928"/>
          </a:xfrm>
          <a:prstGeom prst="rect">
            <a:avLst/>
          </a:prstGeom>
          <a:noFill/>
          <a:ln/>
        </p:spPr>
        <p:txBody>
          <a:bodyPr wrap="square" lIns="0" tIns="0" rIns="0" bIns="0" rtlCol="0" anchor="ctr"/>
          <a:lstStyle/>
          <a:p>
            <a:pPr indent="0" marL="0">
              <a:buNone/>
            </a:pPr>
            <a:r>
              <a:rPr lang="en-US" sz="1300" b="1" spc="100" kern="0" dirty="0">
                <a:solidFill>
                  <a:schemeClr val="accent1"/>
                </a:solidFill>
              </a:rPr>
              <a:t>BESONDERHEIT  </a:t>
            </a:r>
            <a:pPr indent="0" marL="0">
              <a:buNone/>
            </a:pPr>
            <a:r>
              <a:rPr lang="en-US" sz="1400" b="1" dirty="0">
                <a:solidFill>
                  <a:schemeClr val="bg1"/>
                </a:solidFill>
              </a:rPr>
              <a:t>Verbindung von Markt und Sozialstaat</a:t>
            </a:r>
            <a:endParaRPr lang="en-US" sz="13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3749040" y="365760"/>
            <a:ext cx="4937760" cy="731520"/>
          </a:xfrm>
          <a:prstGeom prst="rect">
            <a:avLst/>
          </a:prstGeom>
          <a:noFill/>
          <a:ln/>
        </p:spPr>
        <p:txBody>
          <a:bodyPr wrap="square" lIns="0" tIns="0" rIns="0" bIns="0" rtlCol="0" anchor="ctr"/>
          <a:lstStyle/>
          <a:p>
            <a:pPr algn="l" indent="0" marL="0">
              <a:buNone/>
            </a:pPr>
            <a:r>
              <a:rPr lang="en-US" sz="3000" b="1" dirty="0">
                <a:solidFill>
                  <a:schemeClr val="tx2"/>
                </a:solidFill>
              </a:rPr>
              <a:t>Marokko</a:t>
            </a:r>
            <a:endParaRPr lang="en-US" sz="3000" dirty="0"/>
          </a:p>
        </p:txBody>
      </p:sp>
      <p:pic>
        <p:nvPicPr>
          <p:cNvPr id="3" name="Image 0" descr="Marktstraße in Marokko">    </p:cNvPr>
          <p:cNvPicPr>
            <a:picLocks noChangeAspect="1"/>
          </p:cNvPicPr>
          <p:nvPr/>
        </p:nvPicPr>
        <p:blipFill>
          <a:blip r:embed="rId1"/>
          <a:stretch>
            <a:fillRect/>
          </a:stretch>
        </p:blipFill>
        <p:spPr>
          <a:xfrm>
            <a:off x="0" y="0"/>
            <a:ext cx="3291840" cy="4800600"/>
          </a:xfrm>
          <a:prstGeom prst="rect">
            <a:avLst/>
          </a:prstGeom>
        </p:spPr>
      </p:pic>
      <p:sp>
        <p:nvSpPr>
          <p:cNvPr id="4" name="Foto-Chip Marokko"/>
          <p:cNvSpPr/>
          <p:nvPr/>
        </p:nvSpPr>
        <p:spPr>
          <a:xfrm>
            <a:off x="0" y="3931920"/>
            <a:ext cx="3291840" cy="868680"/>
          </a:xfrm>
          <a:prstGeom prst="rect">
            <a:avLst/>
          </a:prstGeom>
          <a:solidFill>
            <a:schemeClr val="tx2"/>
          </a:solidFill>
          <a:ln/>
        </p:spPr>
      </p:sp>
      <p:sp>
        <p:nvSpPr>
          <p:cNvPr id="5" name="Text 2"/>
          <p:cNvSpPr txBox="1"/>
          <p:nvPr/>
        </p:nvSpPr>
        <p:spPr>
          <a:xfrm>
            <a:off x="182880" y="4005072"/>
            <a:ext cx="2926080" cy="228600"/>
          </a:xfrm>
          <a:prstGeom prst="rect">
            <a:avLst/>
          </a:prstGeom>
          <a:noFill/>
          <a:ln/>
        </p:spPr>
        <p:txBody>
          <a:bodyPr wrap="square" lIns="0" tIns="0" rIns="0" bIns="0" rtlCol="0" anchor="t"/>
          <a:lstStyle/>
          <a:p>
            <a:pPr indent="0" marL="0">
              <a:buNone/>
            </a:pPr>
            <a:r>
              <a:rPr lang="en-US" sz="1200" b="1" spc="200" kern="0" dirty="0">
                <a:solidFill>
                  <a:schemeClr val="bg1"/>
                </a:solidFill>
              </a:rPr>
              <a:t>MAROKKO</a:t>
            </a:r>
            <a:endParaRPr lang="en-US" sz="1200" dirty="0"/>
          </a:p>
        </p:txBody>
      </p:sp>
      <p:sp>
        <p:nvSpPr>
          <p:cNvPr id="6" name="Text 3"/>
          <p:cNvSpPr txBox="1"/>
          <p:nvPr/>
        </p:nvSpPr>
        <p:spPr>
          <a:xfrm>
            <a:off x="182880" y="4224528"/>
            <a:ext cx="1463040" cy="201168"/>
          </a:xfrm>
          <a:prstGeom prst="rect">
            <a:avLst/>
          </a:prstGeom>
          <a:noFill/>
          <a:ln/>
        </p:spPr>
        <p:txBody>
          <a:bodyPr wrap="square" lIns="0" tIns="0" rIns="0" bIns="0" rtlCol="0" anchor="t"/>
          <a:lstStyle/>
          <a:p>
            <a:pPr indent="0" marL="0">
              <a:buNone/>
            </a:pPr>
            <a:r>
              <a:rPr lang="en-US" sz="1000" b="1" spc="200" kern="0" dirty="0">
                <a:solidFill>
                  <a:srgbClr val="9DB8E0"/>
                </a:solidFill>
              </a:rPr>
              <a:t>MARKT</a:t>
            </a:r>
            <a:endParaRPr lang="en-US" sz="1000" dirty="0"/>
          </a:p>
        </p:txBody>
      </p:sp>
      <p:sp>
        <p:nvSpPr>
          <p:cNvPr id="7" name="Text 4"/>
          <p:cNvSpPr txBox="1"/>
          <p:nvPr/>
        </p:nvSpPr>
        <p:spPr>
          <a:xfrm>
            <a:off x="1645920" y="4224528"/>
            <a:ext cx="1463040" cy="201168"/>
          </a:xfrm>
          <a:prstGeom prst="rect">
            <a:avLst/>
          </a:prstGeom>
          <a:noFill/>
          <a:ln/>
        </p:spPr>
        <p:txBody>
          <a:bodyPr wrap="square" lIns="0" tIns="0" rIns="0" bIns="0" rtlCol="0" anchor="t"/>
          <a:lstStyle/>
          <a:p>
            <a:pPr algn="r" indent="0" marL="0">
              <a:buNone/>
            </a:pPr>
            <a:r>
              <a:rPr lang="en-US" sz="1000" b="1" spc="200" kern="0" dirty="0">
                <a:solidFill>
                  <a:schemeClr val="accent1"/>
                </a:solidFill>
              </a:rPr>
              <a:t>STAAT</a:t>
            </a:r>
            <a:endParaRPr lang="en-US" sz="1000" dirty="0"/>
          </a:p>
        </p:txBody>
      </p:sp>
      <p:sp>
        <p:nvSpPr>
          <p:cNvPr id="8" name="Messbalken Markt"/>
          <p:cNvSpPr/>
          <p:nvPr/>
        </p:nvSpPr>
        <p:spPr>
          <a:xfrm>
            <a:off x="182880" y="4553712"/>
            <a:ext cx="1463040" cy="45720"/>
          </a:xfrm>
          <a:prstGeom prst="rect">
            <a:avLst/>
          </a:prstGeom>
          <a:solidFill>
            <a:srgbClr val="9DB8E0"/>
          </a:solidFill>
          <a:ln/>
        </p:spPr>
      </p:sp>
      <p:sp>
        <p:nvSpPr>
          <p:cNvPr id="9" name="Messbalken Staat"/>
          <p:cNvSpPr/>
          <p:nvPr/>
        </p:nvSpPr>
        <p:spPr>
          <a:xfrm>
            <a:off x="1645920" y="4553712"/>
            <a:ext cx="1463040" cy="45720"/>
          </a:xfrm>
          <a:prstGeom prst="rect">
            <a:avLst/>
          </a:prstGeom>
          <a:solidFill>
            <a:schemeClr val="accent1"/>
          </a:solidFill>
          <a:ln/>
        </p:spPr>
      </p:sp>
      <p:sp>
        <p:nvSpPr>
          <p:cNvPr id="10" name="Messpunkt"/>
          <p:cNvSpPr/>
          <p:nvPr/>
        </p:nvSpPr>
        <p:spPr>
          <a:xfrm>
            <a:off x="1320394" y="4485132"/>
            <a:ext cx="182880" cy="182880"/>
          </a:xfrm>
          <a:prstGeom prst="ellipse">
            <a:avLst/>
          </a:prstGeom>
          <a:solidFill>
            <a:schemeClr val="bg1"/>
          </a:solidFill>
          <a:ln w="19050">
            <a:solidFill>
              <a:schemeClr val="bg1"/>
            </a:solidFill>
            <a:prstDash val="solid"/>
          </a:ln>
        </p:spPr>
      </p:sp>
      <p:sp>
        <p:nvSpPr>
          <p:cNvPr id="11" name="Text 8"/>
          <p:cNvSpPr txBox="1"/>
          <p:nvPr/>
        </p:nvSpPr>
        <p:spPr>
          <a:xfrm>
            <a:off x="3749040" y="1097280"/>
            <a:ext cx="4937760" cy="274320"/>
          </a:xfrm>
          <a:prstGeom prst="rect">
            <a:avLst/>
          </a:prstGeom>
          <a:noFill/>
          <a:ln/>
        </p:spPr>
        <p:txBody>
          <a:bodyPr wrap="square" lIns="0" tIns="0" rIns="0" bIns="0" rtlCol="0" anchor="t"/>
          <a:lstStyle/>
          <a:p>
            <a:pPr indent="0" marL="0">
              <a:buNone/>
            </a:pPr>
            <a:r>
              <a:rPr lang="en-US" sz="1500" b="1" dirty="0">
                <a:solidFill>
                  <a:schemeClr val="accent4"/>
                </a:solidFill>
              </a:rPr>
              <a:t>Marktwirtschaft mit starker Staatsrolle</a:t>
            </a:r>
            <a:endParaRPr lang="en-US" sz="1500" dirty="0"/>
          </a:p>
        </p:txBody>
      </p:sp>
      <p:sp>
        <p:nvSpPr>
          <p:cNvPr id="12" name="Text 9"/>
          <p:cNvSpPr txBox="1"/>
          <p:nvPr/>
        </p:nvSpPr>
        <p:spPr>
          <a:xfrm>
            <a:off x="3749040" y="1463040"/>
            <a:ext cx="4937760" cy="914400"/>
          </a:xfrm>
          <a:prstGeom prst="rect">
            <a:avLst/>
          </a:prstGeom>
          <a:noFill/>
          <a:ln/>
        </p:spPr>
        <p:txBody>
          <a:bodyPr wrap="square" lIns="0" tIns="0" rIns="0" bIns="0" rtlCol="0" anchor="t"/>
          <a:lstStyle/>
          <a:p>
            <a:pPr indent="0" marL="0">
              <a:buNone/>
            </a:pPr>
            <a:r>
              <a:rPr lang="en-US" sz="1400" dirty="0">
                <a:solidFill>
                  <a:schemeClr val="tx1"/>
                </a:solidFill>
              </a:rPr>
              <a:t>Private Unternehmen und Märkte sind zentral. Zugleich prägt der Staat strategische Bereiche, Infrastruktur und Förderung. Informelle Arbeit bleibt für viele Menschen wirtschaftlich bedeutsam.</a:t>
            </a:r>
            <a:endParaRPr lang="en-US" sz="1400" dirty="0"/>
          </a:p>
        </p:txBody>
      </p:sp>
      <p:sp>
        <p:nvSpPr>
          <p:cNvPr id="13" name="Kennzahl-Feld"/>
          <p:cNvSpPr/>
          <p:nvPr/>
        </p:nvSpPr>
        <p:spPr>
          <a:xfrm>
            <a:off x="3749040" y="2514600"/>
            <a:ext cx="1600200" cy="914400"/>
          </a:xfrm>
          <a:prstGeom prst="rect">
            <a:avLst/>
          </a:prstGeom>
          <a:solidFill>
            <a:schemeClr val="accent1">
              <a:alpha val="12000"/>
            </a:schemeClr>
          </a:solidFill>
          <a:ln/>
        </p:spPr>
      </p:sp>
      <p:sp>
        <p:nvSpPr>
          <p:cNvPr id="14" name="Text 11"/>
          <p:cNvSpPr txBox="1"/>
          <p:nvPr/>
        </p:nvSpPr>
        <p:spPr>
          <a:xfrm>
            <a:off x="3749040" y="2560320"/>
            <a:ext cx="1600200" cy="457200"/>
          </a:xfrm>
          <a:prstGeom prst="rect">
            <a:avLst/>
          </a:prstGeom>
          <a:noFill/>
          <a:ln/>
        </p:spPr>
        <p:txBody>
          <a:bodyPr wrap="square" lIns="0" tIns="0" rIns="0" bIns="0" rtlCol="0" anchor="t"/>
          <a:lstStyle/>
          <a:p>
            <a:pPr algn="ctr" indent="0" marL="0">
              <a:buNone/>
            </a:pPr>
            <a:r>
              <a:rPr lang="en-US" sz="2800" b="1" dirty="0">
                <a:solidFill>
                  <a:schemeClr val="accent4"/>
                </a:solidFill>
                <a:latin typeface="Cambria" pitchFamily="34" charset="0"/>
                <a:ea typeface="Cambria" pitchFamily="34" charset="-122"/>
                <a:cs typeface="Cambria" pitchFamily="34" charset="-120"/>
              </a:rPr>
              <a:t>69,4 %</a:t>
            </a:r>
            <a:endParaRPr lang="en-US" sz="2800" dirty="0"/>
          </a:p>
        </p:txBody>
      </p:sp>
      <p:sp>
        <p:nvSpPr>
          <p:cNvPr id="15" name="Text 12"/>
          <p:cNvSpPr txBox="1"/>
          <p:nvPr/>
        </p:nvSpPr>
        <p:spPr>
          <a:xfrm>
            <a:off x="3840480" y="3017520"/>
            <a:ext cx="1417320" cy="411480"/>
          </a:xfrm>
          <a:prstGeom prst="rect">
            <a:avLst/>
          </a:prstGeom>
          <a:noFill/>
          <a:ln/>
        </p:spPr>
        <p:txBody>
          <a:bodyPr wrap="square" lIns="0" tIns="0" rIns="0" bIns="0" rtlCol="0" anchor="t"/>
          <a:lstStyle/>
          <a:p>
            <a:pPr algn="ctr" indent="0" marL="0">
              <a:buNone/>
            </a:pPr>
            <a:r>
              <a:rPr lang="en-US" sz="1100" dirty="0">
                <a:solidFill>
                  <a:schemeClr val="tx1"/>
                </a:solidFill>
              </a:rPr>
              <a:t>der Beschäftigung informell (2024)</a:t>
            </a:r>
            <a:endParaRPr lang="en-US" sz="1100" dirty="0"/>
          </a:p>
        </p:txBody>
      </p:sp>
      <p:sp>
        <p:nvSpPr>
          <p:cNvPr id="16" name="Text 13"/>
          <p:cNvSpPr txBox="1"/>
          <p:nvPr/>
        </p:nvSpPr>
        <p:spPr>
          <a:xfrm>
            <a:off x="5577840" y="2514600"/>
            <a:ext cx="3108960" cy="13716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Starke öffentliche Investitionen, besonders in Infrastruktur</a:t>
            </a:r>
            <a:endParaRPr lang="en-US" sz="1400" dirty="0"/>
          </a:p>
          <a:p>
            <a:pPr marL="177800" indent="-177800">
              <a:spcAft>
                <a:spcPts val="500"/>
              </a:spcAft>
              <a:buSzPct val="100000"/>
              <a:buChar char="•"/>
            </a:pPr>
            <a:r>
              <a:rPr lang="en-US" sz="1400" dirty="0">
                <a:solidFill>
                  <a:schemeClr val="tx1"/>
                </a:solidFill>
              </a:rPr>
              <a:t>Mehr Privatwirtschaft: Reformen sollen Wettbewerb und private Investitionen stärken</a:t>
            </a:r>
            <a:endParaRPr lang="en-US" sz="1400" dirty="0"/>
          </a:p>
        </p:txBody>
      </p:sp>
      <p:sp>
        <p:nvSpPr>
          <p:cNvPr id="17" name="Besonderheit"/>
          <p:cNvSpPr/>
          <p:nvPr/>
        </p:nvSpPr>
        <p:spPr>
          <a:xfrm>
            <a:off x="3749040" y="4114800"/>
            <a:ext cx="4937760" cy="566928"/>
          </a:xfrm>
          <a:prstGeom prst="rect">
            <a:avLst/>
          </a:prstGeom>
          <a:solidFill>
            <a:schemeClr val="tx2"/>
          </a:solidFill>
          <a:ln/>
        </p:spPr>
      </p:sp>
      <p:sp>
        <p:nvSpPr>
          <p:cNvPr id="18" name="Text 15"/>
          <p:cNvSpPr txBox="1"/>
          <p:nvPr/>
        </p:nvSpPr>
        <p:spPr>
          <a:xfrm>
            <a:off x="3931920" y="4114800"/>
            <a:ext cx="4572000" cy="566928"/>
          </a:xfrm>
          <a:prstGeom prst="rect">
            <a:avLst/>
          </a:prstGeom>
          <a:noFill/>
          <a:ln/>
        </p:spPr>
        <p:txBody>
          <a:bodyPr wrap="square" lIns="0" tIns="0" rIns="0" bIns="0" rtlCol="0" anchor="ctr"/>
          <a:lstStyle/>
          <a:p>
            <a:pPr indent="0" marL="0">
              <a:buNone/>
            </a:pPr>
            <a:r>
              <a:rPr lang="en-US" sz="1300" b="1" spc="100" kern="0" dirty="0">
                <a:solidFill>
                  <a:schemeClr val="accent1"/>
                </a:solidFill>
              </a:rPr>
              <a:t>BESONDERHEIT  </a:t>
            </a:r>
            <a:pPr indent="0" marL="0">
              <a:buNone/>
            </a:pPr>
            <a:r>
              <a:rPr lang="en-US" sz="1400" b="1" dirty="0">
                <a:solidFill>
                  <a:schemeClr val="bg1"/>
                </a:solidFill>
              </a:rPr>
              <a:t>Großer informeller Sektor neben moderner Privatwirtschaft</a:t>
            </a:r>
            <a:endParaRPr lang="en-US" sz="13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5212080" cy="731520"/>
          </a:xfrm>
          <a:prstGeom prst="rect">
            <a:avLst/>
          </a:prstGeom>
          <a:noFill/>
          <a:ln/>
        </p:spPr>
        <p:txBody>
          <a:bodyPr wrap="square" lIns="0" tIns="0" rIns="0" bIns="0" rtlCol="0" anchor="ctr"/>
          <a:lstStyle/>
          <a:p>
            <a:pPr algn="l" indent="0" marL="0">
              <a:buNone/>
            </a:pPr>
            <a:r>
              <a:rPr lang="en-US" sz="2400" b="1" dirty="0">
                <a:solidFill>
                  <a:schemeClr val="tx2"/>
                </a:solidFill>
              </a:rPr>
              <a:t>Ukraine: Wirtschaft im Wandel</a:t>
            </a:r>
            <a:endParaRPr lang="en-US" sz="2400" dirty="0"/>
          </a:p>
        </p:txBody>
      </p:sp>
      <p:pic>
        <p:nvPicPr>
          <p:cNvPr id="3" name="Image 0" descr="Stadtansicht von Kiew">    </p:cNvPr>
          <p:cNvPicPr>
            <a:picLocks noChangeAspect="1"/>
          </p:cNvPicPr>
          <p:nvPr/>
        </p:nvPicPr>
        <p:blipFill>
          <a:blip r:embed="rId1"/>
          <a:stretch>
            <a:fillRect/>
          </a:stretch>
        </p:blipFill>
        <p:spPr>
          <a:xfrm>
            <a:off x="6126480" y="0"/>
            <a:ext cx="3017520" cy="4800600"/>
          </a:xfrm>
          <a:prstGeom prst="rect">
            <a:avLst/>
          </a:prstGeom>
        </p:spPr>
      </p:pic>
      <p:sp>
        <p:nvSpPr>
          <p:cNvPr id="4" name="Foto-Chip Ukraine"/>
          <p:cNvSpPr/>
          <p:nvPr/>
        </p:nvSpPr>
        <p:spPr>
          <a:xfrm>
            <a:off x="6126480" y="3931920"/>
            <a:ext cx="3017520" cy="868680"/>
          </a:xfrm>
          <a:prstGeom prst="rect">
            <a:avLst/>
          </a:prstGeom>
          <a:solidFill>
            <a:schemeClr val="tx2"/>
          </a:solidFill>
          <a:ln/>
        </p:spPr>
      </p:sp>
      <p:sp>
        <p:nvSpPr>
          <p:cNvPr id="5" name="Text 2"/>
          <p:cNvSpPr txBox="1"/>
          <p:nvPr/>
        </p:nvSpPr>
        <p:spPr>
          <a:xfrm>
            <a:off x="6309360" y="4005072"/>
            <a:ext cx="2651760" cy="228600"/>
          </a:xfrm>
          <a:prstGeom prst="rect">
            <a:avLst/>
          </a:prstGeom>
          <a:noFill/>
          <a:ln/>
        </p:spPr>
        <p:txBody>
          <a:bodyPr wrap="square" lIns="0" tIns="0" rIns="0" bIns="0" rtlCol="0" anchor="t"/>
          <a:lstStyle/>
          <a:p>
            <a:pPr indent="0" marL="0">
              <a:buNone/>
            </a:pPr>
            <a:r>
              <a:rPr lang="en-US" sz="1200" b="1" spc="200" kern="0" dirty="0">
                <a:solidFill>
                  <a:schemeClr val="bg1"/>
                </a:solidFill>
              </a:rPr>
              <a:t>UKRAINE</a:t>
            </a:r>
            <a:endParaRPr lang="en-US" sz="1200" dirty="0"/>
          </a:p>
        </p:txBody>
      </p:sp>
      <p:sp>
        <p:nvSpPr>
          <p:cNvPr id="6" name="Text 3"/>
          <p:cNvSpPr txBox="1"/>
          <p:nvPr/>
        </p:nvSpPr>
        <p:spPr>
          <a:xfrm>
            <a:off x="6309360" y="4224528"/>
            <a:ext cx="1325880" cy="201168"/>
          </a:xfrm>
          <a:prstGeom prst="rect">
            <a:avLst/>
          </a:prstGeom>
          <a:noFill/>
          <a:ln/>
        </p:spPr>
        <p:txBody>
          <a:bodyPr wrap="square" lIns="0" tIns="0" rIns="0" bIns="0" rtlCol="0" anchor="t"/>
          <a:lstStyle/>
          <a:p>
            <a:pPr indent="0" marL="0">
              <a:buNone/>
            </a:pPr>
            <a:r>
              <a:rPr lang="en-US" sz="1000" b="1" spc="200" kern="0" dirty="0">
                <a:solidFill>
                  <a:srgbClr val="9DB8E0"/>
                </a:solidFill>
              </a:rPr>
              <a:t>MARKT</a:t>
            </a:r>
            <a:endParaRPr lang="en-US" sz="1000" dirty="0"/>
          </a:p>
        </p:txBody>
      </p:sp>
      <p:sp>
        <p:nvSpPr>
          <p:cNvPr id="7" name="Text 4"/>
          <p:cNvSpPr txBox="1"/>
          <p:nvPr/>
        </p:nvSpPr>
        <p:spPr>
          <a:xfrm>
            <a:off x="7635240" y="4224528"/>
            <a:ext cx="1325880" cy="201168"/>
          </a:xfrm>
          <a:prstGeom prst="rect">
            <a:avLst/>
          </a:prstGeom>
          <a:noFill/>
          <a:ln/>
        </p:spPr>
        <p:txBody>
          <a:bodyPr wrap="square" lIns="0" tIns="0" rIns="0" bIns="0" rtlCol="0" anchor="t"/>
          <a:lstStyle/>
          <a:p>
            <a:pPr algn="r" indent="0" marL="0">
              <a:buNone/>
            </a:pPr>
            <a:r>
              <a:rPr lang="en-US" sz="1000" b="1" spc="200" kern="0" dirty="0">
                <a:solidFill>
                  <a:schemeClr val="accent1"/>
                </a:solidFill>
              </a:rPr>
              <a:t>STAAT</a:t>
            </a:r>
            <a:endParaRPr lang="en-US" sz="1000" dirty="0"/>
          </a:p>
        </p:txBody>
      </p:sp>
      <p:sp>
        <p:nvSpPr>
          <p:cNvPr id="8" name="Messbalken Markt"/>
          <p:cNvSpPr/>
          <p:nvPr/>
        </p:nvSpPr>
        <p:spPr>
          <a:xfrm>
            <a:off x="6309360" y="4553712"/>
            <a:ext cx="1325880" cy="45720"/>
          </a:xfrm>
          <a:prstGeom prst="rect">
            <a:avLst/>
          </a:prstGeom>
          <a:solidFill>
            <a:srgbClr val="9DB8E0"/>
          </a:solidFill>
          <a:ln/>
        </p:spPr>
      </p:sp>
      <p:sp>
        <p:nvSpPr>
          <p:cNvPr id="9" name="Messbalken Staat"/>
          <p:cNvSpPr/>
          <p:nvPr/>
        </p:nvSpPr>
        <p:spPr>
          <a:xfrm>
            <a:off x="7635240" y="4553712"/>
            <a:ext cx="1325880" cy="45720"/>
          </a:xfrm>
          <a:prstGeom prst="rect">
            <a:avLst/>
          </a:prstGeom>
          <a:solidFill>
            <a:schemeClr val="accent1"/>
          </a:solidFill>
          <a:ln/>
        </p:spPr>
      </p:sp>
      <p:sp>
        <p:nvSpPr>
          <p:cNvPr id="10" name="Messpunkt"/>
          <p:cNvSpPr/>
          <p:nvPr/>
        </p:nvSpPr>
        <p:spPr>
          <a:xfrm>
            <a:off x="7941564" y="4485132"/>
            <a:ext cx="182880" cy="182880"/>
          </a:xfrm>
          <a:prstGeom prst="ellipse">
            <a:avLst/>
          </a:prstGeom>
          <a:solidFill>
            <a:schemeClr val="bg1"/>
          </a:solidFill>
          <a:ln w="19050">
            <a:solidFill>
              <a:schemeClr val="bg1"/>
            </a:solidFill>
            <a:prstDash val="solid"/>
          </a:ln>
        </p:spPr>
      </p:sp>
      <p:sp>
        <p:nvSpPr>
          <p:cNvPr id="11" name="Text 8"/>
          <p:cNvSpPr txBox="1"/>
          <p:nvPr/>
        </p:nvSpPr>
        <p:spPr>
          <a:xfrm>
            <a:off x="457200" y="1097280"/>
            <a:ext cx="5303520" cy="274320"/>
          </a:xfrm>
          <a:prstGeom prst="rect">
            <a:avLst/>
          </a:prstGeom>
          <a:noFill/>
          <a:ln/>
        </p:spPr>
        <p:txBody>
          <a:bodyPr wrap="square" lIns="0" tIns="0" rIns="0" bIns="0" rtlCol="0" anchor="t"/>
          <a:lstStyle/>
          <a:p>
            <a:pPr indent="0" marL="0">
              <a:buNone/>
            </a:pPr>
            <a:r>
              <a:rPr lang="en-US" sz="1500" b="1" dirty="0">
                <a:solidFill>
                  <a:schemeClr val="accent4"/>
                </a:solidFill>
              </a:rPr>
              <a:t>Marktwirtschaft im Wandel</a:t>
            </a:r>
            <a:endParaRPr lang="en-US" sz="1500" dirty="0"/>
          </a:p>
        </p:txBody>
      </p:sp>
      <p:sp>
        <p:nvSpPr>
          <p:cNvPr id="12" name="Text 9"/>
          <p:cNvSpPr txBox="1"/>
          <p:nvPr/>
        </p:nvSpPr>
        <p:spPr>
          <a:xfrm>
            <a:off x="457200" y="1417320"/>
            <a:ext cx="5303520" cy="1051560"/>
          </a:xfrm>
          <a:prstGeom prst="rect">
            <a:avLst/>
          </a:prstGeom>
          <a:noFill/>
          <a:ln/>
        </p:spPr>
        <p:txBody>
          <a:bodyPr wrap="square" lIns="0" tIns="0" rIns="0" bIns="0" rtlCol="0" anchor="t"/>
          <a:lstStyle/>
          <a:p>
            <a:pPr indent="0" marL="0">
              <a:buNone/>
            </a:pPr>
            <a:r>
              <a:rPr lang="en-US" sz="1400" dirty="0">
                <a:solidFill>
                  <a:schemeClr val="tx1"/>
                </a:solidFill>
              </a:rPr>
              <a:t>Die Ukraine ist heute marktwirtschaftlich geprägt. Private Unternehmen und Wettbewerb spielen eine wichtige Rolle. Gleichzeitig führen Krieg und Wiederaufbau zu starken staatlichen Eingriffen, während sich das Land wirtschaftlich weiter an die EU annähert.</a:t>
            </a:r>
            <a:endParaRPr lang="en-US" sz="1400" dirty="0"/>
          </a:p>
        </p:txBody>
      </p:sp>
      <p:sp>
        <p:nvSpPr>
          <p:cNvPr id="13" name="Zeitstrahl"/>
          <p:cNvSpPr/>
          <p:nvPr/>
        </p:nvSpPr>
        <p:spPr>
          <a:xfrm>
            <a:off x="914400" y="2651760"/>
            <a:ext cx="27432" cy="1234440"/>
          </a:xfrm>
          <a:prstGeom prst="rect">
            <a:avLst/>
          </a:prstGeom>
          <a:solidFill>
            <a:schemeClr val="tx2"/>
          </a:solidFill>
          <a:ln/>
        </p:spPr>
      </p:sp>
      <p:sp>
        <p:nvSpPr>
          <p:cNvPr id="14" name="Zeitpunkt"/>
          <p:cNvSpPr/>
          <p:nvPr/>
        </p:nvSpPr>
        <p:spPr>
          <a:xfrm>
            <a:off x="841248" y="2587752"/>
            <a:ext cx="182880" cy="182880"/>
          </a:xfrm>
          <a:prstGeom prst="ellipse">
            <a:avLst/>
          </a:prstGeom>
          <a:solidFill>
            <a:schemeClr val="tx2"/>
          </a:solidFill>
          <a:ln w="25400">
            <a:solidFill>
              <a:schemeClr val="bg1"/>
            </a:solidFill>
            <a:prstDash val="solid"/>
          </a:ln>
        </p:spPr>
      </p:sp>
      <p:sp>
        <p:nvSpPr>
          <p:cNvPr id="15" name="Text 12"/>
          <p:cNvSpPr txBox="1"/>
          <p:nvPr/>
        </p:nvSpPr>
        <p:spPr>
          <a:xfrm>
            <a:off x="1188720" y="2514600"/>
            <a:ext cx="1097280" cy="329184"/>
          </a:xfrm>
          <a:prstGeom prst="rect">
            <a:avLst/>
          </a:prstGeom>
          <a:noFill/>
          <a:ln/>
        </p:spPr>
        <p:txBody>
          <a:bodyPr wrap="square" lIns="0" tIns="0" rIns="0" bIns="0" rtlCol="0" anchor="ctr"/>
          <a:lstStyle/>
          <a:p>
            <a:pPr indent="0" marL="0">
              <a:buNone/>
            </a:pPr>
            <a:r>
              <a:rPr lang="en-US" sz="1400" b="1" dirty="0">
                <a:solidFill>
                  <a:schemeClr val="accent4"/>
                </a:solidFill>
              </a:rPr>
              <a:t>bis 1991</a:t>
            </a:r>
            <a:endParaRPr lang="en-US" sz="1400" dirty="0"/>
          </a:p>
        </p:txBody>
      </p:sp>
      <p:sp>
        <p:nvSpPr>
          <p:cNvPr id="16" name="Text 13"/>
          <p:cNvSpPr txBox="1"/>
          <p:nvPr/>
        </p:nvSpPr>
        <p:spPr>
          <a:xfrm>
            <a:off x="2331720" y="2514600"/>
            <a:ext cx="3474720" cy="329184"/>
          </a:xfrm>
          <a:prstGeom prst="rect">
            <a:avLst/>
          </a:prstGeom>
          <a:noFill/>
          <a:ln/>
        </p:spPr>
        <p:txBody>
          <a:bodyPr wrap="square" lIns="0" tIns="0" rIns="0" bIns="0" rtlCol="0" anchor="ctr"/>
          <a:lstStyle/>
          <a:p>
            <a:pPr indent="0" marL="0">
              <a:buNone/>
            </a:pPr>
            <a:r>
              <a:rPr lang="en-US" sz="1400" dirty="0">
                <a:solidFill>
                  <a:schemeClr val="tx1"/>
                </a:solidFill>
              </a:rPr>
              <a:t>Planwirtschaft in der Sowjetunion</a:t>
            </a:r>
            <a:endParaRPr lang="en-US" sz="1400" dirty="0"/>
          </a:p>
        </p:txBody>
      </p:sp>
      <p:sp>
        <p:nvSpPr>
          <p:cNvPr id="17" name="Zeitpunkt"/>
          <p:cNvSpPr/>
          <p:nvPr/>
        </p:nvSpPr>
        <p:spPr>
          <a:xfrm>
            <a:off x="841248" y="2935224"/>
            <a:ext cx="182880" cy="182880"/>
          </a:xfrm>
          <a:prstGeom prst="ellipse">
            <a:avLst/>
          </a:prstGeom>
          <a:solidFill>
            <a:schemeClr val="tx2"/>
          </a:solidFill>
          <a:ln w="25400">
            <a:solidFill>
              <a:schemeClr val="bg1"/>
            </a:solidFill>
            <a:prstDash val="solid"/>
          </a:ln>
        </p:spPr>
      </p:sp>
      <p:sp>
        <p:nvSpPr>
          <p:cNvPr id="18" name="Text 15"/>
          <p:cNvSpPr txBox="1"/>
          <p:nvPr/>
        </p:nvSpPr>
        <p:spPr>
          <a:xfrm>
            <a:off x="1188720" y="2862072"/>
            <a:ext cx="1097280" cy="329184"/>
          </a:xfrm>
          <a:prstGeom prst="rect">
            <a:avLst/>
          </a:prstGeom>
          <a:noFill/>
          <a:ln/>
        </p:spPr>
        <p:txBody>
          <a:bodyPr wrap="square" lIns="0" tIns="0" rIns="0" bIns="0" rtlCol="0" anchor="ctr"/>
          <a:lstStyle/>
          <a:p>
            <a:pPr indent="0" marL="0">
              <a:buNone/>
            </a:pPr>
            <a:r>
              <a:rPr lang="en-US" sz="1400" b="1" dirty="0">
                <a:solidFill>
                  <a:schemeClr val="accent4"/>
                </a:solidFill>
              </a:rPr>
              <a:t>1991–2013</a:t>
            </a:r>
            <a:endParaRPr lang="en-US" sz="1400" dirty="0"/>
          </a:p>
        </p:txBody>
      </p:sp>
      <p:sp>
        <p:nvSpPr>
          <p:cNvPr id="19" name="Text 16"/>
          <p:cNvSpPr txBox="1"/>
          <p:nvPr/>
        </p:nvSpPr>
        <p:spPr>
          <a:xfrm>
            <a:off x="2331720" y="2862072"/>
            <a:ext cx="3474720" cy="329184"/>
          </a:xfrm>
          <a:prstGeom prst="rect">
            <a:avLst/>
          </a:prstGeom>
          <a:noFill/>
          <a:ln/>
        </p:spPr>
        <p:txBody>
          <a:bodyPr wrap="square" lIns="0" tIns="0" rIns="0" bIns="0" rtlCol="0" anchor="ctr"/>
          <a:lstStyle/>
          <a:p>
            <a:pPr indent="0" marL="0">
              <a:buNone/>
            </a:pPr>
            <a:r>
              <a:rPr lang="en-US" sz="1400" dirty="0">
                <a:solidFill>
                  <a:schemeClr val="tx1"/>
                </a:solidFill>
              </a:rPr>
              <a:t>Übergang, Privatisierung, neue Märkte</a:t>
            </a:r>
            <a:endParaRPr lang="en-US" sz="1400" dirty="0"/>
          </a:p>
        </p:txBody>
      </p:sp>
      <p:sp>
        <p:nvSpPr>
          <p:cNvPr id="20" name="Zeitpunkt"/>
          <p:cNvSpPr/>
          <p:nvPr/>
        </p:nvSpPr>
        <p:spPr>
          <a:xfrm>
            <a:off x="841248" y="3282696"/>
            <a:ext cx="182880" cy="182880"/>
          </a:xfrm>
          <a:prstGeom prst="ellipse">
            <a:avLst/>
          </a:prstGeom>
          <a:solidFill>
            <a:schemeClr val="tx2"/>
          </a:solidFill>
          <a:ln w="25400">
            <a:solidFill>
              <a:schemeClr val="bg1"/>
            </a:solidFill>
            <a:prstDash val="solid"/>
          </a:ln>
        </p:spPr>
      </p:sp>
      <p:sp>
        <p:nvSpPr>
          <p:cNvPr id="21" name="Text 18"/>
          <p:cNvSpPr txBox="1"/>
          <p:nvPr/>
        </p:nvSpPr>
        <p:spPr>
          <a:xfrm>
            <a:off x="1188720" y="3209544"/>
            <a:ext cx="1097280" cy="329184"/>
          </a:xfrm>
          <a:prstGeom prst="rect">
            <a:avLst/>
          </a:prstGeom>
          <a:noFill/>
          <a:ln/>
        </p:spPr>
        <p:txBody>
          <a:bodyPr wrap="square" lIns="0" tIns="0" rIns="0" bIns="0" rtlCol="0" anchor="ctr"/>
          <a:lstStyle/>
          <a:p>
            <a:pPr indent="0" marL="0">
              <a:buNone/>
            </a:pPr>
            <a:r>
              <a:rPr lang="en-US" sz="1400" b="1" dirty="0">
                <a:solidFill>
                  <a:schemeClr val="accent4"/>
                </a:solidFill>
              </a:rPr>
              <a:t>seit 2014</a:t>
            </a:r>
            <a:endParaRPr lang="en-US" sz="1400" dirty="0"/>
          </a:p>
        </p:txBody>
      </p:sp>
      <p:sp>
        <p:nvSpPr>
          <p:cNvPr id="22" name="Text 19"/>
          <p:cNvSpPr txBox="1"/>
          <p:nvPr/>
        </p:nvSpPr>
        <p:spPr>
          <a:xfrm>
            <a:off x="2331720" y="3209544"/>
            <a:ext cx="3474720" cy="329184"/>
          </a:xfrm>
          <a:prstGeom prst="rect">
            <a:avLst/>
          </a:prstGeom>
          <a:noFill/>
          <a:ln/>
        </p:spPr>
        <p:txBody>
          <a:bodyPr wrap="square" lIns="0" tIns="0" rIns="0" bIns="0" rtlCol="0" anchor="ctr"/>
          <a:lstStyle/>
          <a:p>
            <a:pPr indent="0" marL="0">
              <a:buNone/>
            </a:pPr>
            <a:r>
              <a:rPr lang="en-US" sz="1400" dirty="0">
                <a:solidFill>
                  <a:schemeClr val="tx1"/>
                </a:solidFill>
              </a:rPr>
              <a:t>Reformen &amp; stärkere EU-Orientierung</a:t>
            </a:r>
            <a:endParaRPr lang="en-US" sz="1400" dirty="0"/>
          </a:p>
        </p:txBody>
      </p:sp>
      <p:sp>
        <p:nvSpPr>
          <p:cNvPr id="23" name="Zeitpunkt"/>
          <p:cNvSpPr/>
          <p:nvPr/>
        </p:nvSpPr>
        <p:spPr>
          <a:xfrm>
            <a:off x="841248" y="3630168"/>
            <a:ext cx="182880" cy="182880"/>
          </a:xfrm>
          <a:prstGeom prst="ellipse">
            <a:avLst/>
          </a:prstGeom>
          <a:solidFill>
            <a:schemeClr val="accent1"/>
          </a:solidFill>
          <a:ln w="25400">
            <a:solidFill>
              <a:schemeClr val="bg1"/>
            </a:solidFill>
            <a:prstDash val="solid"/>
          </a:ln>
        </p:spPr>
      </p:sp>
      <p:sp>
        <p:nvSpPr>
          <p:cNvPr id="24" name="Text 21"/>
          <p:cNvSpPr txBox="1"/>
          <p:nvPr/>
        </p:nvSpPr>
        <p:spPr>
          <a:xfrm>
            <a:off x="1188720" y="3557016"/>
            <a:ext cx="1097280" cy="329184"/>
          </a:xfrm>
          <a:prstGeom prst="rect">
            <a:avLst/>
          </a:prstGeom>
          <a:noFill/>
          <a:ln/>
        </p:spPr>
        <p:txBody>
          <a:bodyPr wrap="square" lIns="0" tIns="0" rIns="0" bIns="0" rtlCol="0" anchor="ctr"/>
          <a:lstStyle/>
          <a:p>
            <a:pPr indent="0" marL="0">
              <a:buNone/>
            </a:pPr>
            <a:r>
              <a:rPr lang="en-US" sz="1400" b="1" dirty="0">
                <a:solidFill>
                  <a:schemeClr val="accent4"/>
                </a:solidFill>
              </a:rPr>
              <a:t>seit 2022</a:t>
            </a:r>
            <a:endParaRPr lang="en-US" sz="1400" dirty="0"/>
          </a:p>
        </p:txBody>
      </p:sp>
      <p:sp>
        <p:nvSpPr>
          <p:cNvPr id="25" name="Text 22"/>
          <p:cNvSpPr txBox="1"/>
          <p:nvPr/>
        </p:nvSpPr>
        <p:spPr>
          <a:xfrm>
            <a:off x="2331720" y="3557016"/>
            <a:ext cx="3474720" cy="502920"/>
          </a:xfrm>
          <a:prstGeom prst="rect">
            <a:avLst/>
          </a:prstGeom>
          <a:noFill/>
          <a:ln/>
        </p:spPr>
        <p:txBody>
          <a:bodyPr wrap="square" lIns="0" tIns="0" rIns="0" bIns="0" rtlCol="0" anchor="ctr"/>
          <a:lstStyle/>
          <a:p>
            <a:pPr indent="0" marL="0">
              <a:buNone/>
            </a:pPr>
            <a:r>
              <a:rPr lang="en-US" sz="1400" dirty="0">
                <a:solidFill>
                  <a:schemeClr val="tx1"/>
                </a:solidFill>
              </a:rPr>
              <a:t>Kriegswirtschaft, Wiederaufbau und große Staatsaufgaben</a:t>
            </a:r>
            <a:endParaRPr lang="en-US" sz="1400" dirty="0"/>
          </a:p>
        </p:txBody>
      </p:sp>
      <p:sp>
        <p:nvSpPr>
          <p:cNvPr id="26" name="Besonderheit"/>
          <p:cNvSpPr/>
          <p:nvPr/>
        </p:nvSpPr>
        <p:spPr>
          <a:xfrm>
            <a:off x="457200" y="4187952"/>
            <a:ext cx="5303520" cy="566928"/>
          </a:xfrm>
          <a:prstGeom prst="rect">
            <a:avLst/>
          </a:prstGeom>
          <a:solidFill>
            <a:schemeClr val="tx2"/>
          </a:solidFill>
          <a:ln/>
        </p:spPr>
      </p:sp>
      <p:sp>
        <p:nvSpPr>
          <p:cNvPr id="27" name="Text 24"/>
          <p:cNvSpPr txBox="1"/>
          <p:nvPr/>
        </p:nvSpPr>
        <p:spPr>
          <a:xfrm>
            <a:off x="640080" y="4187952"/>
            <a:ext cx="4937760" cy="566928"/>
          </a:xfrm>
          <a:prstGeom prst="rect">
            <a:avLst/>
          </a:prstGeom>
          <a:noFill/>
          <a:ln/>
        </p:spPr>
        <p:txBody>
          <a:bodyPr wrap="square" lIns="0" tIns="0" rIns="0" bIns="0" rtlCol="0" anchor="ctr"/>
          <a:lstStyle/>
          <a:p>
            <a:pPr indent="0" marL="0">
              <a:buNone/>
            </a:pPr>
            <a:r>
              <a:rPr lang="en-US" sz="1300" b="1" spc="100" kern="0" dirty="0">
                <a:solidFill>
                  <a:schemeClr val="accent1"/>
                </a:solidFill>
              </a:rPr>
              <a:t>  </a:t>
            </a:r>
            <a:pPr indent="0" marL="0">
              <a:buNone/>
            </a:pPr>
            <a:r>
              <a:rPr lang="en-US" sz="1400" b="1" dirty="0">
                <a:solidFill>
                  <a:schemeClr val="bg1"/>
                </a:solidFill>
              </a:rPr>
              <a:t>Die heutige Ordnung ist ohne die historischen Brüche nicht zu verstehen.</a:t>
            </a:r>
            <a:endParaRPr lang="en-US" sz="13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3749040" y="365760"/>
            <a:ext cx="4937760" cy="731520"/>
          </a:xfrm>
          <a:prstGeom prst="rect">
            <a:avLst/>
          </a:prstGeom>
          <a:noFill/>
          <a:ln/>
        </p:spPr>
        <p:txBody>
          <a:bodyPr wrap="square" lIns="0" tIns="0" rIns="0" bIns="0" rtlCol="0" anchor="ctr"/>
          <a:lstStyle/>
          <a:p>
            <a:pPr algn="l" indent="0" marL="0">
              <a:buNone/>
            </a:pPr>
            <a:r>
              <a:rPr lang="en-US" sz="3000" b="1" dirty="0">
                <a:solidFill>
                  <a:schemeClr val="tx2"/>
                </a:solidFill>
              </a:rPr>
              <a:t>Kuba</a:t>
            </a:r>
            <a:endParaRPr lang="en-US" sz="3000" dirty="0"/>
          </a:p>
        </p:txBody>
      </p:sp>
      <p:pic>
        <p:nvPicPr>
          <p:cNvPr id="3" name="Image 0" descr="Café in Havanna">    </p:cNvPr>
          <p:cNvPicPr>
            <a:picLocks noChangeAspect="1"/>
          </p:cNvPicPr>
          <p:nvPr/>
        </p:nvPicPr>
        <p:blipFill>
          <a:blip r:embed="rId1"/>
          <a:stretch>
            <a:fillRect/>
          </a:stretch>
        </p:blipFill>
        <p:spPr>
          <a:xfrm>
            <a:off x="0" y="0"/>
            <a:ext cx="3291840" cy="4800600"/>
          </a:xfrm>
          <a:prstGeom prst="rect">
            <a:avLst/>
          </a:prstGeom>
        </p:spPr>
      </p:pic>
      <p:sp>
        <p:nvSpPr>
          <p:cNvPr id="4" name="Foto-Chip Kuba"/>
          <p:cNvSpPr/>
          <p:nvPr/>
        </p:nvSpPr>
        <p:spPr>
          <a:xfrm>
            <a:off x="0" y="3931920"/>
            <a:ext cx="3291840" cy="868680"/>
          </a:xfrm>
          <a:prstGeom prst="rect">
            <a:avLst/>
          </a:prstGeom>
          <a:solidFill>
            <a:schemeClr val="tx2"/>
          </a:solidFill>
          <a:ln/>
        </p:spPr>
      </p:sp>
      <p:sp>
        <p:nvSpPr>
          <p:cNvPr id="5" name="Text 2"/>
          <p:cNvSpPr txBox="1"/>
          <p:nvPr/>
        </p:nvSpPr>
        <p:spPr>
          <a:xfrm>
            <a:off x="182880" y="4005072"/>
            <a:ext cx="2926080" cy="228600"/>
          </a:xfrm>
          <a:prstGeom prst="rect">
            <a:avLst/>
          </a:prstGeom>
          <a:noFill/>
          <a:ln/>
        </p:spPr>
        <p:txBody>
          <a:bodyPr wrap="square" lIns="0" tIns="0" rIns="0" bIns="0" rtlCol="0" anchor="t"/>
          <a:lstStyle/>
          <a:p>
            <a:pPr indent="0" marL="0">
              <a:buNone/>
            </a:pPr>
            <a:r>
              <a:rPr lang="en-US" sz="1200" b="1" spc="200" kern="0" dirty="0">
                <a:solidFill>
                  <a:schemeClr val="bg1"/>
                </a:solidFill>
              </a:rPr>
              <a:t>KUBA</a:t>
            </a:r>
            <a:endParaRPr lang="en-US" sz="1200" dirty="0"/>
          </a:p>
        </p:txBody>
      </p:sp>
      <p:sp>
        <p:nvSpPr>
          <p:cNvPr id="6" name="Text 3"/>
          <p:cNvSpPr txBox="1"/>
          <p:nvPr/>
        </p:nvSpPr>
        <p:spPr>
          <a:xfrm>
            <a:off x="182880" y="4224528"/>
            <a:ext cx="1463040" cy="201168"/>
          </a:xfrm>
          <a:prstGeom prst="rect">
            <a:avLst/>
          </a:prstGeom>
          <a:noFill/>
          <a:ln/>
        </p:spPr>
        <p:txBody>
          <a:bodyPr wrap="square" lIns="0" tIns="0" rIns="0" bIns="0" rtlCol="0" anchor="t"/>
          <a:lstStyle/>
          <a:p>
            <a:pPr indent="0" marL="0">
              <a:buNone/>
            </a:pPr>
            <a:r>
              <a:rPr lang="en-US" sz="1000" b="1" spc="200" kern="0" dirty="0">
                <a:solidFill>
                  <a:srgbClr val="9DB8E0"/>
                </a:solidFill>
              </a:rPr>
              <a:t>MARKT</a:t>
            </a:r>
            <a:endParaRPr lang="en-US" sz="1000" dirty="0"/>
          </a:p>
        </p:txBody>
      </p:sp>
      <p:sp>
        <p:nvSpPr>
          <p:cNvPr id="7" name="Text 4"/>
          <p:cNvSpPr txBox="1"/>
          <p:nvPr/>
        </p:nvSpPr>
        <p:spPr>
          <a:xfrm>
            <a:off x="1645920" y="4224528"/>
            <a:ext cx="1463040" cy="201168"/>
          </a:xfrm>
          <a:prstGeom prst="rect">
            <a:avLst/>
          </a:prstGeom>
          <a:noFill/>
          <a:ln/>
        </p:spPr>
        <p:txBody>
          <a:bodyPr wrap="square" lIns="0" tIns="0" rIns="0" bIns="0" rtlCol="0" anchor="t"/>
          <a:lstStyle/>
          <a:p>
            <a:pPr algn="r" indent="0" marL="0">
              <a:buNone/>
            </a:pPr>
            <a:r>
              <a:rPr lang="en-US" sz="1000" b="1" spc="200" kern="0" dirty="0">
                <a:solidFill>
                  <a:schemeClr val="accent1"/>
                </a:solidFill>
              </a:rPr>
              <a:t>STAAT</a:t>
            </a:r>
            <a:endParaRPr lang="en-US" sz="1000" dirty="0"/>
          </a:p>
        </p:txBody>
      </p:sp>
      <p:sp>
        <p:nvSpPr>
          <p:cNvPr id="8" name="Messbalken Markt"/>
          <p:cNvSpPr/>
          <p:nvPr/>
        </p:nvSpPr>
        <p:spPr>
          <a:xfrm>
            <a:off x="182880" y="4553712"/>
            <a:ext cx="1463040" cy="45720"/>
          </a:xfrm>
          <a:prstGeom prst="rect">
            <a:avLst/>
          </a:prstGeom>
          <a:solidFill>
            <a:srgbClr val="9DB8E0"/>
          </a:solidFill>
          <a:ln/>
        </p:spPr>
      </p:sp>
      <p:sp>
        <p:nvSpPr>
          <p:cNvPr id="9" name="Messbalken Staat"/>
          <p:cNvSpPr/>
          <p:nvPr/>
        </p:nvSpPr>
        <p:spPr>
          <a:xfrm>
            <a:off x="1645920" y="4553712"/>
            <a:ext cx="1463040" cy="45720"/>
          </a:xfrm>
          <a:prstGeom prst="rect">
            <a:avLst/>
          </a:prstGeom>
          <a:solidFill>
            <a:schemeClr val="accent1"/>
          </a:solidFill>
          <a:ln/>
        </p:spPr>
      </p:sp>
      <p:sp>
        <p:nvSpPr>
          <p:cNvPr id="10" name="Messpunkt"/>
          <p:cNvSpPr/>
          <p:nvPr/>
        </p:nvSpPr>
        <p:spPr>
          <a:xfrm>
            <a:off x="2637130" y="4485132"/>
            <a:ext cx="182880" cy="182880"/>
          </a:xfrm>
          <a:prstGeom prst="ellipse">
            <a:avLst/>
          </a:prstGeom>
          <a:solidFill>
            <a:schemeClr val="bg1"/>
          </a:solidFill>
          <a:ln w="19050">
            <a:solidFill>
              <a:schemeClr val="bg1"/>
            </a:solidFill>
            <a:prstDash val="solid"/>
          </a:ln>
        </p:spPr>
      </p:sp>
      <p:sp>
        <p:nvSpPr>
          <p:cNvPr id="11" name="Text 8"/>
          <p:cNvSpPr txBox="1"/>
          <p:nvPr/>
        </p:nvSpPr>
        <p:spPr>
          <a:xfrm>
            <a:off x="3749040" y="1051560"/>
            <a:ext cx="4937760" cy="502920"/>
          </a:xfrm>
          <a:prstGeom prst="rect">
            <a:avLst/>
          </a:prstGeom>
          <a:noFill/>
          <a:ln/>
        </p:spPr>
        <p:txBody>
          <a:bodyPr wrap="square" lIns="0" tIns="0" rIns="0" bIns="0" rtlCol="0" anchor="t"/>
          <a:lstStyle/>
          <a:p>
            <a:pPr indent="0" marL="0">
              <a:buNone/>
            </a:pPr>
            <a:r>
              <a:rPr lang="en-US" sz="1500" b="1" dirty="0">
                <a:solidFill>
                  <a:schemeClr val="accent4"/>
                </a:solidFill>
              </a:rPr>
              <a:t>Staatsdominierte (Plan-)Wirtschaft mit zunehmenden Marktöffnungen</a:t>
            </a:r>
            <a:endParaRPr lang="en-US" sz="1500" dirty="0"/>
          </a:p>
        </p:txBody>
      </p:sp>
      <p:sp>
        <p:nvSpPr>
          <p:cNvPr id="12" name="Text 9"/>
          <p:cNvSpPr txBox="1"/>
          <p:nvPr/>
        </p:nvSpPr>
        <p:spPr>
          <a:xfrm>
            <a:off x="3749040" y="1627632"/>
            <a:ext cx="4937760" cy="1234440"/>
          </a:xfrm>
          <a:prstGeom prst="rect">
            <a:avLst/>
          </a:prstGeom>
          <a:noFill/>
          <a:ln/>
        </p:spPr>
        <p:txBody>
          <a:bodyPr wrap="square" lIns="0" tIns="0" rIns="0" bIns="0" rtlCol="0" anchor="t"/>
          <a:lstStyle/>
          <a:p>
            <a:pPr indent="0" marL="0">
              <a:buNone/>
            </a:pPr>
            <a:r>
              <a:rPr lang="en-US" sz="1400" dirty="0">
                <a:solidFill>
                  <a:schemeClr val="tx1"/>
                </a:solidFill>
              </a:rPr>
              <a:t>Der Staat kontrolliert weiterhin wichtige Wirtschaftsbereiche. Seit den Reformen 2026 erhalten private Unternehmen jedoch deutlich mehr Spielraum: größere Betriebe, private Banken und private Investitionen sollen möglich werden. Trotzdem bleibt der Staat ein zentraler wirtschaftlicher Akteur.</a:t>
            </a:r>
            <a:endParaRPr lang="en-US" sz="1400" dirty="0"/>
          </a:p>
        </p:txBody>
      </p:sp>
      <p:sp>
        <p:nvSpPr>
          <p:cNvPr id="13" name="Text 10"/>
          <p:cNvSpPr txBox="1"/>
          <p:nvPr/>
        </p:nvSpPr>
        <p:spPr>
          <a:xfrm>
            <a:off x="3749040" y="3017520"/>
            <a:ext cx="4937760" cy="10058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Über 175 Reformmaßnahmen seit Juni 2026</a:t>
            </a:r>
            <a:endParaRPr lang="en-US" sz="1400" dirty="0"/>
          </a:p>
          <a:p>
            <a:pPr marL="177800" indent="-177800">
              <a:spcAft>
                <a:spcPts val="500"/>
              </a:spcAft>
              <a:buSzPct val="100000"/>
              <a:buChar char="•"/>
            </a:pPr>
            <a:r>
              <a:rPr lang="en-US" sz="1400" dirty="0">
                <a:solidFill>
                  <a:schemeClr val="tx1"/>
                </a:solidFill>
              </a:rPr>
              <a:t>Private Unternehmen: mehr als 100 Beschäftigte möglich</a:t>
            </a:r>
            <a:endParaRPr lang="en-US" sz="1400" dirty="0"/>
          </a:p>
          <a:p>
            <a:pPr marL="177800" indent="-177800">
              <a:spcAft>
                <a:spcPts val="500"/>
              </a:spcAft>
              <a:buSzPct val="100000"/>
              <a:buChar char="•"/>
            </a:pPr>
            <a:r>
              <a:rPr lang="en-US" sz="1400" dirty="0">
                <a:solidFill>
                  <a:schemeClr val="tx1"/>
                </a:solidFill>
              </a:rPr>
              <a:t>Fast 200 Privatunternehmen mit Genehmigung für Treibstoffhandel</a:t>
            </a:r>
            <a:endParaRPr lang="en-US" sz="1400" dirty="0"/>
          </a:p>
        </p:txBody>
      </p:sp>
      <p:sp>
        <p:nvSpPr>
          <p:cNvPr id="14" name="Besonderheit"/>
          <p:cNvSpPr/>
          <p:nvPr/>
        </p:nvSpPr>
        <p:spPr>
          <a:xfrm>
            <a:off x="3749040" y="4114800"/>
            <a:ext cx="4937760" cy="566928"/>
          </a:xfrm>
          <a:prstGeom prst="rect">
            <a:avLst/>
          </a:prstGeom>
          <a:solidFill>
            <a:schemeClr val="tx2"/>
          </a:solidFill>
          <a:ln/>
        </p:spPr>
      </p:sp>
      <p:sp>
        <p:nvSpPr>
          <p:cNvPr id="15" name="Text 12"/>
          <p:cNvSpPr txBox="1"/>
          <p:nvPr/>
        </p:nvSpPr>
        <p:spPr>
          <a:xfrm>
            <a:off x="3931920" y="4114800"/>
            <a:ext cx="4572000" cy="566928"/>
          </a:xfrm>
          <a:prstGeom prst="rect">
            <a:avLst/>
          </a:prstGeom>
          <a:noFill/>
          <a:ln/>
        </p:spPr>
        <p:txBody>
          <a:bodyPr wrap="square" lIns="0" tIns="0" rIns="0" bIns="0" rtlCol="0" anchor="ctr"/>
          <a:lstStyle/>
          <a:p>
            <a:pPr indent="0" marL="0">
              <a:buNone/>
            </a:pPr>
            <a:r>
              <a:rPr lang="en-US" sz="1300" b="1" spc="100" kern="0" dirty="0">
                <a:solidFill>
                  <a:schemeClr val="accent1"/>
                </a:solidFill>
              </a:rPr>
              <a:t>BESONDERHEIT  </a:t>
            </a:r>
            <a:pPr indent="0" marL="0">
              <a:buNone/>
            </a:pPr>
            <a:r>
              <a:rPr lang="en-US" sz="1400" b="1" dirty="0">
                <a:solidFill>
                  <a:schemeClr val="bg1"/>
                </a:solidFill>
              </a:rPr>
              <a:t>Staatliche Dominanz trotz zunehmender Marktöffnung</a:t>
            </a:r>
            <a:endParaRPr lang="en-US" sz="13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583680" cy="731520"/>
          </a:xfrm>
          <a:prstGeom prst="rect">
            <a:avLst/>
          </a:prstGeom>
          <a:noFill/>
          <a:ln/>
        </p:spPr>
        <p:txBody>
          <a:bodyPr wrap="square" lIns="0" tIns="0" rIns="0" bIns="0" rtlCol="0" anchor="ctr"/>
          <a:lstStyle/>
          <a:p>
            <a:pPr algn="l" indent="0" marL="0">
              <a:buNone/>
            </a:pPr>
            <a:r>
              <a:rPr lang="en-US" sz="3000" b="1" dirty="0">
                <a:solidFill>
                  <a:schemeClr val="tx2"/>
                </a:solidFill>
              </a:rPr>
              <a:t>Unsere Fragen auf einen Blick (1/3)</a:t>
            </a:r>
            <a:endParaRPr lang="en-US" sz="3000" dirty="0"/>
          </a:p>
        </p:txBody>
      </p:sp>
      <p:sp>
        <p:nvSpPr>
          <p:cNvPr id="3" name="Text 1"/>
          <p:cNvSpPr txBox="1"/>
          <p:nvPr/>
        </p:nvSpPr>
        <p:spPr>
          <a:xfrm>
            <a:off x="457200" y="987552"/>
            <a:ext cx="5486400" cy="228600"/>
          </a:xfrm>
          <a:prstGeom prst="rect">
            <a:avLst/>
          </a:prstGeom>
          <a:noFill/>
          <a:ln/>
        </p:spPr>
        <p:txBody>
          <a:bodyPr wrap="square" lIns="0" tIns="0" rIns="0" bIns="0" rtlCol="0" anchor="t"/>
          <a:lstStyle/>
          <a:p>
            <a:pPr indent="0" marL="0">
              <a:buNone/>
            </a:pPr>
            <a:r>
              <a:rPr lang="en-US" sz="1300" b="1" spc="200" kern="0" dirty="0">
                <a:solidFill>
                  <a:schemeClr val="accent4"/>
                </a:solidFill>
              </a:rPr>
              <a:t>IM DIREKTEN VERGLEICH</a:t>
            </a:r>
            <a:endParaRPr lang="en-US" sz="1300" dirty="0"/>
          </a:p>
        </p:txBody>
      </p:sp>
      <p:sp>
        <p:nvSpPr>
          <p:cNvPr id="4" name="Text 2"/>
          <p:cNvSpPr txBox="1"/>
          <p:nvPr/>
        </p:nvSpPr>
        <p:spPr>
          <a:xfrm>
            <a:off x="7178040" y="384048"/>
            <a:ext cx="754380" cy="201168"/>
          </a:xfrm>
          <a:prstGeom prst="rect">
            <a:avLst/>
          </a:prstGeom>
          <a:noFill/>
          <a:ln/>
        </p:spPr>
        <p:txBody>
          <a:bodyPr wrap="square" lIns="0" tIns="0" rIns="0" bIns="0" rtlCol="0" anchor="t"/>
          <a:lstStyle/>
          <a:p>
            <a:pPr indent="0" marL="0">
              <a:buNone/>
            </a:pPr>
            <a:r>
              <a:rPr lang="en-US" sz="1000" b="1" spc="200" kern="0" dirty="0">
                <a:solidFill>
                  <a:schemeClr val="tx2"/>
                </a:solidFill>
              </a:rPr>
              <a:t>MARKT</a:t>
            </a:r>
            <a:endParaRPr lang="en-US" sz="1000" dirty="0"/>
          </a:p>
        </p:txBody>
      </p:sp>
      <p:sp>
        <p:nvSpPr>
          <p:cNvPr id="5" name="Text 3"/>
          <p:cNvSpPr txBox="1"/>
          <p:nvPr/>
        </p:nvSpPr>
        <p:spPr>
          <a:xfrm>
            <a:off x="7932420" y="384048"/>
            <a:ext cx="754380" cy="201168"/>
          </a:xfrm>
          <a:prstGeom prst="rect">
            <a:avLst/>
          </a:prstGeom>
          <a:noFill/>
          <a:ln/>
        </p:spPr>
        <p:txBody>
          <a:bodyPr wrap="square" lIns="0" tIns="0" rIns="0" bIns="0" rtlCol="0" anchor="t"/>
          <a:lstStyle/>
          <a:p>
            <a:pPr algn="r" indent="0" marL="0">
              <a:buNone/>
            </a:pPr>
            <a:r>
              <a:rPr lang="en-US" sz="1000" b="1" spc="200" kern="0" dirty="0">
                <a:solidFill>
                  <a:schemeClr val="accent1"/>
                </a:solidFill>
              </a:rPr>
              <a:t>STAAT</a:t>
            </a:r>
            <a:endParaRPr lang="en-US" sz="1000" dirty="0"/>
          </a:p>
        </p:txBody>
      </p:sp>
      <p:sp>
        <p:nvSpPr>
          <p:cNvPr id="6" name="Messbalken Markt"/>
          <p:cNvSpPr/>
          <p:nvPr/>
        </p:nvSpPr>
        <p:spPr>
          <a:xfrm>
            <a:off x="7178040" y="713232"/>
            <a:ext cx="754380" cy="45720"/>
          </a:xfrm>
          <a:prstGeom prst="rect">
            <a:avLst/>
          </a:prstGeom>
          <a:solidFill>
            <a:srgbClr val="0B1F3A"/>
          </a:solidFill>
          <a:ln/>
        </p:spPr>
      </p:sp>
      <p:sp>
        <p:nvSpPr>
          <p:cNvPr id="7" name="Messbalken Staat"/>
          <p:cNvSpPr/>
          <p:nvPr/>
        </p:nvSpPr>
        <p:spPr>
          <a:xfrm>
            <a:off x="7932420" y="713232"/>
            <a:ext cx="754380" cy="45720"/>
          </a:xfrm>
          <a:prstGeom prst="rect">
            <a:avLst/>
          </a:prstGeom>
          <a:solidFill>
            <a:schemeClr val="accent1"/>
          </a:solidFill>
          <a:ln/>
        </p:spPr>
      </p:sp>
      <p:sp>
        <p:nvSpPr>
          <p:cNvPr id="8" name="Messpunkt"/>
          <p:cNvSpPr/>
          <p:nvPr/>
        </p:nvSpPr>
        <p:spPr>
          <a:xfrm>
            <a:off x="7373264" y="644652"/>
            <a:ext cx="182880" cy="182880"/>
          </a:xfrm>
          <a:prstGeom prst="ellipse">
            <a:avLst/>
          </a:prstGeom>
          <a:solidFill>
            <a:schemeClr val="bg1"/>
          </a:solidFill>
          <a:ln w="19050">
            <a:solidFill>
              <a:schemeClr val="tx2"/>
            </a:solidFill>
            <a:prstDash val="solid"/>
          </a:ln>
        </p:spPr>
      </p:sp>
      <p:sp>
        <p:nvSpPr>
          <p:cNvPr id="9" name="Messpunkt"/>
          <p:cNvSpPr/>
          <p:nvPr/>
        </p:nvSpPr>
        <p:spPr>
          <a:xfrm>
            <a:off x="7720279" y="644652"/>
            <a:ext cx="182880" cy="182880"/>
          </a:xfrm>
          <a:prstGeom prst="ellipse">
            <a:avLst/>
          </a:prstGeom>
          <a:solidFill>
            <a:schemeClr val="bg1"/>
          </a:solidFill>
          <a:ln w="19050">
            <a:solidFill>
              <a:schemeClr val="tx2"/>
            </a:solidFill>
            <a:prstDash val="solid"/>
          </a:ln>
        </p:spPr>
      </p:sp>
      <p:sp>
        <p:nvSpPr>
          <p:cNvPr id="10" name="Messpunkt"/>
          <p:cNvSpPr/>
          <p:nvPr/>
        </p:nvSpPr>
        <p:spPr>
          <a:xfrm>
            <a:off x="8067294" y="644652"/>
            <a:ext cx="182880" cy="182880"/>
          </a:xfrm>
          <a:prstGeom prst="ellipse">
            <a:avLst/>
          </a:prstGeom>
          <a:solidFill>
            <a:schemeClr val="bg1"/>
          </a:solidFill>
          <a:ln w="19050">
            <a:solidFill>
              <a:schemeClr val="tx2"/>
            </a:solidFill>
            <a:prstDash val="solid"/>
          </a:ln>
        </p:spPr>
      </p:sp>
      <p:sp>
        <p:nvSpPr>
          <p:cNvPr id="11" name="Messpunkt"/>
          <p:cNvSpPr/>
          <p:nvPr/>
        </p:nvSpPr>
        <p:spPr>
          <a:xfrm>
            <a:off x="8399221" y="644652"/>
            <a:ext cx="182880" cy="182880"/>
          </a:xfrm>
          <a:prstGeom prst="ellipse">
            <a:avLst/>
          </a:prstGeom>
          <a:solidFill>
            <a:schemeClr val="bg1"/>
          </a:solidFill>
          <a:ln w="19050">
            <a:solidFill>
              <a:schemeClr val="tx2"/>
            </a:solidFill>
            <a:prstDash val="solid"/>
          </a:ln>
        </p:spPr>
      </p:sp>
      <p:sp>
        <p:nvSpPr>
          <p:cNvPr id="12" name="KI-Kennzeichnung"/>
          <p:cNvSpPr/>
          <p:nvPr/>
        </p:nvSpPr>
        <p:spPr>
          <a:xfrm>
            <a:off x="3017520" y="987552"/>
            <a:ext cx="868680" cy="219456"/>
          </a:xfrm>
          <a:prstGeom prst="rect">
            <a:avLst/>
          </a:prstGeom>
          <a:solidFill>
            <a:schemeClr val="accent1"/>
          </a:solidFill>
          <a:ln/>
        </p:spPr>
      </p:sp>
      <p:sp>
        <p:nvSpPr>
          <p:cNvPr id="13" name="Text 11"/>
          <p:cNvSpPr txBox="1"/>
          <p:nvPr/>
        </p:nvSpPr>
        <p:spPr>
          <a:xfrm>
            <a:off x="3017520" y="987552"/>
            <a:ext cx="868680" cy="219456"/>
          </a:xfrm>
          <a:prstGeom prst="rect">
            <a:avLst/>
          </a:prstGeom>
          <a:noFill/>
          <a:ln/>
        </p:spPr>
        <p:txBody>
          <a:bodyPr wrap="square" lIns="0" tIns="0" rIns="0" bIns="0" rtlCol="0" anchor="ctr"/>
          <a:lstStyle/>
          <a:p>
            <a:pPr algn="ctr" indent="0" marL="0">
              <a:buNone/>
            </a:pPr>
            <a:r>
              <a:rPr lang="en-US" sz="1000" b="1" dirty="0">
                <a:solidFill>
                  <a:schemeClr val="bg1"/>
                </a:solidFill>
              </a:rPr>
              <a:t>KI-INHALT</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371600"/>
                <a:gridCol w="1714500"/>
                <a:gridCol w="1714500"/>
                <a:gridCol w="1714500"/>
                <a:gridCol w="1714500"/>
              </a:tblGrid>
              <a:tr h="457200">
                <a:tc>
                  <a:txBody>
                    <a:bodyPr/>
                    <a:lstStyle/>
                    <a:p>
                      <a:pPr indent="0" marL="0">
                        <a:buNone/>
                      </a:pPr>
                      <a:endParaRPr lang="en-US" sz="1200" dirty="0">
                        <a:latin typeface="Calibri" charset="0"/>
                        <a:ea typeface="Calibri" charset="0"/>
                        <a:cs typeface="Calibri" charset="0"/>
                      </a:endParaRPr>
                    </a:p>
                  </a:txBody>
                  <a:tcPr marL="64008" marR="64008" marT="36576" marB="36576">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Deutschland</a:t>
                      </a:r>
                      <a:endParaRPr lang="en-US" sz="1200" dirty="0">
                        <a:latin typeface="Calibri" charset="0"/>
                        <a:ea typeface="Calibri" charset="0"/>
                        <a:cs typeface="Calibri" charset="0"/>
                      </a:endParaRPr>
                    </a:p>
                    <a:p>
                      <a:pPr indent="0" marL="0">
                        <a:buNone/>
                      </a:pPr>
                      <a:r>
                        <a:rPr lang="en-US" sz="1100" dirty="0">
                          <a:solidFill>
                            <a:schemeClr val="accent3"/>
                          </a:solidFill>
                          <a:latin typeface="Calibri" pitchFamily="34" charset="0"/>
                          <a:ea typeface="Calibri" pitchFamily="34" charset="-122"/>
                          <a:cs typeface="Calibri" pitchFamily="34" charset="-120"/>
                        </a:rPr>
                        <a:t>Soziale Marktwirtschaft</a:t>
                      </a:r>
                      <a:endParaRPr lang="en-US" sz="1200" dirty="0">
                        <a:latin typeface="Calibri" charset="0"/>
                        <a:ea typeface="Calibri" charset="0"/>
                        <a:cs typeface="Calibri" charset="0"/>
                      </a:endParaRPr>
                    </a:p>
                  </a:txBody>
                  <a:tcPr marL="64008" marR="64008" marT="36576" marB="36576"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Marokko</a:t>
                      </a:r>
                      <a:endParaRPr lang="en-US" sz="1200" dirty="0">
                        <a:latin typeface="Calibri" charset="0"/>
                        <a:ea typeface="Calibri" charset="0"/>
                        <a:cs typeface="Calibri" charset="0"/>
                      </a:endParaRPr>
                    </a:p>
                    <a:p>
                      <a:pPr indent="0" marL="0">
                        <a:buNone/>
                      </a:pPr>
                      <a:r>
                        <a:rPr lang="en-US" sz="1100" dirty="0">
                          <a:solidFill>
                            <a:schemeClr val="accent3"/>
                          </a:solidFill>
                          <a:latin typeface="Calibri" pitchFamily="34" charset="0"/>
                          <a:ea typeface="Calibri" pitchFamily="34" charset="-122"/>
                          <a:cs typeface="Calibri" pitchFamily="34" charset="-120"/>
                        </a:rPr>
                        <a:t>Marktwirtschaft mit starker Staatsrolle</a:t>
                      </a:r>
                      <a:endParaRPr lang="en-US" sz="1200" dirty="0">
                        <a:latin typeface="Calibri" charset="0"/>
                        <a:ea typeface="Calibri" charset="0"/>
                        <a:cs typeface="Calibri" charset="0"/>
                      </a:endParaRPr>
                    </a:p>
                  </a:txBody>
                  <a:tcPr marL="64008" marR="64008" marT="36576" marB="36576"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Ukraine</a:t>
                      </a:r>
                      <a:endParaRPr lang="en-US" sz="1200" dirty="0">
                        <a:latin typeface="Calibri" charset="0"/>
                        <a:ea typeface="Calibri" charset="0"/>
                        <a:cs typeface="Calibri" charset="0"/>
                      </a:endParaRPr>
                    </a:p>
                    <a:p>
                      <a:pPr indent="0" marL="0">
                        <a:buNone/>
                      </a:pPr>
                      <a:r>
                        <a:rPr lang="en-US" sz="1100" dirty="0">
                          <a:solidFill>
                            <a:schemeClr val="accent3"/>
                          </a:solidFill>
                          <a:latin typeface="Calibri" pitchFamily="34" charset="0"/>
                          <a:ea typeface="Calibri" pitchFamily="34" charset="-122"/>
                          <a:cs typeface="Calibri" pitchFamily="34" charset="-120"/>
                        </a:rPr>
                        <a:t>Marktwirtschaft im Wandel</a:t>
                      </a:r>
                      <a:endParaRPr lang="en-US" sz="1200" dirty="0">
                        <a:latin typeface="Calibri" charset="0"/>
                        <a:ea typeface="Calibri" charset="0"/>
                        <a:cs typeface="Calibri" charset="0"/>
                      </a:endParaRPr>
                    </a:p>
                  </a:txBody>
                  <a:tcPr marL="64008" marR="64008" marT="36576" marB="36576"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Kuba</a:t>
                      </a:r>
                      <a:endParaRPr lang="en-US" sz="1200" dirty="0">
                        <a:latin typeface="Calibri" charset="0"/>
                        <a:ea typeface="Calibri" charset="0"/>
                        <a:cs typeface="Calibri" charset="0"/>
                      </a:endParaRPr>
                    </a:p>
                    <a:p>
                      <a:pPr indent="0" marL="0">
                        <a:buNone/>
                      </a:pPr>
                      <a:r>
                        <a:rPr lang="en-US" sz="1100" dirty="0">
                          <a:solidFill>
                            <a:schemeClr val="accent6"/>
                          </a:solidFill>
                          <a:latin typeface="Calibri" pitchFamily="34" charset="0"/>
                          <a:ea typeface="Calibri" pitchFamily="34" charset="-122"/>
                          <a:cs typeface="Calibri" pitchFamily="34" charset="-120"/>
                        </a:rPr>
                        <a:t>Sozialistische Planwirtschaft</a:t>
                      </a:r>
                      <a:endParaRPr lang="en-US" sz="1200" dirty="0">
                        <a:latin typeface="Calibri" charset="0"/>
                        <a:ea typeface="Calibri" charset="0"/>
                        <a:cs typeface="Calibri" charset="0"/>
                      </a:endParaRPr>
                    </a:p>
                  </a:txBody>
                  <a:tcPr marL="64008" marR="64008" marT="36576" marB="36576"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1188720">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01  </a:t>
                      </a:r>
                      <a:pPr indent="0" marL="0">
                        <a:buNone/>
                      </a:pPr>
                      <a:r>
                        <a:rPr lang="en-US" sz="1200" b="1" dirty="0">
                          <a:solidFill>
                            <a:schemeClr val="tx2"/>
                          </a:solidFill>
                          <a:latin typeface="Calibri" pitchFamily="34" charset="0"/>
                          <a:ea typeface="Calibri" pitchFamily="34" charset="-122"/>
                          <a:cs typeface="Calibri" pitchFamily="34" charset="-120"/>
                        </a:rPr>
                        <a:t>EIGENTUM</a:t>
                      </a:r>
                      <a:endParaRPr lang="en-US" sz="1200" dirty="0">
                        <a:latin typeface="Calibri" charset="0"/>
                        <a:ea typeface="Calibri" charset="0"/>
                        <a:cs typeface="Calibri" charset="0"/>
                      </a:endParaRPr>
                    </a:p>
                    <a:p>
                      <a:pPr indent="0" marL="0">
                        <a:buNone/>
                      </a:pPr>
                      <a:r>
                        <a:rPr lang="en-US" sz="1050" dirty="0">
                          <a:solidFill>
                            <a:srgbClr val="5B6B82"/>
                          </a:solidFill>
                          <a:latin typeface="Calibri" pitchFamily="34" charset="0"/>
                          <a:ea typeface="Calibri" pitchFamily="34" charset="-122"/>
                          <a:cs typeface="Calibri" pitchFamily="34" charset="-120"/>
                        </a:rPr>
                        <a:t>Wem gehören Unternehmen und Produktionsmittel?</a:t>
                      </a:r>
                      <a:endParaRPr lang="en-US" sz="12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Überwiegend privates Eigentum, daneben staatliche Unternehmen (z. B. Infrastruktur).</a:t>
                      </a:r>
                      <a:endParaRPr lang="en-US" sz="11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Überwiegend privates Eigentum, viele strategische Bereiche in staatlicher Hand (z. B. Energie, Infrastruktur).</a:t>
                      </a:r>
                      <a:endParaRPr lang="en-US" sz="11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Überwiegend privates Eigentum, seit 1991 Privatisierung; Staat behält wichtige strategische Unternehmen.</a:t>
                      </a:r>
                      <a:endParaRPr lang="en-US" sz="11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Überwiegend staatliches Eigentum, private Unternehmen nur in geringem Umfang erlaubt.</a:t>
                      </a:r>
                      <a:endParaRPr lang="en-US" sz="11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EFE3"/>
                    </a:solidFill>
                  </a:tcPr>
                </a:tc>
              </a:tr>
              <a:tr h="1188720">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02  </a:t>
                      </a:r>
                      <a:pPr indent="0" marL="0">
                        <a:buNone/>
                      </a:pPr>
                      <a:r>
                        <a:rPr lang="en-US" sz="1200" b="1" dirty="0">
                          <a:solidFill>
                            <a:schemeClr val="tx2"/>
                          </a:solidFill>
                          <a:latin typeface="Calibri" pitchFamily="34" charset="0"/>
                          <a:ea typeface="Calibri" pitchFamily="34" charset="-122"/>
                          <a:cs typeface="Calibri" pitchFamily="34" charset="-120"/>
                        </a:rPr>
                        <a:t>ENTSCHEIDUNGEN</a:t>
                      </a:r>
                      <a:endParaRPr lang="en-US" sz="1200" dirty="0">
                        <a:latin typeface="Calibri" charset="0"/>
                        <a:ea typeface="Calibri" charset="0"/>
                        <a:cs typeface="Calibri" charset="0"/>
                      </a:endParaRPr>
                    </a:p>
                    <a:p>
                      <a:pPr indent="0" marL="0">
                        <a:buNone/>
                      </a:pPr>
                      <a:r>
                        <a:rPr lang="en-US" sz="1050" dirty="0">
                          <a:solidFill>
                            <a:srgbClr val="5B6B82"/>
                          </a:solidFill>
                          <a:latin typeface="Calibri" pitchFamily="34" charset="0"/>
                          <a:ea typeface="Calibri" pitchFamily="34" charset="-122"/>
                          <a:cs typeface="Calibri" pitchFamily="34" charset="-120"/>
                        </a:rPr>
                        <a:t>Wer entscheidet über Produktion und Investitionen?</a:t>
                      </a:r>
                      <a:endParaRPr lang="en-US" sz="12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Unternehmen entscheiden weitgehend selbst, im Rahmen gesetzlicher Vorgaben.</a:t>
                      </a:r>
                      <a:endParaRPr lang="en-US" sz="11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Unternehmen entscheiden weitgehend selbst, der Staat lenkt in strategischen Bereichen.</a:t>
                      </a:r>
                      <a:endParaRPr lang="en-US" sz="11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Überwiegend unternehmerische Entscheidungen, der Staat greift in Schlüsselbereichen stärker ein (v. a. seit 2014/2022).</a:t>
                      </a:r>
                      <a:endParaRPr lang="en-US" sz="11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Der Staat (zentrale Planung) entscheidet, was, wie viel und wie produziert wird.</a:t>
                      </a:r>
                      <a:endParaRPr lang="en-US" sz="11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EFE3"/>
                    </a:solidFill>
                  </a:tcPr>
                </a:tc>
              </a:tr>
            </a:tbl>
          </a:graphicData>
        </a:graphic>
      </p:graphicFrame>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583680" cy="731520"/>
          </a:xfrm>
          <a:prstGeom prst="rect">
            <a:avLst/>
          </a:prstGeom>
          <a:noFill/>
          <a:ln/>
        </p:spPr>
        <p:txBody>
          <a:bodyPr wrap="square" lIns="0" tIns="0" rIns="0" bIns="0" rtlCol="0" anchor="ctr"/>
          <a:lstStyle/>
          <a:p>
            <a:pPr algn="l" indent="0" marL="0">
              <a:buNone/>
            </a:pPr>
            <a:r>
              <a:rPr lang="en-US" sz="3000" b="1" dirty="0">
                <a:solidFill>
                  <a:schemeClr val="tx2"/>
                </a:solidFill>
              </a:rPr>
              <a:t>Unsere Fragen auf einen Blick (2/3)</a:t>
            </a:r>
            <a:endParaRPr lang="en-US" sz="3000" dirty="0"/>
          </a:p>
        </p:txBody>
      </p:sp>
      <p:sp>
        <p:nvSpPr>
          <p:cNvPr id="3" name="Text 1"/>
          <p:cNvSpPr txBox="1"/>
          <p:nvPr/>
        </p:nvSpPr>
        <p:spPr>
          <a:xfrm>
            <a:off x="457200" y="987552"/>
            <a:ext cx="5486400" cy="228600"/>
          </a:xfrm>
          <a:prstGeom prst="rect">
            <a:avLst/>
          </a:prstGeom>
          <a:noFill/>
          <a:ln/>
        </p:spPr>
        <p:txBody>
          <a:bodyPr wrap="square" lIns="0" tIns="0" rIns="0" bIns="0" rtlCol="0" anchor="t"/>
          <a:lstStyle/>
          <a:p>
            <a:pPr indent="0" marL="0">
              <a:buNone/>
            </a:pPr>
            <a:r>
              <a:rPr lang="en-US" sz="1300" b="1" spc="200" kern="0" dirty="0">
                <a:solidFill>
                  <a:schemeClr val="accent4"/>
                </a:solidFill>
              </a:rPr>
              <a:t>IM DIREKTEN VERGLEICH</a:t>
            </a:r>
            <a:endParaRPr lang="en-US" sz="1300" dirty="0"/>
          </a:p>
        </p:txBody>
      </p:sp>
      <p:sp>
        <p:nvSpPr>
          <p:cNvPr id="4" name="Text 2"/>
          <p:cNvSpPr txBox="1"/>
          <p:nvPr/>
        </p:nvSpPr>
        <p:spPr>
          <a:xfrm>
            <a:off x="7178040" y="384048"/>
            <a:ext cx="754380" cy="201168"/>
          </a:xfrm>
          <a:prstGeom prst="rect">
            <a:avLst/>
          </a:prstGeom>
          <a:noFill/>
          <a:ln/>
        </p:spPr>
        <p:txBody>
          <a:bodyPr wrap="square" lIns="0" tIns="0" rIns="0" bIns="0" rtlCol="0" anchor="t"/>
          <a:lstStyle/>
          <a:p>
            <a:pPr indent="0" marL="0">
              <a:buNone/>
            </a:pPr>
            <a:r>
              <a:rPr lang="en-US" sz="1000" b="1" spc="200" kern="0" dirty="0">
                <a:solidFill>
                  <a:schemeClr val="tx2"/>
                </a:solidFill>
              </a:rPr>
              <a:t>MARKT</a:t>
            </a:r>
            <a:endParaRPr lang="en-US" sz="1000" dirty="0"/>
          </a:p>
        </p:txBody>
      </p:sp>
      <p:sp>
        <p:nvSpPr>
          <p:cNvPr id="5" name="Text 3"/>
          <p:cNvSpPr txBox="1"/>
          <p:nvPr/>
        </p:nvSpPr>
        <p:spPr>
          <a:xfrm>
            <a:off x="7932420" y="384048"/>
            <a:ext cx="754380" cy="201168"/>
          </a:xfrm>
          <a:prstGeom prst="rect">
            <a:avLst/>
          </a:prstGeom>
          <a:noFill/>
          <a:ln/>
        </p:spPr>
        <p:txBody>
          <a:bodyPr wrap="square" lIns="0" tIns="0" rIns="0" bIns="0" rtlCol="0" anchor="t"/>
          <a:lstStyle/>
          <a:p>
            <a:pPr algn="r" indent="0" marL="0">
              <a:buNone/>
            </a:pPr>
            <a:r>
              <a:rPr lang="en-US" sz="1000" b="1" spc="200" kern="0" dirty="0">
                <a:solidFill>
                  <a:schemeClr val="accent1"/>
                </a:solidFill>
              </a:rPr>
              <a:t>STAAT</a:t>
            </a:r>
            <a:endParaRPr lang="en-US" sz="1000" dirty="0"/>
          </a:p>
        </p:txBody>
      </p:sp>
      <p:sp>
        <p:nvSpPr>
          <p:cNvPr id="6" name="Messbalken Markt"/>
          <p:cNvSpPr/>
          <p:nvPr/>
        </p:nvSpPr>
        <p:spPr>
          <a:xfrm>
            <a:off x="7178040" y="713232"/>
            <a:ext cx="754380" cy="45720"/>
          </a:xfrm>
          <a:prstGeom prst="rect">
            <a:avLst/>
          </a:prstGeom>
          <a:solidFill>
            <a:srgbClr val="0B1F3A"/>
          </a:solidFill>
          <a:ln/>
        </p:spPr>
      </p:sp>
      <p:sp>
        <p:nvSpPr>
          <p:cNvPr id="7" name="Messbalken Staat"/>
          <p:cNvSpPr/>
          <p:nvPr/>
        </p:nvSpPr>
        <p:spPr>
          <a:xfrm>
            <a:off x="7932420" y="713232"/>
            <a:ext cx="754380" cy="45720"/>
          </a:xfrm>
          <a:prstGeom prst="rect">
            <a:avLst/>
          </a:prstGeom>
          <a:solidFill>
            <a:schemeClr val="accent1"/>
          </a:solidFill>
          <a:ln/>
        </p:spPr>
      </p:sp>
      <p:sp>
        <p:nvSpPr>
          <p:cNvPr id="8" name="Messpunkt"/>
          <p:cNvSpPr/>
          <p:nvPr/>
        </p:nvSpPr>
        <p:spPr>
          <a:xfrm>
            <a:off x="7373264" y="644652"/>
            <a:ext cx="182880" cy="182880"/>
          </a:xfrm>
          <a:prstGeom prst="ellipse">
            <a:avLst/>
          </a:prstGeom>
          <a:solidFill>
            <a:schemeClr val="bg1"/>
          </a:solidFill>
          <a:ln w="19050">
            <a:solidFill>
              <a:schemeClr val="tx2"/>
            </a:solidFill>
            <a:prstDash val="solid"/>
          </a:ln>
        </p:spPr>
      </p:sp>
      <p:sp>
        <p:nvSpPr>
          <p:cNvPr id="9" name="Messpunkt"/>
          <p:cNvSpPr/>
          <p:nvPr/>
        </p:nvSpPr>
        <p:spPr>
          <a:xfrm>
            <a:off x="7720279" y="644652"/>
            <a:ext cx="182880" cy="182880"/>
          </a:xfrm>
          <a:prstGeom prst="ellipse">
            <a:avLst/>
          </a:prstGeom>
          <a:solidFill>
            <a:schemeClr val="bg1"/>
          </a:solidFill>
          <a:ln w="19050">
            <a:solidFill>
              <a:schemeClr val="tx2"/>
            </a:solidFill>
            <a:prstDash val="solid"/>
          </a:ln>
        </p:spPr>
      </p:sp>
      <p:sp>
        <p:nvSpPr>
          <p:cNvPr id="10" name="Messpunkt"/>
          <p:cNvSpPr/>
          <p:nvPr/>
        </p:nvSpPr>
        <p:spPr>
          <a:xfrm>
            <a:off x="8067294" y="644652"/>
            <a:ext cx="182880" cy="182880"/>
          </a:xfrm>
          <a:prstGeom prst="ellipse">
            <a:avLst/>
          </a:prstGeom>
          <a:solidFill>
            <a:schemeClr val="bg1"/>
          </a:solidFill>
          <a:ln w="19050">
            <a:solidFill>
              <a:schemeClr val="tx2"/>
            </a:solidFill>
            <a:prstDash val="solid"/>
          </a:ln>
        </p:spPr>
      </p:sp>
      <p:sp>
        <p:nvSpPr>
          <p:cNvPr id="11" name="Messpunkt"/>
          <p:cNvSpPr/>
          <p:nvPr/>
        </p:nvSpPr>
        <p:spPr>
          <a:xfrm>
            <a:off x="8399221" y="644652"/>
            <a:ext cx="182880" cy="182880"/>
          </a:xfrm>
          <a:prstGeom prst="ellipse">
            <a:avLst/>
          </a:prstGeom>
          <a:solidFill>
            <a:schemeClr val="bg1"/>
          </a:solidFill>
          <a:ln w="19050">
            <a:solidFill>
              <a:schemeClr val="tx2"/>
            </a:solidFill>
            <a:prstDash val="solid"/>
          </a:ln>
        </p:spPr>
      </p:sp>
      <p:sp>
        <p:nvSpPr>
          <p:cNvPr id="12" name="KI-Kennzeichnung"/>
          <p:cNvSpPr/>
          <p:nvPr/>
        </p:nvSpPr>
        <p:spPr>
          <a:xfrm>
            <a:off x="3017520" y="987552"/>
            <a:ext cx="868680" cy="219456"/>
          </a:xfrm>
          <a:prstGeom prst="rect">
            <a:avLst/>
          </a:prstGeom>
          <a:solidFill>
            <a:schemeClr val="accent1"/>
          </a:solidFill>
          <a:ln/>
        </p:spPr>
      </p:sp>
      <p:sp>
        <p:nvSpPr>
          <p:cNvPr id="13" name="Text 11"/>
          <p:cNvSpPr txBox="1"/>
          <p:nvPr/>
        </p:nvSpPr>
        <p:spPr>
          <a:xfrm>
            <a:off x="3017520" y="987552"/>
            <a:ext cx="868680" cy="219456"/>
          </a:xfrm>
          <a:prstGeom prst="rect">
            <a:avLst/>
          </a:prstGeom>
          <a:noFill/>
          <a:ln/>
        </p:spPr>
        <p:txBody>
          <a:bodyPr wrap="square" lIns="0" tIns="0" rIns="0" bIns="0" rtlCol="0" anchor="ctr"/>
          <a:lstStyle/>
          <a:p>
            <a:pPr algn="ctr" indent="0" marL="0">
              <a:buNone/>
            </a:pPr>
            <a:r>
              <a:rPr lang="en-US" sz="1000" b="1" dirty="0">
                <a:solidFill>
                  <a:schemeClr val="bg1"/>
                </a:solidFill>
              </a:rPr>
              <a:t>KI-INHALT</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371600"/>
                <a:gridCol w="1714500"/>
                <a:gridCol w="1714500"/>
                <a:gridCol w="1714500"/>
                <a:gridCol w="1714500"/>
              </a:tblGrid>
              <a:tr h="457200">
                <a:tc>
                  <a:txBody>
                    <a:bodyPr/>
                    <a:lstStyle/>
                    <a:p>
                      <a:pPr indent="0" marL="0">
                        <a:buNone/>
                      </a:pPr>
                      <a:endParaRPr lang="en-US" sz="1200" dirty="0">
                        <a:latin typeface="Calibri" charset="0"/>
                        <a:ea typeface="Calibri" charset="0"/>
                        <a:cs typeface="Calibri" charset="0"/>
                      </a:endParaRPr>
                    </a:p>
                  </a:txBody>
                  <a:tcPr marL="64008" marR="64008" marT="36576" marB="36576">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Deutschland</a:t>
                      </a:r>
                      <a:endParaRPr lang="en-US" sz="1200" dirty="0">
                        <a:latin typeface="Calibri" charset="0"/>
                        <a:ea typeface="Calibri" charset="0"/>
                        <a:cs typeface="Calibri" charset="0"/>
                      </a:endParaRPr>
                    </a:p>
                    <a:p>
                      <a:pPr indent="0" marL="0">
                        <a:buNone/>
                      </a:pPr>
                      <a:r>
                        <a:rPr lang="en-US" sz="1100" dirty="0">
                          <a:solidFill>
                            <a:schemeClr val="accent3"/>
                          </a:solidFill>
                          <a:latin typeface="Calibri" pitchFamily="34" charset="0"/>
                          <a:ea typeface="Calibri" pitchFamily="34" charset="-122"/>
                          <a:cs typeface="Calibri" pitchFamily="34" charset="-120"/>
                        </a:rPr>
                        <a:t>Soziale Marktwirtschaft</a:t>
                      </a:r>
                      <a:endParaRPr lang="en-US" sz="1200" dirty="0">
                        <a:latin typeface="Calibri" charset="0"/>
                        <a:ea typeface="Calibri" charset="0"/>
                        <a:cs typeface="Calibri" charset="0"/>
                      </a:endParaRPr>
                    </a:p>
                  </a:txBody>
                  <a:tcPr marL="64008" marR="64008" marT="36576" marB="36576"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Marokko</a:t>
                      </a:r>
                      <a:endParaRPr lang="en-US" sz="1200" dirty="0">
                        <a:latin typeface="Calibri" charset="0"/>
                        <a:ea typeface="Calibri" charset="0"/>
                        <a:cs typeface="Calibri" charset="0"/>
                      </a:endParaRPr>
                    </a:p>
                    <a:p>
                      <a:pPr indent="0" marL="0">
                        <a:buNone/>
                      </a:pPr>
                      <a:r>
                        <a:rPr lang="en-US" sz="1100" dirty="0">
                          <a:solidFill>
                            <a:schemeClr val="accent3"/>
                          </a:solidFill>
                          <a:latin typeface="Calibri" pitchFamily="34" charset="0"/>
                          <a:ea typeface="Calibri" pitchFamily="34" charset="-122"/>
                          <a:cs typeface="Calibri" pitchFamily="34" charset="-120"/>
                        </a:rPr>
                        <a:t>Marktwirtschaft mit starker Staatsrolle</a:t>
                      </a:r>
                      <a:endParaRPr lang="en-US" sz="1200" dirty="0">
                        <a:latin typeface="Calibri" charset="0"/>
                        <a:ea typeface="Calibri" charset="0"/>
                        <a:cs typeface="Calibri" charset="0"/>
                      </a:endParaRPr>
                    </a:p>
                  </a:txBody>
                  <a:tcPr marL="64008" marR="64008" marT="36576" marB="36576"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Ukraine</a:t>
                      </a:r>
                      <a:endParaRPr lang="en-US" sz="1200" dirty="0">
                        <a:latin typeface="Calibri" charset="0"/>
                        <a:ea typeface="Calibri" charset="0"/>
                        <a:cs typeface="Calibri" charset="0"/>
                      </a:endParaRPr>
                    </a:p>
                    <a:p>
                      <a:pPr indent="0" marL="0">
                        <a:buNone/>
                      </a:pPr>
                      <a:r>
                        <a:rPr lang="en-US" sz="1100" dirty="0">
                          <a:solidFill>
                            <a:schemeClr val="accent3"/>
                          </a:solidFill>
                          <a:latin typeface="Calibri" pitchFamily="34" charset="0"/>
                          <a:ea typeface="Calibri" pitchFamily="34" charset="-122"/>
                          <a:cs typeface="Calibri" pitchFamily="34" charset="-120"/>
                        </a:rPr>
                        <a:t>Marktwirtschaft im Wandel</a:t>
                      </a:r>
                      <a:endParaRPr lang="en-US" sz="1200" dirty="0">
                        <a:latin typeface="Calibri" charset="0"/>
                        <a:ea typeface="Calibri" charset="0"/>
                        <a:cs typeface="Calibri" charset="0"/>
                      </a:endParaRPr>
                    </a:p>
                  </a:txBody>
                  <a:tcPr marL="64008" marR="64008" marT="36576" marB="36576"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Kuba</a:t>
                      </a:r>
                      <a:endParaRPr lang="en-US" sz="1200" dirty="0">
                        <a:latin typeface="Calibri" charset="0"/>
                        <a:ea typeface="Calibri" charset="0"/>
                        <a:cs typeface="Calibri" charset="0"/>
                      </a:endParaRPr>
                    </a:p>
                    <a:p>
                      <a:pPr indent="0" marL="0">
                        <a:buNone/>
                      </a:pPr>
                      <a:r>
                        <a:rPr lang="en-US" sz="1100" dirty="0">
                          <a:solidFill>
                            <a:schemeClr val="accent6"/>
                          </a:solidFill>
                          <a:latin typeface="Calibri" pitchFamily="34" charset="0"/>
                          <a:ea typeface="Calibri" pitchFamily="34" charset="-122"/>
                          <a:cs typeface="Calibri" pitchFamily="34" charset="-120"/>
                        </a:rPr>
                        <a:t>Sozialistische Planwirtschaft</a:t>
                      </a:r>
                      <a:endParaRPr lang="en-US" sz="1200" dirty="0">
                        <a:latin typeface="Calibri" charset="0"/>
                        <a:ea typeface="Calibri" charset="0"/>
                        <a:cs typeface="Calibri" charset="0"/>
                      </a:endParaRPr>
                    </a:p>
                  </a:txBody>
                  <a:tcPr marL="64008" marR="64008" marT="36576" marB="36576"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1188720">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03  </a:t>
                      </a:r>
                      <a:pPr indent="0" marL="0">
                        <a:buNone/>
                      </a:pPr>
                      <a:r>
                        <a:rPr lang="en-US" sz="1200" b="1" dirty="0">
                          <a:solidFill>
                            <a:schemeClr val="tx2"/>
                          </a:solidFill>
                          <a:latin typeface="Calibri" pitchFamily="34" charset="0"/>
                          <a:ea typeface="Calibri" pitchFamily="34" charset="-122"/>
                          <a:cs typeface="Calibri" pitchFamily="34" charset="-120"/>
                        </a:rPr>
                        <a:t>PREISBILDUNG</a:t>
                      </a:r>
                      <a:endParaRPr lang="en-US" sz="1200" dirty="0">
                        <a:latin typeface="Calibri" charset="0"/>
                        <a:ea typeface="Calibri" charset="0"/>
                        <a:cs typeface="Calibri" charset="0"/>
                      </a:endParaRPr>
                    </a:p>
                    <a:p>
                      <a:pPr indent="0" marL="0">
                        <a:buNone/>
                      </a:pPr>
                      <a:r>
                        <a:rPr lang="en-US" sz="1050" dirty="0">
                          <a:solidFill>
                            <a:srgbClr val="5B6B82"/>
                          </a:solidFill>
                          <a:latin typeface="Calibri" pitchFamily="34" charset="0"/>
                          <a:ea typeface="Calibri" pitchFamily="34" charset="-122"/>
                          <a:cs typeface="Calibri" pitchFamily="34" charset="-120"/>
                        </a:rPr>
                        <a:t>Entstehen Preise am Markt oder werden sie staatlich beeinflusst bzw. vorgegeben?</a:t>
                      </a:r>
                      <a:endParaRPr lang="en-US" sz="12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Preise entstehen am Markt durch Angebot und Nachfrage. Staatliche Eingriffe in bestimmten Bereichen.</a:t>
                      </a:r>
                      <a:endParaRPr lang="en-US" sz="11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Überwiegend Marktpreise, staatliche Einflussnahme in wichtigen Bereichen (z. B. Energie, Grundnahrungsmittel).</a:t>
                      </a:r>
                      <a:endParaRPr lang="en-US" sz="11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Überwiegend Marktpreise, aber staatliche Eingriffe und Preisregulierungen in Krisenzeiten (z. B. Energie, Grundversorgung).</a:t>
                      </a:r>
                      <a:endParaRPr lang="en-US" sz="11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Preise werden größtenteils staatlich festgelegt (Planpreise).</a:t>
                      </a:r>
                      <a:endParaRPr lang="en-US" sz="11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EFE3"/>
                    </a:solidFill>
                  </a:tcPr>
                </a:tc>
              </a:tr>
              <a:tr h="1188720">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04  </a:t>
                      </a:r>
                      <a:pPr indent="0" marL="0">
                        <a:buNone/>
                      </a:pPr>
                      <a:r>
                        <a:rPr lang="en-US" sz="1200" b="1" dirty="0">
                          <a:solidFill>
                            <a:schemeClr val="tx2"/>
                          </a:solidFill>
                          <a:latin typeface="Calibri" pitchFamily="34" charset="0"/>
                          <a:ea typeface="Calibri" pitchFamily="34" charset="-122"/>
                          <a:cs typeface="Calibri" pitchFamily="34" charset="-120"/>
                        </a:rPr>
                        <a:t>WETTBEWERB</a:t>
                      </a:r>
                      <a:endParaRPr lang="en-US" sz="1200" dirty="0">
                        <a:latin typeface="Calibri" charset="0"/>
                        <a:ea typeface="Calibri" charset="0"/>
                        <a:cs typeface="Calibri" charset="0"/>
                      </a:endParaRPr>
                    </a:p>
                    <a:p>
                      <a:pPr indent="0" marL="0">
                        <a:buNone/>
                      </a:pPr>
                      <a:r>
                        <a:rPr lang="en-US" sz="1050" dirty="0">
                          <a:solidFill>
                            <a:srgbClr val="5B6B82"/>
                          </a:solidFill>
                          <a:latin typeface="Calibri" pitchFamily="34" charset="0"/>
                          <a:ea typeface="Calibri" pitchFamily="34" charset="-122"/>
                          <a:cs typeface="Calibri" pitchFamily="34" charset="-120"/>
                        </a:rPr>
                        <a:t>Wie frei konkurrieren Unternehmen?</a:t>
                      </a:r>
                      <a:endParaRPr lang="en-US" sz="12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Freier Wettbewerb, Staat verhindert Monopole (Wettbewerbsrecht).</a:t>
                      </a:r>
                      <a:endParaRPr lang="en-US" sz="11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Grundsätzlich Wettbewerb, jedoch teils starke staatliche Einflussnahme und marktbeherrschende Staatsunternehmen.</a:t>
                      </a:r>
                      <a:endParaRPr lang="en-US" sz="11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Wettbewerb grundsätzlich vorhanden, aber durch Krieg, politische Einflüsse und staatliche Eingriffe teils eingeschränkt.</a:t>
                      </a:r>
                      <a:endParaRPr lang="en-US" sz="11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Kaum Wettbewerb, da staatliche Planung und wenige private Unternehmen.</a:t>
                      </a:r>
                      <a:endParaRPr lang="en-US" sz="11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EFE3"/>
                    </a:solidFill>
                  </a:tcPr>
                </a:tc>
              </a:tr>
            </a:tbl>
          </a:graphicData>
        </a:graphic>
      </p:graphicFrame>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583680" cy="731520"/>
          </a:xfrm>
          <a:prstGeom prst="rect">
            <a:avLst/>
          </a:prstGeom>
          <a:noFill/>
          <a:ln/>
        </p:spPr>
        <p:txBody>
          <a:bodyPr wrap="square" lIns="0" tIns="0" rIns="0" bIns="0" rtlCol="0" anchor="ctr"/>
          <a:lstStyle/>
          <a:p>
            <a:pPr algn="l" indent="0" marL="0">
              <a:buNone/>
            </a:pPr>
            <a:r>
              <a:rPr lang="en-US" sz="3000" b="1" dirty="0">
                <a:solidFill>
                  <a:schemeClr val="tx2"/>
                </a:solidFill>
              </a:rPr>
              <a:t>Unsere Fragen auf einen Blick (3/3)</a:t>
            </a:r>
            <a:endParaRPr lang="en-US" sz="3000" dirty="0"/>
          </a:p>
        </p:txBody>
      </p:sp>
      <p:sp>
        <p:nvSpPr>
          <p:cNvPr id="3" name="Text 1"/>
          <p:cNvSpPr txBox="1"/>
          <p:nvPr/>
        </p:nvSpPr>
        <p:spPr>
          <a:xfrm>
            <a:off x="457200" y="987552"/>
            <a:ext cx="5486400" cy="228600"/>
          </a:xfrm>
          <a:prstGeom prst="rect">
            <a:avLst/>
          </a:prstGeom>
          <a:noFill/>
          <a:ln/>
        </p:spPr>
        <p:txBody>
          <a:bodyPr wrap="square" lIns="0" tIns="0" rIns="0" bIns="0" rtlCol="0" anchor="t"/>
          <a:lstStyle/>
          <a:p>
            <a:pPr indent="0" marL="0">
              <a:buNone/>
            </a:pPr>
            <a:r>
              <a:rPr lang="en-US" sz="1300" b="1" spc="200" kern="0" dirty="0">
                <a:solidFill>
                  <a:schemeClr val="accent4"/>
                </a:solidFill>
              </a:rPr>
              <a:t>IM DIREKTEN VERGLEICH</a:t>
            </a:r>
            <a:endParaRPr lang="en-US" sz="1300" dirty="0"/>
          </a:p>
        </p:txBody>
      </p:sp>
      <p:sp>
        <p:nvSpPr>
          <p:cNvPr id="4" name="Text 2"/>
          <p:cNvSpPr txBox="1"/>
          <p:nvPr/>
        </p:nvSpPr>
        <p:spPr>
          <a:xfrm>
            <a:off x="7178040" y="384048"/>
            <a:ext cx="754380" cy="201168"/>
          </a:xfrm>
          <a:prstGeom prst="rect">
            <a:avLst/>
          </a:prstGeom>
          <a:noFill/>
          <a:ln/>
        </p:spPr>
        <p:txBody>
          <a:bodyPr wrap="square" lIns="0" tIns="0" rIns="0" bIns="0" rtlCol="0" anchor="t"/>
          <a:lstStyle/>
          <a:p>
            <a:pPr indent="0" marL="0">
              <a:buNone/>
            </a:pPr>
            <a:r>
              <a:rPr lang="en-US" sz="1000" b="1" spc="200" kern="0" dirty="0">
                <a:solidFill>
                  <a:schemeClr val="tx2"/>
                </a:solidFill>
              </a:rPr>
              <a:t>MARKT</a:t>
            </a:r>
            <a:endParaRPr lang="en-US" sz="1000" dirty="0"/>
          </a:p>
        </p:txBody>
      </p:sp>
      <p:sp>
        <p:nvSpPr>
          <p:cNvPr id="5" name="Text 3"/>
          <p:cNvSpPr txBox="1"/>
          <p:nvPr/>
        </p:nvSpPr>
        <p:spPr>
          <a:xfrm>
            <a:off x="7932420" y="384048"/>
            <a:ext cx="754380" cy="201168"/>
          </a:xfrm>
          <a:prstGeom prst="rect">
            <a:avLst/>
          </a:prstGeom>
          <a:noFill/>
          <a:ln/>
        </p:spPr>
        <p:txBody>
          <a:bodyPr wrap="square" lIns="0" tIns="0" rIns="0" bIns="0" rtlCol="0" anchor="t"/>
          <a:lstStyle/>
          <a:p>
            <a:pPr algn="r" indent="0" marL="0">
              <a:buNone/>
            </a:pPr>
            <a:r>
              <a:rPr lang="en-US" sz="1000" b="1" spc="200" kern="0" dirty="0">
                <a:solidFill>
                  <a:schemeClr val="accent1"/>
                </a:solidFill>
              </a:rPr>
              <a:t>STAAT</a:t>
            </a:r>
            <a:endParaRPr lang="en-US" sz="1000" dirty="0"/>
          </a:p>
        </p:txBody>
      </p:sp>
      <p:sp>
        <p:nvSpPr>
          <p:cNvPr id="6" name="Messbalken Markt"/>
          <p:cNvSpPr/>
          <p:nvPr/>
        </p:nvSpPr>
        <p:spPr>
          <a:xfrm>
            <a:off x="7178040" y="713232"/>
            <a:ext cx="754380" cy="45720"/>
          </a:xfrm>
          <a:prstGeom prst="rect">
            <a:avLst/>
          </a:prstGeom>
          <a:solidFill>
            <a:srgbClr val="0B1F3A"/>
          </a:solidFill>
          <a:ln/>
        </p:spPr>
      </p:sp>
      <p:sp>
        <p:nvSpPr>
          <p:cNvPr id="7" name="Messbalken Staat"/>
          <p:cNvSpPr/>
          <p:nvPr/>
        </p:nvSpPr>
        <p:spPr>
          <a:xfrm>
            <a:off x="7932420" y="713232"/>
            <a:ext cx="754380" cy="45720"/>
          </a:xfrm>
          <a:prstGeom prst="rect">
            <a:avLst/>
          </a:prstGeom>
          <a:solidFill>
            <a:schemeClr val="accent1"/>
          </a:solidFill>
          <a:ln/>
        </p:spPr>
      </p:sp>
      <p:sp>
        <p:nvSpPr>
          <p:cNvPr id="8" name="Messpunkt"/>
          <p:cNvSpPr/>
          <p:nvPr/>
        </p:nvSpPr>
        <p:spPr>
          <a:xfrm>
            <a:off x="7373264" y="644652"/>
            <a:ext cx="182880" cy="182880"/>
          </a:xfrm>
          <a:prstGeom prst="ellipse">
            <a:avLst/>
          </a:prstGeom>
          <a:solidFill>
            <a:schemeClr val="bg1"/>
          </a:solidFill>
          <a:ln w="19050">
            <a:solidFill>
              <a:schemeClr val="tx2"/>
            </a:solidFill>
            <a:prstDash val="solid"/>
          </a:ln>
        </p:spPr>
      </p:sp>
      <p:sp>
        <p:nvSpPr>
          <p:cNvPr id="9" name="Messpunkt"/>
          <p:cNvSpPr/>
          <p:nvPr/>
        </p:nvSpPr>
        <p:spPr>
          <a:xfrm>
            <a:off x="7720279" y="644652"/>
            <a:ext cx="182880" cy="182880"/>
          </a:xfrm>
          <a:prstGeom prst="ellipse">
            <a:avLst/>
          </a:prstGeom>
          <a:solidFill>
            <a:schemeClr val="bg1"/>
          </a:solidFill>
          <a:ln w="19050">
            <a:solidFill>
              <a:schemeClr val="tx2"/>
            </a:solidFill>
            <a:prstDash val="solid"/>
          </a:ln>
        </p:spPr>
      </p:sp>
      <p:sp>
        <p:nvSpPr>
          <p:cNvPr id="10" name="Messpunkt"/>
          <p:cNvSpPr/>
          <p:nvPr/>
        </p:nvSpPr>
        <p:spPr>
          <a:xfrm>
            <a:off x="8067294" y="644652"/>
            <a:ext cx="182880" cy="182880"/>
          </a:xfrm>
          <a:prstGeom prst="ellipse">
            <a:avLst/>
          </a:prstGeom>
          <a:solidFill>
            <a:schemeClr val="bg1"/>
          </a:solidFill>
          <a:ln w="19050">
            <a:solidFill>
              <a:schemeClr val="tx2"/>
            </a:solidFill>
            <a:prstDash val="solid"/>
          </a:ln>
        </p:spPr>
      </p:sp>
      <p:sp>
        <p:nvSpPr>
          <p:cNvPr id="11" name="Messpunkt"/>
          <p:cNvSpPr/>
          <p:nvPr/>
        </p:nvSpPr>
        <p:spPr>
          <a:xfrm>
            <a:off x="8399221" y="644652"/>
            <a:ext cx="182880" cy="182880"/>
          </a:xfrm>
          <a:prstGeom prst="ellipse">
            <a:avLst/>
          </a:prstGeom>
          <a:solidFill>
            <a:schemeClr val="bg1"/>
          </a:solidFill>
          <a:ln w="19050">
            <a:solidFill>
              <a:schemeClr val="tx2"/>
            </a:solidFill>
            <a:prstDash val="solid"/>
          </a:ln>
        </p:spPr>
      </p:sp>
      <p:sp>
        <p:nvSpPr>
          <p:cNvPr id="12" name="KI-Kennzeichnung"/>
          <p:cNvSpPr/>
          <p:nvPr/>
        </p:nvSpPr>
        <p:spPr>
          <a:xfrm>
            <a:off x="3017520" y="987552"/>
            <a:ext cx="868680" cy="219456"/>
          </a:xfrm>
          <a:prstGeom prst="rect">
            <a:avLst/>
          </a:prstGeom>
          <a:solidFill>
            <a:schemeClr val="accent1"/>
          </a:solidFill>
          <a:ln/>
        </p:spPr>
      </p:sp>
      <p:sp>
        <p:nvSpPr>
          <p:cNvPr id="13" name="Text 11"/>
          <p:cNvSpPr txBox="1"/>
          <p:nvPr/>
        </p:nvSpPr>
        <p:spPr>
          <a:xfrm>
            <a:off x="3017520" y="987552"/>
            <a:ext cx="868680" cy="219456"/>
          </a:xfrm>
          <a:prstGeom prst="rect">
            <a:avLst/>
          </a:prstGeom>
          <a:noFill/>
          <a:ln/>
        </p:spPr>
        <p:txBody>
          <a:bodyPr wrap="square" lIns="0" tIns="0" rIns="0" bIns="0" rtlCol="0" anchor="ctr"/>
          <a:lstStyle/>
          <a:p>
            <a:pPr algn="ctr" indent="0" marL="0">
              <a:buNone/>
            </a:pPr>
            <a:r>
              <a:rPr lang="en-US" sz="1000" b="1" dirty="0">
                <a:solidFill>
                  <a:schemeClr val="bg1"/>
                </a:solidFill>
              </a:rPr>
              <a:t>KI-INHALT</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371600"/>
                <a:gridCol w="1714500"/>
                <a:gridCol w="1714500"/>
                <a:gridCol w="1714500"/>
                <a:gridCol w="1714500"/>
              </a:tblGrid>
              <a:tr h="457200">
                <a:tc>
                  <a:txBody>
                    <a:bodyPr/>
                    <a:lstStyle/>
                    <a:p>
                      <a:pPr indent="0" marL="0">
                        <a:buNone/>
                      </a:pPr>
                      <a:endParaRPr lang="en-US" sz="1200" dirty="0">
                        <a:latin typeface="Calibri" charset="0"/>
                        <a:ea typeface="Calibri" charset="0"/>
                        <a:cs typeface="Calibri" charset="0"/>
                      </a:endParaRPr>
                    </a:p>
                  </a:txBody>
                  <a:tcPr marL="64008" marR="64008" marT="36576" marB="36576">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Deutschland</a:t>
                      </a:r>
                      <a:endParaRPr lang="en-US" sz="1200" dirty="0">
                        <a:latin typeface="Calibri" charset="0"/>
                        <a:ea typeface="Calibri" charset="0"/>
                        <a:cs typeface="Calibri" charset="0"/>
                      </a:endParaRPr>
                    </a:p>
                    <a:p>
                      <a:pPr indent="0" marL="0">
                        <a:buNone/>
                      </a:pPr>
                      <a:r>
                        <a:rPr lang="en-US" sz="1100" dirty="0">
                          <a:solidFill>
                            <a:schemeClr val="accent3"/>
                          </a:solidFill>
                          <a:latin typeface="Calibri" pitchFamily="34" charset="0"/>
                          <a:ea typeface="Calibri" pitchFamily="34" charset="-122"/>
                          <a:cs typeface="Calibri" pitchFamily="34" charset="-120"/>
                        </a:rPr>
                        <a:t>Soziale Marktwirtschaft</a:t>
                      </a:r>
                      <a:endParaRPr lang="en-US" sz="1200" dirty="0">
                        <a:latin typeface="Calibri" charset="0"/>
                        <a:ea typeface="Calibri" charset="0"/>
                        <a:cs typeface="Calibri" charset="0"/>
                      </a:endParaRPr>
                    </a:p>
                  </a:txBody>
                  <a:tcPr marL="64008" marR="64008" marT="36576" marB="36576"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Marokko</a:t>
                      </a:r>
                      <a:endParaRPr lang="en-US" sz="1200" dirty="0">
                        <a:latin typeface="Calibri" charset="0"/>
                        <a:ea typeface="Calibri" charset="0"/>
                        <a:cs typeface="Calibri" charset="0"/>
                      </a:endParaRPr>
                    </a:p>
                    <a:p>
                      <a:pPr indent="0" marL="0">
                        <a:buNone/>
                      </a:pPr>
                      <a:r>
                        <a:rPr lang="en-US" sz="1100" dirty="0">
                          <a:solidFill>
                            <a:schemeClr val="accent3"/>
                          </a:solidFill>
                          <a:latin typeface="Calibri" pitchFamily="34" charset="0"/>
                          <a:ea typeface="Calibri" pitchFamily="34" charset="-122"/>
                          <a:cs typeface="Calibri" pitchFamily="34" charset="-120"/>
                        </a:rPr>
                        <a:t>Marktwirtschaft mit starker Staatsrolle</a:t>
                      </a:r>
                      <a:endParaRPr lang="en-US" sz="1200" dirty="0">
                        <a:latin typeface="Calibri" charset="0"/>
                        <a:ea typeface="Calibri" charset="0"/>
                        <a:cs typeface="Calibri" charset="0"/>
                      </a:endParaRPr>
                    </a:p>
                  </a:txBody>
                  <a:tcPr marL="64008" marR="64008" marT="36576" marB="36576"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Ukraine</a:t>
                      </a:r>
                      <a:endParaRPr lang="en-US" sz="1200" dirty="0">
                        <a:latin typeface="Calibri" charset="0"/>
                        <a:ea typeface="Calibri" charset="0"/>
                        <a:cs typeface="Calibri" charset="0"/>
                      </a:endParaRPr>
                    </a:p>
                    <a:p>
                      <a:pPr indent="0" marL="0">
                        <a:buNone/>
                      </a:pPr>
                      <a:r>
                        <a:rPr lang="en-US" sz="1100" dirty="0">
                          <a:solidFill>
                            <a:schemeClr val="accent3"/>
                          </a:solidFill>
                          <a:latin typeface="Calibri" pitchFamily="34" charset="0"/>
                          <a:ea typeface="Calibri" pitchFamily="34" charset="-122"/>
                          <a:cs typeface="Calibri" pitchFamily="34" charset="-120"/>
                        </a:rPr>
                        <a:t>Marktwirtschaft im Wandel</a:t>
                      </a:r>
                      <a:endParaRPr lang="en-US" sz="1200" dirty="0">
                        <a:latin typeface="Calibri" charset="0"/>
                        <a:ea typeface="Calibri" charset="0"/>
                        <a:cs typeface="Calibri" charset="0"/>
                      </a:endParaRPr>
                    </a:p>
                  </a:txBody>
                  <a:tcPr marL="64008" marR="64008" marT="36576" marB="36576"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Kuba</a:t>
                      </a:r>
                      <a:endParaRPr lang="en-US" sz="1200" dirty="0">
                        <a:latin typeface="Calibri" charset="0"/>
                        <a:ea typeface="Calibri" charset="0"/>
                        <a:cs typeface="Calibri" charset="0"/>
                      </a:endParaRPr>
                    </a:p>
                    <a:p>
                      <a:pPr indent="0" marL="0">
                        <a:buNone/>
                      </a:pPr>
                      <a:r>
                        <a:rPr lang="en-US" sz="1100" dirty="0">
                          <a:solidFill>
                            <a:schemeClr val="accent6"/>
                          </a:solidFill>
                          <a:latin typeface="Calibri" pitchFamily="34" charset="0"/>
                          <a:ea typeface="Calibri" pitchFamily="34" charset="-122"/>
                          <a:cs typeface="Calibri" pitchFamily="34" charset="-120"/>
                        </a:rPr>
                        <a:t>Sozialistische Planwirtschaft</a:t>
                      </a:r>
                      <a:endParaRPr lang="en-US" sz="1200" dirty="0">
                        <a:latin typeface="Calibri" charset="0"/>
                        <a:ea typeface="Calibri" charset="0"/>
                        <a:cs typeface="Calibri" charset="0"/>
                      </a:endParaRPr>
                    </a:p>
                  </a:txBody>
                  <a:tcPr marL="64008" marR="64008" marT="36576" marB="36576"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1188720">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05  </a:t>
                      </a:r>
                      <a:pPr indent="0" marL="0">
                        <a:buNone/>
                      </a:pPr>
                      <a:r>
                        <a:rPr lang="en-US" sz="1200" b="1" dirty="0">
                          <a:solidFill>
                            <a:schemeClr val="tx2"/>
                          </a:solidFill>
                          <a:latin typeface="Calibri" pitchFamily="34" charset="0"/>
                          <a:ea typeface="Calibri" pitchFamily="34" charset="-122"/>
                          <a:cs typeface="Calibri" pitchFamily="34" charset="-120"/>
                        </a:rPr>
                        <a:t>ROLLE DES STAATES</a:t>
                      </a:r>
                      <a:endParaRPr lang="en-US" sz="1200" dirty="0">
                        <a:latin typeface="Calibri" charset="0"/>
                        <a:ea typeface="Calibri" charset="0"/>
                        <a:cs typeface="Calibri" charset="0"/>
                      </a:endParaRPr>
                    </a:p>
                    <a:p>
                      <a:pPr indent="0" marL="0">
                        <a:buNone/>
                      </a:pPr>
                      <a:r>
                        <a:rPr lang="en-US" sz="1050" dirty="0">
                          <a:solidFill>
                            <a:srgbClr val="5B6B82"/>
                          </a:solidFill>
                          <a:latin typeface="Calibri" pitchFamily="34" charset="0"/>
                          <a:ea typeface="Calibri" pitchFamily="34" charset="-122"/>
                          <a:cs typeface="Calibri" pitchFamily="34" charset="-120"/>
                        </a:rPr>
                        <a:t>Setzt der Staat hauptsächlich Regeln oder steuert er wirtschaftliche Prozesse unmittelbar?</a:t>
                      </a:r>
                      <a:endParaRPr lang="en-US" sz="12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Staat setzt den rechtlichen Rahmen und greift in bestimmten Bereichen ein (z. B. Sozial-, Umwelt-, Wirtschaftspolitik).</a:t>
                      </a:r>
                      <a:endParaRPr lang="en-US" sz="11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Staat spielt eine starke lenkende Rolle, v. a. in strategischen Sektoren und bei der wirtschaftlichen Entwicklung.</a:t>
                      </a:r>
                      <a:endParaRPr lang="en-US" sz="11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Staat setzt den Rahmen und greift in Krisenzeiten stärker ein (z. B. Verteidigung, Wiederaufbau, strategische Sektoren).</a:t>
                      </a:r>
                      <a:endParaRPr lang="en-US" sz="11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Staat steuert die Wirtschaft unmittelbar durch zentrale Planung und Weisungen.</a:t>
                      </a:r>
                      <a:endParaRPr lang="en-US" sz="11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EFE3"/>
                    </a:solidFill>
                  </a:tcPr>
                </a:tc>
              </a:tr>
              <a:tr h="1188720">
                <a:tc>
                  <a:txBody>
                    <a:bodyPr/>
                    <a:lstStyle/>
                    <a:p>
                      <a:pPr indent="0" marL="0">
                        <a:buNone/>
                      </a:pPr>
                      <a:r>
                        <a:rPr lang="en-US" sz="1500" b="1" dirty="0">
                          <a:solidFill>
                            <a:schemeClr val="accent1"/>
                          </a:solidFill>
                          <a:latin typeface="Calibri" pitchFamily="34" charset="0"/>
                          <a:ea typeface="Calibri" pitchFamily="34" charset="-122"/>
                          <a:cs typeface="Calibri" pitchFamily="34" charset="-120"/>
                        </a:rPr>
                        <a:t>06  </a:t>
                      </a:r>
                      <a:pPr indent="0" marL="0">
                        <a:buNone/>
                      </a:pPr>
                      <a:r>
                        <a:rPr lang="en-US" sz="1200" b="1" dirty="0">
                          <a:solidFill>
                            <a:schemeClr val="tx2"/>
                          </a:solidFill>
                          <a:latin typeface="Calibri" pitchFamily="34" charset="0"/>
                          <a:ea typeface="Calibri" pitchFamily="34" charset="-122"/>
                          <a:cs typeface="Calibri" pitchFamily="34" charset="-120"/>
                        </a:rPr>
                        <a:t>SOZIALE SICHERUNG</a:t>
                      </a:r>
                      <a:endParaRPr lang="en-US" sz="1200" dirty="0">
                        <a:latin typeface="Calibri" charset="0"/>
                        <a:ea typeface="Calibri" charset="0"/>
                        <a:cs typeface="Calibri" charset="0"/>
                      </a:endParaRPr>
                    </a:p>
                    <a:p>
                      <a:pPr indent="0" marL="0">
                        <a:buNone/>
                      </a:pPr>
                      <a:r>
                        <a:rPr lang="en-US" sz="1050" dirty="0">
                          <a:solidFill>
                            <a:srgbClr val="5B6B82"/>
                          </a:solidFill>
                          <a:latin typeface="Calibri" pitchFamily="34" charset="0"/>
                          <a:ea typeface="Calibri" pitchFamily="34" charset="-122"/>
                          <a:cs typeface="Calibri" pitchFamily="34" charset="-120"/>
                        </a:rPr>
                        <a:t>Wie werden soziale Risiken abgesichert?</a:t>
                      </a:r>
                      <a:endParaRPr lang="en-US" sz="12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Umfassendes Sozialsystem (z. B. Kranken-, Renten-, Arbeitslosen- und Pflegeversicherung).</a:t>
                      </a:r>
                      <a:endParaRPr lang="en-US" sz="11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Staatliche Sozialprogramme (z. B. Krankenversicherung), aber geringere Absicherung. Informelle Arbeit bleibt bedeutsam.</a:t>
                      </a:r>
                      <a:endParaRPr lang="en-US" sz="11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Sozialsystem vorhanden, aber durch Krieg und wirtschaftliche Belastungen stark unter Druck. Staatliche Unterstützung und internationale Hilfe wichtig.</a:t>
                      </a:r>
                      <a:endParaRPr lang="en-US" sz="11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Grundlegende soziale Absicherung durch den Staat (z. B. Gesundheit, Bildung), aber begrenzte Ressourcen und niedriges Einkommensniveau.</a:t>
                      </a:r>
                      <a:endParaRPr lang="en-US" sz="1100" dirty="0">
                        <a:latin typeface="Calibri" charset="0"/>
                        <a:ea typeface="Calibri" charset="0"/>
                        <a:cs typeface="Calibri" charset="0"/>
                      </a:endParaRPr>
                    </a:p>
                  </a:txBody>
                  <a:tcPr marL="64008" marR="64008" marT="36576" marB="36576" anchor="t">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EFE3"/>
                    </a:solidFill>
                  </a:tcPr>
                </a:tc>
              </a:tr>
            </a:tbl>
          </a:graphicData>
        </a:graphic>
      </p:graphicFrame>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457200" y="548640"/>
            <a:ext cx="4023360" cy="1554480"/>
          </a:xfrm>
          <a:prstGeom prst="rect">
            <a:avLst/>
          </a:prstGeom>
          <a:noFill/>
          <a:ln/>
        </p:spPr>
        <p:txBody>
          <a:bodyPr wrap="square" lIns="0" tIns="0" rIns="0" bIns="0" rtlCol="0" anchor="t"/>
          <a:lstStyle/>
          <a:p>
            <a:pPr algn="l" indent="0" marL="0">
              <a:buNone/>
            </a:pPr>
            <a:r>
              <a:rPr lang="en-US" sz="3600" b="1" dirty="0">
                <a:solidFill>
                  <a:schemeClr val="bg1"/>
                </a:solidFill>
              </a:rPr>
              <a:t>Was heißt das für ein Café?</a:t>
            </a:r>
            <a:endParaRPr lang="en-US" sz="3600" dirty="0"/>
          </a:p>
        </p:txBody>
      </p:sp>
      <p:pic>
        <p:nvPicPr>
          <p:cNvPr id="3" name="Image 0" descr="Café-Inhaberin bei der Arbeit">    </p:cNvPr>
          <p:cNvPicPr>
            <a:picLocks noChangeAspect="1"/>
          </p:cNvPicPr>
          <p:nvPr/>
        </p:nvPicPr>
        <p:blipFill>
          <a:blip r:embed="rId1"/>
          <a:stretch>
            <a:fillRect/>
          </a:stretch>
        </p:blipFill>
        <p:spPr>
          <a:xfrm>
            <a:off x="5120640" y="0"/>
            <a:ext cx="4023360" cy="4800600"/>
          </a:xfrm>
          <a:prstGeom prst="rect">
            <a:avLst/>
          </a:prstGeom>
        </p:spPr>
      </p:pic>
      <p:sp>
        <p:nvSpPr>
          <p:cNvPr id="4" name="Text 1"/>
          <p:cNvSpPr txBox="1"/>
          <p:nvPr/>
        </p:nvSpPr>
        <p:spPr>
          <a:xfrm>
            <a:off x="457200" y="2148840"/>
            <a:ext cx="640080" cy="5029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01</a:t>
            </a:r>
            <a:endParaRPr lang="en-US" sz="2400" dirty="0"/>
          </a:p>
        </p:txBody>
      </p:sp>
      <p:sp>
        <p:nvSpPr>
          <p:cNvPr id="5" name="Text 2"/>
          <p:cNvSpPr txBox="1"/>
          <p:nvPr/>
        </p:nvSpPr>
        <p:spPr>
          <a:xfrm>
            <a:off x="1143000" y="2148840"/>
            <a:ext cx="3474720" cy="502920"/>
          </a:xfrm>
          <a:prstGeom prst="rect">
            <a:avLst/>
          </a:prstGeom>
          <a:noFill/>
          <a:ln/>
        </p:spPr>
        <p:txBody>
          <a:bodyPr wrap="square" lIns="0" tIns="0" rIns="0" bIns="0" rtlCol="0" anchor="ctr"/>
          <a:lstStyle/>
          <a:p>
            <a:pPr indent="0" marL="0">
              <a:buNone/>
            </a:pPr>
            <a:r>
              <a:rPr lang="en-US" sz="1800" dirty="0">
                <a:solidFill>
                  <a:schemeClr val="bg1"/>
                </a:solidFill>
              </a:rPr>
              <a:t>Wer darf gründen?</a:t>
            </a:r>
            <a:endParaRPr lang="en-US" sz="1800" dirty="0"/>
          </a:p>
        </p:txBody>
      </p:sp>
      <p:sp>
        <p:nvSpPr>
          <p:cNvPr id="6" name="Text 3"/>
          <p:cNvSpPr txBox="1"/>
          <p:nvPr/>
        </p:nvSpPr>
        <p:spPr>
          <a:xfrm>
            <a:off x="457200" y="2761488"/>
            <a:ext cx="640080" cy="5029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02</a:t>
            </a:r>
            <a:endParaRPr lang="en-US" sz="2400" dirty="0"/>
          </a:p>
        </p:txBody>
      </p:sp>
      <p:sp>
        <p:nvSpPr>
          <p:cNvPr id="7" name="Text 4"/>
          <p:cNvSpPr txBox="1"/>
          <p:nvPr/>
        </p:nvSpPr>
        <p:spPr>
          <a:xfrm>
            <a:off x="1143000" y="2761488"/>
            <a:ext cx="3474720" cy="502920"/>
          </a:xfrm>
          <a:prstGeom prst="rect">
            <a:avLst/>
          </a:prstGeom>
          <a:noFill/>
          <a:ln/>
        </p:spPr>
        <p:txBody>
          <a:bodyPr wrap="square" lIns="0" tIns="0" rIns="0" bIns="0" rtlCol="0" anchor="ctr"/>
          <a:lstStyle/>
          <a:p>
            <a:pPr indent="0" marL="0">
              <a:buNone/>
            </a:pPr>
            <a:r>
              <a:rPr lang="en-US" sz="1800" dirty="0">
                <a:solidFill>
                  <a:schemeClr val="bg1"/>
                </a:solidFill>
              </a:rPr>
              <a:t>Wer setzt Preise?</a:t>
            </a:r>
            <a:endParaRPr lang="en-US" sz="1800" dirty="0"/>
          </a:p>
        </p:txBody>
      </p:sp>
      <p:sp>
        <p:nvSpPr>
          <p:cNvPr id="8" name="Text 5"/>
          <p:cNvSpPr txBox="1"/>
          <p:nvPr/>
        </p:nvSpPr>
        <p:spPr>
          <a:xfrm>
            <a:off x="457200" y="3374136"/>
            <a:ext cx="640080" cy="5029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03</a:t>
            </a:r>
            <a:endParaRPr lang="en-US" sz="2400" dirty="0"/>
          </a:p>
        </p:txBody>
      </p:sp>
      <p:sp>
        <p:nvSpPr>
          <p:cNvPr id="9" name="Text 6"/>
          <p:cNvSpPr txBox="1"/>
          <p:nvPr/>
        </p:nvSpPr>
        <p:spPr>
          <a:xfrm>
            <a:off x="1143000" y="3374136"/>
            <a:ext cx="3474720" cy="502920"/>
          </a:xfrm>
          <a:prstGeom prst="rect">
            <a:avLst/>
          </a:prstGeom>
          <a:noFill/>
          <a:ln/>
        </p:spPr>
        <p:txBody>
          <a:bodyPr wrap="square" lIns="0" tIns="0" rIns="0" bIns="0" rtlCol="0" anchor="ctr"/>
          <a:lstStyle/>
          <a:p>
            <a:pPr indent="0" marL="0">
              <a:buNone/>
            </a:pPr>
            <a:r>
              <a:rPr lang="en-US" sz="1800" dirty="0">
                <a:solidFill>
                  <a:schemeClr val="bg1"/>
                </a:solidFill>
              </a:rPr>
              <a:t>Welche Regeln gelten?</a:t>
            </a:r>
            <a:endParaRPr lang="en-US" sz="1800" dirty="0"/>
          </a:p>
        </p:txBody>
      </p:sp>
      <p:sp>
        <p:nvSpPr>
          <p:cNvPr id="10" name="Text 7"/>
          <p:cNvSpPr txBox="1"/>
          <p:nvPr/>
        </p:nvSpPr>
        <p:spPr>
          <a:xfrm>
            <a:off x="457200" y="3986784"/>
            <a:ext cx="640080" cy="5029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04</a:t>
            </a:r>
            <a:endParaRPr lang="en-US" sz="2400" dirty="0"/>
          </a:p>
        </p:txBody>
      </p:sp>
      <p:sp>
        <p:nvSpPr>
          <p:cNvPr id="11" name="Text 8"/>
          <p:cNvSpPr txBox="1"/>
          <p:nvPr/>
        </p:nvSpPr>
        <p:spPr>
          <a:xfrm>
            <a:off x="1143000" y="3986784"/>
            <a:ext cx="3474720" cy="502920"/>
          </a:xfrm>
          <a:prstGeom prst="rect">
            <a:avLst/>
          </a:prstGeom>
          <a:noFill/>
          <a:ln/>
        </p:spPr>
        <p:txBody>
          <a:bodyPr wrap="square" lIns="0" tIns="0" rIns="0" bIns="0" rtlCol="0" anchor="ctr"/>
          <a:lstStyle/>
          <a:p>
            <a:pPr indent="0" marL="0">
              <a:buNone/>
            </a:pPr>
            <a:r>
              <a:rPr lang="en-US" sz="1800" dirty="0">
                <a:solidFill>
                  <a:schemeClr val="bg1"/>
                </a:solidFill>
              </a:rPr>
              <a:t>Woher kommen Waren?</a:t>
            </a:r>
            <a:endParaRPr lang="en-US" sz="18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583680" cy="731520"/>
          </a:xfrm>
          <a:prstGeom prst="rect">
            <a:avLst/>
          </a:prstGeom>
          <a:noFill/>
          <a:ln/>
        </p:spPr>
        <p:txBody>
          <a:bodyPr wrap="square" lIns="0" tIns="0" rIns="0" bIns="0" rtlCol="0" anchor="ctr"/>
          <a:lstStyle/>
          <a:p>
            <a:pPr algn="l" indent="0" marL="0">
              <a:buNone/>
            </a:pPr>
            <a:r>
              <a:rPr lang="en-US" sz="3000" b="1" dirty="0">
                <a:solidFill>
                  <a:schemeClr val="tx2"/>
                </a:solidFill>
              </a:rPr>
              <a:t>Wirtschaftsordnungen</a:t>
            </a:r>
            <a:endParaRPr lang="en-US" sz="3000" dirty="0"/>
          </a:p>
        </p:txBody>
      </p:sp>
      <p:sp>
        <p:nvSpPr>
          <p:cNvPr id="3" name="Text 1"/>
          <p:cNvSpPr txBox="1"/>
          <p:nvPr/>
        </p:nvSpPr>
        <p:spPr>
          <a:xfrm>
            <a:off x="457200" y="987552"/>
            <a:ext cx="5486400" cy="274320"/>
          </a:xfrm>
          <a:prstGeom prst="rect">
            <a:avLst/>
          </a:prstGeom>
          <a:noFill/>
          <a:ln/>
        </p:spPr>
        <p:txBody>
          <a:bodyPr wrap="square" lIns="0" tIns="0" rIns="0" bIns="0" rtlCol="0" anchor="t"/>
          <a:lstStyle/>
          <a:p>
            <a:pPr indent="0" marL="0">
              <a:buNone/>
            </a:pPr>
            <a:r>
              <a:rPr lang="en-US" sz="1800" b="1" dirty="0">
                <a:solidFill>
                  <a:schemeClr val="accent4"/>
                </a:solidFill>
                <a:latin typeface="Cambria" pitchFamily="34" charset="0"/>
                <a:ea typeface="Cambria" pitchFamily="34" charset="-122"/>
                <a:cs typeface="Cambria" pitchFamily="34" charset="-120"/>
              </a:rPr>
              <a:t>Ein Café in vier Ländern</a:t>
            </a:r>
            <a:endParaRPr lang="en-US" sz="1800" dirty="0"/>
          </a:p>
        </p:txBody>
      </p:sp>
      <p:sp>
        <p:nvSpPr>
          <p:cNvPr id="4" name="Text 2"/>
          <p:cNvSpPr txBox="1"/>
          <p:nvPr/>
        </p:nvSpPr>
        <p:spPr>
          <a:xfrm>
            <a:off x="7178040" y="384048"/>
            <a:ext cx="754380" cy="201168"/>
          </a:xfrm>
          <a:prstGeom prst="rect">
            <a:avLst/>
          </a:prstGeom>
          <a:noFill/>
          <a:ln/>
        </p:spPr>
        <p:txBody>
          <a:bodyPr wrap="square" lIns="0" tIns="0" rIns="0" bIns="0" rtlCol="0" anchor="t"/>
          <a:lstStyle/>
          <a:p>
            <a:pPr indent="0" marL="0">
              <a:buNone/>
            </a:pPr>
            <a:r>
              <a:rPr lang="en-US" sz="1000" b="1" spc="200" kern="0" dirty="0">
                <a:solidFill>
                  <a:schemeClr val="tx2"/>
                </a:solidFill>
              </a:rPr>
              <a:t>MARKT</a:t>
            </a:r>
            <a:endParaRPr lang="en-US" sz="1000" dirty="0"/>
          </a:p>
        </p:txBody>
      </p:sp>
      <p:sp>
        <p:nvSpPr>
          <p:cNvPr id="5" name="Text 3"/>
          <p:cNvSpPr txBox="1"/>
          <p:nvPr/>
        </p:nvSpPr>
        <p:spPr>
          <a:xfrm>
            <a:off x="7932420" y="384048"/>
            <a:ext cx="754380" cy="201168"/>
          </a:xfrm>
          <a:prstGeom prst="rect">
            <a:avLst/>
          </a:prstGeom>
          <a:noFill/>
          <a:ln/>
        </p:spPr>
        <p:txBody>
          <a:bodyPr wrap="square" lIns="0" tIns="0" rIns="0" bIns="0" rtlCol="0" anchor="t"/>
          <a:lstStyle/>
          <a:p>
            <a:pPr algn="r" indent="0" marL="0">
              <a:buNone/>
            </a:pPr>
            <a:r>
              <a:rPr lang="en-US" sz="1000" b="1" spc="200" kern="0" dirty="0">
                <a:solidFill>
                  <a:schemeClr val="accent1"/>
                </a:solidFill>
              </a:rPr>
              <a:t>STAAT</a:t>
            </a:r>
            <a:endParaRPr lang="en-US" sz="1000" dirty="0"/>
          </a:p>
        </p:txBody>
      </p:sp>
      <p:sp>
        <p:nvSpPr>
          <p:cNvPr id="6" name="Messbalken Markt"/>
          <p:cNvSpPr/>
          <p:nvPr/>
        </p:nvSpPr>
        <p:spPr>
          <a:xfrm>
            <a:off x="7178040" y="713232"/>
            <a:ext cx="754380" cy="45720"/>
          </a:xfrm>
          <a:prstGeom prst="rect">
            <a:avLst/>
          </a:prstGeom>
          <a:solidFill>
            <a:srgbClr val="0B1F3A"/>
          </a:solidFill>
          <a:ln/>
        </p:spPr>
      </p:sp>
      <p:sp>
        <p:nvSpPr>
          <p:cNvPr id="7" name="Messbalken Staat"/>
          <p:cNvSpPr/>
          <p:nvPr/>
        </p:nvSpPr>
        <p:spPr>
          <a:xfrm>
            <a:off x="7932420" y="713232"/>
            <a:ext cx="754380" cy="45720"/>
          </a:xfrm>
          <a:prstGeom prst="rect">
            <a:avLst/>
          </a:prstGeom>
          <a:solidFill>
            <a:schemeClr val="accent1"/>
          </a:solidFill>
          <a:ln/>
        </p:spPr>
      </p:sp>
      <p:sp>
        <p:nvSpPr>
          <p:cNvPr id="8" name="Messpunkt"/>
          <p:cNvSpPr/>
          <p:nvPr/>
        </p:nvSpPr>
        <p:spPr>
          <a:xfrm>
            <a:off x="7373264" y="644652"/>
            <a:ext cx="182880" cy="182880"/>
          </a:xfrm>
          <a:prstGeom prst="ellipse">
            <a:avLst/>
          </a:prstGeom>
          <a:solidFill>
            <a:schemeClr val="bg1"/>
          </a:solidFill>
          <a:ln w="19050">
            <a:solidFill>
              <a:schemeClr val="tx2"/>
            </a:solidFill>
            <a:prstDash val="solid"/>
          </a:ln>
        </p:spPr>
      </p:sp>
      <p:sp>
        <p:nvSpPr>
          <p:cNvPr id="9" name="Messpunkt"/>
          <p:cNvSpPr/>
          <p:nvPr/>
        </p:nvSpPr>
        <p:spPr>
          <a:xfrm>
            <a:off x="7720279" y="644652"/>
            <a:ext cx="182880" cy="182880"/>
          </a:xfrm>
          <a:prstGeom prst="ellipse">
            <a:avLst/>
          </a:prstGeom>
          <a:solidFill>
            <a:schemeClr val="bg1"/>
          </a:solidFill>
          <a:ln w="19050">
            <a:solidFill>
              <a:schemeClr val="tx2"/>
            </a:solidFill>
            <a:prstDash val="solid"/>
          </a:ln>
        </p:spPr>
      </p:sp>
      <p:sp>
        <p:nvSpPr>
          <p:cNvPr id="10" name="Messpunkt"/>
          <p:cNvSpPr/>
          <p:nvPr/>
        </p:nvSpPr>
        <p:spPr>
          <a:xfrm>
            <a:off x="8067294" y="644652"/>
            <a:ext cx="182880" cy="182880"/>
          </a:xfrm>
          <a:prstGeom prst="ellipse">
            <a:avLst/>
          </a:prstGeom>
          <a:solidFill>
            <a:schemeClr val="bg1"/>
          </a:solidFill>
          <a:ln w="19050">
            <a:solidFill>
              <a:schemeClr val="tx2"/>
            </a:solidFill>
            <a:prstDash val="solid"/>
          </a:ln>
        </p:spPr>
      </p:sp>
      <p:sp>
        <p:nvSpPr>
          <p:cNvPr id="11" name="Messpunkt"/>
          <p:cNvSpPr/>
          <p:nvPr/>
        </p:nvSpPr>
        <p:spPr>
          <a:xfrm>
            <a:off x="8399221" y="644652"/>
            <a:ext cx="182880" cy="182880"/>
          </a:xfrm>
          <a:prstGeom prst="ellipse">
            <a:avLst/>
          </a:prstGeom>
          <a:solidFill>
            <a:schemeClr val="bg1"/>
          </a:solidFill>
          <a:ln w="19050">
            <a:solidFill>
              <a:schemeClr val="tx2"/>
            </a:solidFill>
            <a:prstDash val="solid"/>
          </a:ln>
        </p:spPr>
      </p:sp>
      <p:sp>
        <p:nvSpPr>
          <p:cNvPr id="12" name="KI-Kennzeichnung"/>
          <p:cNvSpPr/>
          <p:nvPr/>
        </p:nvSpPr>
        <p:spPr>
          <a:xfrm>
            <a:off x="6309360" y="4828032"/>
            <a:ext cx="868680" cy="219456"/>
          </a:xfrm>
          <a:prstGeom prst="rect">
            <a:avLst/>
          </a:prstGeom>
          <a:solidFill>
            <a:schemeClr val="accent1"/>
          </a:solidFill>
          <a:ln/>
        </p:spPr>
      </p:sp>
      <p:sp>
        <p:nvSpPr>
          <p:cNvPr id="13" name="Text 11"/>
          <p:cNvSpPr txBox="1"/>
          <p:nvPr/>
        </p:nvSpPr>
        <p:spPr>
          <a:xfrm>
            <a:off x="6309360" y="4828032"/>
            <a:ext cx="868680" cy="219456"/>
          </a:xfrm>
          <a:prstGeom prst="rect">
            <a:avLst/>
          </a:prstGeom>
          <a:noFill/>
          <a:ln/>
        </p:spPr>
        <p:txBody>
          <a:bodyPr wrap="square" lIns="0" tIns="0" rIns="0" bIns="0" rtlCol="0" anchor="ctr"/>
          <a:lstStyle/>
          <a:p>
            <a:pPr algn="ctr" indent="0" marL="0">
              <a:buNone/>
            </a:pPr>
            <a:r>
              <a:rPr lang="en-US" sz="1000" b="1" dirty="0">
                <a:solidFill>
                  <a:schemeClr val="bg1"/>
                </a:solidFill>
              </a:rPr>
              <a:t>KI-INHALT</a:t>
            </a:r>
            <a:endParaRPr lang="en-US" sz="1000" dirty="0"/>
          </a:p>
        </p:txBody>
      </p:sp>
      <p:sp>
        <p:nvSpPr>
          <p:cNvPr id="14" name="Café-Karte Deutschland"/>
          <p:cNvSpPr/>
          <p:nvPr/>
        </p:nvSpPr>
        <p:spPr>
          <a:xfrm>
            <a:off x="457200" y="1417320"/>
            <a:ext cx="1920240" cy="3291840"/>
          </a:xfrm>
          <a:prstGeom prst="rect">
            <a:avLst/>
          </a:prstGeom>
          <a:solidFill>
            <a:schemeClr val="tx2"/>
          </a:solidFill>
          <a:ln/>
        </p:spPr>
      </p:sp>
      <p:sp>
        <p:nvSpPr>
          <p:cNvPr id="15" name="Text 13"/>
          <p:cNvSpPr txBox="1"/>
          <p:nvPr/>
        </p:nvSpPr>
        <p:spPr>
          <a:xfrm>
            <a:off x="640080" y="1536192"/>
            <a:ext cx="1554480" cy="274320"/>
          </a:xfrm>
          <a:prstGeom prst="rect">
            <a:avLst/>
          </a:prstGeom>
          <a:noFill/>
          <a:ln/>
        </p:spPr>
        <p:txBody>
          <a:bodyPr wrap="square" lIns="0" tIns="0" rIns="0" bIns="0" rtlCol="0" anchor="t"/>
          <a:lstStyle/>
          <a:p>
            <a:pPr indent="0" marL="0">
              <a:buNone/>
            </a:pPr>
            <a:r>
              <a:rPr lang="en-US" sz="1400" b="1" spc="100" kern="0" dirty="0">
                <a:solidFill>
                  <a:schemeClr val="accent1"/>
                </a:solidFill>
              </a:rPr>
              <a:t>DEUTSCHLAND</a:t>
            </a:r>
            <a:endParaRPr lang="en-US" sz="1400" dirty="0"/>
          </a:p>
        </p:txBody>
      </p:sp>
      <p:sp>
        <p:nvSpPr>
          <p:cNvPr id="16" name="Icon-Kreis"/>
          <p:cNvSpPr/>
          <p:nvPr/>
        </p:nvSpPr>
        <p:spPr>
          <a:xfrm>
            <a:off x="640080" y="1874520"/>
            <a:ext cx="548640" cy="548640"/>
          </a:xfrm>
          <a:prstGeom prst="ellipse">
            <a:avLst/>
          </a:prstGeom>
          <a:solidFill>
            <a:schemeClr val="accent1"/>
          </a:solidFill>
          <a:ln w="12700">
            <a:solidFill>
              <a:schemeClr val="accent1"/>
            </a:solidFill>
            <a:prstDash val="solid"/>
          </a:ln>
        </p:spPr>
      </p:sp>
      <p:pic>
        <p:nvPicPr>
          <p:cNvPr id="17" name="Image 0" descr="Coffee">    </p:cNvPr>
          <p:cNvPicPr>
            <a:picLocks noChangeAspect="1"/>
          </p:cNvPicPr>
          <p:nvPr/>
        </p:nvPicPr>
        <p:blipFill>
          <a:blip r:embed="rId1"/>
          <a:stretch>
            <a:fillRect/>
          </a:stretch>
        </p:blipFill>
        <p:spPr>
          <a:xfrm>
            <a:off x="771754" y="2006194"/>
            <a:ext cx="285293" cy="285293"/>
          </a:xfrm>
          <a:prstGeom prst="rect">
            <a:avLst/>
          </a:prstGeom>
        </p:spPr>
      </p:pic>
      <p:sp>
        <p:nvSpPr>
          <p:cNvPr id="18" name="Text 15"/>
          <p:cNvSpPr txBox="1"/>
          <p:nvPr/>
        </p:nvSpPr>
        <p:spPr>
          <a:xfrm>
            <a:off x="640080" y="2578608"/>
            <a:ext cx="1627632" cy="2103120"/>
          </a:xfrm>
          <a:prstGeom prst="rect">
            <a:avLst/>
          </a:prstGeom>
          <a:noFill/>
          <a:ln/>
        </p:spPr>
        <p:txBody>
          <a:bodyPr wrap="square" lIns="0" tIns="0" rIns="0" bIns="0" rtlCol="0" anchor="t"/>
          <a:lstStyle/>
          <a:p>
            <a:pPr indent="0" marL="0">
              <a:buNone/>
            </a:pPr>
            <a:r>
              <a:rPr lang="en-US" sz="1300" b="1" dirty="0">
                <a:solidFill>
                  <a:schemeClr val="bg1"/>
                </a:solidFill>
              </a:rPr>
              <a:t>Private Gründung;</a:t>
            </a:r>
            <a:endParaRPr lang="en-US" sz="1300" dirty="0"/>
          </a:p>
          <a:p>
            <a:pPr indent="0" marL="0">
              <a:buNone/>
            </a:pPr>
            <a:r>
              <a:rPr lang="en-US" sz="1300" dirty="0">
                <a:solidFill>
                  <a:schemeClr val="bg1"/>
                </a:solidFill>
              </a:rPr>
              <a:t>freie unternehmerische Entscheidungen, aber klare Regeln zu Arbeit, Steuern und Hygiene.</a:t>
            </a:r>
            <a:endParaRPr lang="en-US" sz="1300" dirty="0"/>
          </a:p>
        </p:txBody>
      </p:sp>
      <p:sp>
        <p:nvSpPr>
          <p:cNvPr id="19" name="Café-Karte Marokko"/>
          <p:cNvSpPr/>
          <p:nvPr/>
        </p:nvSpPr>
        <p:spPr>
          <a:xfrm>
            <a:off x="2560320" y="1417320"/>
            <a:ext cx="1920240" cy="3291840"/>
          </a:xfrm>
          <a:prstGeom prst="rect">
            <a:avLst/>
          </a:prstGeom>
          <a:solidFill>
            <a:schemeClr val="tx2"/>
          </a:solidFill>
          <a:ln/>
        </p:spPr>
      </p:sp>
      <p:sp>
        <p:nvSpPr>
          <p:cNvPr id="20" name="Text 17"/>
          <p:cNvSpPr txBox="1"/>
          <p:nvPr/>
        </p:nvSpPr>
        <p:spPr>
          <a:xfrm>
            <a:off x="2743200" y="1536192"/>
            <a:ext cx="1554480" cy="274320"/>
          </a:xfrm>
          <a:prstGeom prst="rect">
            <a:avLst/>
          </a:prstGeom>
          <a:noFill/>
          <a:ln/>
        </p:spPr>
        <p:txBody>
          <a:bodyPr wrap="square" lIns="0" tIns="0" rIns="0" bIns="0" rtlCol="0" anchor="t"/>
          <a:lstStyle/>
          <a:p>
            <a:pPr indent="0" marL="0">
              <a:buNone/>
            </a:pPr>
            <a:r>
              <a:rPr lang="en-US" sz="1400" b="1" spc="100" kern="0" dirty="0">
                <a:solidFill>
                  <a:schemeClr val="accent1"/>
                </a:solidFill>
              </a:rPr>
              <a:t>MAROKKO</a:t>
            </a:r>
            <a:endParaRPr lang="en-US" sz="1400" dirty="0"/>
          </a:p>
        </p:txBody>
      </p:sp>
      <p:sp>
        <p:nvSpPr>
          <p:cNvPr id="21" name="Icon-Kreis"/>
          <p:cNvSpPr/>
          <p:nvPr/>
        </p:nvSpPr>
        <p:spPr>
          <a:xfrm>
            <a:off x="2743200" y="1874520"/>
            <a:ext cx="548640" cy="548640"/>
          </a:xfrm>
          <a:prstGeom prst="ellipse">
            <a:avLst/>
          </a:prstGeom>
          <a:solidFill>
            <a:schemeClr val="accent1"/>
          </a:solidFill>
          <a:ln w="12700">
            <a:solidFill>
              <a:schemeClr val="accent1"/>
            </a:solidFill>
            <a:prstDash val="solid"/>
          </a:ln>
        </p:spPr>
      </p:sp>
      <p:pic>
        <p:nvPicPr>
          <p:cNvPr id="22" name="Image 1" descr="Coffee">    </p:cNvPr>
          <p:cNvPicPr>
            <a:picLocks noChangeAspect="1"/>
          </p:cNvPicPr>
          <p:nvPr/>
        </p:nvPicPr>
        <p:blipFill>
          <a:blip r:embed="rId2"/>
          <a:stretch>
            <a:fillRect/>
          </a:stretch>
        </p:blipFill>
        <p:spPr>
          <a:xfrm>
            <a:off x="2874874" y="2006194"/>
            <a:ext cx="285293" cy="285293"/>
          </a:xfrm>
          <a:prstGeom prst="rect">
            <a:avLst/>
          </a:prstGeom>
        </p:spPr>
      </p:pic>
      <p:sp>
        <p:nvSpPr>
          <p:cNvPr id="23" name="Text 19"/>
          <p:cNvSpPr txBox="1"/>
          <p:nvPr/>
        </p:nvSpPr>
        <p:spPr>
          <a:xfrm>
            <a:off x="2743200" y="2578608"/>
            <a:ext cx="1627632" cy="2103120"/>
          </a:xfrm>
          <a:prstGeom prst="rect">
            <a:avLst/>
          </a:prstGeom>
          <a:noFill/>
          <a:ln/>
        </p:spPr>
        <p:txBody>
          <a:bodyPr wrap="square" lIns="0" tIns="0" rIns="0" bIns="0" rtlCol="0" anchor="t"/>
          <a:lstStyle/>
          <a:p>
            <a:pPr indent="0" marL="0">
              <a:buNone/>
            </a:pPr>
            <a:r>
              <a:rPr lang="en-US" sz="1300" b="1" dirty="0">
                <a:solidFill>
                  <a:schemeClr val="bg1"/>
                </a:solidFill>
              </a:rPr>
              <a:t>Private Gründung;</a:t>
            </a:r>
            <a:endParaRPr lang="en-US" sz="1300" dirty="0"/>
          </a:p>
          <a:p>
            <a:pPr indent="0" marL="0">
              <a:buNone/>
            </a:pPr>
            <a:r>
              <a:rPr lang="en-US" sz="1300" dirty="0">
                <a:solidFill>
                  <a:schemeClr val="bg1"/>
                </a:solidFill>
              </a:rPr>
              <a:t>Finanzierung, Bürokratie und Formalisierung können wichtige Hürden sein.</a:t>
            </a:r>
            <a:endParaRPr lang="en-US" sz="1300" dirty="0"/>
          </a:p>
        </p:txBody>
      </p:sp>
      <p:sp>
        <p:nvSpPr>
          <p:cNvPr id="24" name="Café-Karte Ukraine"/>
          <p:cNvSpPr/>
          <p:nvPr/>
        </p:nvSpPr>
        <p:spPr>
          <a:xfrm>
            <a:off x="4663440" y="1417320"/>
            <a:ext cx="1920240" cy="3291840"/>
          </a:xfrm>
          <a:prstGeom prst="rect">
            <a:avLst/>
          </a:prstGeom>
          <a:solidFill>
            <a:schemeClr val="tx2"/>
          </a:solidFill>
          <a:ln/>
        </p:spPr>
      </p:sp>
      <p:sp>
        <p:nvSpPr>
          <p:cNvPr id="25" name="Text 21"/>
          <p:cNvSpPr txBox="1"/>
          <p:nvPr/>
        </p:nvSpPr>
        <p:spPr>
          <a:xfrm>
            <a:off x="4846320" y="1536192"/>
            <a:ext cx="1554480" cy="274320"/>
          </a:xfrm>
          <a:prstGeom prst="rect">
            <a:avLst/>
          </a:prstGeom>
          <a:noFill/>
          <a:ln/>
        </p:spPr>
        <p:txBody>
          <a:bodyPr wrap="square" lIns="0" tIns="0" rIns="0" bIns="0" rtlCol="0" anchor="t"/>
          <a:lstStyle/>
          <a:p>
            <a:pPr indent="0" marL="0">
              <a:buNone/>
            </a:pPr>
            <a:r>
              <a:rPr lang="en-US" sz="1400" b="1" spc="100" kern="0" dirty="0">
                <a:solidFill>
                  <a:schemeClr val="accent1"/>
                </a:solidFill>
              </a:rPr>
              <a:t>UKRAINE</a:t>
            </a:r>
            <a:endParaRPr lang="en-US" sz="1400" dirty="0"/>
          </a:p>
        </p:txBody>
      </p:sp>
      <p:sp>
        <p:nvSpPr>
          <p:cNvPr id="26" name="Icon-Kreis"/>
          <p:cNvSpPr/>
          <p:nvPr/>
        </p:nvSpPr>
        <p:spPr>
          <a:xfrm>
            <a:off x="4846320" y="1874520"/>
            <a:ext cx="548640" cy="548640"/>
          </a:xfrm>
          <a:prstGeom prst="ellipse">
            <a:avLst/>
          </a:prstGeom>
          <a:solidFill>
            <a:schemeClr val="accent1"/>
          </a:solidFill>
          <a:ln w="12700">
            <a:solidFill>
              <a:schemeClr val="accent1"/>
            </a:solidFill>
            <a:prstDash val="solid"/>
          </a:ln>
        </p:spPr>
      </p:sp>
      <p:pic>
        <p:nvPicPr>
          <p:cNvPr id="27" name="Image 2" descr="Coffee">    </p:cNvPr>
          <p:cNvPicPr>
            <a:picLocks noChangeAspect="1"/>
          </p:cNvPicPr>
          <p:nvPr/>
        </p:nvPicPr>
        <p:blipFill>
          <a:blip r:embed="rId3"/>
          <a:stretch>
            <a:fillRect/>
          </a:stretch>
        </p:blipFill>
        <p:spPr>
          <a:xfrm>
            <a:off x="4977994" y="2006194"/>
            <a:ext cx="285293" cy="285293"/>
          </a:xfrm>
          <a:prstGeom prst="rect">
            <a:avLst/>
          </a:prstGeom>
        </p:spPr>
      </p:pic>
      <p:sp>
        <p:nvSpPr>
          <p:cNvPr id="28" name="Text 23"/>
          <p:cNvSpPr txBox="1"/>
          <p:nvPr/>
        </p:nvSpPr>
        <p:spPr>
          <a:xfrm>
            <a:off x="4846320" y="2578608"/>
            <a:ext cx="1627632" cy="2103120"/>
          </a:xfrm>
          <a:prstGeom prst="rect">
            <a:avLst/>
          </a:prstGeom>
          <a:noFill/>
          <a:ln/>
        </p:spPr>
        <p:txBody>
          <a:bodyPr wrap="square" lIns="0" tIns="0" rIns="0" bIns="0" rtlCol="0" anchor="t"/>
          <a:lstStyle/>
          <a:p>
            <a:pPr indent="0" marL="0">
              <a:buNone/>
            </a:pPr>
            <a:r>
              <a:rPr lang="en-US" sz="1300" b="1" dirty="0">
                <a:solidFill>
                  <a:schemeClr val="bg1"/>
                </a:solidFill>
              </a:rPr>
              <a:t>Private Gründung;</a:t>
            </a:r>
            <a:endParaRPr lang="en-US" sz="1300" dirty="0"/>
          </a:p>
          <a:p>
            <a:pPr indent="0" marL="0">
              <a:buNone/>
            </a:pPr>
            <a:r>
              <a:rPr lang="en-US" sz="1300" dirty="0">
                <a:solidFill>
                  <a:schemeClr val="bg1"/>
                </a:solidFill>
              </a:rPr>
              <a:t>Krieg, Energieversorgung und Wiederaufbau erhöhen die wirtschaftlichen Risiken.</a:t>
            </a:r>
            <a:endParaRPr lang="en-US" sz="1300" dirty="0"/>
          </a:p>
        </p:txBody>
      </p:sp>
      <p:sp>
        <p:nvSpPr>
          <p:cNvPr id="29" name="Café-Karte Kuba"/>
          <p:cNvSpPr/>
          <p:nvPr/>
        </p:nvSpPr>
        <p:spPr>
          <a:xfrm>
            <a:off x="6766560" y="1417320"/>
            <a:ext cx="1920240" cy="3291840"/>
          </a:xfrm>
          <a:prstGeom prst="rect">
            <a:avLst/>
          </a:prstGeom>
          <a:solidFill>
            <a:schemeClr val="tx2"/>
          </a:solidFill>
          <a:ln/>
        </p:spPr>
      </p:sp>
      <p:sp>
        <p:nvSpPr>
          <p:cNvPr id="30" name="Text 25"/>
          <p:cNvSpPr txBox="1"/>
          <p:nvPr/>
        </p:nvSpPr>
        <p:spPr>
          <a:xfrm>
            <a:off x="6949440" y="1536192"/>
            <a:ext cx="1554480" cy="274320"/>
          </a:xfrm>
          <a:prstGeom prst="rect">
            <a:avLst/>
          </a:prstGeom>
          <a:noFill/>
          <a:ln/>
        </p:spPr>
        <p:txBody>
          <a:bodyPr wrap="square" lIns="0" tIns="0" rIns="0" bIns="0" rtlCol="0" anchor="t"/>
          <a:lstStyle/>
          <a:p>
            <a:pPr indent="0" marL="0">
              <a:buNone/>
            </a:pPr>
            <a:r>
              <a:rPr lang="en-US" sz="1400" b="1" spc="100" kern="0" dirty="0">
                <a:solidFill>
                  <a:schemeClr val="accent1"/>
                </a:solidFill>
              </a:rPr>
              <a:t>KUBA</a:t>
            </a:r>
            <a:endParaRPr lang="en-US" sz="1400" dirty="0"/>
          </a:p>
        </p:txBody>
      </p:sp>
      <p:sp>
        <p:nvSpPr>
          <p:cNvPr id="31" name="Icon-Kreis"/>
          <p:cNvSpPr/>
          <p:nvPr/>
        </p:nvSpPr>
        <p:spPr>
          <a:xfrm>
            <a:off x="6949440" y="1874520"/>
            <a:ext cx="548640" cy="548640"/>
          </a:xfrm>
          <a:prstGeom prst="ellipse">
            <a:avLst/>
          </a:prstGeom>
          <a:solidFill>
            <a:schemeClr val="accent1"/>
          </a:solidFill>
          <a:ln w="12700">
            <a:solidFill>
              <a:schemeClr val="accent1"/>
            </a:solidFill>
            <a:prstDash val="solid"/>
          </a:ln>
        </p:spPr>
      </p:sp>
      <p:pic>
        <p:nvPicPr>
          <p:cNvPr id="32" name="Image 3" descr="Coffee">    </p:cNvPr>
          <p:cNvPicPr>
            <a:picLocks noChangeAspect="1"/>
          </p:cNvPicPr>
          <p:nvPr/>
        </p:nvPicPr>
        <p:blipFill>
          <a:blip r:embed="rId4"/>
          <a:stretch>
            <a:fillRect/>
          </a:stretch>
        </p:blipFill>
        <p:spPr>
          <a:xfrm>
            <a:off x="7081114" y="2006194"/>
            <a:ext cx="285293" cy="285293"/>
          </a:xfrm>
          <a:prstGeom prst="rect">
            <a:avLst/>
          </a:prstGeom>
        </p:spPr>
      </p:pic>
      <p:sp>
        <p:nvSpPr>
          <p:cNvPr id="33" name="Text 27"/>
          <p:cNvSpPr txBox="1"/>
          <p:nvPr/>
        </p:nvSpPr>
        <p:spPr>
          <a:xfrm>
            <a:off x="6949440" y="2578608"/>
            <a:ext cx="1627632" cy="2103120"/>
          </a:xfrm>
          <a:prstGeom prst="rect">
            <a:avLst/>
          </a:prstGeom>
          <a:noFill/>
          <a:ln/>
        </p:spPr>
        <p:txBody>
          <a:bodyPr wrap="square" lIns="0" tIns="0" rIns="0" bIns="0" rtlCol="0" anchor="t"/>
          <a:lstStyle/>
          <a:p>
            <a:pPr indent="0" marL="0">
              <a:buNone/>
            </a:pPr>
            <a:r>
              <a:rPr lang="en-US" sz="1300" b="1" dirty="0">
                <a:solidFill>
                  <a:schemeClr val="bg1"/>
                </a:solidFill>
              </a:rPr>
              <a:t>Private Gründung zunehmend möglich;</a:t>
            </a:r>
            <a:endParaRPr lang="en-US" sz="1300" dirty="0"/>
          </a:p>
          <a:p>
            <a:pPr indent="0" marL="0">
              <a:buNone/>
            </a:pPr>
            <a:r>
              <a:rPr lang="en-US" sz="1300" dirty="0">
                <a:solidFill>
                  <a:schemeClr val="bg1"/>
                </a:solidFill>
              </a:rPr>
              <a:t>Reformen 2026 erweitern den Spielraum, während staatliche Vorgaben und Versorgungsprobleme prägend bleiben.</a:t>
            </a:r>
            <a:endParaRPr lang="en-US" sz="13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583680" cy="731520"/>
          </a:xfrm>
          <a:prstGeom prst="rect">
            <a:avLst/>
          </a:prstGeom>
          <a:noFill/>
          <a:ln/>
        </p:spPr>
        <p:txBody>
          <a:bodyPr wrap="square" lIns="0" tIns="0" rIns="0" bIns="0" rtlCol="0" anchor="ctr"/>
          <a:lstStyle/>
          <a:p>
            <a:pPr algn="l" indent="0" marL="0">
              <a:buNone/>
            </a:pPr>
            <a:r>
              <a:rPr lang="en-US" sz="3000" b="1" dirty="0">
                <a:solidFill>
                  <a:schemeClr val="bg1"/>
                </a:solidFill>
              </a:rPr>
              <a:t>Fazit</a:t>
            </a:r>
            <a:endParaRPr lang="en-US" sz="3000" dirty="0"/>
          </a:p>
        </p:txBody>
      </p:sp>
      <p:sp>
        <p:nvSpPr>
          <p:cNvPr id="3" name="Text 1"/>
          <p:cNvSpPr txBox="1"/>
          <p:nvPr/>
        </p:nvSpPr>
        <p:spPr>
          <a:xfrm>
            <a:off x="7178040" y="384048"/>
            <a:ext cx="754380" cy="201168"/>
          </a:xfrm>
          <a:prstGeom prst="rect">
            <a:avLst/>
          </a:prstGeom>
          <a:noFill/>
          <a:ln/>
        </p:spPr>
        <p:txBody>
          <a:bodyPr wrap="square" lIns="0" tIns="0" rIns="0" bIns="0" rtlCol="0" anchor="t"/>
          <a:lstStyle/>
          <a:p>
            <a:pPr indent="0" marL="0">
              <a:buNone/>
            </a:pPr>
            <a:r>
              <a:rPr lang="en-US" sz="1000" b="1" spc="200" kern="0" dirty="0">
                <a:solidFill>
                  <a:srgbClr val="9DB8E0"/>
                </a:solidFill>
              </a:rPr>
              <a:t>MARKT</a:t>
            </a:r>
            <a:endParaRPr lang="en-US" sz="1000" dirty="0"/>
          </a:p>
        </p:txBody>
      </p:sp>
      <p:sp>
        <p:nvSpPr>
          <p:cNvPr id="4" name="Text 2"/>
          <p:cNvSpPr txBox="1"/>
          <p:nvPr/>
        </p:nvSpPr>
        <p:spPr>
          <a:xfrm>
            <a:off x="7932420" y="384048"/>
            <a:ext cx="754380" cy="201168"/>
          </a:xfrm>
          <a:prstGeom prst="rect">
            <a:avLst/>
          </a:prstGeom>
          <a:noFill/>
          <a:ln/>
        </p:spPr>
        <p:txBody>
          <a:bodyPr wrap="square" lIns="0" tIns="0" rIns="0" bIns="0" rtlCol="0" anchor="t"/>
          <a:lstStyle/>
          <a:p>
            <a:pPr algn="r" indent="0" marL="0">
              <a:buNone/>
            </a:pPr>
            <a:r>
              <a:rPr lang="en-US" sz="1000" b="1" spc="200" kern="0" dirty="0">
                <a:solidFill>
                  <a:schemeClr val="accent1"/>
                </a:solidFill>
              </a:rPr>
              <a:t>STAAT</a:t>
            </a:r>
            <a:endParaRPr lang="en-US" sz="1000" dirty="0"/>
          </a:p>
        </p:txBody>
      </p:sp>
      <p:sp>
        <p:nvSpPr>
          <p:cNvPr id="5" name="Messbalken Markt"/>
          <p:cNvSpPr/>
          <p:nvPr/>
        </p:nvSpPr>
        <p:spPr>
          <a:xfrm>
            <a:off x="7178040" y="713232"/>
            <a:ext cx="754380" cy="45720"/>
          </a:xfrm>
          <a:prstGeom prst="rect">
            <a:avLst/>
          </a:prstGeom>
          <a:solidFill>
            <a:srgbClr val="9DB8E0"/>
          </a:solidFill>
          <a:ln/>
        </p:spPr>
      </p:sp>
      <p:sp>
        <p:nvSpPr>
          <p:cNvPr id="6" name="Messbalken Staat"/>
          <p:cNvSpPr/>
          <p:nvPr/>
        </p:nvSpPr>
        <p:spPr>
          <a:xfrm>
            <a:off x="7932420" y="713232"/>
            <a:ext cx="754380" cy="45720"/>
          </a:xfrm>
          <a:prstGeom prst="rect">
            <a:avLst/>
          </a:prstGeom>
          <a:solidFill>
            <a:schemeClr val="accent1"/>
          </a:solidFill>
          <a:ln/>
        </p:spPr>
      </p:sp>
      <p:sp>
        <p:nvSpPr>
          <p:cNvPr id="7" name="Messpunkt"/>
          <p:cNvSpPr/>
          <p:nvPr/>
        </p:nvSpPr>
        <p:spPr>
          <a:xfrm>
            <a:off x="7840980" y="644652"/>
            <a:ext cx="182880" cy="182880"/>
          </a:xfrm>
          <a:prstGeom prst="ellipse">
            <a:avLst/>
          </a:prstGeom>
          <a:solidFill>
            <a:schemeClr val="bg1"/>
          </a:solidFill>
          <a:ln w="19050">
            <a:solidFill>
              <a:schemeClr val="bg1"/>
            </a:solidFill>
            <a:prstDash val="solid"/>
          </a:ln>
        </p:spPr>
      </p:sp>
      <p:sp>
        <p:nvSpPr>
          <p:cNvPr id="8" name="Fazit-Kreis"/>
          <p:cNvSpPr/>
          <p:nvPr/>
        </p:nvSpPr>
        <p:spPr>
          <a:xfrm>
            <a:off x="548640" y="1371600"/>
            <a:ext cx="2194560" cy="2194560"/>
          </a:xfrm>
          <a:prstGeom prst="ellipse">
            <a:avLst/>
          </a:prstGeom>
          <a:solidFill>
            <a:schemeClr val="accent1"/>
          </a:solidFill>
          <a:ln w="12700">
            <a:solidFill>
              <a:schemeClr val="accent1"/>
            </a:solidFill>
            <a:prstDash val="solid"/>
          </a:ln>
        </p:spPr>
      </p:sp>
      <p:pic>
        <p:nvPicPr>
          <p:cNvPr id="9" name="Image 0" descr="Waage">    </p:cNvPr>
          <p:cNvPicPr>
            <a:picLocks noChangeAspect="1"/>
          </p:cNvPicPr>
          <p:nvPr/>
        </p:nvPicPr>
        <p:blipFill>
          <a:blip r:embed="rId1"/>
          <a:stretch>
            <a:fillRect/>
          </a:stretch>
        </p:blipFill>
        <p:spPr>
          <a:xfrm>
            <a:off x="960120" y="1783080"/>
            <a:ext cx="1371600" cy="1371600"/>
          </a:xfrm>
          <a:prstGeom prst="rect">
            <a:avLst/>
          </a:prstGeom>
        </p:spPr>
      </p:pic>
      <p:sp>
        <p:nvSpPr>
          <p:cNvPr id="10" name="Text 7"/>
          <p:cNvSpPr txBox="1"/>
          <p:nvPr/>
        </p:nvSpPr>
        <p:spPr>
          <a:xfrm>
            <a:off x="3200400" y="1097280"/>
            <a:ext cx="5486400" cy="82296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MARKT UND STAAT SIND</a:t>
            </a:r>
            <a:endParaRPr lang="en-US" sz="2200" dirty="0"/>
          </a:p>
          <a:p>
            <a:pPr indent="0" marL="0">
              <a:buNone/>
            </a:pPr>
            <a:r>
              <a:rPr lang="en-US" sz="2200" b="1" dirty="0">
                <a:solidFill>
                  <a:schemeClr val="accent1"/>
                </a:solidFill>
                <a:latin typeface="Cambria" pitchFamily="34" charset="0"/>
                <a:ea typeface="Cambria" pitchFamily="34" charset="-122"/>
                <a:cs typeface="Cambria" pitchFamily="34" charset="-120"/>
              </a:rPr>
              <a:t>KEIN ENTWEDER-ODER.</a:t>
            </a:r>
            <a:endParaRPr lang="en-US" sz="2200" dirty="0"/>
          </a:p>
        </p:txBody>
      </p:sp>
      <p:sp>
        <p:nvSpPr>
          <p:cNvPr id="11" name="Text 8"/>
          <p:cNvSpPr txBox="1"/>
          <p:nvPr/>
        </p:nvSpPr>
        <p:spPr>
          <a:xfrm>
            <a:off x="3200400" y="2011680"/>
            <a:ext cx="5486400" cy="19202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bg1"/>
                </a:solidFill>
              </a:rPr>
              <a:t>Reale Volkswirtschaften sind Mischformen.</a:t>
            </a:r>
            <a:endParaRPr lang="en-US" sz="1400" dirty="0"/>
          </a:p>
          <a:p>
            <a:pPr marL="177800" indent="-177800">
              <a:spcAft>
                <a:spcPts val="500"/>
              </a:spcAft>
              <a:buSzPct val="100000"/>
              <a:buChar char="•"/>
            </a:pPr>
            <a:r>
              <a:rPr lang="en-US" sz="1400" dirty="0">
                <a:solidFill>
                  <a:schemeClr val="bg1"/>
                </a:solidFill>
              </a:rPr>
              <a:t>Sie unterscheiden sich darin, wie stark Markt und Staat wirtschaftliche Entscheidungen beeinflussen.</a:t>
            </a:r>
            <a:endParaRPr lang="en-US" sz="1400" dirty="0"/>
          </a:p>
          <a:p>
            <a:pPr marL="177800" indent="-177800">
              <a:spcAft>
                <a:spcPts val="500"/>
              </a:spcAft>
              <a:buSzPct val="100000"/>
              <a:buChar char="•"/>
            </a:pPr>
            <a:r>
              <a:rPr lang="en-US" sz="1400" dirty="0">
                <a:solidFill>
                  <a:schemeClr val="bg1"/>
                </a:solidFill>
              </a:rPr>
              <a:t>Staatliche Eingriffe bedeuten nicht automatisch Planwirtschaft.</a:t>
            </a:r>
            <a:endParaRPr lang="en-US" sz="1400" dirty="0"/>
          </a:p>
          <a:p>
            <a:pPr marL="177800" indent="-177800">
              <a:spcAft>
                <a:spcPts val="500"/>
              </a:spcAft>
              <a:buSzPct val="100000"/>
              <a:buChar char="•"/>
            </a:pPr>
            <a:r>
              <a:rPr lang="en-US" sz="1400" dirty="0">
                <a:solidFill>
                  <a:schemeClr val="bg1"/>
                </a:solidFill>
              </a:rPr>
              <a:t>Mehr Privatwirtschaft bedeutet nicht automatisch freie Marktwirtschaft.</a:t>
            </a:r>
            <a:endParaRPr lang="en-US" sz="1400" dirty="0"/>
          </a:p>
          <a:p>
            <a:pPr marL="177800" indent="-177800">
              <a:spcAft>
                <a:spcPts val="500"/>
              </a:spcAft>
              <a:buSzPct val="100000"/>
              <a:buChar char="•"/>
            </a:pPr>
            <a:r>
              <a:rPr lang="en-US" sz="1400" dirty="0">
                <a:solidFill>
                  <a:schemeClr val="bg1"/>
                </a:solidFill>
              </a:rPr>
              <a:t>Wirtschaftsordnungen verändern sich besonders sichtbar an Ukraine und Kuba.</a:t>
            </a:r>
            <a:endParaRPr lang="en-US" sz="1400" dirty="0"/>
          </a:p>
        </p:txBody>
      </p:sp>
      <p:sp>
        <p:nvSpPr>
          <p:cNvPr id="12" name="Schlussaussage"/>
          <p:cNvSpPr/>
          <p:nvPr/>
        </p:nvSpPr>
        <p:spPr>
          <a:xfrm>
            <a:off x="3200400" y="4023360"/>
            <a:ext cx="5486400" cy="731520"/>
          </a:xfrm>
          <a:prstGeom prst="rect">
            <a:avLst/>
          </a:prstGeom>
          <a:solidFill>
            <a:schemeClr val="accent1"/>
          </a:solidFill>
          <a:ln/>
        </p:spPr>
      </p:sp>
      <p:sp>
        <p:nvSpPr>
          <p:cNvPr id="13" name="Text 10"/>
          <p:cNvSpPr txBox="1"/>
          <p:nvPr/>
        </p:nvSpPr>
        <p:spPr>
          <a:xfrm>
            <a:off x="3383280" y="4023360"/>
            <a:ext cx="5120640" cy="731520"/>
          </a:xfrm>
          <a:prstGeom prst="rect">
            <a:avLst/>
          </a:prstGeom>
          <a:noFill/>
          <a:ln/>
        </p:spPr>
        <p:txBody>
          <a:bodyPr wrap="square" lIns="0" tIns="0" rIns="0" bIns="0" rtlCol="0" anchor="ctr"/>
          <a:lstStyle/>
          <a:p>
            <a:pPr indent="0" marL="0">
              <a:buNone/>
            </a:pPr>
            <a:r>
              <a:rPr lang="en-US" sz="1400" b="1" dirty="0">
                <a:solidFill>
                  <a:schemeClr val="tx2"/>
                </a:solidFill>
              </a:rPr>
              <a:t>Nicht das Etikett entscheidet - sondern die konkrete Mischung aus Markt, Staat und sozialer Absicherung.</a:t>
            </a:r>
            <a:endParaRPr lang="en-US" sz="14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9DB0CC"/>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Marke 2026"/>
          <p:cNvSpPr/>
          <p:nvPr/>
        </p:nvSpPr>
        <p:spPr>
          <a:xfrm>
            <a:off x="457200" y="457200"/>
            <a:ext cx="2194560" cy="365760"/>
          </a:xfrm>
          <a:prstGeom prst="rect">
            <a:avLst/>
          </a:prstGeom>
          <a:solidFill>
            <a:schemeClr val="accent1"/>
          </a:solidFill>
          <a:ln/>
        </p:spPr>
      </p:sp>
      <p:sp>
        <p:nvSpPr>
          <p:cNvPr id="3" name="Text 1"/>
          <p:cNvSpPr txBox="1"/>
          <p:nvPr/>
        </p:nvSpPr>
        <p:spPr>
          <a:xfrm>
            <a:off x="457200" y="457200"/>
            <a:ext cx="2194560" cy="365760"/>
          </a:xfrm>
          <a:prstGeom prst="rect">
            <a:avLst/>
          </a:prstGeom>
          <a:noFill/>
          <a:ln/>
        </p:spPr>
        <p:txBody>
          <a:bodyPr wrap="square" lIns="0" tIns="0" rIns="0" bIns="0" rtlCol="0" anchor="ctr"/>
          <a:lstStyle/>
          <a:p>
            <a:pPr algn="ctr" indent="0" marL="0">
              <a:buNone/>
            </a:pPr>
            <a:r>
              <a:rPr lang="en-US" sz="1300" b="1" spc="200" kern="0" dirty="0">
                <a:solidFill>
                  <a:schemeClr val="tx2"/>
                </a:solidFill>
              </a:rPr>
              <a:t>PRÄSENTATION 2026</a:t>
            </a:r>
            <a:endParaRPr lang="en-US" sz="1300" dirty="0"/>
          </a:p>
        </p:txBody>
      </p:sp>
      <p:sp>
        <p:nvSpPr>
          <p:cNvPr id="4" name="Text 2"/>
          <p:cNvSpPr txBox="1"/>
          <p:nvPr/>
        </p:nvSpPr>
        <p:spPr>
          <a:xfrm>
            <a:off x="457200" y="1097280"/>
            <a:ext cx="5486400" cy="1005840"/>
          </a:xfrm>
          <a:prstGeom prst="rect">
            <a:avLst/>
          </a:prstGeom>
          <a:noFill/>
          <a:ln/>
        </p:spPr>
        <p:txBody>
          <a:bodyPr wrap="square" lIns="0" tIns="0" rIns="0" bIns="0" rtlCol="0" anchor="t"/>
          <a:lstStyle/>
          <a:p>
            <a:pPr indent="0" marL="0">
              <a:buNone/>
            </a:pPr>
            <a:r>
              <a:rPr lang="en-US" sz="5600" b="1" dirty="0">
                <a:solidFill>
                  <a:schemeClr val="bg1"/>
                </a:solidFill>
                <a:latin typeface="Cambria" pitchFamily="34" charset="0"/>
                <a:ea typeface="Cambria" pitchFamily="34" charset="-122"/>
                <a:cs typeface="Cambria" pitchFamily="34" charset="-120"/>
              </a:rPr>
              <a:t>DANKE</a:t>
            </a:r>
            <a:endParaRPr lang="en-US" sz="5600" dirty="0"/>
          </a:p>
        </p:txBody>
      </p:sp>
      <p:sp>
        <p:nvSpPr>
          <p:cNvPr id="5" name="Text 3"/>
          <p:cNvSpPr txBox="1"/>
          <p:nvPr/>
        </p:nvSpPr>
        <p:spPr>
          <a:xfrm>
            <a:off x="457200" y="2103120"/>
            <a:ext cx="5486400" cy="457200"/>
          </a:xfrm>
          <a:prstGeom prst="rect">
            <a:avLst/>
          </a:prstGeom>
          <a:noFill/>
          <a:ln/>
        </p:spPr>
        <p:txBody>
          <a:bodyPr wrap="square" lIns="0" tIns="0" rIns="0" bIns="0" rtlCol="0" anchor="t"/>
          <a:lstStyle/>
          <a:p>
            <a:pPr indent="0" marL="0">
              <a:buNone/>
            </a:pPr>
            <a:r>
              <a:rPr lang="en-US" sz="2400" b="1" dirty="0">
                <a:solidFill>
                  <a:schemeClr val="accent1"/>
                </a:solidFill>
              </a:rPr>
              <a:t>FÜR EURE AUFMERKSAMKEIT</a:t>
            </a:r>
            <a:endParaRPr lang="en-US" sz="2400" dirty="0"/>
          </a:p>
        </p:txBody>
      </p:sp>
      <p:sp>
        <p:nvSpPr>
          <p:cNvPr id="6" name="Text 4"/>
          <p:cNvSpPr txBox="1"/>
          <p:nvPr/>
        </p:nvSpPr>
        <p:spPr>
          <a:xfrm>
            <a:off x="457200" y="2788920"/>
            <a:ext cx="4572000" cy="1097280"/>
          </a:xfrm>
          <a:prstGeom prst="rect">
            <a:avLst/>
          </a:prstGeom>
          <a:noFill/>
          <a:ln/>
        </p:spPr>
        <p:txBody>
          <a:bodyPr wrap="square" lIns="0" tIns="0" rIns="0" bIns="0" rtlCol="0" anchor="t"/>
          <a:lstStyle/>
          <a:p>
            <a:pPr indent="0" marL="0">
              <a:buNone/>
            </a:pPr>
            <a:r>
              <a:rPr lang="en-US" sz="1800" dirty="0">
                <a:solidFill>
                  <a:schemeClr val="bg1"/>
                </a:solidFill>
              </a:rPr>
              <a:t>Noch Fragen ???</a:t>
            </a:r>
            <a:endParaRPr lang="en-US" sz="1800" dirty="0"/>
          </a:p>
          <a:p>
            <a:pPr indent="0" marL="0">
              <a:buNone/>
            </a:pPr>
            <a:r>
              <a:rPr lang="en-US" sz="1800" dirty="0">
                <a:solidFill>
                  <a:schemeClr val="bg1"/>
                </a:solidFill>
              </a:rPr>
              <a:t>Kritik ??</a:t>
            </a:r>
            <a:endParaRPr lang="en-US" sz="1800" dirty="0"/>
          </a:p>
          <a:p>
            <a:pPr indent="0" marL="0">
              <a:buNone/>
            </a:pPr>
            <a:r>
              <a:rPr lang="en-US" sz="1800" dirty="0">
                <a:solidFill>
                  <a:schemeClr val="bg1"/>
                </a:solidFill>
              </a:rPr>
              <a:t>Feedback ?</a:t>
            </a:r>
            <a:endParaRPr lang="en-US" sz="1800" dirty="0"/>
          </a:p>
        </p:txBody>
      </p:sp>
      <p:sp>
        <p:nvSpPr>
          <p:cNvPr id="7" name="Namensfeld"/>
          <p:cNvSpPr/>
          <p:nvPr/>
        </p:nvSpPr>
        <p:spPr>
          <a:xfrm>
            <a:off x="457200" y="4114800"/>
            <a:ext cx="5852160" cy="502920"/>
          </a:xfrm>
          <a:prstGeom prst="rect">
            <a:avLst/>
          </a:prstGeom>
          <a:solidFill>
            <a:schemeClr val="bg1"/>
          </a:solidFill>
          <a:ln/>
        </p:spPr>
      </p:sp>
      <p:sp>
        <p:nvSpPr>
          <p:cNvPr id="8" name="Text 6"/>
          <p:cNvSpPr txBox="1"/>
          <p:nvPr/>
        </p:nvSpPr>
        <p:spPr>
          <a:xfrm>
            <a:off x="457200" y="4114800"/>
            <a:ext cx="5852160" cy="502920"/>
          </a:xfrm>
          <a:prstGeom prst="rect">
            <a:avLst/>
          </a:prstGeom>
          <a:noFill/>
          <a:ln/>
        </p:spPr>
        <p:txBody>
          <a:bodyPr wrap="square" lIns="0" tIns="0" rIns="0" bIns="0" rtlCol="0" anchor="ctr"/>
          <a:lstStyle/>
          <a:p>
            <a:pPr algn="ctr" indent="0" marL="0">
              <a:buNone/>
            </a:pPr>
            <a:r>
              <a:rPr lang="en-US" sz="1500" b="1" spc="100" kern="0" dirty="0">
                <a:solidFill>
                  <a:schemeClr val="tx2"/>
                </a:solidFill>
              </a:rPr>
              <a:t>ANASTASIIA, CHARLENE, MELANIE &amp; YASIN</a:t>
            </a:r>
            <a:endParaRPr lang="en-US" sz="1500" dirty="0"/>
          </a:p>
        </p:txBody>
      </p:sp>
      <p:sp>
        <p:nvSpPr>
          <p:cNvPr id="9" name="Fragen-Kreis"/>
          <p:cNvSpPr/>
          <p:nvPr/>
        </p:nvSpPr>
        <p:spPr>
          <a:xfrm>
            <a:off x="6492240" y="1188720"/>
            <a:ext cx="2194560" cy="2194560"/>
          </a:xfrm>
          <a:prstGeom prst="ellipse">
            <a:avLst/>
          </a:prstGeom>
          <a:solidFill>
            <a:schemeClr val="accent1"/>
          </a:solidFill>
          <a:ln w="12700">
            <a:solidFill>
              <a:schemeClr val="accent1"/>
            </a:solidFill>
            <a:prstDash val="solid"/>
          </a:ln>
        </p:spPr>
      </p:sp>
      <p:pic>
        <p:nvPicPr>
          <p:cNvPr id="10" name="Image 0" descr="Gespräch">    </p:cNvPr>
          <p:cNvPicPr>
            <a:picLocks noChangeAspect="1"/>
          </p:cNvPicPr>
          <p:nvPr/>
        </p:nvPicPr>
        <p:blipFill>
          <a:blip r:embed="rId1"/>
          <a:stretch>
            <a:fillRect/>
          </a:stretch>
        </p:blipFill>
        <p:spPr>
          <a:xfrm>
            <a:off x="6949440" y="1645920"/>
            <a:ext cx="1280160" cy="1280160"/>
          </a:xfrm>
          <a:prstGeom prst="rect">
            <a:avLst/>
          </a:prstGeom>
        </p:spPr>
      </p:pic>
      <p:sp>
        <p:nvSpPr>
          <p:cNvPr id="11" name="Text 8"/>
          <p:cNvSpPr txBox="1"/>
          <p:nvPr/>
        </p:nvSpPr>
        <p:spPr>
          <a:xfrm>
            <a:off x="6492240" y="3840480"/>
            <a:ext cx="1097280" cy="201168"/>
          </a:xfrm>
          <a:prstGeom prst="rect">
            <a:avLst/>
          </a:prstGeom>
          <a:noFill/>
          <a:ln/>
        </p:spPr>
        <p:txBody>
          <a:bodyPr wrap="square" lIns="0" tIns="0" rIns="0" bIns="0" rtlCol="0" anchor="t"/>
          <a:lstStyle/>
          <a:p>
            <a:pPr indent="0" marL="0">
              <a:buNone/>
            </a:pPr>
            <a:r>
              <a:rPr lang="en-US" sz="1000" b="1" spc="200" kern="0" dirty="0">
                <a:solidFill>
                  <a:srgbClr val="9DB8E0"/>
                </a:solidFill>
              </a:rPr>
              <a:t>MARKT</a:t>
            </a:r>
            <a:endParaRPr lang="en-US" sz="1000" dirty="0"/>
          </a:p>
        </p:txBody>
      </p:sp>
      <p:sp>
        <p:nvSpPr>
          <p:cNvPr id="12" name="Text 9"/>
          <p:cNvSpPr txBox="1"/>
          <p:nvPr/>
        </p:nvSpPr>
        <p:spPr>
          <a:xfrm>
            <a:off x="7589520" y="3840480"/>
            <a:ext cx="1097280" cy="201168"/>
          </a:xfrm>
          <a:prstGeom prst="rect">
            <a:avLst/>
          </a:prstGeom>
          <a:noFill/>
          <a:ln/>
        </p:spPr>
        <p:txBody>
          <a:bodyPr wrap="square" lIns="0" tIns="0" rIns="0" bIns="0" rtlCol="0" anchor="t"/>
          <a:lstStyle/>
          <a:p>
            <a:pPr algn="r" indent="0" marL="0">
              <a:buNone/>
            </a:pPr>
            <a:r>
              <a:rPr lang="en-US" sz="1000" b="1" spc="200" kern="0" dirty="0">
                <a:solidFill>
                  <a:schemeClr val="accent1"/>
                </a:solidFill>
              </a:rPr>
              <a:t>STAAT</a:t>
            </a:r>
            <a:endParaRPr lang="en-US" sz="1000" dirty="0"/>
          </a:p>
        </p:txBody>
      </p:sp>
      <p:sp>
        <p:nvSpPr>
          <p:cNvPr id="13" name="Messbalken Markt"/>
          <p:cNvSpPr/>
          <p:nvPr/>
        </p:nvSpPr>
        <p:spPr>
          <a:xfrm>
            <a:off x="6492240" y="4169664"/>
            <a:ext cx="1097280" cy="45720"/>
          </a:xfrm>
          <a:prstGeom prst="rect">
            <a:avLst/>
          </a:prstGeom>
          <a:solidFill>
            <a:srgbClr val="9DB8E0"/>
          </a:solidFill>
          <a:ln/>
        </p:spPr>
      </p:sp>
      <p:sp>
        <p:nvSpPr>
          <p:cNvPr id="14" name="Messbalken Staat"/>
          <p:cNvSpPr/>
          <p:nvPr/>
        </p:nvSpPr>
        <p:spPr>
          <a:xfrm>
            <a:off x="7589520" y="4169664"/>
            <a:ext cx="1097280" cy="45720"/>
          </a:xfrm>
          <a:prstGeom prst="rect">
            <a:avLst/>
          </a:prstGeom>
          <a:solidFill>
            <a:schemeClr val="accent1"/>
          </a:solidFill>
          <a:ln/>
        </p:spPr>
      </p:sp>
      <p:sp>
        <p:nvSpPr>
          <p:cNvPr id="15" name="Messpunkt"/>
          <p:cNvSpPr/>
          <p:nvPr/>
        </p:nvSpPr>
        <p:spPr>
          <a:xfrm>
            <a:off x="7498080" y="4101084"/>
            <a:ext cx="182880" cy="182880"/>
          </a:xfrm>
          <a:prstGeom prst="ellipse">
            <a:avLst/>
          </a:prstGeom>
          <a:solidFill>
            <a:schemeClr val="bg1"/>
          </a:solidFill>
          <a:ln w="19050">
            <a:solidFill>
              <a:schemeClr val="bg1"/>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583680" cy="731520"/>
          </a:xfrm>
          <a:prstGeom prst="rect">
            <a:avLst/>
          </a:prstGeom>
          <a:noFill/>
          <a:ln/>
        </p:spPr>
        <p:txBody>
          <a:bodyPr wrap="square" lIns="0" tIns="0" rIns="0" bIns="0" rtlCol="0" anchor="ctr"/>
          <a:lstStyle/>
          <a:p>
            <a:pPr algn="l" indent="0" marL="0">
              <a:buNone/>
            </a:pPr>
            <a:r>
              <a:rPr lang="en-US" sz="3000" b="1" dirty="0">
                <a:solidFill>
                  <a:schemeClr val="tx2"/>
                </a:solidFill>
              </a:rPr>
              <a:t>Glossar</a:t>
            </a:r>
            <a:endParaRPr lang="en-US" sz="3000" dirty="0"/>
          </a:p>
        </p:txBody>
      </p:sp>
      <p:sp>
        <p:nvSpPr>
          <p:cNvPr id="3" name="Text 1"/>
          <p:cNvSpPr txBox="1"/>
          <p:nvPr/>
        </p:nvSpPr>
        <p:spPr>
          <a:xfrm>
            <a:off x="7178040" y="384048"/>
            <a:ext cx="754380" cy="201168"/>
          </a:xfrm>
          <a:prstGeom prst="rect">
            <a:avLst/>
          </a:prstGeom>
          <a:noFill/>
          <a:ln/>
        </p:spPr>
        <p:txBody>
          <a:bodyPr wrap="square" lIns="0" tIns="0" rIns="0" bIns="0" rtlCol="0" anchor="t"/>
          <a:lstStyle/>
          <a:p>
            <a:pPr indent="0" marL="0">
              <a:buNone/>
            </a:pPr>
            <a:r>
              <a:rPr lang="en-US" sz="1000" b="1" spc="200" kern="0" dirty="0">
                <a:solidFill>
                  <a:schemeClr val="tx2"/>
                </a:solidFill>
              </a:rPr>
              <a:t>MARKT</a:t>
            </a:r>
            <a:endParaRPr lang="en-US" sz="1000" dirty="0"/>
          </a:p>
        </p:txBody>
      </p:sp>
      <p:sp>
        <p:nvSpPr>
          <p:cNvPr id="4" name="Text 2"/>
          <p:cNvSpPr txBox="1"/>
          <p:nvPr/>
        </p:nvSpPr>
        <p:spPr>
          <a:xfrm>
            <a:off x="7932420" y="384048"/>
            <a:ext cx="754380" cy="201168"/>
          </a:xfrm>
          <a:prstGeom prst="rect">
            <a:avLst/>
          </a:prstGeom>
          <a:noFill/>
          <a:ln/>
        </p:spPr>
        <p:txBody>
          <a:bodyPr wrap="square" lIns="0" tIns="0" rIns="0" bIns="0" rtlCol="0" anchor="t"/>
          <a:lstStyle/>
          <a:p>
            <a:pPr algn="r" indent="0" marL="0">
              <a:buNone/>
            </a:pPr>
            <a:r>
              <a:rPr lang="en-US" sz="1000" b="1" spc="200" kern="0" dirty="0">
                <a:solidFill>
                  <a:schemeClr val="accent1"/>
                </a:solidFill>
              </a:rPr>
              <a:t>STAAT</a:t>
            </a:r>
            <a:endParaRPr lang="en-US" sz="1000" dirty="0"/>
          </a:p>
        </p:txBody>
      </p:sp>
      <p:sp>
        <p:nvSpPr>
          <p:cNvPr id="5" name="Messbalken Markt"/>
          <p:cNvSpPr/>
          <p:nvPr/>
        </p:nvSpPr>
        <p:spPr>
          <a:xfrm>
            <a:off x="7178040" y="713232"/>
            <a:ext cx="754380" cy="45720"/>
          </a:xfrm>
          <a:prstGeom prst="rect">
            <a:avLst/>
          </a:prstGeom>
          <a:solidFill>
            <a:srgbClr val="0B1F3A"/>
          </a:solidFill>
          <a:ln/>
        </p:spPr>
      </p:sp>
      <p:sp>
        <p:nvSpPr>
          <p:cNvPr id="6" name="Messbalken Staat"/>
          <p:cNvSpPr/>
          <p:nvPr/>
        </p:nvSpPr>
        <p:spPr>
          <a:xfrm>
            <a:off x="7932420" y="713232"/>
            <a:ext cx="754380" cy="45720"/>
          </a:xfrm>
          <a:prstGeom prst="rect">
            <a:avLst/>
          </a:prstGeom>
          <a:solidFill>
            <a:schemeClr val="accent1"/>
          </a:solidFill>
          <a:ln/>
        </p:spPr>
      </p:sp>
      <p:sp>
        <p:nvSpPr>
          <p:cNvPr id="7" name="Messpunkt"/>
          <p:cNvSpPr/>
          <p:nvPr/>
        </p:nvSpPr>
        <p:spPr>
          <a:xfrm>
            <a:off x="7840980" y="644652"/>
            <a:ext cx="182880" cy="182880"/>
          </a:xfrm>
          <a:prstGeom prst="ellipse">
            <a:avLst/>
          </a:prstGeom>
          <a:solidFill>
            <a:schemeClr val="bg1"/>
          </a:solidFill>
          <a:ln w="19050">
            <a:solidFill>
              <a:schemeClr val="tx2"/>
            </a:solidFill>
            <a:prstDash val="solid"/>
          </a:ln>
        </p:spPr>
      </p:sp>
      <p:sp>
        <p:nvSpPr>
          <p:cNvPr id="8" name="Glossar Wirtschaftsordnung"/>
          <p:cNvSpPr/>
          <p:nvPr/>
        </p:nvSpPr>
        <p:spPr>
          <a:xfrm>
            <a:off x="457200" y="1188720"/>
            <a:ext cx="4023360" cy="640080"/>
          </a:xfrm>
          <a:prstGeom prst="rect">
            <a:avLst/>
          </a:prstGeom>
          <a:solidFill>
            <a:schemeClr val="bg2"/>
          </a:solidFill>
          <a:ln/>
        </p:spPr>
      </p:sp>
      <p:sp>
        <p:nvSpPr>
          <p:cNvPr id="9" name="Text 7"/>
          <p:cNvSpPr txBox="1"/>
          <p:nvPr/>
        </p:nvSpPr>
        <p:spPr>
          <a:xfrm>
            <a:off x="594360" y="1188720"/>
            <a:ext cx="3794760" cy="640080"/>
          </a:xfrm>
          <a:prstGeom prst="rect">
            <a:avLst/>
          </a:prstGeom>
          <a:noFill/>
          <a:ln/>
        </p:spPr>
        <p:txBody>
          <a:bodyPr wrap="square" lIns="0" tIns="0" rIns="0" bIns="0" rtlCol="0" anchor="ctr"/>
          <a:lstStyle/>
          <a:p>
            <a:pPr indent="0" marL="0">
              <a:buNone/>
            </a:pPr>
            <a:r>
              <a:rPr lang="en-US" sz="1300" b="1" dirty="0">
                <a:solidFill>
                  <a:schemeClr val="accent4"/>
                </a:solidFill>
              </a:rPr>
              <a:t>Wirtschaftsordnung</a:t>
            </a:r>
            <a:endParaRPr lang="en-US" sz="1300" dirty="0"/>
          </a:p>
          <a:p>
            <a:pPr indent="0" marL="0">
              <a:buNone/>
            </a:pPr>
            <a:r>
              <a:rPr lang="en-US" sz="1200" dirty="0">
                <a:solidFill>
                  <a:schemeClr val="tx1"/>
                </a:solidFill>
              </a:rPr>
              <a:t>Regeln, nach denen eine Volkswirtschaft organisiert ist.</a:t>
            </a:r>
            <a:endParaRPr lang="en-US" sz="1300" dirty="0"/>
          </a:p>
        </p:txBody>
      </p:sp>
      <p:sp>
        <p:nvSpPr>
          <p:cNvPr id="10" name="Glossar Marktwirtschaft"/>
          <p:cNvSpPr/>
          <p:nvPr/>
        </p:nvSpPr>
        <p:spPr>
          <a:xfrm>
            <a:off x="4663440" y="1188720"/>
            <a:ext cx="4023360" cy="640080"/>
          </a:xfrm>
          <a:prstGeom prst="rect">
            <a:avLst/>
          </a:prstGeom>
          <a:solidFill>
            <a:schemeClr val="bg2"/>
          </a:solidFill>
          <a:ln/>
        </p:spPr>
      </p:sp>
      <p:sp>
        <p:nvSpPr>
          <p:cNvPr id="11" name="Text 9"/>
          <p:cNvSpPr txBox="1"/>
          <p:nvPr/>
        </p:nvSpPr>
        <p:spPr>
          <a:xfrm>
            <a:off x="4800600" y="1188720"/>
            <a:ext cx="3794760" cy="640080"/>
          </a:xfrm>
          <a:prstGeom prst="rect">
            <a:avLst/>
          </a:prstGeom>
          <a:noFill/>
          <a:ln/>
        </p:spPr>
        <p:txBody>
          <a:bodyPr wrap="square" lIns="0" tIns="0" rIns="0" bIns="0" rtlCol="0" anchor="ctr"/>
          <a:lstStyle/>
          <a:p>
            <a:pPr indent="0" marL="0">
              <a:buNone/>
            </a:pPr>
            <a:r>
              <a:rPr lang="en-US" sz="1300" b="1" dirty="0">
                <a:solidFill>
                  <a:schemeClr val="accent4"/>
                </a:solidFill>
              </a:rPr>
              <a:t>Marktwirtschaft</a:t>
            </a:r>
            <a:endParaRPr lang="en-US" sz="1300" dirty="0"/>
          </a:p>
          <a:p>
            <a:pPr indent="0" marL="0">
              <a:buNone/>
            </a:pPr>
            <a:r>
              <a:rPr lang="en-US" sz="1200" dirty="0">
                <a:solidFill>
                  <a:schemeClr val="tx1"/>
                </a:solidFill>
              </a:rPr>
              <a:t>Unternehmen und Verbraucher entscheiden weitgehend selbst; Preise entstehen durch Angebot und Nachfrage.</a:t>
            </a:r>
            <a:endParaRPr lang="en-US" sz="1300" dirty="0"/>
          </a:p>
        </p:txBody>
      </p:sp>
      <p:sp>
        <p:nvSpPr>
          <p:cNvPr id="12" name="Glossar Planwirtschaft"/>
          <p:cNvSpPr/>
          <p:nvPr/>
        </p:nvSpPr>
        <p:spPr>
          <a:xfrm>
            <a:off x="457200" y="1892808"/>
            <a:ext cx="4023360" cy="640080"/>
          </a:xfrm>
          <a:prstGeom prst="rect">
            <a:avLst/>
          </a:prstGeom>
          <a:solidFill>
            <a:schemeClr val="bg2"/>
          </a:solidFill>
          <a:ln/>
        </p:spPr>
      </p:sp>
      <p:sp>
        <p:nvSpPr>
          <p:cNvPr id="13" name="Text 11"/>
          <p:cNvSpPr txBox="1"/>
          <p:nvPr/>
        </p:nvSpPr>
        <p:spPr>
          <a:xfrm>
            <a:off x="594360" y="1892808"/>
            <a:ext cx="3794760" cy="640080"/>
          </a:xfrm>
          <a:prstGeom prst="rect">
            <a:avLst/>
          </a:prstGeom>
          <a:noFill/>
          <a:ln/>
        </p:spPr>
        <p:txBody>
          <a:bodyPr wrap="square" lIns="0" tIns="0" rIns="0" bIns="0" rtlCol="0" anchor="ctr"/>
          <a:lstStyle/>
          <a:p>
            <a:pPr indent="0" marL="0">
              <a:buNone/>
            </a:pPr>
            <a:r>
              <a:rPr lang="en-US" sz="1300" b="1" dirty="0">
                <a:solidFill>
                  <a:schemeClr val="accent4"/>
                </a:solidFill>
              </a:rPr>
              <a:t>Planwirtschaft</a:t>
            </a:r>
            <a:endParaRPr lang="en-US" sz="1300" dirty="0"/>
          </a:p>
          <a:p>
            <a:pPr indent="0" marL="0">
              <a:buNone/>
            </a:pPr>
            <a:r>
              <a:rPr lang="en-US" sz="1200" dirty="0">
                <a:solidFill>
                  <a:schemeClr val="tx1"/>
                </a:solidFill>
              </a:rPr>
              <a:t>Der Staat plant und steuert wesentliche wirtschaftliche Entscheidungen zentral.</a:t>
            </a:r>
            <a:endParaRPr lang="en-US" sz="1300" dirty="0"/>
          </a:p>
        </p:txBody>
      </p:sp>
      <p:sp>
        <p:nvSpPr>
          <p:cNvPr id="14" name="Glossar Soziale Marktwirtschaft"/>
          <p:cNvSpPr/>
          <p:nvPr/>
        </p:nvSpPr>
        <p:spPr>
          <a:xfrm>
            <a:off x="4663440" y="1892808"/>
            <a:ext cx="4023360" cy="640080"/>
          </a:xfrm>
          <a:prstGeom prst="rect">
            <a:avLst/>
          </a:prstGeom>
          <a:solidFill>
            <a:schemeClr val="bg2"/>
          </a:solidFill>
          <a:ln/>
        </p:spPr>
      </p:sp>
      <p:sp>
        <p:nvSpPr>
          <p:cNvPr id="15" name="Text 13"/>
          <p:cNvSpPr txBox="1"/>
          <p:nvPr/>
        </p:nvSpPr>
        <p:spPr>
          <a:xfrm>
            <a:off x="4800600" y="1892808"/>
            <a:ext cx="3794760" cy="640080"/>
          </a:xfrm>
          <a:prstGeom prst="rect">
            <a:avLst/>
          </a:prstGeom>
          <a:noFill/>
          <a:ln/>
        </p:spPr>
        <p:txBody>
          <a:bodyPr wrap="square" lIns="0" tIns="0" rIns="0" bIns="0" rtlCol="0" anchor="ctr"/>
          <a:lstStyle/>
          <a:p>
            <a:pPr indent="0" marL="0">
              <a:buNone/>
            </a:pPr>
            <a:r>
              <a:rPr lang="en-US" sz="1300" b="1" dirty="0">
                <a:solidFill>
                  <a:schemeClr val="accent4"/>
                </a:solidFill>
              </a:rPr>
              <a:t>Soziale Marktwirtschaft</a:t>
            </a:r>
            <a:endParaRPr lang="en-US" sz="1300" dirty="0"/>
          </a:p>
          <a:p>
            <a:pPr indent="0" marL="0">
              <a:buNone/>
            </a:pPr>
            <a:r>
              <a:rPr lang="en-US" sz="1200" dirty="0">
                <a:solidFill>
                  <a:schemeClr val="tx1"/>
                </a:solidFill>
              </a:rPr>
              <a:t>Marktwirtschaft mit staatlichem Ordnungsrahmen und sozialer Absicherung.</a:t>
            </a:r>
            <a:endParaRPr lang="en-US" sz="1300" dirty="0"/>
          </a:p>
        </p:txBody>
      </p:sp>
      <p:sp>
        <p:nvSpPr>
          <p:cNvPr id="16" name="Glossar Produktionsmittel"/>
          <p:cNvSpPr/>
          <p:nvPr/>
        </p:nvSpPr>
        <p:spPr>
          <a:xfrm>
            <a:off x="457200" y="2596896"/>
            <a:ext cx="4023360" cy="640080"/>
          </a:xfrm>
          <a:prstGeom prst="rect">
            <a:avLst/>
          </a:prstGeom>
          <a:solidFill>
            <a:schemeClr val="bg2"/>
          </a:solidFill>
          <a:ln/>
        </p:spPr>
      </p:sp>
      <p:sp>
        <p:nvSpPr>
          <p:cNvPr id="17" name="Text 15"/>
          <p:cNvSpPr txBox="1"/>
          <p:nvPr/>
        </p:nvSpPr>
        <p:spPr>
          <a:xfrm>
            <a:off x="594360" y="2596896"/>
            <a:ext cx="3794760" cy="640080"/>
          </a:xfrm>
          <a:prstGeom prst="rect">
            <a:avLst/>
          </a:prstGeom>
          <a:noFill/>
          <a:ln/>
        </p:spPr>
        <p:txBody>
          <a:bodyPr wrap="square" lIns="0" tIns="0" rIns="0" bIns="0" rtlCol="0" anchor="ctr"/>
          <a:lstStyle/>
          <a:p>
            <a:pPr indent="0" marL="0">
              <a:buNone/>
            </a:pPr>
            <a:r>
              <a:rPr lang="en-US" sz="1300" b="1" dirty="0">
                <a:solidFill>
                  <a:schemeClr val="accent4"/>
                </a:solidFill>
              </a:rPr>
              <a:t>Produktionsmittel</a:t>
            </a:r>
            <a:endParaRPr lang="en-US" sz="1300" dirty="0"/>
          </a:p>
          <a:p>
            <a:pPr indent="0" marL="0">
              <a:buNone/>
            </a:pPr>
            <a:r>
              <a:rPr lang="en-US" sz="1200" dirty="0">
                <a:solidFill>
                  <a:schemeClr val="tx1"/>
                </a:solidFill>
              </a:rPr>
              <a:t>Mittel, die zur Produktion benötigt werden, z. B. Maschinen, Gebäude oder Anlagen.</a:t>
            </a:r>
            <a:endParaRPr lang="en-US" sz="1300" dirty="0"/>
          </a:p>
        </p:txBody>
      </p:sp>
      <p:sp>
        <p:nvSpPr>
          <p:cNvPr id="18" name="Glossar Privateigentum"/>
          <p:cNvSpPr/>
          <p:nvPr/>
        </p:nvSpPr>
        <p:spPr>
          <a:xfrm>
            <a:off x="4663440" y="2596896"/>
            <a:ext cx="4023360" cy="640080"/>
          </a:xfrm>
          <a:prstGeom prst="rect">
            <a:avLst/>
          </a:prstGeom>
          <a:solidFill>
            <a:schemeClr val="bg2"/>
          </a:solidFill>
          <a:ln/>
        </p:spPr>
      </p:sp>
      <p:sp>
        <p:nvSpPr>
          <p:cNvPr id="19" name="Text 17"/>
          <p:cNvSpPr txBox="1"/>
          <p:nvPr/>
        </p:nvSpPr>
        <p:spPr>
          <a:xfrm>
            <a:off x="4800600" y="2596896"/>
            <a:ext cx="3794760" cy="640080"/>
          </a:xfrm>
          <a:prstGeom prst="rect">
            <a:avLst/>
          </a:prstGeom>
          <a:noFill/>
          <a:ln/>
        </p:spPr>
        <p:txBody>
          <a:bodyPr wrap="square" lIns="0" tIns="0" rIns="0" bIns="0" rtlCol="0" anchor="ctr"/>
          <a:lstStyle/>
          <a:p>
            <a:pPr indent="0" marL="0">
              <a:buNone/>
            </a:pPr>
            <a:r>
              <a:rPr lang="en-US" sz="1300" b="1" dirty="0">
                <a:solidFill>
                  <a:schemeClr val="accent4"/>
                </a:solidFill>
              </a:rPr>
              <a:t>Privateigentum</a:t>
            </a:r>
            <a:endParaRPr lang="en-US" sz="1300" dirty="0"/>
          </a:p>
          <a:p>
            <a:pPr indent="0" marL="0">
              <a:buNone/>
            </a:pPr>
            <a:r>
              <a:rPr lang="en-US" sz="1200" dirty="0">
                <a:solidFill>
                  <a:schemeClr val="tx1"/>
                </a:solidFill>
              </a:rPr>
              <a:t>Unternehmen und Produktionsmittel können Privatpersonen oder Unternehmen gehören.</a:t>
            </a:r>
            <a:endParaRPr lang="en-US" sz="1300" dirty="0"/>
          </a:p>
        </p:txBody>
      </p:sp>
      <p:sp>
        <p:nvSpPr>
          <p:cNvPr id="20" name="Glossar Wettbewerb"/>
          <p:cNvSpPr/>
          <p:nvPr/>
        </p:nvSpPr>
        <p:spPr>
          <a:xfrm>
            <a:off x="457200" y="3300984"/>
            <a:ext cx="4023360" cy="640080"/>
          </a:xfrm>
          <a:prstGeom prst="rect">
            <a:avLst/>
          </a:prstGeom>
          <a:solidFill>
            <a:schemeClr val="bg2"/>
          </a:solidFill>
          <a:ln/>
        </p:spPr>
      </p:sp>
      <p:sp>
        <p:nvSpPr>
          <p:cNvPr id="21" name="Text 19"/>
          <p:cNvSpPr txBox="1"/>
          <p:nvPr/>
        </p:nvSpPr>
        <p:spPr>
          <a:xfrm>
            <a:off x="594360" y="3300984"/>
            <a:ext cx="3794760" cy="640080"/>
          </a:xfrm>
          <a:prstGeom prst="rect">
            <a:avLst/>
          </a:prstGeom>
          <a:noFill/>
          <a:ln/>
        </p:spPr>
        <p:txBody>
          <a:bodyPr wrap="square" lIns="0" tIns="0" rIns="0" bIns="0" rtlCol="0" anchor="ctr"/>
          <a:lstStyle/>
          <a:p>
            <a:pPr indent="0" marL="0">
              <a:buNone/>
            </a:pPr>
            <a:r>
              <a:rPr lang="en-US" sz="1300" b="1" dirty="0">
                <a:solidFill>
                  <a:schemeClr val="accent4"/>
                </a:solidFill>
              </a:rPr>
              <a:t>Wettbewerb</a:t>
            </a:r>
            <a:endParaRPr lang="en-US" sz="1300" dirty="0"/>
          </a:p>
          <a:p>
            <a:pPr indent="0" marL="0">
              <a:buNone/>
            </a:pPr>
            <a:r>
              <a:rPr lang="en-US" sz="1200" dirty="0">
                <a:solidFill>
                  <a:schemeClr val="tx1"/>
                </a:solidFill>
              </a:rPr>
              <a:t>Unternehmen konkurrieren z. B. um Kunden, Preise und Marktanteile.</a:t>
            </a:r>
            <a:endParaRPr lang="en-US" sz="1300" dirty="0"/>
          </a:p>
        </p:txBody>
      </p:sp>
      <p:sp>
        <p:nvSpPr>
          <p:cNvPr id="22" name="Glossar Informeller Sektor"/>
          <p:cNvSpPr/>
          <p:nvPr/>
        </p:nvSpPr>
        <p:spPr>
          <a:xfrm>
            <a:off x="4663440" y="3300984"/>
            <a:ext cx="4023360" cy="640080"/>
          </a:xfrm>
          <a:prstGeom prst="rect">
            <a:avLst/>
          </a:prstGeom>
          <a:solidFill>
            <a:schemeClr val="bg2"/>
          </a:solidFill>
          <a:ln/>
        </p:spPr>
      </p:sp>
      <p:sp>
        <p:nvSpPr>
          <p:cNvPr id="23" name="Text 21"/>
          <p:cNvSpPr txBox="1"/>
          <p:nvPr/>
        </p:nvSpPr>
        <p:spPr>
          <a:xfrm>
            <a:off x="4800600" y="3300984"/>
            <a:ext cx="3794760" cy="640080"/>
          </a:xfrm>
          <a:prstGeom prst="rect">
            <a:avLst/>
          </a:prstGeom>
          <a:noFill/>
          <a:ln/>
        </p:spPr>
        <p:txBody>
          <a:bodyPr wrap="square" lIns="0" tIns="0" rIns="0" bIns="0" rtlCol="0" anchor="ctr"/>
          <a:lstStyle/>
          <a:p>
            <a:pPr indent="0" marL="0">
              <a:buNone/>
            </a:pPr>
            <a:r>
              <a:rPr lang="en-US" sz="1300" b="1" dirty="0">
                <a:solidFill>
                  <a:schemeClr val="accent4"/>
                </a:solidFill>
              </a:rPr>
              <a:t>Informeller Sektor</a:t>
            </a:r>
            <a:endParaRPr lang="en-US" sz="1300" dirty="0"/>
          </a:p>
          <a:p>
            <a:pPr indent="0" marL="0">
              <a:buNone/>
            </a:pPr>
            <a:r>
              <a:rPr lang="en-US" sz="1200" dirty="0">
                <a:solidFill>
                  <a:schemeClr val="tx1"/>
                </a:solidFill>
              </a:rPr>
              <a:t>Wirtschaftliche Tätigkeiten außerhalb oder nur teilweise innerhalb staatlich geregelter Strukturen.</a:t>
            </a:r>
            <a:endParaRPr lang="en-US" sz="1300" dirty="0"/>
          </a:p>
        </p:txBody>
      </p:sp>
      <p:sp>
        <p:nvSpPr>
          <p:cNvPr id="24" name="Glossar Privatisierung"/>
          <p:cNvSpPr/>
          <p:nvPr/>
        </p:nvSpPr>
        <p:spPr>
          <a:xfrm>
            <a:off x="457200" y="4005072"/>
            <a:ext cx="4023360" cy="640080"/>
          </a:xfrm>
          <a:prstGeom prst="rect">
            <a:avLst/>
          </a:prstGeom>
          <a:solidFill>
            <a:schemeClr val="bg2"/>
          </a:solidFill>
          <a:ln/>
        </p:spPr>
      </p:sp>
      <p:sp>
        <p:nvSpPr>
          <p:cNvPr id="25" name="Text 23"/>
          <p:cNvSpPr txBox="1"/>
          <p:nvPr/>
        </p:nvSpPr>
        <p:spPr>
          <a:xfrm>
            <a:off x="594360" y="4005072"/>
            <a:ext cx="3794760" cy="640080"/>
          </a:xfrm>
          <a:prstGeom prst="rect">
            <a:avLst/>
          </a:prstGeom>
          <a:noFill/>
          <a:ln/>
        </p:spPr>
        <p:txBody>
          <a:bodyPr wrap="square" lIns="0" tIns="0" rIns="0" bIns="0" rtlCol="0" anchor="ctr"/>
          <a:lstStyle/>
          <a:p>
            <a:pPr indent="0" marL="0">
              <a:buNone/>
            </a:pPr>
            <a:r>
              <a:rPr lang="en-US" sz="1300" b="1" dirty="0">
                <a:solidFill>
                  <a:schemeClr val="accent4"/>
                </a:solidFill>
              </a:rPr>
              <a:t>Privatisierung</a:t>
            </a:r>
            <a:endParaRPr lang="en-US" sz="1300" dirty="0"/>
          </a:p>
          <a:p>
            <a:pPr indent="0" marL="0">
              <a:buNone/>
            </a:pPr>
            <a:r>
              <a:rPr lang="en-US" sz="1200" dirty="0">
                <a:solidFill>
                  <a:schemeClr val="tx1"/>
                </a:solidFill>
              </a:rPr>
              <a:t>Überführung staatlichen Eigentums in private Hand.</a:t>
            </a:r>
            <a:endParaRPr lang="en-US" sz="1300" dirty="0"/>
          </a:p>
        </p:txBody>
      </p:sp>
      <p:sp>
        <p:nvSpPr>
          <p:cNvPr id="26" name="Glossar Tarifautonomie"/>
          <p:cNvSpPr/>
          <p:nvPr/>
        </p:nvSpPr>
        <p:spPr>
          <a:xfrm>
            <a:off x="4663440" y="4005072"/>
            <a:ext cx="4023360" cy="640080"/>
          </a:xfrm>
          <a:prstGeom prst="rect">
            <a:avLst/>
          </a:prstGeom>
          <a:solidFill>
            <a:schemeClr val="bg2"/>
          </a:solidFill>
          <a:ln/>
        </p:spPr>
      </p:sp>
      <p:sp>
        <p:nvSpPr>
          <p:cNvPr id="27" name="Text 25"/>
          <p:cNvSpPr txBox="1"/>
          <p:nvPr/>
        </p:nvSpPr>
        <p:spPr>
          <a:xfrm>
            <a:off x="4800600" y="4005072"/>
            <a:ext cx="3794760" cy="640080"/>
          </a:xfrm>
          <a:prstGeom prst="rect">
            <a:avLst/>
          </a:prstGeom>
          <a:noFill/>
          <a:ln/>
        </p:spPr>
        <p:txBody>
          <a:bodyPr wrap="square" lIns="0" tIns="0" rIns="0" bIns="0" rtlCol="0" anchor="ctr"/>
          <a:lstStyle/>
          <a:p>
            <a:pPr indent="0" marL="0">
              <a:buNone/>
            </a:pPr>
            <a:r>
              <a:rPr lang="en-US" sz="1300" b="1" dirty="0">
                <a:solidFill>
                  <a:schemeClr val="accent4"/>
                </a:solidFill>
              </a:rPr>
              <a:t>Tarifautonomie</a:t>
            </a:r>
            <a:endParaRPr lang="en-US" sz="1300" dirty="0"/>
          </a:p>
          <a:p>
            <a:pPr indent="0" marL="0">
              <a:buNone/>
            </a:pPr>
            <a:r>
              <a:rPr lang="en-US" sz="1200" dirty="0">
                <a:solidFill>
                  <a:schemeClr val="tx1"/>
                </a:solidFill>
              </a:rPr>
              <a:t>Arbeitgeber und Gewerkschaften handeln Tarifverträge grundsätzlich selbstständig aus.</a:t>
            </a:r>
            <a:endParaRPr lang="en-US" sz="13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6583680" cy="731520"/>
          </a:xfrm>
          <a:prstGeom prst="rect">
            <a:avLst/>
          </a:prstGeom>
          <a:noFill/>
          <a:ln/>
        </p:spPr>
        <p:txBody>
          <a:bodyPr wrap="square" lIns="0" tIns="0" rIns="0" bIns="0" rtlCol="0" anchor="ctr"/>
          <a:lstStyle/>
          <a:p>
            <a:pPr algn="l" indent="0" marL="0">
              <a:buNone/>
            </a:pPr>
            <a:r>
              <a:rPr lang="en-US" sz="3000" b="1" dirty="0">
                <a:solidFill>
                  <a:schemeClr val="bg1"/>
                </a:solidFill>
              </a:rPr>
              <a:t>Quellen</a:t>
            </a:r>
            <a:endParaRPr lang="en-US" sz="3000" dirty="0"/>
          </a:p>
        </p:txBody>
      </p:sp>
      <p:sp>
        <p:nvSpPr>
          <p:cNvPr id="3" name="Text 1"/>
          <p:cNvSpPr txBox="1"/>
          <p:nvPr/>
        </p:nvSpPr>
        <p:spPr>
          <a:xfrm>
            <a:off x="457200" y="1188720"/>
            <a:ext cx="8138160" cy="26517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bg1"/>
                </a:solidFill>
              </a:rPr>
              <a:t>bpb (2026): Wirtschaftsordnung &amp; Soziale Marktwirtschaft</a:t>
            </a:r>
            <a:endParaRPr lang="en-US" sz="1400" dirty="0"/>
          </a:p>
          <a:p>
            <a:pPr marL="177800" indent="-177800">
              <a:spcAft>
                <a:spcPts val="400"/>
              </a:spcAft>
              <a:buSzPct val="100000"/>
              <a:buChar char="•"/>
            </a:pPr>
            <a:r>
              <a:rPr lang="en-US" sz="1400" dirty="0">
                <a:solidFill>
                  <a:schemeClr val="bg1"/>
                </a:solidFill>
              </a:rPr>
              <a:t>bpb.de – Wirtschaftsordnung</a:t>
            </a:r>
            <a:endParaRPr lang="en-US" sz="1400" dirty="0"/>
          </a:p>
          <a:p>
            <a:pPr marL="177800" indent="-177800">
              <a:spcAft>
                <a:spcPts val="400"/>
              </a:spcAft>
              <a:buSzPct val="100000"/>
              <a:buChar char="•"/>
            </a:pPr>
            <a:r>
              <a:rPr lang="en-US" sz="1400" dirty="0">
                <a:solidFill>
                  <a:schemeClr val="bg1"/>
                </a:solidFill>
              </a:rPr>
              <a:t>World Bank (2026): Morocco – Country Private Sector Diagnostic</a:t>
            </a:r>
            <a:endParaRPr lang="en-US" sz="1400" dirty="0"/>
          </a:p>
          <a:p>
            <a:pPr marL="177800" indent="-177800">
              <a:spcAft>
                <a:spcPts val="400"/>
              </a:spcAft>
              <a:buSzPct val="100000"/>
              <a:buChar char="•"/>
            </a:pPr>
            <a:r>
              <a:rPr lang="en-US" sz="1400" dirty="0">
                <a:solidFill>
                  <a:schemeClr val="bg1"/>
                </a:solidFill>
              </a:rPr>
              <a:t>World Bank – Marokko</a:t>
            </a:r>
            <a:endParaRPr lang="en-US" sz="1400" dirty="0"/>
          </a:p>
          <a:p>
            <a:pPr marL="177800" indent="-177800">
              <a:spcAft>
                <a:spcPts val="400"/>
              </a:spcAft>
              <a:buSzPct val="100000"/>
              <a:buChar char="•"/>
            </a:pPr>
            <a:r>
              <a:rPr lang="en-US" sz="1400" dirty="0">
                <a:solidFill>
                  <a:schemeClr val="bg1"/>
                </a:solidFill>
              </a:rPr>
              <a:t>EU-Kommission (2025): Ukraine Report 2025 – Wirtschaftsreformen und EU-Integration.</a:t>
            </a:r>
            <a:endParaRPr lang="en-US" sz="1400" dirty="0"/>
          </a:p>
          <a:p>
            <a:pPr marL="177800" indent="-177800">
              <a:spcAft>
                <a:spcPts val="400"/>
              </a:spcAft>
              <a:buSzPct val="100000"/>
              <a:buChar char="•"/>
            </a:pPr>
            <a:r>
              <a:rPr lang="en-US" sz="1400" dirty="0">
                <a:solidFill>
                  <a:schemeClr val="bg1"/>
                </a:solidFill>
              </a:rPr>
              <a:t>Reuters (18.06.2026): Cuban lawmakers approve sweeping reforms – Reformpaket 2026. Reuters bestätigt 176 Maßnahmen, mehr Raum für Privatunternehmen, privates Kapital und private Banken.</a:t>
            </a:r>
            <a:endParaRPr lang="en-US" sz="1400" dirty="0"/>
          </a:p>
          <a:p>
            <a:pPr marL="177800" indent="-177800">
              <a:spcAft>
                <a:spcPts val="400"/>
              </a:spcAft>
              <a:buSzPct val="100000"/>
              <a:buChar char="•"/>
            </a:pPr>
            <a:r>
              <a:rPr lang="en-US" sz="1400" dirty="0">
                <a:solidFill>
                  <a:schemeClr val="bg1"/>
                </a:solidFill>
              </a:rPr>
              <a:t>AFP (02.07.2026): Waiting for reforms, the private sector has already transformed Cuba</a:t>
            </a:r>
            <a:endParaRPr lang="en-US" sz="1400" dirty="0"/>
          </a:p>
          <a:p>
            <a:pPr marL="177800" indent="-177800">
              <a:spcAft>
                <a:spcPts val="400"/>
              </a:spcAft>
              <a:buSzPct val="100000"/>
              <a:buChar char="•"/>
            </a:pPr>
            <a:r>
              <a:rPr lang="en-US" sz="1400" dirty="0">
                <a:solidFill>
                  <a:schemeClr val="bg1"/>
                </a:solidFill>
              </a:rPr>
              <a:t>Aktueller Videobeitrag über Kubas wachsenden Privatsektor.</a:t>
            </a:r>
            <a:endParaRPr lang="en-US" sz="1400" dirty="0"/>
          </a:p>
        </p:txBody>
      </p:sp>
      <p:sp>
        <p:nvSpPr>
          <p:cNvPr id="4" name="Text 2"/>
          <p:cNvSpPr txBox="1"/>
          <p:nvPr/>
        </p:nvSpPr>
        <p:spPr>
          <a:xfrm>
            <a:off x="457200" y="3886200"/>
            <a:ext cx="8138160" cy="457200"/>
          </a:xfrm>
          <a:prstGeom prst="rect">
            <a:avLst/>
          </a:prstGeom>
          <a:noFill/>
          <a:ln/>
        </p:spPr>
        <p:txBody>
          <a:bodyPr wrap="square" lIns="0" tIns="0" rIns="0" bIns="0" rtlCol="0" anchor="t"/>
          <a:lstStyle/>
          <a:p>
            <a:pPr indent="0" marL="0">
              <a:buNone/>
            </a:pPr>
            <a:r>
              <a:rPr lang="en-US" sz="1200" dirty="0">
                <a:solidFill>
                  <a:schemeClr val="accent3"/>
                </a:solidFill>
              </a:rPr>
              <a:t>**3 KI-Inhalte (Bäckerei-Infografik, Länder-Vergleich, Café in vier Ländern): KI-generiert mit OpenAI nach eigenen Vorgaben und Prompts; Inhalte anhand der genannten Quellen geprüft.</a:t>
            </a:r>
            <a:endParaRPr lang="en-US" sz="1200" dirty="0"/>
          </a:p>
        </p:txBody>
      </p:sp>
      <p:sp>
        <p:nvSpPr>
          <p:cNvPr id="5" name="Quellenzeile"/>
          <p:cNvSpPr/>
          <p:nvPr/>
        </p:nvSpPr>
        <p:spPr>
          <a:xfrm>
            <a:off x="457200" y="4434840"/>
            <a:ext cx="8229600" cy="365760"/>
          </a:xfrm>
          <a:prstGeom prst="rect">
            <a:avLst/>
          </a:prstGeom>
          <a:solidFill>
            <a:schemeClr val="accent1"/>
          </a:solidFill>
          <a:ln/>
        </p:spPr>
      </p:sp>
      <p:sp>
        <p:nvSpPr>
          <p:cNvPr id="6" name="Text 4"/>
          <p:cNvSpPr txBox="1"/>
          <p:nvPr/>
        </p:nvSpPr>
        <p:spPr>
          <a:xfrm>
            <a:off x="457200" y="4434840"/>
            <a:ext cx="8229600" cy="365760"/>
          </a:xfrm>
          <a:prstGeom prst="rect">
            <a:avLst/>
          </a:prstGeom>
          <a:noFill/>
          <a:ln/>
        </p:spPr>
        <p:txBody>
          <a:bodyPr wrap="square" lIns="0" tIns="0" rIns="0" bIns="0" rtlCol="0" anchor="ctr"/>
          <a:lstStyle/>
          <a:p>
            <a:pPr algn="ctr" indent="0" marL="0">
              <a:buNone/>
            </a:pPr>
            <a:r>
              <a:rPr lang="en-US" sz="1500" b="1" dirty="0">
                <a:solidFill>
                  <a:schemeClr val="tx2"/>
                </a:solidFill>
              </a:rPr>
              <a:t>Quellen: bpb.de, Wikipedia, 3 KI-Inhalte</a:t>
            </a:r>
            <a:endParaRPr lang="en-US" sz="1500" dirty="0"/>
          </a:p>
        </p:txBody>
      </p:sp>
      <p:sp>
        <p:nvSpPr>
          <p:cNvPr id="25" name="Slide Number Placeholder 0"/>
          <p:cNvSpPr>
            <a:spLocks noGrp="1"/>
          </p:cNvSpPr>
          <p:nvPr>
            <p:ph type="sldNum" sz="quarter" idx="4294967295"/>
          </p:nvPr>
        </p:nvSpPr>
        <p:spPr>
          <a:xfrm>
            <a:off x="8229600" y="4864608"/>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9DB0CC"/>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Markt und Staat">
  <a:themeElements>
    <a:clrScheme name="Markt und Staat">
      <a:dk1>
        <a:srgbClr val="14233B"/>
      </a:dk1>
      <a:lt1>
        <a:srgbClr val="FFFFFF"/>
      </a:lt1>
      <a:dk2>
        <a:srgbClr val="0B1F3A"/>
      </a:dk2>
      <a:lt2>
        <a:srgbClr val="EEF2F7"/>
      </a:lt2>
      <a:accent1>
        <a:srgbClr val="F26B1D"/>
      </a:accent1>
      <a:accent2>
        <a:srgbClr val="2F5FA8"/>
      </a:accent2>
      <a:accent3>
        <a:srgbClr val="9DB8E0"/>
      </a:accent3>
      <a:accent4>
        <a:srgbClr val="B94A0C"/>
      </a:accent4>
      <a:accent5>
        <a:srgbClr val="6B7A90"/>
      </a:accent5>
      <a:accent6>
        <a:srgbClr val="FFB27A"/>
      </a:accent6>
      <a:hlink>
        <a:srgbClr val="F26B1D"/>
      </a:hlink>
      <a:folHlink>
        <a:srgbClr val="6B7A90"/>
      </a:folHlink>
    </a:clrScheme>
    <a:fontScheme name="Markt und Staa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Wirtschaftsordnungen im Vergleich – Wie viel Markt, wie viel Staat?</dc:title>
  <dc:subject>PptxGenJS Presentation</dc:subject>
  <dc:creator>Anastasiia, Charlene, Melanie &amp; Yasin</dc:creator>
  <cp:lastModifiedBy>Anastasiia, Charlene, Melanie &amp; Yasin</cp:lastModifiedBy>
  <cp:revision>1</cp:revision>
  <dcterms:created xsi:type="dcterms:W3CDTF">2026-10-06T07:33:17Z</dcterms:created>
  <dcterms:modified xsi:type="dcterms:W3CDTF">2026-10-06T07:33:17Z</dcterms:modified>
</cp:coreProperties>
</file>