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1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charts/chart2.xml" ContentType="application/vnd.openxmlformats-officedocument.drawingml.chart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charts/chart3.xml" ContentType="application/vnd.openxmlformats-officedocument.drawingml.chart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Einstieg" id="{0a25a722-0e35-fe77-b9a2-be97687cf09c}">
          <p14:sldIdLst>
            <p14:sldId id="256"/>
            <p14:sldId id="257"/>
          </p14:sldIdLst>
        </p14:section>
        <p14:section name="Grundlagen" id="{881dda7c-587f-92bf-df63-e0d5254f5a29}">
          <p14:sldIdLst>
            <p14:sldId id="258"/>
            <p14:sldId id="259"/>
            <p14:sldId id="260"/>
            <p14:sldId id="261"/>
            <p14:sldId id="262"/>
            <p14:sldId id="263"/>
            <p14:sldId id="264"/>
          </p14:sldIdLst>
        </p14:section>
        <p14:section name="Ländervergleich" id="{b7c1d62e-9b12-5eb7-d4ab-71ad0ccf61f9}">
          <p14:sldIdLst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</p14:sldIdLst>
        </p14:section>
        <p14:section name="Praxisbeispiel" id="{a2253831-cfdf-2834-99ed-a39fdde1e4d9}">
          <p14:sldIdLst>
            <p14:sldId id="276"/>
            <p14:sldId id="277"/>
          </p14:sldIdLst>
        </p14:section>
        <p14:section name="Fazit &amp; Anhang" id="{2ac3d83e-06b1-02aa-d83c-e5399ea55e82}">
          <p14:sldIdLst>
            <p14:sldId id="278"/>
            <p14:sldId id="279"/>
            <p14:sldId id="28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B2433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1B2433"/>
                </a:solidFill>
                <a:latin typeface="+mn-lt"/>
              </a:rPr>
              <a:t>BIP-Prognose der Institute (Herbst 2026)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BIP-Wachstum</c:v>
                </c:pt>
              </c:strCache>
            </c:strRef>
          </c:tx>
          <c:spPr>
            <a:solidFill>
              <a:srgbClr val="2563EB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2433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2026</c:v>
                  </c:pt>
                  <c:pt idx="1">
                    <c:v>2027</c:v>
                  </c:pt>
                  <c:pt idx="2">
                    <c:v>2028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1.3</c:v>
                </c:pt>
                <c:pt idx="1">
                  <c:v>1.1</c:v>
                </c:pt>
                <c:pt idx="2">
                  <c:v>0.4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200" u="none">
                  <a:solidFill>
                    <a:srgbClr val="1B2433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B2433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"/>
          <c:min val="0"/>
        </c:scaling>
        <c:delete val="0"/>
        <c:axPos val="l"/>
        <c:majorGridlines>
          <c:spPr>
            <a:ln w="9525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B5563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0.5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B2433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1B2433"/>
                </a:solidFill>
                <a:latin typeface="+mn-lt"/>
              </a:rPr>
              <a:t>Wachstumsprognosen 2026 für Marokko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BIP-Wachstum 2026</c:v>
                </c:pt>
              </c:strCache>
            </c:strRef>
          </c:tx>
          <c:spPr>
            <a:solidFill>
              <a:srgbClr val="0F766E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2433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AfDB</c:v>
                  </c:pt>
                  <c:pt idx="1">
                    <c:v>IWF</c:v>
                  </c:pt>
                  <c:pt idx="2">
                    <c:v>OECD</c:v>
                  </c:pt>
                  <c:pt idx="3">
                    <c:v>Regierung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4.2</c:v>
                </c:pt>
                <c:pt idx="1">
                  <c:v>4.4</c:v>
                </c:pt>
                <c:pt idx="2">
                  <c:v>5</c:v>
                </c:pt>
                <c:pt idx="3">
                  <c:v>5.3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200" u="none">
                  <a:solidFill>
                    <a:srgbClr val="1B2433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B2433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"/>
          <c:min val="0"/>
        </c:scaling>
        <c:delete val="0"/>
        <c:axPos val="l"/>
        <c:majorGridlines>
          <c:spPr>
            <a:ln w="9525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B5563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2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B2433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1B2433"/>
                </a:solidFill>
                <a:latin typeface="+mn-lt"/>
              </a:rPr>
              <a:t>BIP-Wachstum 2026 (Prognose), in %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BIP-Wachstum 2026</c:v>
                </c:pt>
              </c:strCache>
            </c:strRef>
          </c:tx>
          <c:spPr>
            <a:solidFill>
              <a:srgbClr val="2563EB"/>
            </a:solidFill>
            <a:effectLst/>
          </c:spPr>
          <c:invertIfNegative val="0"/>
          <c:dLbls>
            <c:numFmt formatCode="+0.0&quot;%&quot;;-0.0&quot;%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2433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563E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F766E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D97706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E11D48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Deutschland</c:v>
                  </c:pt>
                  <c:pt idx="1">
                    <c:v>Marokko</c:v>
                  </c:pt>
                  <c:pt idx="2">
                    <c:v>Ukraine</c:v>
                  </c:pt>
                  <c:pt idx="3">
                    <c:v>Kuba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1.3</c:v>
                </c:pt>
                <c:pt idx="1">
                  <c:v>4.4</c:v>
                </c:pt>
                <c:pt idx="2">
                  <c:v>1.6</c:v>
                </c:pt>
                <c:pt idx="3">
                  <c:v>-7</c:v>
                </c:pt>
              </c:numCache>
            </c:numRef>
          </c:val>
        </c:ser>
        <c:dLbls>
          <c:numFmt formatCode="+0.0&quot;%&quot;;-0.0&quot;%&quot;" sourceLinked="0"/>
          <c:txPr>
            <a:bodyPr/>
            <a:lstStyle/>
            <a:p>
              <a:pPr>
                <a:defRPr b="0" i="0" strike="noStrike" sz="1200" u="none">
                  <a:solidFill>
                    <a:srgbClr val="1B2433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B2433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"/>
          <c:min val="-10"/>
        </c:scaling>
        <c:delete val="0"/>
        <c:axPos val="l"/>
        <c:majorGridlines>
          <c:spPr>
            <a:ln w="9525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B5563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2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Einstieg: Die Leitfrage lautet nicht „Markt ODER Staat?“, sondern „Wie viel von beidem?“. Wir schauen auf vier Länder mit sehr unterschiedlichen Antworten – mit echten Zahlen von 2026. Dauer gesamt ca. 35–40 Minuten.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Der rote Faden: erst die Grundlagen, dann vier Länder mit aktuellen Zahlen, dann ein Praxisbeispiel (Café) und zum Schluss das Fazit.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Merksatz: Die Wirtschaftsordnung legt die Spielregeln fest. Vier Fragen helfen: Was wird produziert? Wie? Für wen? Und wer entscheidet darüber? Fragen Sie die Klasse nach einem Beispiel aus dem Ausbildungsbetrieb.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Brücke zum Alltag: Preise im Supermarkt, Ihr Ausbildungsvertrag, Ihre Krankenversicherung – alles hängt an der Wirtschaftsordnung.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Wichtig: Das sind Idealtypen – Denkmodelle. Reine Formen gibt es in der Realität kaum (siehe Folie 7).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Methodenidee: Klasse in zwei Gruppen teilen – eine verteidigt die Marktwirtschaft, die andere die Planwirtschaft (3 Minuten).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Die Positionen der Länder sind eine vereinfachte Einordnung für den Unterricht (Einschätzung, keine Messgröße). Diskussion: Würden Sie Kuba heute noch ganz rechts einordnen?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Grundidee: Freiheit + Ordnungsrahmen + sozialer Ausgleich. Zwei Zahlen zum Anfassen: Sozialausgaben und Mindestlohn – beides sind staatliche Eingriffe in einen freien Markt.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Diese sechs Kriterien nutzen wir gleich für alle vier Länder. Kurz jedes Kriterium mit einem Beispiel aus dem Alltag anreißen.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Je eine Kennzahl pro Land als Appetizer. Achtung bei der Ukraine: Die Arbeitslosenquote ist eine Schätzung (Info Sapiens), offiziell registriert sind nur wenige. Bei Kuba ist die BIP-Zahl eine Ökonomen-Schätzung.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Typische Merkmale kurz nennen. Spannungsfeld 2026: Der Staat gibt viel für Infrastruktur und Verteidigung aus (stützt das Wachstum), gleichzeitig steigen die Sozialausgaben.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Aussage der BA-Chefin Nahles: Die konjunkturelle Besserung kommt noch nicht am Arbeitsmarkt an; die Herbstbelebung ist schwach. Paradox: Trotz fast 3 Mio. Arbeitslosen bleiben 357.000 Fachkräftestellen unbesetzt (KOFA, März 2026). Wachstum 2026 laut Gemeinschaftsdiagnose: 1,3 % (Frühjahr: 0,6 %).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Marokko zeigt: marktorientiert heißt nicht, dass der Staat unwichtig ist. Er investiert, reguliert und treibt Reformen (Investitionscharta, Wettbewerbsrat). Die Zahlen sind Ziele, keine Ergebnisse.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Die Wachstumsprognosen schwanken je nach Institution zwischen 4,2 und 5,3 %. Treiber: Erholung der Landwirtschaft nach Dürrejahren. Problem: Jugendarbeitslosigkeit und Informalität. Weltbank: bis 2035 könnten 1,7 Mio. zusätzliche Jobs entstehen – wenn Reformen gelingen.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Weg von der sowjetischen Planwirtschaft (bis 1991) zur Marktwirtschaft. 2026: Der Beitrittsprozess nimmt Fahrt auf – 15.6.2026 Cluster „Fundamentals“ (u. a. Rechtsstaat, wirtschaftliche Kriterien), 14.7.2026 Cluster „Außenbeziehungen“. Wichtig: Kriegsbedingte Staatseingriffe sind keine Planwirtschaft.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Die IWF-Prognose wurde im Juni auf 1,0–1,6 % gesenkt (zuvor 1,8–2,5 %). Leitzins: 16 % seit 17.9.2026. Wiederaufbau: ca. 588 Mrd. $ über zehn Jahre (RDNA5, Feb. 2026). Paradox: Arbeitslosigkeit ca. 16 % (Schätzung Info Sapiens, Aug. 2026) und gleichzeitig Arbeitskräftemangel.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18. Juni 2026: Die Nationalversammlung beschließt einstimmig 176 Maßnahmen in 23 Säulen – das größte Öffnungspaket seit der Revolution von 1959 (Medienberichte). Die Führung nennt es weiterhin „Sozialismus“. Wie es wirkt, ist offen.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Hintergrund: Blackouts, Treibstoffmangel, US-Sanktionen und Rückzug ausländischer Unternehmen. Ökonomen erwarten 2026 einen BIP-Rückgang von rund 7 % (einzelne Schätzungen bis 15 %). Lernpunkt: Auch zentral gelenkte Systeme können Marktelemente aufnehmen – das Beispiel Kuba verdeutlicht, dass Ordnungen sich verändern.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Zusammenführung der Kriterien aus Folie 9 mit den Zahlen von 2026. Lassen Sie die Klasse eine Zeile selbst kommentieren.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Achtung bei der Interpretation: Die Prognosen stammen von unterschiedlichen Institutionen (DE: Gemeinschaftsdiagnose, MA: IWF, UA: Kabinett der Ukraine, CU: Ökonomen-Schätzung). Wachstum hängt nicht nur von der Ordnung ab – Wetter, Krieg und Sanktionen spielen mit.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Szenario: Sie wollen ein kleines Café eröffnen. Was ändert sich je nach Land? Lassen Sie die Klasse zuerst raten, dann die Karten aufdecken.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Diskussion (5 Min.): Abstimmung per Handzeichen, danach Begründung. Es gibt keine „richtige“ Antwort – wichtig ist, dass Vor- und Nachteile der Ordnung benannt werden.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Zum Abschluss die vier Kernaussagen wiederholen. Rückbezug zur Leitfrage: Wie viel Markt – wie viel Staat?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Als Lernhilfe für die Klassenarbeit; kann als Handout verteilt werden.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Hinweis: Die Zahlen wurden im Oktober 2026 aus Institutsmeldungen und Presseberichten zusammengestellt. Vor der Abgabe bitte die Originalquellen öffnen und nach Vorgabe der Lehrkraft formatieren.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3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475488"/>
            <a:ext cx="82296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B556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0F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0F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475488"/>
            <a:ext cx="82296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BD5E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B556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image" Target="../media/image-22-3.png"/><Relationship Id="rId4" Type="http://schemas.openxmlformats.org/officeDocument/2006/relationships/image" Target="../media/image-22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0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7DD3FC"/>
                </a:solidFill>
              </a:rPr>
              <a:t>POLITIK · WIRTSCHAFT · BERUFSSCHULE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53035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chemeClr val="bg1"/>
                </a:solidFill>
              </a:rPr>
              <a:t>Wie viel Markt –</a:t>
            </a:r>
            <a:endParaRPr lang="en-US" sz="4600" dirty="0"/>
          </a:p>
          <a:p>
            <a:pPr indent="0" marL="0">
              <a:buNone/>
            </a:pPr>
            <a:r>
              <a:rPr lang="en-US" sz="4600" b="1" dirty="0">
                <a:solidFill>
                  <a:schemeClr val="bg1"/>
                </a:solidFill>
              </a:rPr>
              <a:t>wie viel Staat?</a:t>
            </a:r>
            <a:endParaRPr lang="en-US" sz="4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7432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BAE6FD"/>
                </a:solidFill>
              </a:rPr>
              <a:t>Wirtschaftsordnungen im Ländervergleich 2026</a:t>
            </a:r>
            <a:endParaRPr lang="en-US" sz="1900" dirty="0"/>
          </a:p>
        </p:txBody>
      </p:sp>
      <p:sp>
        <p:nvSpPr>
          <p:cNvPr id="5" name="Länder-Pille Deutschland"/>
          <p:cNvSpPr/>
          <p:nvPr/>
        </p:nvSpPr>
        <p:spPr>
          <a:xfrm>
            <a:off x="548640" y="3429000"/>
            <a:ext cx="1325880" cy="36576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342900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Deutschland</a:t>
            </a:r>
            <a:endParaRPr lang="en-US" sz="1300" dirty="0"/>
          </a:p>
        </p:txBody>
      </p:sp>
      <p:sp>
        <p:nvSpPr>
          <p:cNvPr id="7" name="Länder-Pille Marokko"/>
          <p:cNvSpPr/>
          <p:nvPr/>
        </p:nvSpPr>
        <p:spPr>
          <a:xfrm>
            <a:off x="1984248" y="3429000"/>
            <a:ext cx="1097280" cy="36576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984248" y="342900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Marokko</a:t>
            </a:r>
            <a:endParaRPr lang="en-US" sz="1300" dirty="0"/>
          </a:p>
        </p:txBody>
      </p:sp>
      <p:sp>
        <p:nvSpPr>
          <p:cNvPr id="9" name="Länder-Pille Ukraine"/>
          <p:cNvSpPr/>
          <p:nvPr/>
        </p:nvSpPr>
        <p:spPr>
          <a:xfrm>
            <a:off x="3191256" y="3429000"/>
            <a:ext cx="1097280" cy="36576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191256" y="342900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Ukraine</a:t>
            </a:r>
            <a:endParaRPr lang="en-US" sz="1300" dirty="0"/>
          </a:p>
        </p:txBody>
      </p:sp>
      <p:sp>
        <p:nvSpPr>
          <p:cNvPr id="11" name="Länder-Pille Kuba"/>
          <p:cNvSpPr/>
          <p:nvPr/>
        </p:nvSpPr>
        <p:spPr>
          <a:xfrm>
            <a:off x="4398264" y="3429000"/>
            <a:ext cx="868680" cy="36576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398264" y="3429000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Kuba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44348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Stand der Daten: Oktober 2026  ·  Kaufmann/-frau für Büromanagement</a:t>
            </a:r>
            <a:endParaRPr lang="en-US" sz="1200" dirty="0"/>
          </a:p>
        </p:txBody>
      </p:sp>
      <p:sp>
        <p:nvSpPr>
          <p:cNvPr id="14" name="Hero-Kreis"/>
          <p:cNvSpPr/>
          <p:nvPr/>
        </p:nvSpPr>
        <p:spPr>
          <a:xfrm>
            <a:off x="5806440" y="1097280"/>
            <a:ext cx="2468880" cy="24688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5" name="Image 0" descr="Waag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55080" y="1645920"/>
            <a:ext cx="1371600" cy="1371600"/>
          </a:xfrm>
          <a:prstGeom prst="rect">
            <a:avLst/>
          </a:prstGeom>
        </p:spPr>
      </p:pic>
      <p:sp>
        <p:nvSpPr>
          <p:cNvPr id="16" name="Icon-Kreis"/>
          <p:cNvSpPr/>
          <p:nvPr/>
        </p:nvSpPr>
        <p:spPr>
          <a:xfrm>
            <a:off x="7726680" y="685800"/>
            <a:ext cx="914400" cy="9144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7" name="Image 1" descr="Landmar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46136" y="905256"/>
            <a:ext cx="475488" cy="475488"/>
          </a:xfrm>
          <a:prstGeom prst="rect">
            <a:avLst/>
          </a:prstGeom>
        </p:spPr>
      </p:pic>
      <p:sp>
        <p:nvSpPr>
          <p:cNvPr id="18" name="Icon-Kreis"/>
          <p:cNvSpPr/>
          <p:nvPr/>
        </p:nvSpPr>
        <p:spPr>
          <a:xfrm>
            <a:off x="5440680" y="3154680"/>
            <a:ext cx="914400" cy="9144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9" name="Image 2" descr="ChartLin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0136" y="3374136"/>
            <a:ext cx="475488" cy="475488"/>
          </a:xfrm>
          <a:prstGeom prst="rect">
            <a:avLst/>
          </a:prstGeom>
        </p:spPr>
      </p:pic>
      <p:sp>
        <p:nvSpPr>
          <p:cNvPr id="20" name="Icon-Kreis"/>
          <p:cNvSpPr/>
          <p:nvPr/>
        </p:nvSpPr>
        <p:spPr>
          <a:xfrm>
            <a:off x="7315200" y="3291840"/>
            <a:ext cx="822960" cy="82296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21" name="Image 3" descr="EuroSig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12710" y="3489350"/>
            <a:ext cx="427939" cy="42793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37744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ÜBERBLICK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47548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Was schauen wir uns an?</a:t>
            </a:r>
            <a:endParaRPr lang="en-US" sz="3400" dirty="0"/>
          </a:p>
        </p:txBody>
      </p:sp>
      <p:sp>
        <p:nvSpPr>
          <p:cNvPr id="5" name="Agenda-Karte 01"/>
          <p:cNvSpPr/>
          <p:nvPr/>
        </p:nvSpPr>
        <p:spPr>
          <a:xfrm>
            <a:off x="457200" y="1371600"/>
            <a:ext cx="1874520" cy="3108960"/>
          </a:xfrm>
          <a:prstGeom prst="roundRect">
            <a:avLst>
              <a:gd name="adj" fmla="val 5854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F2A4A">
                <a:alpha val="12000"/>
              </a:srgbClr>
            </a:outerShdw>
          </a:effectLst>
        </p:spPr>
      </p:sp>
      <p:sp>
        <p:nvSpPr>
          <p:cNvPr id="6" name="Icon-Kreis"/>
          <p:cNvSpPr/>
          <p:nvPr/>
        </p:nvSpPr>
        <p:spPr>
          <a:xfrm>
            <a:off x="640080" y="155448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7" name="Image 0" descr="Boo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699" y="1708099"/>
            <a:ext cx="332842" cy="332842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640080" y="233172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01</a:t>
            </a:r>
            <a:endParaRPr lang="en-US" sz="3000" dirty="0"/>
          </a:p>
        </p:txBody>
      </p:sp>
      <p:sp>
        <p:nvSpPr>
          <p:cNvPr id="9" name="Text 5"/>
          <p:cNvSpPr txBox="1"/>
          <p:nvPr/>
        </p:nvSpPr>
        <p:spPr>
          <a:xfrm>
            <a:off x="640080" y="283464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Grundlagen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640080" y="320040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Markt, Plan &amp; Soziale Marktwirtschaft</a:t>
            </a:r>
            <a:endParaRPr lang="en-US" sz="1400" dirty="0"/>
          </a:p>
        </p:txBody>
      </p:sp>
      <p:sp>
        <p:nvSpPr>
          <p:cNvPr id="11" name="Text 7"/>
          <p:cNvSpPr txBox="1"/>
          <p:nvPr/>
        </p:nvSpPr>
        <p:spPr>
          <a:xfrm>
            <a:off x="640080" y="411480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</a:rPr>
              <a:t>Folien 3–9</a:t>
            </a:r>
            <a:endParaRPr lang="en-US" sz="1100" dirty="0"/>
          </a:p>
        </p:txBody>
      </p:sp>
      <p:sp>
        <p:nvSpPr>
          <p:cNvPr id="12" name="Agenda-Karte 02"/>
          <p:cNvSpPr/>
          <p:nvPr/>
        </p:nvSpPr>
        <p:spPr>
          <a:xfrm>
            <a:off x="2578608" y="1371600"/>
            <a:ext cx="1874520" cy="3108960"/>
          </a:xfrm>
          <a:prstGeom prst="roundRect">
            <a:avLst>
              <a:gd name="adj" fmla="val 5854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F2A4A">
                <a:alpha val="12000"/>
              </a:srgbClr>
            </a:outerShdw>
          </a:effectLst>
        </p:spPr>
      </p:sp>
      <p:sp>
        <p:nvSpPr>
          <p:cNvPr id="13" name="Icon-Kreis"/>
          <p:cNvSpPr/>
          <p:nvPr/>
        </p:nvSpPr>
        <p:spPr>
          <a:xfrm>
            <a:off x="2761488" y="1554480"/>
            <a:ext cx="640080" cy="6400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4" name="Image 1" descr="GlobeEurop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15107" y="1708099"/>
            <a:ext cx="332842" cy="332842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2761488" y="233172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</a:rPr>
              <a:t>02</a:t>
            </a:r>
            <a:endParaRPr lang="en-US" sz="3000" dirty="0"/>
          </a:p>
        </p:txBody>
      </p:sp>
      <p:sp>
        <p:nvSpPr>
          <p:cNvPr id="16" name="Text 11"/>
          <p:cNvSpPr txBox="1"/>
          <p:nvPr/>
        </p:nvSpPr>
        <p:spPr>
          <a:xfrm>
            <a:off x="2761488" y="283464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Ländervergleich</a:t>
            </a:r>
            <a:endParaRPr lang="en-US" sz="1600" dirty="0"/>
          </a:p>
        </p:txBody>
      </p:sp>
      <p:sp>
        <p:nvSpPr>
          <p:cNvPr id="17" name="Text 12"/>
          <p:cNvSpPr txBox="1"/>
          <p:nvPr/>
        </p:nvSpPr>
        <p:spPr>
          <a:xfrm>
            <a:off x="2761488" y="320040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Deutschland, Marokko, Ukraine, Kuba mit Zahlen 2026</a:t>
            </a:r>
            <a:endParaRPr lang="en-US" sz="1400" dirty="0"/>
          </a:p>
        </p:txBody>
      </p:sp>
      <p:sp>
        <p:nvSpPr>
          <p:cNvPr id="18" name="Text 13"/>
          <p:cNvSpPr txBox="1"/>
          <p:nvPr/>
        </p:nvSpPr>
        <p:spPr>
          <a:xfrm>
            <a:off x="2761488" y="411480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</a:rPr>
              <a:t>Folien 10–20</a:t>
            </a:r>
            <a:endParaRPr lang="en-US" sz="1100" dirty="0"/>
          </a:p>
        </p:txBody>
      </p:sp>
      <p:sp>
        <p:nvSpPr>
          <p:cNvPr id="19" name="Agenda-Karte 03"/>
          <p:cNvSpPr/>
          <p:nvPr/>
        </p:nvSpPr>
        <p:spPr>
          <a:xfrm>
            <a:off x="4700016" y="1371600"/>
            <a:ext cx="1874520" cy="3108960"/>
          </a:xfrm>
          <a:prstGeom prst="roundRect">
            <a:avLst>
              <a:gd name="adj" fmla="val 5854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F2A4A">
                <a:alpha val="12000"/>
              </a:srgbClr>
            </a:outerShdw>
          </a:effectLst>
        </p:spPr>
      </p:sp>
      <p:sp>
        <p:nvSpPr>
          <p:cNvPr id="20" name="Icon-Kreis"/>
          <p:cNvSpPr/>
          <p:nvPr/>
        </p:nvSpPr>
        <p:spPr>
          <a:xfrm>
            <a:off x="4882896" y="1554480"/>
            <a:ext cx="640080" cy="64008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21" name="Image 2" descr="Coffe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36515" y="1708099"/>
            <a:ext cx="332842" cy="332842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4882896" y="233172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3"/>
                </a:solidFill>
              </a:rPr>
              <a:t>03</a:t>
            </a:r>
            <a:endParaRPr lang="en-US" sz="3000" dirty="0"/>
          </a:p>
        </p:txBody>
      </p:sp>
      <p:sp>
        <p:nvSpPr>
          <p:cNvPr id="23" name="Text 17"/>
          <p:cNvSpPr txBox="1"/>
          <p:nvPr/>
        </p:nvSpPr>
        <p:spPr>
          <a:xfrm>
            <a:off x="4882896" y="283464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Praxis: Café</a:t>
            </a:r>
            <a:endParaRPr lang="en-US" sz="1600" dirty="0"/>
          </a:p>
        </p:txBody>
      </p:sp>
      <p:sp>
        <p:nvSpPr>
          <p:cNvPr id="24" name="Text 18"/>
          <p:cNvSpPr txBox="1"/>
          <p:nvPr/>
        </p:nvSpPr>
        <p:spPr>
          <a:xfrm>
            <a:off x="4882896" y="320040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Ein Café in vier Ländern eröffnen</a:t>
            </a:r>
            <a:endParaRPr lang="en-US" sz="1400" dirty="0"/>
          </a:p>
        </p:txBody>
      </p:sp>
      <p:sp>
        <p:nvSpPr>
          <p:cNvPr id="25" name="Text 19"/>
          <p:cNvSpPr txBox="1"/>
          <p:nvPr/>
        </p:nvSpPr>
        <p:spPr>
          <a:xfrm>
            <a:off x="4882896" y="411480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</a:rPr>
              <a:t>Folien 21–22</a:t>
            </a:r>
            <a:endParaRPr lang="en-US" sz="1100" dirty="0"/>
          </a:p>
        </p:txBody>
      </p:sp>
      <p:sp>
        <p:nvSpPr>
          <p:cNvPr id="26" name="Agenda-Karte 04"/>
          <p:cNvSpPr/>
          <p:nvPr/>
        </p:nvSpPr>
        <p:spPr>
          <a:xfrm>
            <a:off x="6821424" y="1371600"/>
            <a:ext cx="1874520" cy="3108960"/>
          </a:xfrm>
          <a:prstGeom prst="roundRect">
            <a:avLst>
              <a:gd name="adj" fmla="val 5854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F2A4A">
                <a:alpha val="12000"/>
              </a:srgbClr>
            </a:outerShdw>
          </a:effectLst>
        </p:spPr>
      </p:sp>
      <p:sp>
        <p:nvSpPr>
          <p:cNvPr id="27" name="Icon-Kreis"/>
          <p:cNvSpPr/>
          <p:nvPr/>
        </p:nvSpPr>
        <p:spPr>
          <a:xfrm>
            <a:off x="7004304" y="1554480"/>
            <a:ext cx="640080" cy="64008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28" name="Image 3" descr="CheckCircl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57923" y="1708099"/>
            <a:ext cx="332842" cy="332842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7004304" y="233172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5"/>
                </a:solidFill>
              </a:rPr>
              <a:t>04</a:t>
            </a:r>
            <a:endParaRPr lang="en-US" sz="3000" dirty="0"/>
          </a:p>
        </p:txBody>
      </p:sp>
      <p:sp>
        <p:nvSpPr>
          <p:cNvPr id="30" name="Text 23"/>
          <p:cNvSpPr txBox="1"/>
          <p:nvPr/>
        </p:nvSpPr>
        <p:spPr>
          <a:xfrm>
            <a:off x="7004304" y="283464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Fazit</a:t>
            </a:r>
            <a:endParaRPr lang="en-US" sz="1600" dirty="0"/>
          </a:p>
        </p:txBody>
      </p:sp>
      <p:sp>
        <p:nvSpPr>
          <p:cNvPr id="31" name="Text 24"/>
          <p:cNvSpPr txBox="1"/>
          <p:nvPr/>
        </p:nvSpPr>
        <p:spPr>
          <a:xfrm>
            <a:off x="7004304" y="320040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Kernaussagen, Glossar, Quellen</a:t>
            </a:r>
            <a:endParaRPr lang="en-US" sz="1400" dirty="0"/>
          </a:p>
        </p:txBody>
      </p:sp>
      <p:sp>
        <p:nvSpPr>
          <p:cNvPr id="32" name="Text 25"/>
          <p:cNvSpPr txBox="1"/>
          <p:nvPr/>
        </p:nvSpPr>
        <p:spPr>
          <a:xfrm>
            <a:off x="7004304" y="411480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</a:rPr>
              <a:t>Folien 23–25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B556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37744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GRUNDWISSEN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47548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Was ist eine Wirtschaftsordnung?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754880"/>
            <a:ext cx="7589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</a:rPr>
              <a:t>Quelle: bpb, Wirtschaftsordnung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34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Die rechtlichen und organisatorischen Regeln, nach denen wirtschaftliche Aktivitäten in einem Land ablaufen.</a:t>
            </a:r>
            <a:endParaRPr lang="en-US" sz="2000" dirty="0"/>
          </a:p>
        </p:txBody>
      </p:sp>
      <p:sp>
        <p:nvSpPr>
          <p:cNvPr id="7" name="Frage-Karte"/>
          <p:cNvSpPr/>
          <p:nvPr/>
        </p:nvSpPr>
        <p:spPr>
          <a:xfrm>
            <a:off x="457200" y="2057400"/>
            <a:ext cx="1920240" cy="2011680"/>
          </a:xfrm>
          <a:prstGeom prst="roundRect">
            <a:avLst>
              <a:gd name="adj" fmla="val 5714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F2A4A">
                <a:alpha val="12000"/>
              </a:srgbClr>
            </a:outerShdw>
          </a:effectLst>
        </p:spPr>
      </p:sp>
      <p:sp>
        <p:nvSpPr>
          <p:cNvPr id="8" name="Icon-Kreis"/>
          <p:cNvSpPr/>
          <p:nvPr/>
        </p:nvSpPr>
        <p:spPr>
          <a:xfrm>
            <a:off x="640080" y="2212848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9" name="Image 0" descr="BoxOpe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1754" y="2344522"/>
            <a:ext cx="285293" cy="285293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640080" y="2852928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Was?</a:t>
            </a:r>
            <a:endParaRPr lang="en-US" sz="1700" dirty="0"/>
          </a:p>
        </p:txBody>
      </p:sp>
      <p:sp>
        <p:nvSpPr>
          <p:cNvPr id="11" name="Text 7"/>
          <p:cNvSpPr txBox="1"/>
          <p:nvPr/>
        </p:nvSpPr>
        <p:spPr>
          <a:xfrm>
            <a:off x="640080" y="3200400"/>
            <a:ext cx="1600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Welche Güter werden produziert?</a:t>
            </a:r>
            <a:endParaRPr lang="en-US" sz="1400" dirty="0"/>
          </a:p>
        </p:txBody>
      </p:sp>
      <p:sp>
        <p:nvSpPr>
          <p:cNvPr id="12" name="Frage-Karte"/>
          <p:cNvSpPr/>
          <p:nvPr/>
        </p:nvSpPr>
        <p:spPr>
          <a:xfrm>
            <a:off x="2560320" y="2057400"/>
            <a:ext cx="1920240" cy="2011680"/>
          </a:xfrm>
          <a:prstGeom prst="roundRect">
            <a:avLst>
              <a:gd name="adj" fmla="val 5714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F2A4A">
                <a:alpha val="12000"/>
              </a:srgbClr>
            </a:outerShdw>
          </a:effectLst>
        </p:spPr>
      </p:sp>
      <p:sp>
        <p:nvSpPr>
          <p:cNvPr id="13" name="Icon-Kreis"/>
          <p:cNvSpPr/>
          <p:nvPr/>
        </p:nvSpPr>
        <p:spPr>
          <a:xfrm>
            <a:off x="2743200" y="2212848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4" name="Image 1" descr="Cog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4874" y="2344522"/>
            <a:ext cx="285293" cy="285293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2743200" y="2852928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Wie?</a:t>
            </a:r>
            <a:endParaRPr lang="en-US" sz="1700" dirty="0"/>
          </a:p>
        </p:txBody>
      </p:sp>
      <p:sp>
        <p:nvSpPr>
          <p:cNvPr id="16" name="Text 11"/>
          <p:cNvSpPr txBox="1"/>
          <p:nvPr/>
        </p:nvSpPr>
        <p:spPr>
          <a:xfrm>
            <a:off x="2743200" y="3200400"/>
            <a:ext cx="1600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Wie wird die Produktion gesteuert?</a:t>
            </a:r>
            <a:endParaRPr lang="en-US" sz="1400" dirty="0"/>
          </a:p>
        </p:txBody>
      </p:sp>
      <p:sp>
        <p:nvSpPr>
          <p:cNvPr id="17" name="Frage-Karte"/>
          <p:cNvSpPr/>
          <p:nvPr/>
        </p:nvSpPr>
        <p:spPr>
          <a:xfrm>
            <a:off x="4663440" y="2057400"/>
            <a:ext cx="1920240" cy="2011680"/>
          </a:xfrm>
          <a:prstGeom prst="roundRect">
            <a:avLst>
              <a:gd name="adj" fmla="val 5714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F2A4A">
                <a:alpha val="12000"/>
              </a:srgbClr>
            </a:outerShdw>
          </a:effectLst>
        </p:spPr>
      </p:sp>
      <p:sp>
        <p:nvSpPr>
          <p:cNvPr id="18" name="Icon-Kreis"/>
          <p:cNvSpPr/>
          <p:nvPr/>
        </p:nvSpPr>
        <p:spPr>
          <a:xfrm>
            <a:off x="4846320" y="2212848"/>
            <a:ext cx="548640" cy="54864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9" name="Image 2" descr="User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77994" y="2344522"/>
            <a:ext cx="285293" cy="285293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4846320" y="2852928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Für wen?</a:t>
            </a:r>
            <a:endParaRPr lang="en-US" sz="1700" dirty="0"/>
          </a:p>
        </p:txBody>
      </p:sp>
      <p:sp>
        <p:nvSpPr>
          <p:cNvPr id="21" name="Text 15"/>
          <p:cNvSpPr txBox="1"/>
          <p:nvPr/>
        </p:nvSpPr>
        <p:spPr>
          <a:xfrm>
            <a:off x="4846320" y="3200400"/>
            <a:ext cx="1600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Wie werden Güter und Einkommen verteilt?</a:t>
            </a:r>
            <a:endParaRPr lang="en-US" sz="1400" dirty="0"/>
          </a:p>
        </p:txBody>
      </p:sp>
      <p:sp>
        <p:nvSpPr>
          <p:cNvPr id="22" name="Frage-Karte"/>
          <p:cNvSpPr/>
          <p:nvPr/>
        </p:nvSpPr>
        <p:spPr>
          <a:xfrm>
            <a:off x="6766560" y="2057400"/>
            <a:ext cx="1920240" cy="2011680"/>
          </a:xfrm>
          <a:prstGeom prst="roundRect">
            <a:avLst>
              <a:gd name="adj" fmla="val 5714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F2A4A">
                <a:alpha val="12000"/>
              </a:srgbClr>
            </a:outerShdw>
          </a:effectLst>
        </p:spPr>
      </p:sp>
      <p:sp>
        <p:nvSpPr>
          <p:cNvPr id="23" name="Icon-Kreis"/>
          <p:cNvSpPr/>
          <p:nvPr/>
        </p:nvSpPr>
        <p:spPr>
          <a:xfrm>
            <a:off x="6949440" y="2212848"/>
            <a:ext cx="548640" cy="54864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24" name="Image 3" descr="Gavel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81114" y="2344522"/>
            <a:ext cx="285293" cy="285293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6949440" y="2852928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Wer entscheidet?</a:t>
            </a:r>
            <a:endParaRPr lang="en-US" sz="1700" dirty="0"/>
          </a:p>
        </p:txBody>
      </p:sp>
      <p:sp>
        <p:nvSpPr>
          <p:cNvPr id="26" name="Text 19"/>
          <p:cNvSpPr txBox="1"/>
          <p:nvPr/>
        </p:nvSpPr>
        <p:spPr>
          <a:xfrm>
            <a:off x="6949440" y="3200400"/>
            <a:ext cx="1600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Marktteilnehmer, Staat oder beide?</a:t>
            </a:r>
            <a:endParaRPr lang="en-US" sz="1400" dirty="0"/>
          </a:p>
        </p:txBody>
      </p:sp>
      <p:sp>
        <p:nvSpPr>
          <p:cNvPr id="27" name="Merksatz-Leiste"/>
          <p:cNvSpPr/>
          <p:nvPr/>
        </p:nvSpPr>
        <p:spPr>
          <a:xfrm>
            <a:off x="457200" y="4206240"/>
            <a:ext cx="8229600" cy="457200"/>
          </a:xfrm>
          <a:prstGeom prst="roundRect">
            <a:avLst>
              <a:gd name="adj" fmla="val 20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8" name="Icon-Kreis"/>
          <p:cNvSpPr/>
          <p:nvPr/>
        </p:nvSpPr>
        <p:spPr>
          <a:xfrm>
            <a:off x="566928" y="4270248"/>
            <a:ext cx="329184" cy="32918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29" name="Image 4" descr="Lightbulb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6057" y="4339377"/>
            <a:ext cx="190927" cy="190927"/>
          </a:xfrm>
          <a:prstGeom prst="rect">
            <a:avLst/>
          </a:prstGeom>
        </p:spPr>
      </p:pic>
      <p:sp>
        <p:nvSpPr>
          <p:cNvPr id="30" name="Text 22"/>
          <p:cNvSpPr txBox="1"/>
          <p:nvPr/>
        </p:nvSpPr>
        <p:spPr>
          <a:xfrm>
            <a:off x="1051560" y="420624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Je nachdem, wer entscheidet, entstehen unterschiedliche Wirtschaftsordnungen.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B556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37744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BEDEUTUNG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47548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Warum ist das relevant?</a:t>
            </a:r>
            <a:endParaRPr lang="en-US" sz="3400" dirty="0"/>
          </a:p>
        </p:txBody>
      </p:sp>
      <p:sp>
        <p:nvSpPr>
          <p:cNvPr id="5" name="Relevanz-Karte"/>
          <p:cNvSpPr/>
          <p:nvPr/>
        </p:nvSpPr>
        <p:spPr>
          <a:xfrm>
            <a:off x="457200" y="1325880"/>
            <a:ext cx="2624328" cy="2743200"/>
          </a:xfrm>
          <a:prstGeom prst="roundRect">
            <a:avLst>
              <a:gd name="adj" fmla="val 4181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F2A4A">
                <a:alpha val="12000"/>
              </a:srgbClr>
            </a:outerShdw>
          </a:effectLst>
        </p:spPr>
      </p:sp>
      <p:sp>
        <p:nvSpPr>
          <p:cNvPr id="6" name="Icon-Kreis"/>
          <p:cNvSpPr/>
          <p:nvPr/>
        </p:nvSpPr>
        <p:spPr>
          <a:xfrm>
            <a:off x="685800" y="150876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7" name="Image 0" descr="ShoppingCar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9419" y="1662379"/>
            <a:ext cx="332842" cy="332842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685800" y="22860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Für Verbraucher</a:t>
            </a:r>
            <a:endParaRPr lang="en-US" sz="2000" dirty="0"/>
          </a:p>
        </p:txBody>
      </p:sp>
      <p:sp>
        <p:nvSpPr>
          <p:cNvPr id="9" name="Text 5"/>
          <p:cNvSpPr txBox="1"/>
          <p:nvPr/>
        </p:nvSpPr>
        <p:spPr>
          <a:xfrm>
            <a:off x="685800" y="2743200"/>
            <a:ext cx="2240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Preise &amp; Produktauswahl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Verbraucherschutz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Kaufkraft &amp; Versorgung</a:t>
            </a:r>
            <a:endParaRPr lang="en-US" sz="1400" dirty="0"/>
          </a:p>
        </p:txBody>
      </p:sp>
      <p:sp>
        <p:nvSpPr>
          <p:cNvPr id="10" name="Relevanz-Karte"/>
          <p:cNvSpPr/>
          <p:nvPr/>
        </p:nvSpPr>
        <p:spPr>
          <a:xfrm>
            <a:off x="3259836" y="1325880"/>
            <a:ext cx="2624328" cy="2743200"/>
          </a:xfrm>
          <a:prstGeom prst="roundRect">
            <a:avLst>
              <a:gd name="adj" fmla="val 4181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F2A4A">
                <a:alpha val="12000"/>
              </a:srgbClr>
            </a:outerShdw>
          </a:effectLst>
        </p:spPr>
      </p:sp>
      <p:sp>
        <p:nvSpPr>
          <p:cNvPr id="11" name="Icon-Kreis"/>
          <p:cNvSpPr/>
          <p:nvPr/>
        </p:nvSpPr>
        <p:spPr>
          <a:xfrm>
            <a:off x="3488436" y="1508760"/>
            <a:ext cx="640080" cy="6400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2" name="Image 1" descr="Industry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2055" y="1662379"/>
            <a:ext cx="332842" cy="332842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3488436" y="22860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Für Unternehmen</a:t>
            </a:r>
            <a:endParaRPr lang="en-US" sz="2000" dirty="0"/>
          </a:p>
        </p:txBody>
      </p:sp>
      <p:sp>
        <p:nvSpPr>
          <p:cNvPr id="14" name="Text 9"/>
          <p:cNvSpPr txBox="1"/>
          <p:nvPr/>
        </p:nvSpPr>
        <p:spPr>
          <a:xfrm>
            <a:off x="3488436" y="2743200"/>
            <a:ext cx="2240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Gründungsfreiheit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Wettbewerb &amp; Regulierung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Gewinnmöglichkeiten</a:t>
            </a:r>
            <a:endParaRPr lang="en-US" sz="1400" dirty="0"/>
          </a:p>
        </p:txBody>
      </p:sp>
      <p:sp>
        <p:nvSpPr>
          <p:cNvPr id="15" name="Relevanz-Karte"/>
          <p:cNvSpPr/>
          <p:nvPr/>
        </p:nvSpPr>
        <p:spPr>
          <a:xfrm>
            <a:off x="6062472" y="1325880"/>
            <a:ext cx="2624328" cy="2743200"/>
          </a:xfrm>
          <a:prstGeom prst="roundRect">
            <a:avLst>
              <a:gd name="adj" fmla="val 4181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F2A4A">
                <a:alpha val="12000"/>
              </a:srgbClr>
            </a:outerShdw>
          </a:effectLst>
        </p:spPr>
      </p:sp>
      <p:sp>
        <p:nvSpPr>
          <p:cNvPr id="16" name="Icon-Kreis"/>
          <p:cNvSpPr/>
          <p:nvPr/>
        </p:nvSpPr>
        <p:spPr>
          <a:xfrm>
            <a:off x="6291072" y="1508760"/>
            <a:ext cx="640080" cy="64008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7" name="Image 2" descr="UserTi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4691" y="1662379"/>
            <a:ext cx="332842" cy="332842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6291072" y="22860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Für Beschäftigte</a:t>
            </a:r>
            <a:endParaRPr lang="en-US" sz="2000" dirty="0"/>
          </a:p>
        </p:txBody>
      </p:sp>
      <p:sp>
        <p:nvSpPr>
          <p:cNvPr id="19" name="Text 13"/>
          <p:cNvSpPr txBox="1"/>
          <p:nvPr/>
        </p:nvSpPr>
        <p:spPr>
          <a:xfrm>
            <a:off x="6291072" y="2743200"/>
            <a:ext cx="2240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Löhne &amp; Arbeitsbedingungen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Soziale Sicherung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Arbeitsplatzchancen</a:t>
            </a:r>
            <a:endParaRPr lang="en-US" sz="1400" dirty="0"/>
          </a:p>
        </p:txBody>
      </p:sp>
      <p:sp>
        <p:nvSpPr>
          <p:cNvPr id="20" name="Text 14"/>
          <p:cNvSpPr txBox="1"/>
          <p:nvPr/>
        </p:nvSpPr>
        <p:spPr>
          <a:xfrm>
            <a:off x="457200" y="42519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Wirtschaftsordnungen prägen ganz konkrete Entscheidungen im Alltag – auch in deinem Büro.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B556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37744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IDEALTYPEN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47548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Die beiden Grundmodelle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754880"/>
            <a:ext cx="7589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</a:rPr>
              <a:t>Quelle: bpb, Marktwirtschaft; bpb, Planwirtschaft</a:t>
            </a:r>
            <a:endParaRPr lang="en-US" sz="1000" dirty="0"/>
          </a:p>
        </p:txBody>
      </p:sp>
      <p:sp>
        <p:nvSpPr>
          <p:cNvPr id="6" name="Modell-Karte Marktwirtschaft"/>
          <p:cNvSpPr/>
          <p:nvPr/>
        </p:nvSpPr>
        <p:spPr>
          <a:xfrm>
            <a:off x="457200" y="1325880"/>
            <a:ext cx="3657600" cy="3200400"/>
          </a:xfrm>
          <a:prstGeom prst="roundRect">
            <a:avLst>
              <a:gd name="adj" fmla="val 3429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F2A4A">
                <a:alpha val="12000"/>
              </a:srgbClr>
            </a:outerShdw>
          </a:effectLst>
        </p:spPr>
      </p:sp>
      <p:sp>
        <p:nvSpPr>
          <p:cNvPr id="7" name="Icon-Kreis"/>
          <p:cNvSpPr/>
          <p:nvPr/>
        </p:nvSpPr>
        <p:spPr>
          <a:xfrm>
            <a:off x="685800" y="150876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8" name="Image 0" descr="Stor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9419" y="1662379"/>
            <a:ext cx="332842" cy="332842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463040" y="15087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Marktwirtschaft</a:t>
            </a:r>
            <a:endParaRPr lang="en-US" sz="2000" dirty="0"/>
          </a:p>
        </p:txBody>
      </p:sp>
      <p:sp>
        <p:nvSpPr>
          <p:cNvPr id="10" name="Text 6"/>
          <p:cNvSpPr txBox="1"/>
          <p:nvPr/>
        </p:nvSpPr>
        <p:spPr>
          <a:xfrm>
            <a:off x="1463040" y="189280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Dezentrale Entscheidungen</a:t>
            </a:r>
            <a:endParaRPr lang="en-US" sz="1400" dirty="0"/>
          </a:p>
        </p:txBody>
      </p:sp>
      <p:sp>
        <p:nvSpPr>
          <p:cNvPr id="11" name="Text 7"/>
          <p:cNvSpPr txBox="1"/>
          <p:nvPr/>
        </p:nvSpPr>
        <p:spPr>
          <a:xfrm>
            <a:off x="731520" y="2423160"/>
            <a:ext cx="32004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Privateigentum an Produktionsmitteln</a:t>
            </a:r>
            <a:endParaRPr lang="en-US" sz="17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Angebot &amp; Nachfrage steuern</a:t>
            </a:r>
            <a:endParaRPr lang="en-US" sz="17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Freie Preisbildung, Wettbewerb</a:t>
            </a:r>
            <a:endParaRPr lang="en-US" sz="17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Unternehmen planen selbst</a:t>
            </a:r>
            <a:endParaRPr lang="en-US" sz="1700" dirty="0"/>
          </a:p>
        </p:txBody>
      </p:sp>
      <p:sp>
        <p:nvSpPr>
          <p:cNvPr id="12" name="Modell-Karte Planwirtschaft"/>
          <p:cNvSpPr/>
          <p:nvPr/>
        </p:nvSpPr>
        <p:spPr>
          <a:xfrm>
            <a:off x="5029200" y="1325880"/>
            <a:ext cx="3657600" cy="3200400"/>
          </a:xfrm>
          <a:prstGeom prst="roundRect">
            <a:avLst>
              <a:gd name="adj" fmla="val 3429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F2A4A">
                <a:alpha val="12000"/>
              </a:srgbClr>
            </a:outerShdw>
          </a:effectLst>
        </p:spPr>
      </p:sp>
      <p:sp>
        <p:nvSpPr>
          <p:cNvPr id="13" name="Icon-Kreis"/>
          <p:cNvSpPr/>
          <p:nvPr/>
        </p:nvSpPr>
        <p:spPr>
          <a:xfrm>
            <a:off x="5257800" y="1508760"/>
            <a:ext cx="640080" cy="64008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14" name="Image 1" descr="ClipboardLis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1419" y="1662379"/>
            <a:ext cx="332842" cy="332842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6035040" y="15087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Planwirtschaft</a:t>
            </a:r>
            <a:endParaRPr lang="en-US" sz="2000" dirty="0"/>
          </a:p>
        </p:txBody>
      </p:sp>
      <p:sp>
        <p:nvSpPr>
          <p:cNvPr id="16" name="Text 11"/>
          <p:cNvSpPr txBox="1"/>
          <p:nvPr/>
        </p:nvSpPr>
        <p:spPr>
          <a:xfrm>
            <a:off x="6035040" y="189280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4"/>
                </a:solidFill>
              </a:rPr>
              <a:t>Zentrale staatliche Planung</a:t>
            </a:r>
            <a:endParaRPr lang="en-US" sz="1400" dirty="0"/>
          </a:p>
        </p:txBody>
      </p:sp>
      <p:sp>
        <p:nvSpPr>
          <p:cNvPr id="17" name="Text 12"/>
          <p:cNvSpPr txBox="1"/>
          <p:nvPr/>
        </p:nvSpPr>
        <p:spPr>
          <a:xfrm>
            <a:off x="5303520" y="2423160"/>
            <a:ext cx="32004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Staatliches Eigentum dominiert</a:t>
            </a:r>
            <a:endParaRPr lang="en-US" sz="17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Staat legt Preise &amp; Mengen fest</a:t>
            </a:r>
            <a:endParaRPr lang="en-US" sz="17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Ziele werden vorgegeben</a:t>
            </a:r>
            <a:endParaRPr lang="en-US" sz="17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Kaum Spielraum für Betriebe</a:t>
            </a:r>
            <a:endParaRPr lang="en-US" sz="1700" dirty="0"/>
          </a:p>
        </p:txBody>
      </p:sp>
      <p:sp>
        <p:nvSpPr>
          <p:cNvPr id="18" name="VS-Kreis"/>
          <p:cNvSpPr/>
          <p:nvPr/>
        </p:nvSpPr>
        <p:spPr>
          <a:xfrm>
            <a:off x="4206240" y="2697480"/>
            <a:ext cx="731520" cy="73152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9" name="Text 14"/>
          <p:cNvSpPr txBox="1"/>
          <p:nvPr/>
        </p:nvSpPr>
        <p:spPr>
          <a:xfrm>
            <a:off x="4206240" y="26974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VS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B556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37744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ERÖRTERUNG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47548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Vor- und Nachteile der Grundmodelle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754880"/>
            <a:ext cx="7589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</a:rPr>
              <a:t>Quelle: bpb, Planwirtschaft; bpb, Rolle des Staates für die Wirtschaft</a:t>
            </a:r>
            <a:endParaRPr lang="en-US" sz="1000" dirty="0"/>
          </a:p>
        </p:txBody>
      </p:sp>
      <p:sp>
        <p:nvSpPr>
          <p:cNvPr id="6" name="Pro-Contra-Karte"/>
          <p:cNvSpPr/>
          <p:nvPr/>
        </p:nvSpPr>
        <p:spPr>
          <a:xfrm>
            <a:off x="457200" y="132588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F2A4A">
                <a:alpha val="12000"/>
              </a:srgbClr>
            </a:outerShdw>
          </a:effectLst>
        </p:spPr>
      </p:sp>
      <p:sp>
        <p:nvSpPr>
          <p:cNvPr id="7" name="Icon-Kreis"/>
          <p:cNvSpPr/>
          <p:nvPr/>
        </p:nvSpPr>
        <p:spPr>
          <a:xfrm>
            <a:off x="640080" y="1490472"/>
            <a:ext cx="411480" cy="41148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8" name="Image 0" descr="Plu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3237" y="1603629"/>
            <a:ext cx="185166" cy="185166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188720" y="1490472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Marktwirtschaft – Chancen</a:t>
            </a:r>
            <a:endParaRPr lang="en-US" sz="1700" dirty="0"/>
          </a:p>
        </p:txBody>
      </p:sp>
      <p:sp>
        <p:nvSpPr>
          <p:cNvPr id="10" name="Text 6"/>
          <p:cNvSpPr txBox="1"/>
          <p:nvPr/>
        </p:nvSpPr>
        <p:spPr>
          <a:xfrm>
            <a:off x="685800" y="2039112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Wettbewerb &amp; Innovation</a:t>
            </a:r>
            <a:endParaRPr lang="en-US" sz="1400" dirty="0"/>
          </a:p>
          <a:p>
            <a:pPr marL="177800" indent="-1778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Wahl- und Entscheidungsfreiheit</a:t>
            </a:r>
            <a:endParaRPr lang="en-US" sz="1400" dirty="0"/>
          </a:p>
          <a:p>
            <a:pPr marL="177800" indent="-1778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Flexibel bei Nachfrage</a:t>
            </a:r>
            <a:endParaRPr lang="en-US" sz="1400" dirty="0"/>
          </a:p>
        </p:txBody>
      </p:sp>
      <p:sp>
        <p:nvSpPr>
          <p:cNvPr id="11" name="Pro-Contra-Karte"/>
          <p:cNvSpPr/>
          <p:nvPr/>
        </p:nvSpPr>
        <p:spPr>
          <a:xfrm>
            <a:off x="4663440" y="132588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F2A4A">
                <a:alpha val="12000"/>
              </a:srgbClr>
            </a:outerShdw>
          </a:effectLst>
        </p:spPr>
      </p:sp>
      <p:sp>
        <p:nvSpPr>
          <p:cNvPr id="12" name="Icon-Kreis"/>
          <p:cNvSpPr/>
          <p:nvPr/>
        </p:nvSpPr>
        <p:spPr>
          <a:xfrm>
            <a:off x="4846320" y="1490472"/>
            <a:ext cx="411480" cy="41148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13" name="Image 1" descr="Plu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9477" y="1603629"/>
            <a:ext cx="185166" cy="185166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5394960" y="1490472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Planwirtschaft – Stärken</a:t>
            </a:r>
            <a:endParaRPr lang="en-US" sz="1700" dirty="0"/>
          </a:p>
        </p:txBody>
      </p:sp>
      <p:sp>
        <p:nvSpPr>
          <p:cNvPr id="15" name="Text 10"/>
          <p:cNvSpPr txBox="1"/>
          <p:nvPr/>
        </p:nvSpPr>
        <p:spPr>
          <a:xfrm>
            <a:off x="4892040" y="2039112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Ressourcen gezielt lenkbar</a:t>
            </a:r>
            <a:endParaRPr lang="en-US" sz="1400" dirty="0"/>
          </a:p>
          <a:p>
            <a:pPr marL="177800" indent="-1778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Versorgung politisch steuerbar</a:t>
            </a:r>
            <a:endParaRPr lang="en-US" sz="1400" dirty="0"/>
          </a:p>
          <a:p>
            <a:pPr marL="177800" indent="-1778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Gesellschaftliche Ziele planbar</a:t>
            </a:r>
            <a:endParaRPr lang="en-US" sz="1400" dirty="0"/>
          </a:p>
        </p:txBody>
      </p:sp>
      <p:sp>
        <p:nvSpPr>
          <p:cNvPr id="16" name="Pro-Contra-Karte"/>
          <p:cNvSpPr/>
          <p:nvPr/>
        </p:nvSpPr>
        <p:spPr>
          <a:xfrm>
            <a:off x="457200" y="301752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F2A4A">
                <a:alpha val="12000"/>
              </a:srgbClr>
            </a:outerShdw>
          </a:effectLst>
        </p:spPr>
      </p:sp>
      <p:sp>
        <p:nvSpPr>
          <p:cNvPr id="17" name="Icon-Kreis"/>
          <p:cNvSpPr/>
          <p:nvPr/>
        </p:nvSpPr>
        <p:spPr>
          <a:xfrm>
            <a:off x="640080" y="3182112"/>
            <a:ext cx="411480" cy="41148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18" name="Image 2" descr="Minu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3237" y="3295269"/>
            <a:ext cx="185166" cy="185166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1188720" y="3182112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Marktwirtschaft – Risiken</a:t>
            </a:r>
            <a:endParaRPr lang="en-US" sz="1700" dirty="0"/>
          </a:p>
        </p:txBody>
      </p:sp>
      <p:sp>
        <p:nvSpPr>
          <p:cNvPr id="20" name="Text 14"/>
          <p:cNvSpPr txBox="1"/>
          <p:nvPr/>
        </p:nvSpPr>
        <p:spPr>
          <a:xfrm>
            <a:off x="685800" y="3730752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Soziale Ungleichheit möglich</a:t>
            </a:r>
            <a:endParaRPr lang="en-US" sz="1400" dirty="0"/>
          </a:p>
          <a:p>
            <a:pPr marL="177800" indent="-1778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Marktversagen &amp; Marktmacht</a:t>
            </a:r>
            <a:endParaRPr lang="en-US" sz="1400" dirty="0"/>
          </a:p>
          <a:p>
            <a:pPr marL="177800" indent="-1778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Öffentliche Güter nicht garantiert</a:t>
            </a:r>
            <a:endParaRPr lang="en-US" sz="1400" dirty="0"/>
          </a:p>
        </p:txBody>
      </p:sp>
      <p:sp>
        <p:nvSpPr>
          <p:cNvPr id="21" name="Pro-Contra-Karte"/>
          <p:cNvSpPr/>
          <p:nvPr/>
        </p:nvSpPr>
        <p:spPr>
          <a:xfrm>
            <a:off x="4663440" y="301752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F2A4A">
                <a:alpha val="12000"/>
              </a:srgbClr>
            </a:outerShdw>
          </a:effectLst>
        </p:spPr>
      </p:sp>
      <p:sp>
        <p:nvSpPr>
          <p:cNvPr id="22" name="Icon-Kreis"/>
          <p:cNvSpPr/>
          <p:nvPr/>
        </p:nvSpPr>
        <p:spPr>
          <a:xfrm>
            <a:off x="4846320" y="3182112"/>
            <a:ext cx="411480" cy="41148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23" name="Image 3" descr="Minus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59477" y="3295269"/>
            <a:ext cx="185166" cy="185166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5394960" y="3182112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Planwirtschaft – Risiken</a:t>
            </a:r>
            <a:endParaRPr lang="en-US" sz="1700" dirty="0"/>
          </a:p>
        </p:txBody>
      </p:sp>
      <p:sp>
        <p:nvSpPr>
          <p:cNvPr id="25" name="Text 18"/>
          <p:cNvSpPr txBox="1"/>
          <p:nvPr/>
        </p:nvSpPr>
        <p:spPr>
          <a:xfrm>
            <a:off x="4892040" y="3730752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Fehlplanung durch fehlende Infos</a:t>
            </a:r>
            <a:endParaRPr lang="en-US" sz="1400" dirty="0"/>
          </a:p>
          <a:p>
            <a:pPr marL="177800" indent="-1778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Kaum Wettbewerbsanreize</a:t>
            </a:r>
            <a:endParaRPr lang="en-US" sz="1400" dirty="0"/>
          </a:p>
          <a:p>
            <a:pPr marL="177800" indent="-1778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Wenig wirtschaftliche Freiheit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B556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37744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WICHTIGE EINORDNUNG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47548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Theorie und Wirklichkeit</a:t>
            </a:r>
            <a:endParaRPr lang="en-US" sz="34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11887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Reale Volkswirtschaften sind fast immer Mischformen.</a:t>
            </a:r>
            <a:endParaRPr lang="en-US" sz="2000" dirty="0"/>
          </a:p>
        </p:txBody>
      </p:sp>
      <p:sp>
        <p:nvSpPr>
          <p:cNvPr id="6" name="Spektrum-Segment"/>
          <p:cNvSpPr/>
          <p:nvPr/>
        </p:nvSpPr>
        <p:spPr>
          <a:xfrm>
            <a:off x="640080" y="2743200"/>
            <a:ext cx="2621280" cy="164592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Spektrum-Segment"/>
          <p:cNvSpPr/>
          <p:nvPr/>
        </p:nvSpPr>
        <p:spPr>
          <a:xfrm>
            <a:off x="3261360" y="2743200"/>
            <a:ext cx="2621280" cy="164592"/>
          </a:xfrm>
          <a:prstGeom prst="rect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8" name="Spektrum-Segment"/>
          <p:cNvSpPr/>
          <p:nvPr/>
        </p:nvSpPr>
        <p:spPr>
          <a:xfrm>
            <a:off x="5882640" y="2743200"/>
            <a:ext cx="2621280" cy="164592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40080" y="19202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mehr Marktsteuerung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5760720" y="19202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chemeClr val="accent4"/>
                </a:solidFill>
              </a:rPr>
              <a:t>mehr Zentralsteuerung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3474720" y="19202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6"/>
                </a:solidFill>
              </a:rPr>
              <a:t>Mischformen</a:t>
            </a:r>
            <a:endParaRPr lang="en-US" sz="1400" dirty="0"/>
          </a:p>
        </p:txBody>
      </p:sp>
      <p:sp>
        <p:nvSpPr>
          <p:cNvPr id="12" name="Länder-Badge DE"/>
          <p:cNvSpPr/>
          <p:nvPr/>
        </p:nvSpPr>
        <p:spPr>
          <a:xfrm>
            <a:off x="1938528" y="2551176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1938528" y="255117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DE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1572768" y="31546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Deutschland</a:t>
            </a:r>
            <a:endParaRPr lang="en-US" sz="1200" dirty="0"/>
          </a:p>
        </p:txBody>
      </p:sp>
      <p:sp>
        <p:nvSpPr>
          <p:cNvPr id="15" name="Länder-Badge MA"/>
          <p:cNvSpPr/>
          <p:nvPr/>
        </p:nvSpPr>
        <p:spPr>
          <a:xfrm>
            <a:off x="2724912" y="2551176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2724912" y="255117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MA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2359152" y="217627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Marokko</a:t>
            </a:r>
            <a:endParaRPr lang="en-US" sz="1200" dirty="0"/>
          </a:p>
        </p:txBody>
      </p:sp>
      <p:sp>
        <p:nvSpPr>
          <p:cNvPr id="18" name="Länder-Badge UA"/>
          <p:cNvSpPr/>
          <p:nvPr/>
        </p:nvSpPr>
        <p:spPr>
          <a:xfrm>
            <a:off x="3511296" y="2551176"/>
            <a:ext cx="548640" cy="54864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3511296" y="255117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UA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3145536" y="31546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Ukraine</a:t>
            </a:r>
            <a:endParaRPr lang="en-US" sz="1200" dirty="0"/>
          </a:p>
        </p:txBody>
      </p:sp>
      <p:sp>
        <p:nvSpPr>
          <p:cNvPr id="21" name="Länder-Badge CU"/>
          <p:cNvSpPr/>
          <p:nvPr/>
        </p:nvSpPr>
        <p:spPr>
          <a:xfrm>
            <a:off x="6027725" y="2551176"/>
            <a:ext cx="548640" cy="54864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027725" y="255117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CU</a:t>
            </a:r>
            <a:endParaRPr lang="en-US" sz="1400" dirty="0"/>
          </a:p>
        </p:txBody>
      </p:sp>
      <p:sp>
        <p:nvSpPr>
          <p:cNvPr id="23" name="Text 20"/>
          <p:cNvSpPr txBox="1"/>
          <p:nvPr/>
        </p:nvSpPr>
        <p:spPr>
          <a:xfrm>
            <a:off x="5661965" y="31546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Kuba</a:t>
            </a:r>
            <a:endParaRPr lang="en-US" sz="1200" dirty="0"/>
          </a:p>
        </p:txBody>
      </p:sp>
      <p:sp>
        <p:nvSpPr>
          <p:cNvPr id="24" name="Text 21"/>
          <p:cNvSpPr txBox="1"/>
          <p:nvPr/>
        </p:nvSpPr>
        <p:spPr>
          <a:xfrm>
            <a:off x="457200" y="35204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B5563"/>
                </a:solidFill>
              </a:rPr>
              <a:t>Einordnung vereinfacht (Einschätzung für den Unterricht)</a:t>
            </a:r>
            <a:endParaRPr lang="en-US" sz="1100" dirty="0"/>
          </a:p>
        </p:txBody>
      </p:sp>
      <p:sp>
        <p:nvSpPr>
          <p:cNvPr id="25" name="Kernfrage-Karte"/>
          <p:cNvSpPr/>
          <p:nvPr/>
        </p:nvSpPr>
        <p:spPr>
          <a:xfrm>
            <a:off x="457200" y="3840480"/>
            <a:ext cx="8229600" cy="777240"/>
          </a:xfrm>
          <a:prstGeom prst="roundRect">
            <a:avLst>
              <a:gd name="adj" fmla="val 14118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F2A4A">
                <a:alpha val="12000"/>
              </a:srgbClr>
            </a:outerShdw>
          </a:effectLst>
        </p:spPr>
      </p:sp>
      <p:sp>
        <p:nvSpPr>
          <p:cNvPr id="26" name="Text 23"/>
          <p:cNvSpPr txBox="1"/>
          <p:nvPr/>
        </p:nvSpPr>
        <p:spPr>
          <a:xfrm>
            <a:off x="731520" y="3840480"/>
            <a:ext cx="7680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Die Frage lautet heute selten „Markt oder Staat?“, sondern: Welche Aufgaben übernimmt der Markt – und wo greift der Staat ein?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B556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37744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DEUTSCHLAND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47548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Die Soziale Marktwirtschaft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754880"/>
            <a:ext cx="7589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</a:rPr>
              <a:t>Quelle: bpb, Soziale Marktwirtschaft; Sozialbudget 2024 (Stiftung Marktwirtschaft); BMAS, Mindestlohn 2026</a:t>
            </a:r>
            <a:endParaRPr lang="en-US" sz="1000" dirty="0"/>
          </a:p>
        </p:txBody>
      </p:sp>
      <p:sp>
        <p:nvSpPr>
          <p:cNvPr id="6" name="Säulen-Karte"/>
          <p:cNvSpPr/>
          <p:nvPr/>
        </p:nvSpPr>
        <p:spPr>
          <a:xfrm>
            <a:off x="457200" y="1280160"/>
            <a:ext cx="2377440" cy="2011680"/>
          </a:xfrm>
          <a:prstGeom prst="roundRect">
            <a:avLst>
              <a:gd name="adj" fmla="val 5455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F2A4A">
                <a:alpha val="12000"/>
              </a:srgbClr>
            </a:outerShdw>
          </a:effectLst>
        </p:spPr>
      </p:sp>
      <p:sp>
        <p:nvSpPr>
          <p:cNvPr id="7" name="Icon-Kreis"/>
          <p:cNvSpPr/>
          <p:nvPr/>
        </p:nvSpPr>
        <p:spPr>
          <a:xfrm>
            <a:off x="640080" y="141732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8" name="Image 0" descr="Stor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0781" y="1538021"/>
            <a:ext cx="261518" cy="261518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640080" y="201168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Markt</a:t>
            </a:r>
            <a:endParaRPr lang="en-US" sz="1700" dirty="0"/>
          </a:p>
        </p:txBody>
      </p:sp>
      <p:sp>
        <p:nvSpPr>
          <p:cNvPr id="10" name="Text 6"/>
          <p:cNvSpPr txBox="1"/>
          <p:nvPr/>
        </p:nvSpPr>
        <p:spPr>
          <a:xfrm>
            <a:off x="640080" y="2377440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Privateigentum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Wettbewerb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Freie Preise</a:t>
            </a:r>
            <a:endParaRPr lang="en-US" sz="1400" dirty="0"/>
          </a:p>
        </p:txBody>
      </p:sp>
      <p:sp>
        <p:nvSpPr>
          <p:cNvPr id="11" name="Plus"/>
          <p:cNvSpPr/>
          <p:nvPr/>
        </p:nvSpPr>
        <p:spPr>
          <a:xfrm>
            <a:off x="2907792" y="2057400"/>
            <a:ext cx="402336" cy="402336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2907792" y="20574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+</a:t>
            </a:r>
            <a:endParaRPr lang="en-US" sz="1800" dirty="0"/>
          </a:p>
        </p:txBody>
      </p:sp>
      <p:sp>
        <p:nvSpPr>
          <p:cNvPr id="13" name="Säulen-Karte"/>
          <p:cNvSpPr/>
          <p:nvPr/>
        </p:nvSpPr>
        <p:spPr>
          <a:xfrm>
            <a:off x="3383280" y="1280160"/>
            <a:ext cx="2377440" cy="2011680"/>
          </a:xfrm>
          <a:prstGeom prst="roundRect">
            <a:avLst>
              <a:gd name="adj" fmla="val 5455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F2A4A">
                <a:alpha val="12000"/>
              </a:srgbClr>
            </a:outerShdw>
          </a:effectLst>
        </p:spPr>
      </p:sp>
      <p:sp>
        <p:nvSpPr>
          <p:cNvPr id="14" name="Icon-Kreis"/>
          <p:cNvSpPr/>
          <p:nvPr/>
        </p:nvSpPr>
        <p:spPr>
          <a:xfrm>
            <a:off x="3566160" y="1417320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5" name="Image 1" descr="Landmar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6861" y="1538021"/>
            <a:ext cx="261518" cy="261518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3566160" y="201168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Staatlicher Rahmen</a:t>
            </a:r>
            <a:endParaRPr lang="en-US" sz="1700" dirty="0"/>
          </a:p>
        </p:txBody>
      </p:sp>
      <p:sp>
        <p:nvSpPr>
          <p:cNvPr id="17" name="Text 12"/>
          <p:cNvSpPr txBox="1"/>
          <p:nvPr/>
        </p:nvSpPr>
        <p:spPr>
          <a:xfrm>
            <a:off x="3566160" y="2377440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Rechtsordnung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Steuerpolitik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Schutz vor Marktmacht</a:t>
            </a:r>
            <a:endParaRPr lang="en-US" sz="1400" dirty="0"/>
          </a:p>
        </p:txBody>
      </p:sp>
      <p:sp>
        <p:nvSpPr>
          <p:cNvPr id="18" name="Plus"/>
          <p:cNvSpPr/>
          <p:nvPr/>
        </p:nvSpPr>
        <p:spPr>
          <a:xfrm>
            <a:off x="5833872" y="2057400"/>
            <a:ext cx="402336" cy="402336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9" name="Text 14"/>
          <p:cNvSpPr txBox="1"/>
          <p:nvPr/>
        </p:nvSpPr>
        <p:spPr>
          <a:xfrm>
            <a:off x="5833872" y="20574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+</a:t>
            </a:r>
            <a:endParaRPr lang="en-US" sz="1800" dirty="0"/>
          </a:p>
        </p:txBody>
      </p:sp>
      <p:sp>
        <p:nvSpPr>
          <p:cNvPr id="20" name="Säulen-Karte"/>
          <p:cNvSpPr/>
          <p:nvPr/>
        </p:nvSpPr>
        <p:spPr>
          <a:xfrm>
            <a:off x="6309360" y="1280160"/>
            <a:ext cx="2377440" cy="2011680"/>
          </a:xfrm>
          <a:prstGeom prst="roundRect">
            <a:avLst>
              <a:gd name="adj" fmla="val 5455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F2A4A">
                <a:alpha val="12000"/>
              </a:srgbClr>
            </a:outerShdw>
          </a:effectLst>
        </p:spPr>
      </p:sp>
      <p:sp>
        <p:nvSpPr>
          <p:cNvPr id="21" name="Icon-Kreis"/>
          <p:cNvSpPr/>
          <p:nvPr/>
        </p:nvSpPr>
        <p:spPr>
          <a:xfrm>
            <a:off x="6492240" y="1417320"/>
            <a:ext cx="502920" cy="50292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22" name="Image 2" descr="HandsHelpi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2941" y="1538021"/>
            <a:ext cx="261518" cy="261518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6492240" y="201168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Sozialer Ausgleich</a:t>
            </a:r>
            <a:endParaRPr lang="en-US" sz="1700" dirty="0"/>
          </a:p>
        </p:txBody>
      </p:sp>
      <p:sp>
        <p:nvSpPr>
          <p:cNvPr id="24" name="Text 18"/>
          <p:cNvSpPr txBox="1"/>
          <p:nvPr/>
        </p:nvSpPr>
        <p:spPr>
          <a:xfrm>
            <a:off x="6492240" y="2377440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Sozialversicherung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Arbeitnehmerrechte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Absicherung</a:t>
            </a:r>
            <a:endParaRPr lang="en-US" sz="1400" dirty="0"/>
          </a:p>
        </p:txBody>
      </p:sp>
      <p:sp>
        <p:nvSpPr>
          <p:cNvPr id="25" name="Zahlen-Karte"/>
          <p:cNvSpPr/>
          <p:nvPr/>
        </p:nvSpPr>
        <p:spPr>
          <a:xfrm>
            <a:off x="457200" y="3520440"/>
            <a:ext cx="8229600" cy="109728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F2A4A">
                <a:alpha val="12000"/>
              </a:srgbClr>
            </a:outerShdw>
          </a:effectLst>
        </p:spPr>
      </p:sp>
      <p:sp>
        <p:nvSpPr>
          <p:cNvPr id="26" name="Text 20"/>
          <p:cNvSpPr txBox="1"/>
          <p:nvPr/>
        </p:nvSpPr>
        <p:spPr>
          <a:xfrm>
            <a:off x="731520" y="361188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</a:rPr>
              <a:t>31,2 %</a:t>
            </a:r>
            <a:endParaRPr lang="en-US" sz="3600" dirty="0"/>
          </a:p>
        </p:txBody>
      </p:sp>
      <p:sp>
        <p:nvSpPr>
          <p:cNvPr id="27" name="Text 21"/>
          <p:cNvSpPr txBox="1"/>
          <p:nvPr/>
        </p:nvSpPr>
        <p:spPr>
          <a:xfrm>
            <a:off x="2468880" y="361188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des BIP macht das Sozialbudget aus (2024)</a:t>
            </a:r>
            <a:endParaRPr lang="en-US" sz="1400" dirty="0"/>
          </a:p>
        </p:txBody>
      </p:sp>
      <p:sp>
        <p:nvSpPr>
          <p:cNvPr id="28" name="Trenner"/>
          <p:cNvSpPr/>
          <p:nvPr/>
        </p:nvSpPr>
        <p:spPr>
          <a:xfrm>
            <a:off x="4754880" y="3703320"/>
            <a:ext cx="0" cy="73152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3"/>
          <p:cNvSpPr txBox="1"/>
          <p:nvPr/>
        </p:nvSpPr>
        <p:spPr>
          <a:xfrm>
            <a:off x="4937760" y="361188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2"/>
                </a:solidFill>
              </a:rPr>
              <a:t>13,90 €</a:t>
            </a:r>
            <a:endParaRPr lang="en-US" sz="3600" dirty="0"/>
          </a:p>
        </p:txBody>
      </p:sp>
      <p:sp>
        <p:nvSpPr>
          <p:cNvPr id="30" name="Text 24"/>
          <p:cNvSpPr txBox="1"/>
          <p:nvPr/>
        </p:nvSpPr>
        <p:spPr>
          <a:xfrm>
            <a:off x="6675120" y="361188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gesetzlicher Mindestlohn pro Stunde seit 1.1.2026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B556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37744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VERGLEICHSKRITERIEN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47548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Woran erkennt man eine Ordnung?</a:t>
            </a:r>
            <a:endParaRPr lang="en-US" sz="3400" dirty="0"/>
          </a:p>
        </p:txBody>
      </p:sp>
      <p:sp>
        <p:nvSpPr>
          <p:cNvPr id="5" name="Kriterium-Karte"/>
          <p:cNvSpPr/>
          <p:nvPr/>
        </p:nvSpPr>
        <p:spPr>
          <a:xfrm>
            <a:off x="457200" y="1280160"/>
            <a:ext cx="2624328" cy="1371600"/>
          </a:xfrm>
          <a:prstGeom prst="roundRect">
            <a:avLst>
              <a:gd name="adj" fmla="val 80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F2A4A">
                <a:alpha val="12000"/>
              </a:srgbClr>
            </a:outerShdw>
          </a:effectLst>
        </p:spPr>
      </p:sp>
      <p:sp>
        <p:nvSpPr>
          <p:cNvPr id="6" name="Icon-Kreis"/>
          <p:cNvSpPr/>
          <p:nvPr/>
        </p:nvSpPr>
        <p:spPr>
          <a:xfrm>
            <a:off x="640080" y="146304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7" name="Image 0" descr="Key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0781" y="1583741"/>
            <a:ext cx="261518" cy="26151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325880" y="146304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Eigentum</a:t>
            </a:r>
            <a:endParaRPr lang="en-US" sz="1700" dirty="0"/>
          </a:p>
        </p:txBody>
      </p:sp>
      <p:sp>
        <p:nvSpPr>
          <p:cNvPr id="9" name="Text 5"/>
          <p:cNvSpPr txBox="1"/>
          <p:nvPr/>
        </p:nvSpPr>
        <p:spPr>
          <a:xfrm>
            <a:off x="640080" y="21031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privat ↔ staatlich</a:t>
            </a:r>
            <a:endParaRPr lang="en-US" sz="1400" dirty="0"/>
          </a:p>
        </p:txBody>
      </p:sp>
      <p:sp>
        <p:nvSpPr>
          <p:cNvPr id="10" name="Kriterium-Karte"/>
          <p:cNvSpPr/>
          <p:nvPr/>
        </p:nvSpPr>
        <p:spPr>
          <a:xfrm>
            <a:off x="3259836" y="1280160"/>
            <a:ext cx="2624328" cy="1371600"/>
          </a:xfrm>
          <a:prstGeom prst="roundRect">
            <a:avLst>
              <a:gd name="adj" fmla="val 80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F2A4A">
                <a:alpha val="12000"/>
              </a:srgbClr>
            </a:outerShdw>
          </a:effectLst>
        </p:spPr>
      </p:sp>
      <p:sp>
        <p:nvSpPr>
          <p:cNvPr id="11" name="Icon-Kreis"/>
          <p:cNvSpPr/>
          <p:nvPr/>
        </p:nvSpPr>
        <p:spPr>
          <a:xfrm>
            <a:off x="3442716" y="1463040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2" name="Image 1" descr="ClipboardLis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3417" y="1583741"/>
            <a:ext cx="261518" cy="261518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4128516" y="146304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Planung</a:t>
            </a:r>
            <a:endParaRPr lang="en-US" sz="1700" dirty="0"/>
          </a:p>
        </p:txBody>
      </p:sp>
      <p:sp>
        <p:nvSpPr>
          <p:cNvPr id="14" name="Text 9"/>
          <p:cNvSpPr txBox="1"/>
          <p:nvPr/>
        </p:nvSpPr>
        <p:spPr>
          <a:xfrm>
            <a:off x="3442716" y="21031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dezentral ↔ zentral</a:t>
            </a:r>
            <a:endParaRPr lang="en-US" sz="1400" dirty="0"/>
          </a:p>
        </p:txBody>
      </p:sp>
      <p:sp>
        <p:nvSpPr>
          <p:cNvPr id="15" name="Kriterium-Karte"/>
          <p:cNvSpPr/>
          <p:nvPr/>
        </p:nvSpPr>
        <p:spPr>
          <a:xfrm>
            <a:off x="6062472" y="1280160"/>
            <a:ext cx="2624328" cy="1371600"/>
          </a:xfrm>
          <a:prstGeom prst="roundRect">
            <a:avLst>
              <a:gd name="adj" fmla="val 80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F2A4A">
                <a:alpha val="12000"/>
              </a:srgbClr>
            </a:outerShdw>
          </a:effectLst>
        </p:spPr>
      </p:sp>
      <p:sp>
        <p:nvSpPr>
          <p:cNvPr id="16" name="Icon-Kreis"/>
          <p:cNvSpPr/>
          <p:nvPr/>
        </p:nvSpPr>
        <p:spPr>
          <a:xfrm>
            <a:off x="6245352" y="1463040"/>
            <a:ext cx="502920" cy="50292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7" name="Image 2" descr="Ta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6053" y="1583741"/>
            <a:ext cx="261518" cy="261518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6931152" y="146304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Preisbildung</a:t>
            </a:r>
            <a:endParaRPr lang="en-US" sz="1700" dirty="0"/>
          </a:p>
        </p:txBody>
      </p:sp>
      <p:sp>
        <p:nvSpPr>
          <p:cNvPr id="19" name="Text 13"/>
          <p:cNvSpPr txBox="1"/>
          <p:nvPr/>
        </p:nvSpPr>
        <p:spPr>
          <a:xfrm>
            <a:off x="6245352" y="21031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Markt ↔ Vorgabe</a:t>
            </a:r>
            <a:endParaRPr lang="en-US" sz="1400" dirty="0"/>
          </a:p>
        </p:txBody>
      </p:sp>
      <p:sp>
        <p:nvSpPr>
          <p:cNvPr id="20" name="Kriterium-Karte"/>
          <p:cNvSpPr/>
          <p:nvPr/>
        </p:nvSpPr>
        <p:spPr>
          <a:xfrm>
            <a:off x="457200" y="2788920"/>
            <a:ext cx="2624328" cy="1371600"/>
          </a:xfrm>
          <a:prstGeom prst="roundRect">
            <a:avLst>
              <a:gd name="adj" fmla="val 80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F2A4A">
                <a:alpha val="12000"/>
              </a:srgbClr>
            </a:outerShdw>
          </a:effectLst>
        </p:spPr>
      </p:sp>
      <p:sp>
        <p:nvSpPr>
          <p:cNvPr id="21" name="Icon-Kreis"/>
          <p:cNvSpPr/>
          <p:nvPr/>
        </p:nvSpPr>
        <p:spPr>
          <a:xfrm>
            <a:off x="640080" y="2971800"/>
            <a:ext cx="502920" cy="50292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22" name="Image 3" descr="Trophy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0781" y="3092501"/>
            <a:ext cx="261518" cy="261518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1325880" y="29718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Wettbewerb</a:t>
            </a:r>
            <a:endParaRPr lang="en-US" sz="1700" dirty="0"/>
          </a:p>
        </p:txBody>
      </p:sp>
      <p:sp>
        <p:nvSpPr>
          <p:cNvPr id="24" name="Text 17"/>
          <p:cNvSpPr txBox="1"/>
          <p:nvPr/>
        </p:nvSpPr>
        <p:spPr>
          <a:xfrm>
            <a:off x="640080" y="36118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stark ↔ begrenzt</a:t>
            </a:r>
            <a:endParaRPr lang="en-US" sz="1400" dirty="0"/>
          </a:p>
        </p:txBody>
      </p:sp>
      <p:sp>
        <p:nvSpPr>
          <p:cNvPr id="25" name="Kriterium-Karte"/>
          <p:cNvSpPr/>
          <p:nvPr/>
        </p:nvSpPr>
        <p:spPr>
          <a:xfrm>
            <a:off x="3259836" y="2788920"/>
            <a:ext cx="2624328" cy="1371600"/>
          </a:xfrm>
          <a:prstGeom prst="roundRect">
            <a:avLst>
              <a:gd name="adj" fmla="val 80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F2A4A">
                <a:alpha val="12000"/>
              </a:srgbClr>
            </a:outerShdw>
          </a:effectLst>
        </p:spPr>
      </p:sp>
      <p:sp>
        <p:nvSpPr>
          <p:cNvPr id="26" name="Icon-Kreis"/>
          <p:cNvSpPr/>
          <p:nvPr/>
        </p:nvSpPr>
        <p:spPr>
          <a:xfrm>
            <a:off x="3442716" y="2971800"/>
            <a:ext cx="502920" cy="50292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27" name="Image 4" descr="Landmark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63417" y="3092501"/>
            <a:ext cx="261518" cy="261518"/>
          </a:xfrm>
          <a:prstGeom prst="rect">
            <a:avLst/>
          </a:prstGeom>
        </p:spPr>
      </p:pic>
      <p:sp>
        <p:nvSpPr>
          <p:cNvPr id="28" name="Text 20"/>
          <p:cNvSpPr txBox="1"/>
          <p:nvPr/>
        </p:nvSpPr>
        <p:spPr>
          <a:xfrm>
            <a:off x="4128516" y="29718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Staatsrolle</a:t>
            </a:r>
            <a:endParaRPr lang="en-US" sz="1700" dirty="0"/>
          </a:p>
        </p:txBody>
      </p:sp>
      <p:sp>
        <p:nvSpPr>
          <p:cNvPr id="29" name="Text 21"/>
          <p:cNvSpPr txBox="1"/>
          <p:nvPr/>
        </p:nvSpPr>
        <p:spPr>
          <a:xfrm>
            <a:off x="3442716" y="36118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Rahmen ↔ direkte Steuerung</a:t>
            </a:r>
            <a:endParaRPr lang="en-US" sz="1400" dirty="0"/>
          </a:p>
        </p:txBody>
      </p:sp>
      <p:sp>
        <p:nvSpPr>
          <p:cNvPr id="30" name="Kriterium-Karte"/>
          <p:cNvSpPr/>
          <p:nvPr/>
        </p:nvSpPr>
        <p:spPr>
          <a:xfrm>
            <a:off x="6062472" y="2788920"/>
            <a:ext cx="2624328" cy="1371600"/>
          </a:xfrm>
          <a:prstGeom prst="roundRect">
            <a:avLst>
              <a:gd name="adj" fmla="val 80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F2A4A">
                <a:alpha val="12000"/>
              </a:srgbClr>
            </a:outerShdw>
          </a:effectLst>
        </p:spPr>
      </p:sp>
      <p:sp>
        <p:nvSpPr>
          <p:cNvPr id="31" name="Icon-Kreis"/>
          <p:cNvSpPr/>
          <p:nvPr/>
        </p:nvSpPr>
        <p:spPr>
          <a:xfrm>
            <a:off x="6245352" y="2971800"/>
            <a:ext cx="502920" cy="50292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pic>
        <p:nvPicPr>
          <p:cNvPr id="32" name="Image 5" descr="HandsHelpi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66053" y="3092501"/>
            <a:ext cx="261518" cy="261518"/>
          </a:xfrm>
          <a:prstGeom prst="rect">
            <a:avLst/>
          </a:prstGeom>
        </p:spPr>
      </p:pic>
      <p:sp>
        <p:nvSpPr>
          <p:cNvPr id="33" name="Text 24"/>
          <p:cNvSpPr txBox="1"/>
          <p:nvPr/>
        </p:nvSpPr>
        <p:spPr>
          <a:xfrm>
            <a:off x="6931152" y="29718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Soziales</a:t>
            </a:r>
            <a:endParaRPr lang="en-US" sz="1700" dirty="0"/>
          </a:p>
        </p:txBody>
      </p:sp>
      <p:sp>
        <p:nvSpPr>
          <p:cNvPr id="34" name="Text 25"/>
          <p:cNvSpPr txBox="1"/>
          <p:nvPr/>
        </p:nvSpPr>
        <p:spPr>
          <a:xfrm>
            <a:off x="6245352" y="36118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Eigenvorsorge ↔ staatl. Absicherung</a:t>
            </a:r>
            <a:endParaRPr lang="en-US" sz="1400" dirty="0"/>
          </a:p>
        </p:txBody>
      </p:sp>
      <p:sp>
        <p:nvSpPr>
          <p:cNvPr id="35" name="Text 26"/>
          <p:cNvSpPr txBox="1"/>
          <p:nvPr/>
        </p:nvSpPr>
        <p:spPr>
          <a:xfrm>
            <a:off x="457200" y="43708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Diese sechs Kriterien nutzen wir im Ländervergleich.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B556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37744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PRAXISBEISPIELE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47548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Vier Länder – vier Ausprägungen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754880"/>
            <a:ext cx="7589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</a:rPr>
              <a:t>Quelle: Bundesagentur für Arbeit (09/2026); HCP/Medien (Q2 2026); Info Sapiens (08/2026); Ökonomen-Schätzungen zu Kuba (06/2026)</a:t>
            </a:r>
            <a:endParaRPr lang="en-US" sz="1000" dirty="0"/>
          </a:p>
        </p:txBody>
      </p:sp>
      <p:sp>
        <p:nvSpPr>
          <p:cNvPr id="6" name="Länderkarte Deutschland"/>
          <p:cNvSpPr/>
          <p:nvPr/>
        </p:nvSpPr>
        <p:spPr>
          <a:xfrm>
            <a:off x="457200" y="1325880"/>
            <a:ext cx="1920240" cy="3200400"/>
          </a:xfrm>
          <a:prstGeom prst="roundRect">
            <a:avLst>
              <a:gd name="adj" fmla="val 5714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F2A4A">
                <a:alpha val="12000"/>
              </a:srgbClr>
            </a:outerShdw>
          </a:effectLst>
        </p:spPr>
      </p:sp>
      <p:sp>
        <p:nvSpPr>
          <p:cNvPr id="7" name="Länder-Badge DE"/>
          <p:cNvSpPr/>
          <p:nvPr/>
        </p:nvSpPr>
        <p:spPr>
          <a:xfrm>
            <a:off x="640080" y="1481328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40080" y="148132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DE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640080" y="2212848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Deutschland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640080" y="2578608"/>
            <a:ext cx="1600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Soziale Marktwirtschaft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640080" y="347472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6,4 %</a:t>
            </a:r>
            <a:endParaRPr lang="en-US" sz="3000" dirty="0"/>
          </a:p>
        </p:txBody>
      </p:sp>
      <p:sp>
        <p:nvSpPr>
          <p:cNvPr id="12" name="Text 9"/>
          <p:cNvSpPr txBox="1"/>
          <p:nvPr/>
        </p:nvSpPr>
        <p:spPr>
          <a:xfrm>
            <a:off x="640080" y="397764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</a:rPr>
              <a:t>Arbeitslosenquote, Sep. 2026</a:t>
            </a:r>
            <a:endParaRPr lang="en-US" sz="1100" dirty="0"/>
          </a:p>
        </p:txBody>
      </p:sp>
      <p:sp>
        <p:nvSpPr>
          <p:cNvPr id="13" name="Länderkarte Marokko"/>
          <p:cNvSpPr/>
          <p:nvPr/>
        </p:nvSpPr>
        <p:spPr>
          <a:xfrm>
            <a:off x="2560320" y="1325880"/>
            <a:ext cx="1920240" cy="3200400"/>
          </a:xfrm>
          <a:prstGeom prst="roundRect">
            <a:avLst>
              <a:gd name="adj" fmla="val 5714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F2A4A">
                <a:alpha val="12000"/>
              </a:srgbClr>
            </a:outerShdw>
          </a:effectLst>
        </p:spPr>
      </p:sp>
      <p:sp>
        <p:nvSpPr>
          <p:cNvPr id="14" name="Länder-Badge MA"/>
          <p:cNvSpPr/>
          <p:nvPr/>
        </p:nvSpPr>
        <p:spPr>
          <a:xfrm>
            <a:off x="2743200" y="1481328"/>
            <a:ext cx="640080" cy="6400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2743200" y="148132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MA</a:t>
            </a:r>
            <a:endParaRPr lang="en-US" sz="1700" dirty="0"/>
          </a:p>
        </p:txBody>
      </p:sp>
      <p:sp>
        <p:nvSpPr>
          <p:cNvPr id="16" name="Text 13"/>
          <p:cNvSpPr txBox="1"/>
          <p:nvPr/>
        </p:nvSpPr>
        <p:spPr>
          <a:xfrm>
            <a:off x="2743200" y="2212848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Marokko</a:t>
            </a:r>
            <a:endParaRPr lang="en-US" sz="1800" dirty="0"/>
          </a:p>
        </p:txBody>
      </p:sp>
      <p:sp>
        <p:nvSpPr>
          <p:cNvPr id="17" name="Text 14"/>
          <p:cNvSpPr txBox="1"/>
          <p:nvPr/>
        </p:nvSpPr>
        <p:spPr>
          <a:xfrm>
            <a:off x="2743200" y="2578608"/>
            <a:ext cx="1600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marktorientiert, Staat als Investor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2743200" y="347472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</a:rPr>
              <a:t>9,5 %</a:t>
            </a:r>
            <a:endParaRPr lang="en-US" sz="3000" dirty="0"/>
          </a:p>
        </p:txBody>
      </p:sp>
      <p:sp>
        <p:nvSpPr>
          <p:cNvPr id="19" name="Text 16"/>
          <p:cNvSpPr txBox="1"/>
          <p:nvPr/>
        </p:nvSpPr>
        <p:spPr>
          <a:xfrm>
            <a:off x="2743200" y="397764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</a:rPr>
              <a:t>Arbeitslosigkeit, Q2 2026</a:t>
            </a:r>
            <a:endParaRPr lang="en-US" sz="1100" dirty="0"/>
          </a:p>
        </p:txBody>
      </p:sp>
      <p:sp>
        <p:nvSpPr>
          <p:cNvPr id="20" name="Länderkarte Ukraine"/>
          <p:cNvSpPr/>
          <p:nvPr/>
        </p:nvSpPr>
        <p:spPr>
          <a:xfrm>
            <a:off x="4663440" y="1325880"/>
            <a:ext cx="1920240" cy="3200400"/>
          </a:xfrm>
          <a:prstGeom prst="roundRect">
            <a:avLst>
              <a:gd name="adj" fmla="val 5714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F2A4A">
                <a:alpha val="12000"/>
              </a:srgbClr>
            </a:outerShdw>
          </a:effectLst>
        </p:spPr>
      </p:sp>
      <p:sp>
        <p:nvSpPr>
          <p:cNvPr id="21" name="Länder-Badge UA"/>
          <p:cNvSpPr/>
          <p:nvPr/>
        </p:nvSpPr>
        <p:spPr>
          <a:xfrm>
            <a:off x="4846320" y="1481328"/>
            <a:ext cx="640080" cy="64008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4846320" y="148132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UA</a:t>
            </a:r>
            <a:endParaRPr lang="en-US" sz="1700" dirty="0"/>
          </a:p>
        </p:txBody>
      </p:sp>
      <p:sp>
        <p:nvSpPr>
          <p:cNvPr id="23" name="Text 20"/>
          <p:cNvSpPr txBox="1"/>
          <p:nvPr/>
        </p:nvSpPr>
        <p:spPr>
          <a:xfrm>
            <a:off x="4846320" y="2212848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Ukraine</a:t>
            </a:r>
            <a:endParaRPr lang="en-US" sz="1800" dirty="0"/>
          </a:p>
        </p:txBody>
      </p:sp>
      <p:sp>
        <p:nvSpPr>
          <p:cNvPr id="24" name="Text 21"/>
          <p:cNvSpPr txBox="1"/>
          <p:nvPr/>
        </p:nvSpPr>
        <p:spPr>
          <a:xfrm>
            <a:off x="4846320" y="2578608"/>
            <a:ext cx="1600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Marktwirtschaft im Krieg, auf EU-Kurs</a:t>
            </a:r>
            <a:endParaRPr lang="en-US" sz="1400" dirty="0"/>
          </a:p>
        </p:txBody>
      </p:sp>
      <p:sp>
        <p:nvSpPr>
          <p:cNvPr id="25" name="Text 22"/>
          <p:cNvSpPr txBox="1"/>
          <p:nvPr/>
        </p:nvSpPr>
        <p:spPr>
          <a:xfrm>
            <a:off x="4846320" y="347472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3"/>
                </a:solidFill>
              </a:rPr>
              <a:t>ca. 16 %</a:t>
            </a:r>
            <a:endParaRPr lang="en-US" sz="3000" dirty="0"/>
          </a:p>
        </p:txBody>
      </p:sp>
      <p:sp>
        <p:nvSpPr>
          <p:cNvPr id="26" name="Text 23"/>
          <p:cNvSpPr txBox="1"/>
          <p:nvPr/>
        </p:nvSpPr>
        <p:spPr>
          <a:xfrm>
            <a:off x="4846320" y="397764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</a:rPr>
              <a:t>Arbeitslosigkeit, Aug. 2026 (Schätzung)</a:t>
            </a:r>
            <a:endParaRPr lang="en-US" sz="1100" dirty="0"/>
          </a:p>
        </p:txBody>
      </p:sp>
      <p:sp>
        <p:nvSpPr>
          <p:cNvPr id="27" name="Länderkarte Kuba"/>
          <p:cNvSpPr/>
          <p:nvPr/>
        </p:nvSpPr>
        <p:spPr>
          <a:xfrm>
            <a:off x="6766560" y="1325880"/>
            <a:ext cx="1920240" cy="3200400"/>
          </a:xfrm>
          <a:prstGeom prst="roundRect">
            <a:avLst>
              <a:gd name="adj" fmla="val 5714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F2A4A">
                <a:alpha val="12000"/>
              </a:srgbClr>
            </a:outerShdw>
          </a:effectLst>
        </p:spPr>
      </p:sp>
      <p:sp>
        <p:nvSpPr>
          <p:cNvPr id="28" name="Länder-Badge CU"/>
          <p:cNvSpPr/>
          <p:nvPr/>
        </p:nvSpPr>
        <p:spPr>
          <a:xfrm>
            <a:off x="6949440" y="1481328"/>
            <a:ext cx="640080" cy="64008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6949440" y="148132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CU</a:t>
            </a:r>
            <a:endParaRPr lang="en-US" sz="1700" dirty="0"/>
          </a:p>
        </p:txBody>
      </p:sp>
      <p:sp>
        <p:nvSpPr>
          <p:cNvPr id="30" name="Text 27"/>
          <p:cNvSpPr txBox="1"/>
          <p:nvPr/>
        </p:nvSpPr>
        <p:spPr>
          <a:xfrm>
            <a:off x="6949440" y="2212848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Kuba</a:t>
            </a:r>
            <a:endParaRPr lang="en-US" sz="1800" dirty="0"/>
          </a:p>
        </p:txBody>
      </p:sp>
      <p:sp>
        <p:nvSpPr>
          <p:cNvPr id="31" name="Text 28"/>
          <p:cNvSpPr txBox="1"/>
          <p:nvPr/>
        </p:nvSpPr>
        <p:spPr>
          <a:xfrm>
            <a:off x="6949440" y="2578608"/>
            <a:ext cx="1600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sozialistisch, mit Marktöffnung</a:t>
            </a:r>
            <a:endParaRPr lang="en-US" sz="1400" dirty="0"/>
          </a:p>
        </p:txBody>
      </p:sp>
      <p:sp>
        <p:nvSpPr>
          <p:cNvPr id="32" name="Text 29"/>
          <p:cNvSpPr txBox="1"/>
          <p:nvPr/>
        </p:nvSpPr>
        <p:spPr>
          <a:xfrm>
            <a:off x="6949440" y="347472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4"/>
                </a:solidFill>
              </a:rPr>
              <a:t>ca. −7 %</a:t>
            </a:r>
            <a:endParaRPr lang="en-US" sz="3000" dirty="0"/>
          </a:p>
        </p:txBody>
      </p:sp>
      <p:sp>
        <p:nvSpPr>
          <p:cNvPr id="33" name="Text 30"/>
          <p:cNvSpPr txBox="1"/>
          <p:nvPr/>
        </p:nvSpPr>
        <p:spPr>
          <a:xfrm>
            <a:off x="6949440" y="397764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</a:rPr>
              <a:t>BIP-Prognose 2026 (Ökonomen)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B556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37744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LÄNDERBEISPIEL 1/4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47548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Deutschland: Soziale Marktwirtschaft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754880"/>
            <a:ext cx="7589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</a:rPr>
              <a:t>Quelle: bpb, Soziale Marktwirtschaft; Gemeinschaftsdiagnose Herbst 2026</a:t>
            </a:r>
            <a:endParaRPr lang="en-US" sz="1000" dirty="0"/>
          </a:p>
        </p:txBody>
      </p:sp>
      <p:sp>
        <p:nvSpPr>
          <p:cNvPr id="6" name="Einordnung-Karte"/>
          <p:cNvSpPr/>
          <p:nvPr/>
        </p:nvSpPr>
        <p:spPr>
          <a:xfrm>
            <a:off x="457200" y="1325880"/>
            <a:ext cx="3291840" cy="3200400"/>
          </a:xfrm>
          <a:prstGeom prst="roundRect">
            <a:avLst>
              <a:gd name="adj" fmla="val 3429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7" name="Icon-Kreis"/>
          <p:cNvSpPr/>
          <p:nvPr/>
        </p:nvSpPr>
        <p:spPr>
          <a:xfrm>
            <a:off x="685800" y="155448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8" name="Image 0" descr="BalanceScal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9419" y="1708099"/>
            <a:ext cx="332842" cy="332842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685800" y="233172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7DD3FC"/>
                </a:solidFill>
              </a:rPr>
              <a:t>Einordnung</a:t>
            </a:r>
            <a:endParaRPr lang="en-US" sz="1400" dirty="0"/>
          </a:p>
        </p:txBody>
      </p:sp>
      <p:sp>
        <p:nvSpPr>
          <p:cNvPr id="10" name="Text 6"/>
          <p:cNvSpPr txBox="1"/>
          <p:nvPr/>
        </p:nvSpPr>
        <p:spPr>
          <a:xfrm>
            <a:off x="685800" y="2697480"/>
            <a:ext cx="28346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Markt und Wettbewerb sind die Grundlage. Der Staat setzt Regeln, schützt den Wettbewerb und ergänzt den Markt durch Sozialpolitik.</a:t>
            </a:r>
            <a:endParaRPr lang="en-US" sz="1600" dirty="0"/>
          </a:p>
        </p:txBody>
      </p:sp>
      <p:sp>
        <p:nvSpPr>
          <p:cNvPr id="11" name="Merkmale-Karte"/>
          <p:cNvSpPr/>
          <p:nvPr/>
        </p:nvSpPr>
        <p:spPr>
          <a:xfrm>
            <a:off x="3931920" y="1325880"/>
            <a:ext cx="4754880" cy="1691640"/>
          </a:xfrm>
          <a:prstGeom prst="roundRect">
            <a:avLst>
              <a:gd name="adj" fmla="val 6486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F2A4A">
                <a:alpha val="12000"/>
              </a:srgbClr>
            </a:outerShdw>
          </a:effectLst>
        </p:spPr>
      </p:sp>
      <p:sp>
        <p:nvSpPr>
          <p:cNvPr id="12" name="Text 8"/>
          <p:cNvSpPr txBox="1"/>
          <p:nvPr/>
        </p:nvSpPr>
        <p:spPr>
          <a:xfrm>
            <a:off x="4160520" y="146304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Typische Merkmale</a:t>
            </a:r>
            <a:endParaRPr lang="en-US" sz="1700" dirty="0"/>
          </a:p>
        </p:txBody>
      </p:sp>
      <p:sp>
        <p:nvSpPr>
          <p:cNvPr id="13" name="Chip"/>
          <p:cNvSpPr/>
          <p:nvPr/>
        </p:nvSpPr>
        <p:spPr>
          <a:xfrm>
            <a:off x="4160520" y="1920240"/>
            <a:ext cx="1325880" cy="384048"/>
          </a:xfrm>
          <a:prstGeom prst="roundRect">
            <a:avLst>
              <a:gd name="adj" fmla="val 50000"/>
            </a:avLst>
          </a:prstGeom>
          <a:solidFill>
            <a:schemeClr val="accent1">
              <a:alpha val="1200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4160520" y="1920240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Privateigentum</a:t>
            </a:r>
            <a:endParaRPr lang="en-US" sz="1200" dirty="0"/>
          </a:p>
        </p:txBody>
      </p:sp>
      <p:sp>
        <p:nvSpPr>
          <p:cNvPr id="15" name="Chip"/>
          <p:cNvSpPr/>
          <p:nvPr/>
        </p:nvSpPr>
        <p:spPr>
          <a:xfrm>
            <a:off x="5577840" y="1920240"/>
            <a:ext cx="1325880" cy="384048"/>
          </a:xfrm>
          <a:prstGeom prst="roundRect">
            <a:avLst>
              <a:gd name="adj" fmla="val 50000"/>
            </a:avLst>
          </a:prstGeom>
          <a:solidFill>
            <a:schemeClr val="accent1">
              <a:alpha val="1200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5577840" y="1920240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Freie Preise</a:t>
            </a:r>
            <a:endParaRPr lang="en-US" sz="1200" dirty="0"/>
          </a:p>
        </p:txBody>
      </p:sp>
      <p:sp>
        <p:nvSpPr>
          <p:cNvPr id="17" name="Chip"/>
          <p:cNvSpPr/>
          <p:nvPr/>
        </p:nvSpPr>
        <p:spPr>
          <a:xfrm>
            <a:off x="6995160" y="1920240"/>
            <a:ext cx="1325880" cy="384048"/>
          </a:xfrm>
          <a:prstGeom prst="roundRect">
            <a:avLst>
              <a:gd name="adj" fmla="val 50000"/>
            </a:avLst>
          </a:prstGeom>
          <a:solidFill>
            <a:schemeClr val="accent1">
              <a:alpha val="1200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6995160" y="1920240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Wettbewerb</a:t>
            </a:r>
            <a:endParaRPr lang="en-US" sz="1200" dirty="0"/>
          </a:p>
        </p:txBody>
      </p:sp>
      <p:sp>
        <p:nvSpPr>
          <p:cNvPr id="19" name="Chip"/>
          <p:cNvSpPr/>
          <p:nvPr/>
        </p:nvSpPr>
        <p:spPr>
          <a:xfrm>
            <a:off x="4160520" y="2423160"/>
            <a:ext cx="1325880" cy="384048"/>
          </a:xfrm>
          <a:prstGeom prst="roundRect">
            <a:avLst>
              <a:gd name="adj" fmla="val 50000"/>
            </a:avLst>
          </a:prstGeom>
          <a:solidFill>
            <a:schemeClr val="accent1">
              <a:alpha val="1200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4160520" y="2423160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Gewerbefreiheit</a:t>
            </a:r>
            <a:endParaRPr lang="en-US" sz="1200" dirty="0"/>
          </a:p>
        </p:txBody>
      </p:sp>
      <p:sp>
        <p:nvSpPr>
          <p:cNvPr id="21" name="Chip"/>
          <p:cNvSpPr/>
          <p:nvPr/>
        </p:nvSpPr>
        <p:spPr>
          <a:xfrm>
            <a:off x="5577840" y="2423160"/>
            <a:ext cx="1325880" cy="384048"/>
          </a:xfrm>
          <a:prstGeom prst="roundRect">
            <a:avLst>
              <a:gd name="adj" fmla="val 50000"/>
            </a:avLst>
          </a:prstGeom>
          <a:solidFill>
            <a:schemeClr val="accent1">
              <a:alpha val="1200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2" name="Text 18"/>
          <p:cNvSpPr txBox="1"/>
          <p:nvPr/>
        </p:nvSpPr>
        <p:spPr>
          <a:xfrm>
            <a:off x="5577840" y="2423160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Sozialversicherung</a:t>
            </a:r>
            <a:endParaRPr lang="en-US" sz="1200" dirty="0"/>
          </a:p>
        </p:txBody>
      </p:sp>
      <p:sp>
        <p:nvSpPr>
          <p:cNvPr id="23" name="Chip"/>
          <p:cNvSpPr/>
          <p:nvPr/>
        </p:nvSpPr>
        <p:spPr>
          <a:xfrm>
            <a:off x="6995160" y="2423160"/>
            <a:ext cx="1325880" cy="384048"/>
          </a:xfrm>
          <a:prstGeom prst="roundRect">
            <a:avLst>
              <a:gd name="adj" fmla="val 50000"/>
            </a:avLst>
          </a:prstGeom>
          <a:solidFill>
            <a:schemeClr val="accent1">
              <a:alpha val="1200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4" name="Text 20"/>
          <p:cNvSpPr txBox="1"/>
          <p:nvPr/>
        </p:nvSpPr>
        <p:spPr>
          <a:xfrm>
            <a:off x="6995160" y="2423160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Tarifautonomie</a:t>
            </a:r>
            <a:endParaRPr lang="en-US" sz="1200" dirty="0"/>
          </a:p>
        </p:txBody>
      </p:sp>
      <p:sp>
        <p:nvSpPr>
          <p:cNvPr id="25" name="Spannungsfeld-Karte"/>
          <p:cNvSpPr/>
          <p:nvPr/>
        </p:nvSpPr>
        <p:spPr>
          <a:xfrm>
            <a:off x="3931920" y="3200400"/>
            <a:ext cx="4754880" cy="1325880"/>
          </a:xfrm>
          <a:prstGeom prst="roundRect">
            <a:avLst>
              <a:gd name="adj" fmla="val 8276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F2A4A">
                <a:alpha val="12000"/>
              </a:srgbClr>
            </a:outerShdw>
          </a:effectLst>
        </p:spPr>
      </p:sp>
      <p:sp>
        <p:nvSpPr>
          <p:cNvPr id="26" name="Icon-Kreis"/>
          <p:cNvSpPr/>
          <p:nvPr/>
        </p:nvSpPr>
        <p:spPr>
          <a:xfrm>
            <a:off x="4114800" y="3364992"/>
            <a:ext cx="411480" cy="41148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27" name="Image 1" descr="Bol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17670" y="3467862"/>
            <a:ext cx="205740" cy="205740"/>
          </a:xfrm>
          <a:prstGeom prst="rect">
            <a:avLst/>
          </a:prstGeom>
        </p:spPr>
      </p:pic>
      <p:sp>
        <p:nvSpPr>
          <p:cNvPr id="28" name="Text 23"/>
          <p:cNvSpPr txBox="1"/>
          <p:nvPr/>
        </p:nvSpPr>
        <p:spPr>
          <a:xfrm>
            <a:off x="4663440" y="3364992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Spannungsfeld 2026</a:t>
            </a:r>
            <a:endParaRPr lang="en-US" sz="1700" dirty="0"/>
          </a:p>
        </p:txBody>
      </p:sp>
      <p:sp>
        <p:nvSpPr>
          <p:cNvPr id="29" name="Text 24"/>
          <p:cNvSpPr txBox="1"/>
          <p:nvPr/>
        </p:nvSpPr>
        <p:spPr>
          <a:xfrm>
            <a:off x="4114800" y="3840480"/>
            <a:ext cx="4434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Der Staat investiert stark in Infrastruktur und Verteidigung, die Sozialausgaben steigen. Wie viel Regulierung ist nötig?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B556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37744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LÄNDERBEISPIEL 1/4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47548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Deutschland 2026: Arbeitsmarkt &amp; Wachstum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754880"/>
            <a:ext cx="7589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</a:rPr>
              <a:t>Quelle: Bundesagentur für Arbeit, Arbeitsmarkt im September 2026; Gemeinschaftsdiagnose Herbst 2026; KOFA Fachkräftereport 03/2026</a:t>
            </a:r>
            <a:endParaRPr lang="en-US" sz="1000" dirty="0"/>
          </a:p>
        </p:txBody>
      </p:sp>
      <p:sp>
        <p:nvSpPr>
          <p:cNvPr id="6" name="Kennzahl-Karte"/>
          <p:cNvSpPr/>
          <p:nvPr/>
        </p:nvSpPr>
        <p:spPr>
          <a:xfrm>
            <a:off x="457200" y="1280160"/>
            <a:ext cx="2624328" cy="1234440"/>
          </a:xfrm>
          <a:prstGeom prst="roundRect">
            <a:avLst>
              <a:gd name="adj" fmla="val 8889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F2A4A">
                <a:alpha val="12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640080" y="137160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1"/>
                </a:solidFill>
              </a:rPr>
              <a:t>2,994 Mio.</a:t>
            </a:r>
            <a:endParaRPr lang="en-US" sz="32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19659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</a:rPr>
              <a:t>Arbeitslose im Sep. 2026</a:t>
            </a:r>
            <a:endParaRPr lang="en-US" sz="1200" dirty="0"/>
          </a:p>
        </p:txBody>
      </p:sp>
      <p:sp>
        <p:nvSpPr>
          <p:cNvPr id="9" name="Kennzahl-Karte"/>
          <p:cNvSpPr/>
          <p:nvPr/>
        </p:nvSpPr>
        <p:spPr>
          <a:xfrm>
            <a:off x="3259836" y="1280160"/>
            <a:ext cx="2624328" cy="1234440"/>
          </a:xfrm>
          <a:prstGeom prst="roundRect">
            <a:avLst>
              <a:gd name="adj" fmla="val 8889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F2A4A">
                <a:alpha val="12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3442716" y="137160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2"/>
                </a:solidFill>
              </a:rPr>
              <a:t>6,4 %</a:t>
            </a:r>
            <a:endParaRPr lang="en-US" sz="3200" dirty="0"/>
          </a:p>
        </p:txBody>
      </p:sp>
      <p:sp>
        <p:nvSpPr>
          <p:cNvPr id="11" name="Text 8"/>
          <p:cNvSpPr txBox="1"/>
          <p:nvPr/>
        </p:nvSpPr>
        <p:spPr>
          <a:xfrm>
            <a:off x="3442716" y="19659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</a:rPr>
              <a:t>Arbeitslosenquote (−0,1 Pp zum Vormonat)</a:t>
            </a:r>
            <a:endParaRPr lang="en-US" sz="1200" dirty="0"/>
          </a:p>
        </p:txBody>
      </p:sp>
      <p:sp>
        <p:nvSpPr>
          <p:cNvPr id="12" name="Kennzahl-Karte"/>
          <p:cNvSpPr/>
          <p:nvPr/>
        </p:nvSpPr>
        <p:spPr>
          <a:xfrm>
            <a:off x="6062472" y="1280160"/>
            <a:ext cx="2624328" cy="1234440"/>
          </a:xfrm>
          <a:prstGeom prst="roundRect">
            <a:avLst>
              <a:gd name="adj" fmla="val 8889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F2A4A">
                <a:alpha val="12000"/>
              </a:srgbClr>
            </a:outerShdw>
          </a:effectLst>
        </p:spPr>
      </p:sp>
      <p:sp>
        <p:nvSpPr>
          <p:cNvPr id="13" name="Text 10"/>
          <p:cNvSpPr txBox="1"/>
          <p:nvPr/>
        </p:nvSpPr>
        <p:spPr>
          <a:xfrm>
            <a:off x="6245352" y="137160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3"/>
                </a:solidFill>
              </a:rPr>
              <a:t>+40.000</a:t>
            </a:r>
            <a:endParaRPr lang="en-US" sz="3200" dirty="0"/>
          </a:p>
        </p:txBody>
      </p:sp>
      <p:sp>
        <p:nvSpPr>
          <p:cNvPr id="14" name="Text 11"/>
          <p:cNvSpPr txBox="1"/>
          <p:nvPr/>
        </p:nvSpPr>
        <p:spPr>
          <a:xfrm>
            <a:off x="6245352" y="19659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</a:rPr>
              <a:t>mehr Arbeitslose als im Vorjahr</a:t>
            </a:r>
            <a:endParaRPr lang="en-US" sz="1200" dirty="0"/>
          </a:p>
        </p:txBody>
      </p:sp>
      <p:sp>
        <p:nvSpPr>
          <p:cNvPr id="15" name="Chart-Karte"/>
          <p:cNvSpPr/>
          <p:nvPr/>
        </p:nvSpPr>
        <p:spPr>
          <a:xfrm>
            <a:off x="457200" y="2697480"/>
            <a:ext cx="4937760" cy="1920240"/>
          </a:xfrm>
          <a:prstGeom prst="roundRect">
            <a:avLst>
              <a:gd name="adj" fmla="val 5714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F2A4A">
                <a:alpha val="12000"/>
              </a:srgbClr>
            </a:outerShdw>
          </a:effectLst>
        </p:spPr>
      </p:sp>
      <p:graphicFrame>
        <p:nvGraphicFramePr>
          <p:cNvPr id="16" name="Chart 0" descr=""/>
          <p:cNvGraphicFramePr/>
          <p:nvPr/>
        </p:nvGraphicFramePr>
        <p:xfrm>
          <a:off x="548640" y="2743200"/>
          <a:ext cx="4754880" cy="1828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7" name="Fachkräfte-Karte"/>
          <p:cNvSpPr/>
          <p:nvPr/>
        </p:nvSpPr>
        <p:spPr>
          <a:xfrm>
            <a:off x="5577840" y="2697480"/>
            <a:ext cx="3108960" cy="1920240"/>
          </a:xfrm>
          <a:prstGeom prst="roundRect">
            <a:avLst>
              <a:gd name="adj" fmla="val 5714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5760720" y="278892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BBF24"/>
                </a:solidFill>
              </a:rPr>
              <a:t>357.000</a:t>
            </a:r>
            <a:endParaRPr lang="en-US" sz="3600" dirty="0"/>
          </a:p>
        </p:txBody>
      </p:sp>
      <p:sp>
        <p:nvSpPr>
          <p:cNvPr id="19" name="Text 15"/>
          <p:cNvSpPr txBox="1"/>
          <p:nvPr/>
        </p:nvSpPr>
        <p:spPr>
          <a:xfrm>
            <a:off x="5760720" y="342900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Fachkräftestellen blieben im März 2026 unbesetzt – trotz fast 3 Mio. Arbeitslosen.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B556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37744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LÄNDERBEISPIEL 2/4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47548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Marokko: Markt mit starkem Staat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754880"/>
            <a:ext cx="7589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</a:rPr>
              <a:t>Quelle: UNCTAD Investment Policy Monitor; MICEPP/Investitionscharta 03-22; Weltbank (04/2026), Morocco World News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1887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Marktorientiert – aber der Staat ist Investor und Reformmotor.</a:t>
            </a:r>
            <a:endParaRPr lang="en-US" sz="2000" dirty="0"/>
          </a:p>
        </p:txBody>
      </p:sp>
      <p:sp>
        <p:nvSpPr>
          <p:cNvPr id="7" name="Reform-Karte"/>
          <p:cNvSpPr/>
          <p:nvPr/>
        </p:nvSpPr>
        <p:spPr>
          <a:xfrm>
            <a:off x="457200" y="1828800"/>
            <a:ext cx="2624328" cy="2103120"/>
          </a:xfrm>
          <a:prstGeom prst="roundRect">
            <a:avLst>
              <a:gd name="adj" fmla="val 5217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F2A4A">
                <a:alpha val="12000"/>
              </a:srgbClr>
            </a:outerShdw>
          </a:effectLst>
        </p:spPr>
      </p:sp>
      <p:sp>
        <p:nvSpPr>
          <p:cNvPr id="8" name="Icon-Kreis"/>
          <p:cNvSpPr/>
          <p:nvPr/>
        </p:nvSpPr>
        <p:spPr>
          <a:xfrm>
            <a:off x="640080" y="1965960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9" name="Image 0" descr="ChartLi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0781" y="2086661"/>
            <a:ext cx="261518" cy="261518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640080" y="256032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2"/>
                </a:solidFill>
              </a:rPr>
              <a:t>50 % → 65 %</a:t>
            </a:r>
            <a:endParaRPr lang="en-US" sz="2800" dirty="0"/>
          </a:p>
        </p:txBody>
      </p:sp>
      <p:sp>
        <p:nvSpPr>
          <p:cNvPr id="11" name="Text 7"/>
          <p:cNvSpPr txBox="1"/>
          <p:nvPr/>
        </p:nvSpPr>
        <p:spPr>
          <a:xfrm>
            <a:off x="640080" y="310896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Ziel: Anteil privater Investitionen (2026 → 2035)</a:t>
            </a:r>
            <a:endParaRPr lang="en-US" sz="1400" dirty="0"/>
          </a:p>
        </p:txBody>
      </p:sp>
      <p:sp>
        <p:nvSpPr>
          <p:cNvPr id="12" name="Reform-Karte"/>
          <p:cNvSpPr/>
          <p:nvPr/>
        </p:nvSpPr>
        <p:spPr>
          <a:xfrm>
            <a:off x="3259836" y="1828800"/>
            <a:ext cx="2624328" cy="2103120"/>
          </a:xfrm>
          <a:prstGeom prst="roundRect">
            <a:avLst>
              <a:gd name="adj" fmla="val 5217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F2A4A">
                <a:alpha val="12000"/>
              </a:srgbClr>
            </a:outerShdw>
          </a:effectLst>
        </p:spPr>
      </p:sp>
      <p:sp>
        <p:nvSpPr>
          <p:cNvPr id="13" name="Icon-Kreis"/>
          <p:cNvSpPr/>
          <p:nvPr/>
        </p:nvSpPr>
        <p:spPr>
          <a:xfrm>
            <a:off x="3442716" y="1965960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4" name="Image 1" descr="Briefcas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3417" y="2086661"/>
            <a:ext cx="261518" cy="261518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3442716" y="256032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2"/>
                </a:solidFill>
              </a:rPr>
              <a:t>500.000</a:t>
            </a:r>
            <a:endParaRPr lang="en-US" sz="2800" dirty="0"/>
          </a:p>
        </p:txBody>
      </p:sp>
      <p:sp>
        <p:nvSpPr>
          <p:cNvPr id="16" name="Text 11"/>
          <p:cNvSpPr txBox="1"/>
          <p:nvPr/>
        </p:nvSpPr>
        <p:spPr>
          <a:xfrm>
            <a:off x="3442716" y="310896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Ziel-Jobs durch die Investitionscharta, bis 2026</a:t>
            </a:r>
            <a:endParaRPr lang="en-US" sz="1400" dirty="0"/>
          </a:p>
        </p:txBody>
      </p:sp>
      <p:sp>
        <p:nvSpPr>
          <p:cNvPr id="17" name="Reform-Karte"/>
          <p:cNvSpPr/>
          <p:nvPr/>
        </p:nvSpPr>
        <p:spPr>
          <a:xfrm>
            <a:off x="6062472" y="1828800"/>
            <a:ext cx="2624328" cy="2103120"/>
          </a:xfrm>
          <a:prstGeom prst="roundRect">
            <a:avLst>
              <a:gd name="adj" fmla="val 5217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F2A4A">
                <a:alpha val="12000"/>
              </a:srgbClr>
            </a:outerShdw>
          </a:effectLst>
        </p:spPr>
      </p:sp>
      <p:sp>
        <p:nvSpPr>
          <p:cNvPr id="18" name="Icon-Kreis"/>
          <p:cNvSpPr/>
          <p:nvPr/>
        </p:nvSpPr>
        <p:spPr>
          <a:xfrm>
            <a:off x="6245352" y="1965960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9" name="Image 2" descr="University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6053" y="2086661"/>
            <a:ext cx="261518" cy="261518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6245352" y="256032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2"/>
                </a:solidFill>
              </a:rPr>
              <a:t>500 Mio. $</a:t>
            </a:r>
            <a:endParaRPr lang="en-US" sz="2800" dirty="0"/>
          </a:p>
        </p:txBody>
      </p:sp>
      <p:sp>
        <p:nvSpPr>
          <p:cNvPr id="21" name="Text 15"/>
          <p:cNvSpPr txBox="1"/>
          <p:nvPr/>
        </p:nvSpPr>
        <p:spPr>
          <a:xfrm>
            <a:off x="6245352" y="310896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Weltbank-Kredit (April 2026) für Jobs &amp; grünes Wachstum</a:t>
            </a:r>
            <a:endParaRPr lang="en-US" sz="1400" dirty="0"/>
          </a:p>
        </p:txBody>
      </p:sp>
      <p:sp>
        <p:nvSpPr>
          <p:cNvPr id="22" name="Wettbewerbs-Leiste"/>
          <p:cNvSpPr/>
          <p:nvPr/>
        </p:nvSpPr>
        <p:spPr>
          <a:xfrm>
            <a:off x="457200" y="4114800"/>
            <a:ext cx="8229600" cy="502920"/>
          </a:xfrm>
          <a:prstGeom prst="roundRect">
            <a:avLst>
              <a:gd name="adj" fmla="val 21818"/>
            </a:avLst>
          </a:prstGeom>
          <a:solidFill>
            <a:schemeClr val="accent2">
              <a:alpha val="12000"/>
            </a:schemeClr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3" name="Text 17"/>
          <p:cNvSpPr txBox="1"/>
          <p:nvPr/>
        </p:nvSpPr>
        <p:spPr>
          <a:xfrm>
            <a:off x="685800" y="411480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Dazu: Wettbewerbsrat und Reformen sollen Märkte öffnen und die Informalität senken.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B556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37744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LÄNDERBEISPIEL 2/4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47548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Marokko 2026: Wachstum &amp; Arbeitsmarkt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754880"/>
            <a:ext cx="7589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</a:rPr>
              <a:t>Quelle: AfDB, IWF, OECD, Morocco World News (06–07/2026); Weltbank (04/2026); Jugend-/Arbeitslosenquote Q2 2026 laut Medienberichten</a:t>
            </a:r>
            <a:endParaRPr lang="en-US" sz="1000" dirty="0"/>
          </a:p>
        </p:txBody>
      </p:sp>
      <p:sp>
        <p:nvSpPr>
          <p:cNvPr id="6" name="Chart-Karte"/>
          <p:cNvSpPr/>
          <p:nvPr/>
        </p:nvSpPr>
        <p:spPr>
          <a:xfrm>
            <a:off x="457200" y="1325880"/>
            <a:ext cx="4846320" cy="3200400"/>
          </a:xfrm>
          <a:prstGeom prst="roundRect">
            <a:avLst>
              <a:gd name="adj" fmla="val 3429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F2A4A">
                <a:alpha val="12000"/>
              </a:srgbClr>
            </a:outerShdw>
          </a:effectLst>
        </p:spPr>
      </p:sp>
      <p:graphicFrame>
        <p:nvGraphicFramePr>
          <p:cNvPr id="7" name="Chart 0" descr=""/>
          <p:cNvGraphicFramePr/>
          <p:nvPr/>
        </p:nvGraphicFramePr>
        <p:xfrm>
          <a:off x="548640" y="1371600"/>
          <a:ext cx="466344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Kennzahl-Karte"/>
          <p:cNvSpPr/>
          <p:nvPr/>
        </p:nvSpPr>
        <p:spPr>
          <a:xfrm>
            <a:off x="5486400" y="1325880"/>
            <a:ext cx="3200400" cy="1005840"/>
          </a:xfrm>
          <a:prstGeom prst="roundRect">
            <a:avLst>
              <a:gd name="adj" fmla="val 10909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F2A4A">
                <a:alpha val="12000"/>
              </a:srgbClr>
            </a:outerShdw>
          </a:effectLst>
        </p:spPr>
      </p:sp>
      <p:sp>
        <p:nvSpPr>
          <p:cNvPr id="9" name="Text 5"/>
          <p:cNvSpPr txBox="1"/>
          <p:nvPr/>
        </p:nvSpPr>
        <p:spPr>
          <a:xfrm>
            <a:off x="5669280" y="1325880"/>
            <a:ext cx="1371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2"/>
                </a:solidFill>
              </a:rPr>
              <a:t>9,5 %</a:t>
            </a:r>
            <a:endParaRPr lang="en-US" sz="2800" dirty="0"/>
          </a:p>
        </p:txBody>
      </p:sp>
      <p:sp>
        <p:nvSpPr>
          <p:cNvPr id="10" name="Text 6"/>
          <p:cNvSpPr txBox="1"/>
          <p:nvPr/>
        </p:nvSpPr>
        <p:spPr>
          <a:xfrm>
            <a:off x="7040880" y="1325880"/>
            <a:ext cx="1554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</a:rPr>
              <a:t>Arbeitslosigkeit, Q2 2026</a:t>
            </a:r>
            <a:endParaRPr lang="en-US" sz="1200" dirty="0"/>
          </a:p>
        </p:txBody>
      </p:sp>
      <p:sp>
        <p:nvSpPr>
          <p:cNvPr id="11" name="Kennzahl-Karte"/>
          <p:cNvSpPr/>
          <p:nvPr/>
        </p:nvSpPr>
        <p:spPr>
          <a:xfrm>
            <a:off x="5486400" y="2423160"/>
            <a:ext cx="3200400" cy="1005840"/>
          </a:xfrm>
          <a:prstGeom prst="roundRect">
            <a:avLst>
              <a:gd name="adj" fmla="val 10909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F2A4A">
                <a:alpha val="12000"/>
              </a:srgbClr>
            </a:outerShdw>
          </a:effectLst>
        </p:spPr>
      </p:sp>
      <p:sp>
        <p:nvSpPr>
          <p:cNvPr id="12" name="Text 8"/>
          <p:cNvSpPr txBox="1"/>
          <p:nvPr/>
        </p:nvSpPr>
        <p:spPr>
          <a:xfrm>
            <a:off x="5669280" y="2423160"/>
            <a:ext cx="1371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2"/>
                </a:solidFill>
              </a:rPr>
              <a:t>27,2 %</a:t>
            </a:r>
            <a:endParaRPr lang="en-US" sz="2800" dirty="0"/>
          </a:p>
        </p:txBody>
      </p:sp>
      <p:sp>
        <p:nvSpPr>
          <p:cNvPr id="13" name="Text 9"/>
          <p:cNvSpPr txBox="1"/>
          <p:nvPr/>
        </p:nvSpPr>
        <p:spPr>
          <a:xfrm>
            <a:off x="7040880" y="2423160"/>
            <a:ext cx="1554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</a:rPr>
              <a:t>Jugendarbeitslosigkeit (15–24 J.), Q2 2026</a:t>
            </a:r>
            <a:endParaRPr lang="en-US" sz="1200" dirty="0"/>
          </a:p>
        </p:txBody>
      </p:sp>
      <p:sp>
        <p:nvSpPr>
          <p:cNvPr id="14" name="Kennzahl-Karte"/>
          <p:cNvSpPr/>
          <p:nvPr/>
        </p:nvSpPr>
        <p:spPr>
          <a:xfrm>
            <a:off x="5486400" y="3520440"/>
            <a:ext cx="3200400" cy="1005840"/>
          </a:xfrm>
          <a:prstGeom prst="roundRect">
            <a:avLst>
              <a:gd name="adj" fmla="val 10909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F2A4A">
                <a:alpha val="12000"/>
              </a:srgbClr>
            </a:outerShdw>
          </a:effectLst>
        </p:spPr>
      </p:sp>
      <p:sp>
        <p:nvSpPr>
          <p:cNvPr id="15" name="Text 11"/>
          <p:cNvSpPr txBox="1"/>
          <p:nvPr/>
        </p:nvSpPr>
        <p:spPr>
          <a:xfrm>
            <a:off x="5669280" y="3520440"/>
            <a:ext cx="1371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2"/>
                </a:solidFill>
              </a:rPr>
              <a:t>69,4 %</a:t>
            </a:r>
            <a:endParaRPr lang="en-US" sz="2800" dirty="0"/>
          </a:p>
        </p:txBody>
      </p:sp>
      <p:sp>
        <p:nvSpPr>
          <p:cNvPr id="16" name="Text 12"/>
          <p:cNvSpPr txBox="1"/>
          <p:nvPr/>
        </p:nvSpPr>
        <p:spPr>
          <a:xfrm>
            <a:off x="7040880" y="3520440"/>
            <a:ext cx="1554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</a:rPr>
              <a:t>informelle Beschäftigung (2024)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B556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37744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LÄNDERBEISPIEL 3/4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47548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Ukraine: Transformation auf EU-Kurs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754880"/>
            <a:ext cx="7589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</a:rPr>
              <a:t>Quelle: Rat der EU (15.06.2026); EU-Kommission (14.07.2026); IWF-Programm Feb. 2026 (Interfax/KSE)</a:t>
            </a:r>
            <a:endParaRPr lang="en-US" sz="1000" dirty="0"/>
          </a:p>
        </p:txBody>
      </p:sp>
      <p:sp>
        <p:nvSpPr>
          <p:cNvPr id="6" name="Zeitstrahl"/>
          <p:cNvSpPr/>
          <p:nvPr/>
        </p:nvSpPr>
        <p:spPr>
          <a:xfrm>
            <a:off x="1097280" y="1965960"/>
            <a:ext cx="6949440" cy="0"/>
          </a:xfrm>
          <a:prstGeom prst="line">
            <a:avLst/>
          </a:prstGeom>
          <a:noFill/>
          <a:ln w="38100">
            <a:solidFill>
              <a:srgbClr val="CBD5E1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320040" y="13258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1991</a:t>
            </a:r>
            <a:endParaRPr lang="en-US" sz="1800" dirty="0"/>
          </a:p>
        </p:txBody>
      </p:sp>
      <p:sp>
        <p:nvSpPr>
          <p:cNvPr id="8" name="Zeitpunkt"/>
          <p:cNvSpPr/>
          <p:nvPr/>
        </p:nvSpPr>
        <p:spPr>
          <a:xfrm>
            <a:off x="932688" y="1801368"/>
            <a:ext cx="329184" cy="329184"/>
          </a:xfrm>
          <a:prstGeom prst="ellipse">
            <a:avLst/>
          </a:prstGeom>
          <a:solidFill>
            <a:schemeClr val="accent6"/>
          </a:solidFill>
          <a:ln w="38100">
            <a:solidFill>
              <a:schemeClr val="bg1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320040" y="2286000"/>
            <a:ext cx="1554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Unabhängigkeit, Abschied von der Planwirtschaft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2057400" y="13258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2022</a:t>
            </a:r>
            <a:endParaRPr lang="en-US" sz="1800" dirty="0"/>
          </a:p>
        </p:txBody>
      </p:sp>
      <p:sp>
        <p:nvSpPr>
          <p:cNvPr id="11" name="Zeitpunkt"/>
          <p:cNvSpPr/>
          <p:nvPr/>
        </p:nvSpPr>
        <p:spPr>
          <a:xfrm>
            <a:off x="2670048" y="1801368"/>
            <a:ext cx="329184" cy="329184"/>
          </a:xfrm>
          <a:prstGeom prst="ellipse">
            <a:avLst/>
          </a:prstGeom>
          <a:solidFill>
            <a:schemeClr val="accent6"/>
          </a:solidFill>
          <a:ln w="38100">
            <a:solidFill>
              <a:schemeClr val="bg1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2057400" y="2286000"/>
            <a:ext cx="1554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EU-Kandidatenstatus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3794760" y="13258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3"/>
                </a:solidFill>
              </a:rPr>
              <a:t>Feb 2026</a:t>
            </a:r>
            <a:endParaRPr lang="en-US" sz="1800" dirty="0"/>
          </a:p>
        </p:txBody>
      </p:sp>
      <p:sp>
        <p:nvSpPr>
          <p:cNvPr id="14" name="Zeitpunkt"/>
          <p:cNvSpPr/>
          <p:nvPr/>
        </p:nvSpPr>
        <p:spPr>
          <a:xfrm>
            <a:off x="4407408" y="1801368"/>
            <a:ext cx="329184" cy="329184"/>
          </a:xfrm>
          <a:prstGeom prst="ellipse">
            <a:avLst/>
          </a:prstGeom>
          <a:solidFill>
            <a:schemeClr val="accent3"/>
          </a:solidFill>
          <a:ln w="38100">
            <a:solidFill>
              <a:schemeClr val="bg1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3794760" y="2286000"/>
            <a:ext cx="1554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IWF-Programm: 8,1 Mrd. $ über 4 Jahre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5532120" y="13258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3"/>
                </a:solidFill>
              </a:rPr>
              <a:t>15. Jun 2026</a:t>
            </a:r>
            <a:endParaRPr lang="en-US" sz="1800" dirty="0"/>
          </a:p>
        </p:txBody>
      </p:sp>
      <p:sp>
        <p:nvSpPr>
          <p:cNvPr id="17" name="Zeitpunkt"/>
          <p:cNvSpPr/>
          <p:nvPr/>
        </p:nvSpPr>
        <p:spPr>
          <a:xfrm>
            <a:off x="6144768" y="1801368"/>
            <a:ext cx="329184" cy="329184"/>
          </a:xfrm>
          <a:prstGeom prst="ellipse">
            <a:avLst/>
          </a:prstGeom>
          <a:solidFill>
            <a:schemeClr val="accent3"/>
          </a:solidFill>
          <a:ln w="38100">
            <a:solidFill>
              <a:schemeClr val="bg1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5532120" y="2286000"/>
            <a:ext cx="1554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EU öffnet Cluster „Fundamentals“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7269480" y="13258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3"/>
                </a:solidFill>
              </a:rPr>
              <a:t>14. Jul 2026</a:t>
            </a:r>
            <a:endParaRPr lang="en-US" sz="1800" dirty="0"/>
          </a:p>
        </p:txBody>
      </p:sp>
      <p:sp>
        <p:nvSpPr>
          <p:cNvPr id="20" name="Zeitpunkt"/>
          <p:cNvSpPr/>
          <p:nvPr/>
        </p:nvSpPr>
        <p:spPr>
          <a:xfrm>
            <a:off x="7882128" y="1801368"/>
            <a:ext cx="329184" cy="329184"/>
          </a:xfrm>
          <a:prstGeom prst="ellipse">
            <a:avLst/>
          </a:prstGeom>
          <a:solidFill>
            <a:schemeClr val="accent3"/>
          </a:solidFill>
          <a:ln w="38100">
            <a:solidFill>
              <a:schemeClr val="bg1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7269480" y="2286000"/>
            <a:ext cx="1554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Cluster „Außenbeziehungen“ folgt</a:t>
            </a:r>
            <a:endParaRPr lang="en-US" sz="1400" dirty="0"/>
          </a:p>
        </p:txBody>
      </p:sp>
      <p:sp>
        <p:nvSpPr>
          <p:cNvPr id="22" name="Abgrenzung-Karte"/>
          <p:cNvSpPr/>
          <p:nvPr/>
        </p:nvSpPr>
        <p:spPr>
          <a:xfrm>
            <a:off x="457200" y="3611880"/>
            <a:ext cx="8229600" cy="1005840"/>
          </a:xfrm>
          <a:prstGeom prst="roundRect">
            <a:avLst>
              <a:gd name="adj" fmla="val 10909"/>
            </a:avLst>
          </a:prstGeom>
          <a:solidFill>
            <a:schemeClr val="accent3">
              <a:alpha val="12000"/>
            </a:schemeClr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3" name="Icon-Kreis"/>
          <p:cNvSpPr/>
          <p:nvPr/>
        </p:nvSpPr>
        <p:spPr>
          <a:xfrm>
            <a:off x="640080" y="3840480"/>
            <a:ext cx="548640" cy="54864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24" name="Image 0" descr="Ba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3977640"/>
            <a:ext cx="274320" cy="274320"/>
          </a:xfrm>
          <a:prstGeom prst="rect">
            <a:avLst/>
          </a:prstGeom>
        </p:spPr>
      </p:pic>
      <p:sp>
        <p:nvSpPr>
          <p:cNvPr id="25" name="Text 21"/>
          <p:cNvSpPr txBox="1"/>
          <p:nvPr/>
        </p:nvSpPr>
        <p:spPr>
          <a:xfrm>
            <a:off x="1417320" y="3611880"/>
            <a:ext cx="7132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Wichtige Abgrenzung: Kriegsbedingte Eingriffe des Staates sind keine Planwirtschaft. Der EU-Beitritt verlangt eine funktionierende Marktwirtschaft.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B556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37744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LÄNDERBEISPIEL 3/4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47548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Ukraine 2026: Wirtschaft im Krieg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754880"/>
            <a:ext cx="7589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</a:rPr>
              <a:t>Quelle: IWF (06/2026); NBU (09/2026); RDNA5 (02/2026); Info Sapiens (08/2026); OSW (05/2026)</a:t>
            </a:r>
            <a:endParaRPr lang="en-US" sz="1000" dirty="0"/>
          </a:p>
        </p:txBody>
      </p:sp>
      <p:sp>
        <p:nvSpPr>
          <p:cNvPr id="6" name="Kennzahl-Karte"/>
          <p:cNvSpPr/>
          <p:nvPr/>
        </p:nvSpPr>
        <p:spPr>
          <a:xfrm>
            <a:off x="457200" y="1325880"/>
            <a:ext cx="4937760" cy="1005840"/>
          </a:xfrm>
          <a:prstGeom prst="roundRect">
            <a:avLst>
              <a:gd name="adj" fmla="val 10909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F2A4A">
                <a:alpha val="12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685800" y="132588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3"/>
                </a:solidFill>
              </a:rPr>
              <a:t>1,0–1,6 %</a:t>
            </a:r>
            <a:endParaRPr lang="en-US" sz="2800" dirty="0"/>
          </a:p>
        </p:txBody>
      </p:sp>
      <p:sp>
        <p:nvSpPr>
          <p:cNvPr id="8" name="Text 5"/>
          <p:cNvSpPr txBox="1"/>
          <p:nvPr/>
        </p:nvSpPr>
        <p:spPr>
          <a:xfrm>
            <a:off x="3017520" y="132588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BIP-Wachstum 2026 (IWF-Prognose, Juni)</a:t>
            </a:r>
            <a:endParaRPr lang="en-US" sz="1400" dirty="0"/>
          </a:p>
        </p:txBody>
      </p:sp>
      <p:sp>
        <p:nvSpPr>
          <p:cNvPr id="9" name="Kennzahl-Karte"/>
          <p:cNvSpPr/>
          <p:nvPr/>
        </p:nvSpPr>
        <p:spPr>
          <a:xfrm>
            <a:off x="457200" y="2423160"/>
            <a:ext cx="4937760" cy="1005840"/>
          </a:xfrm>
          <a:prstGeom prst="roundRect">
            <a:avLst>
              <a:gd name="adj" fmla="val 10909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F2A4A">
                <a:alpha val="12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685800" y="242316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3"/>
                </a:solidFill>
              </a:rPr>
              <a:t>8,1 %</a:t>
            </a:r>
            <a:endParaRPr lang="en-US" sz="2800" dirty="0"/>
          </a:p>
        </p:txBody>
      </p:sp>
      <p:sp>
        <p:nvSpPr>
          <p:cNvPr id="11" name="Text 8"/>
          <p:cNvSpPr txBox="1"/>
          <p:nvPr/>
        </p:nvSpPr>
        <p:spPr>
          <a:xfrm>
            <a:off x="3017520" y="242316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Inflation; Leitzins der Zentralbank: 16 %</a:t>
            </a:r>
            <a:endParaRPr lang="en-US" sz="1400" dirty="0"/>
          </a:p>
        </p:txBody>
      </p:sp>
      <p:sp>
        <p:nvSpPr>
          <p:cNvPr id="12" name="Kennzahl-Karte"/>
          <p:cNvSpPr/>
          <p:nvPr/>
        </p:nvSpPr>
        <p:spPr>
          <a:xfrm>
            <a:off x="457200" y="3520440"/>
            <a:ext cx="4937760" cy="1005840"/>
          </a:xfrm>
          <a:prstGeom prst="roundRect">
            <a:avLst>
              <a:gd name="adj" fmla="val 10909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F2A4A">
                <a:alpha val="12000"/>
              </a:srgbClr>
            </a:outerShdw>
          </a:effectLst>
        </p:spPr>
      </p:sp>
      <p:sp>
        <p:nvSpPr>
          <p:cNvPr id="13" name="Text 10"/>
          <p:cNvSpPr txBox="1"/>
          <p:nvPr/>
        </p:nvSpPr>
        <p:spPr>
          <a:xfrm>
            <a:off x="685800" y="352044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3"/>
                </a:solidFill>
              </a:rPr>
              <a:t>588 Mrd. $</a:t>
            </a:r>
            <a:endParaRPr lang="en-US" sz="2800" dirty="0"/>
          </a:p>
        </p:txBody>
      </p:sp>
      <p:sp>
        <p:nvSpPr>
          <p:cNvPr id="14" name="Text 11"/>
          <p:cNvSpPr txBox="1"/>
          <p:nvPr/>
        </p:nvSpPr>
        <p:spPr>
          <a:xfrm>
            <a:off x="3017520" y="352044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Wiederaufbau-Bedarf über 10 Jahre</a:t>
            </a:r>
            <a:endParaRPr lang="en-US" sz="1400" dirty="0"/>
          </a:p>
        </p:txBody>
      </p:sp>
      <p:sp>
        <p:nvSpPr>
          <p:cNvPr id="15" name="Paradox-Karte"/>
          <p:cNvSpPr/>
          <p:nvPr/>
        </p:nvSpPr>
        <p:spPr>
          <a:xfrm>
            <a:off x="5577840" y="1325880"/>
            <a:ext cx="3108960" cy="3200400"/>
          </a:xfrm>
          <a:prstGeom prst="roundRect">
            <a:avLst>
              <a:gd name="adj" fmla="val 3529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6" name="Icon-Kreis"/>
          <p:cNvSpPr/>
          <p:nvPr/>
        </p:nvSpPr>
        <p:spPr>
          <a:xfrm>
            <a:off x="5806440" y="1554480"/>
            <a:ext cx="548640" cy="54864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7" name="Image 0" descr="User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38114" y="1686154"/>
            <a:ext cx="285293" cy="285293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6492240" y="155448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Das Paradox</a:t>
            </a:r>
            <a:endParaRPr lang="en-US" sz="1800" dirty="0"/>
          </a:p>
        </p:txBody>
      </p:sp>
      <p:sp>
        <p:nvSpPr>
          <p:cNvPr id="19" name="Text 15"/>
          <p:cNvSpPr txBox="1"/>
          <p:nvPr/>
        </p:nvSpPr>
        <p:spPr>
          <a:xfrm>
            <a:off x="5806440" y="233172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BBF24"/>
                </a:solidFill>
              </a:rPr>
              <a:t>ca. 16 %</a:t>
            </a:r>
            <a:endParaRPr lang="en-US" sz="3600" dirty="0"/>
          </a:p>
        </p:txBody>
      </p:sp>
      <p:sp>
        <p:nvSpPr>
          <p:cNvPr id="20" name="Text 16"/>
          <p:cNvSpPr txBox="1"/>
          <p:nvPr/>
        </p:nvSpPr>
        <p:spPr>
          <a:xfrm>
            <a:off x="5806440" y="3063240"/>
            <a:ext cx="2743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Arbeitslosigkeit (Schätzung, Aug. 2026) – und trotzdem fehlen Arbeitskräfte.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B556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37744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LÄNDERBEISPIEL 4/4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47548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Kuba: Das Reformpaket vom Juni 2026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754880"/>
            <a:ext cx="7589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</a:rPr>
              <a:t>Quelle: Al Jazeera (18.06.2026); Euronews (19.06.2026); CBS News; CiberCuba (19.06. &amp; 09.07.2026)</a:t>
            </a:r>
            <a:endParaRPr lang="en-US" sz="1000" dirty="0"/>
          </a:p>
        </p:txBody>
      </p:sp>
      <p:sp>
        <p:nvSpPr>
          <p:cNvPr id="6" name="Reform-Zahl-Karte"/>
          <p:cNvSpPr/>
          <p:nvPr/>
        </p:nvSpPr>
        <p:spPr>
          <a:xfrm>
            <a:off x="457200" y="1325880"/>
            <a:ext cx="3108960" cy="3200400"/>
          </a:xfrm>
          <a:prstGeom prst="roundRect">
            <a:avLst>
              <a:gd name="adj" fmla="val 3529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40080" y="1508760"/>
            <a:ext cx="2743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b="1" dirty="0">
                <a:solidFill>
                  <a:schemeClr val="bg1"/>
                </a:solidFill>
              </a:rPr>
              <a:t>176</a:t>
            </a:r>
            <a:endParaRPr lang="en-US" sz="88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29260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Maßnahmen in 23 Säulen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640080" y="338328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18. Juni 2026, einstimmig von der Nationalversammlung beschlossen</a:t>
            </a:r>
            <a:endParaRPr lang="en-US" sz="1400" dirty="0"/>
          </a:p>
        </p:txBody>
      </p:sp>
      <p:sp>
        <p:nvSpPr>
          <p:cNvPr id="10" name="Maßnahmen-Karte"/>
          <p:cNvSpPr/>
          <p:nvPr/>
        </p:nvSpPr>
        <p:spPr>
          <a:xfrm>
            <a:off x="3749040" y="1325880"/>
            <a:ext cx="4937760" cy="731520"/>
          </a:xfrm>
          <a:prstGeom prst="roundRect">
            <a:avLst>
              <a:gd name="adj" fmla="val 150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F2A4A">
                <a:alpha val="12000"/>
              </a:srgbClr>
            </a:outerShdw>
          </a:effectLst>
        </p:spPr>
      </p:sp>
      <p:sp>
        <p:nvSpPr>
          <p:cNvPr id="11" name="Icon-Kreis"/>
          <p:cNvSpPr/>
          <p:nvPr/>
        </p:nvSpPr>
        <p:spPr>
          <a:xfrm>
            <a:off x="3931920" y="1453896"/>
            <a:ext cx="475488" cy="47548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12" name="Image 0" descr="Stor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46037" y="1568013"/>
            <a:ext cx="247254" cy="247254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4617720" y="1325880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Privatsektor: von 127 auf über 2.000 erlaubte Tätigkeiten</a:t>
            </a:r>
            <a:endParaRPr lang="en-US" sz="1400" dirty="0"/>
          </a:p>
        </p:txBody>
      </p:sp>
      <p:sp>
        <p:nvSpPr>
          <p:cNvPr id="14" name="Maßnahmen-Karte"/>
          <p:cNvSpPr/>
          <p:nvPr/>
        </p:nvSpPr>
        <p:spPr>
          <a:xfrm>
            <a:off x="3749040" y="2148840"/>
            <a:ext cx="4937760" cy="731520"/>
          </a:xfrm>
          <a:prstGeom prst="roundRect">
            <a:avLst>
              <a:gd name="adj" fmla="val 150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F2A4A">
                <a:alpha val="12000"/>
              </a:srgbClr>
            </a:outerShdw>
          </a:effectLst>
        </p:spPr>
      </p:sp>
      <p:sp>
        <p:nvSpPr>
          <p:cNvPr id="15" name="Icon-Kreis"/>
          <p:cNvSpPr/>
          <p:nvPr/>
        </p:nvSpPr>
        <p:spPr>
          <a:xfrm>
            <a:off x="3931920" y="2276856"/>
            <a:ext cx="475488" cy="47548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16" name="Image 1" descr="User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46037" y="2390973"/>
            <a:ext cx="247254" cy="247254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4617720" y="2148840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Keine 100-Mitarbeiter-Grenze mehr, mehrere Eigentümer möglich</a:t>
            </a:r>
            <a:endParaRPr lang="en-US" sz="1400" dirty="0"/>
          </a:p>
        </p:txBody>
      </p:sp>
      <p:sp>
        <p:nvSpPr>
          <p:cNvPr id="18" name="Maßnahmen-Karte"/>
          <p:cNvSpPr/>
          <p:nvPr/>
        </p:nvSpPr>
        <p:spPr>
          <a:xfrm>
            <a:off x="3749040" y="2971800"/>
            <a:ext cx="4937760" cy="731520"/>
          </a:xfrm>
          <a:prstGeom prst="roundRect">
            <a:avLst>
              <a:gd name="adj" fmla="val 150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F2A4A">
                <a:alpha val="12000"/>
              </a:srgbClr>
            </a:outerShdw>
          </a:effectLst>
        </p:spPr>
      </p:sp>
      <p:sp>
        <p:nvSpPr>
          <p:cNvPr id="19" name="Icon-Kreis"/>
          <p:cNvSpPr/>
          <p:nvPr/>
        </p:nvSpPr>
        <p:spPr>
          <a:xfrm>
            <a:off x="3931920" y="3099816"/>
            <a:ext cx="475488" cy="47548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20" name="Image 2" descr="PiggyBank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46037" y="3213933"/>
            <a:ext cx="247254" cy="247254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4617720" y="2971800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Privatbanken und Auslandsinvestitionen werden zugelassen</a:t>
            </a:r>
            <a:endParaRPr lang="en-US" sz="1400" dirty="0"/>
          </a:p>
        </p:txBody>
      </p:sp>
      <p:sp>
        <p:nvSpPr>
          <p:cNvPr id="22" name="Maßnahmen-Karte"/>
          <p:cNvSpPr/>
          <p:nvPr/>
        </p:nvSpPr>
        <p:spPr>
          <a:xfrm>
            <a:off x="3749040" y="3794760"/>
            <a:ext cx="4937760" cy="731520"/>
          </a:xfrm>
          <a:prstGeom prst="roundRect">
            <a:avLst>
              <a:gd name="adj" fmla="val 150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F2A4A">
                <a:alpha val="12000"/>
              </a:srgbClr>
            </a:outerShdw>
          </a:effectLst>
        </p:spPr>
      </p:sp>
      <p:sp>
        <p:nvSpPr>
          <p:cNvPr id="23" name="Icon-Kreis"/>
          <p:cNvSpPr/>
          <p:nvPr/>
        </p:nvSpPr>
        <p:spPr>
          <a:xfrm>
            <a:off x="3931920" y="3922776"/>
            <a:ext cx="475488" cy="47548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24" name="Image 3" descr="Industry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46037" y="4036893"/>
            <a:ext cx="247254" cy="247254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4617720" y="3794760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Staatsbetriebe setzen Preise und Löhne selbst; Subventionen nur noch gezielt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B556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37744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LÄNDERBEISPIEL 4/4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47548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Kuba: Warum jetzt – und was bleibt?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754880"/>
            <a:ext cx="7589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</a:rPr>
              <a:t>Quelle: Al Jazeera (18.06.2026); CBS News; Rio Times (06/2026); CiberCuba (07/2026)</a:t>
            </a:r>
            <a:endParaRPr lang="en-US" sz="1000" dirty="0"/>
          </a:p>
        </p:txBody>
      </p:sp>
      <p:sp>
        <p:nvSpPr>
          <p:cNvPr id="6" name="Warum-Karte"/>
          <p:cNvSpPr/>
          <p:nvPr/>
        </p:nvSpPr>
        <p:spPr>
          <a:xfrm>
            <a:off x="457200" y="1325880"/>
            <a:ext cx="4023360" cy="2514600"/>
          </a:xfrm>
          <a:prstGeom prst="roundRect">
            <a:avLst>
              <a:gd name="adj" fmla="val 4364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F2A4A">
                <a:alpha val="12000"/>
              </a:srgbClr>
            </a:outerShdw>
          </a:effectLst>
        </p:spPr>
      </p:sp>
      <p:sp>
        <p:nvSpPr>
          <p:cNvPr id="7" name="Icon-Kreis"/>
          <p:cNvSpPr/>
          <p:nvPr/>
        </p:nvSpPr>
        <p:spPr>
          <a:xfrm>
            <a:off x="640080" y="1481328"/>
            <a:ext cx="457200" cy="45720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8" name="Image 0" descr="Bol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4380" y="1595628"/>
            <a:ext cx="228600" cy="22860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234440" y="1481328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Warum jetzt?</a:t>
            </a:r>
            <a:endParaRPr lang="en-US" sz="1800" dirty="0"/>
          </a:p>
        </p:txBody>
      </p:sp>
      <p:sp>
        <p:nvSpPr>
          <p:cNvPr id="10" name="Text 6"/>
          <p:cNvSpPr txBox="1"/>
          <p:nvPr/>
        </p:nvSpPr>
        <p:spPr>
          <a:xfrm>
            <a:off x="685800" y="2148840"/>
            <a:ext cx="3657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Stromausfälle &amp; Treibstoffmangel</a:t>
            </a:r>
            <a:endParaRPr lang="en-US" sz="16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US-Sanktionen: Hotels, Airlines, Handel ziehen sich zurück</a:t>
            </a:r>
            <a:endParaRPr lang="en-US" sz="16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BIP 2026: ca. −7 % erwartet</a:t>
            </a:r>
            <a:endParaRPr lang="en-US" sz="1600" dirty="0"/>
          </a:p>
        </p:txBody>
      </p:sp>
      <p:sp>
        <p:nvSpPr>
          <p:cNvPr id="11" name="Bleibt-Karte"/>
          <p:cNvSpPr/>
          <p:nvPr/>
        </p:nvSpPr>
        <p:spPr>
          <a:xfrm>
            <a:off x="4663440" y="1325880"/>
            <a:ext cx="4023360" cy="2514600"/>
          </a:xfrm>
          <a:prstGeom prst="roundRect">
            <a:avLst>
              <a:gd name="adj" fmla="val 4364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F2A4A">
                <a:alpha val="12000"/>
              </a:srgbClr>
            </a:outerShdw>
          </a:effectLst>
        </p:spPr>
      </p:sp>
      <p:sp>
        <p:nvSpPr>
          <p:cNvPr id="12" name="Icon-Kreis"/>
          <p:cNvSpPr/>
          <p:nvPr/>
        </p:nvSpPr>
        <p:spPr>
          <a:xfrm>
            <a:off x="4846320" y="1481328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3" name="Image 1" descr="Landmar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0620" y="1595628"/>
            <a:ext cx="228600" cy="22860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5440680" y="1481328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Was bleibt?</a:t>
            </a:r>
            <a:endParaRPr lang="en-US" sz="1800" dirty="0"/>
          </a:p>
        </p:txBody>
      </p:sp>
      <p:sp>
        <p:nvSpPr>
          <p:cNvPr id="15" name="Text 10"/>
          <p:cNvSpPr txBox="1"/>
          <p:nvPr/>
        </p:nvSpPr>
        <p:spPr>
          <a:xfrm>
            <a:off x="4892040" y="2148840"/>
            <a:ext cx="3657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Staat behält zentrale Rolle</a:t>
            </a:r>
            <a:endParaRPr lang="en-US" sz="16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Führung spricht weiter von Sozialismus</a:t>
            </a:r>
            <a:endParaRPr lang="en-US" sz="16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Wirkung noch offen – die Umsetzung entscheidet</a:t>
            </a:r>
            <a:endParaRPr lang="en-US" sz="1600" dirty="0"/>
          </a:p>
        </p:txBody>
      </p:sp>
      <p:sp>
        <p:nvSpPr>
          <p:cNvPr id="16" name="Lernpunkt-Leiste"/>
          <p:cNvSpPr/>
          <p:nvPr/>
        </p:nvSpPr>
        <p:spPr>
          <a:xfrm>
            <a:off x="457200" y="4023360"/>
            <a:ext cx="8229600" cy="594360"/>
          </a:xfrm>
          <a:prstGeom prst="roundRect">
            <a:avLst>
              <a:gd name="adj" fmla="val 15385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7" name="Icon-Kreis"/>
          <p:cNvSpPr/>
          <p:nvPr/>
        </p:nvSpPr>
        <p:spPr>
          <a:xfrm>
            <a:off x="594360" y="4114800"/>
            <a:ext cx="411480" cy="41148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8" name="Image 2" descr="Lightbulb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6943" y="4207383"/>
            <a:ext cx="226314" cy="226314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1188720" y="402336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Lernpunkt: Auch zentral gelenkte Systeme können Marktelemente aufnehmen.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B556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37744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ZUSAMMENFÜHRUNG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47548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Die Länder im direkten Vergleich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754880"/>
            <a:ext cx="7589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</a:rPr>
              <a:t>Quelle: Folien 11–18; vereinfachte Einordnung für den Unterricht, reale Ordnungen sind komplexer</a:t>
            </a:r>
            <a:endParaRPr lang="en-US" sz="10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82296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714500"/>
                <a:gridCol w="1714500"/>
                <a:gridCol w="1714500"/>
                <a:gridCol w="17145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Merkmal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Deutschland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Marokko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Ukraine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Kuba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Grundrichtung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Soziale Marktwirtschaft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marktorientiert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Marktwirtschaft im Umbruch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sozialistisch + Marktöffnung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Private Unternehmen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zentral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wichtig, Anteil soll steigen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wichtig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zugelassen, wachsend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Rolle des Staates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Rahmen + Sozialstaat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Regulierung + Investitionen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Rahmen, im Krieg stärker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weiterhin sehr stark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Arbeitsmarkt / Lage 2026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Quote 6,4 %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Quote 9,5 % (Q2)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ca. 16 % (Schätzung)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Krise: Stromausfälle, Mangel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BIP-Wachstum 2026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+1,3 %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+4,4 % (IWF)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+1,0 bis 1,6 %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ca. −7 %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B556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37744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DATEN IM VERGLEICH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47548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Wirtschaftswachstum 2026 im Vergleich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754880"/>
            <a:ext cx="7589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</a:rPr>
              <a:t>Quelle: Gemeinschaftsdiagnose Herbst 2026; IWF (03/2026); Kabinett der Ukraine (2026); Ökonomen-Schätzung zu Kuba (06/2026)</a:t>
            </a:r>
            <a:endParaRPr lang="en-US" sz="1000" dirty="0"/>
          </a:p>
        </p:txBody>
      </p:sp>
      <p:sp>
        <p:nvSpPr>
          <p:cNvPr id="6" name="Chart-Karte"/>
          <p:cNvSpPr/>
          <p:nvPr/>
        </p:nvSpPr>
        <p:spPr>
          <a:xfrm>
            <a:off x="457200" y="1325880"/>
            <a:ext cx="5120640" cy="3200400"/>
          </a:xfrm>
          <a:prstGeom prst="roundRect">
            <a:avLst>
              <a:gd name="adj" fmla="val 3429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F2A4A">
                <a:alpha val="12000"/>
              </a:srgbClr>
            </a:outerShdw>
          </a:effectLst>
        </p:spPr>
      </p:sp>
      <p:graphicFrame>
        <p:nvGraphicFramePr>
          <p:cNvPr id="7" name="Chart 0" descr=""/>
          <p:cNvGraphicFramePr/>
          <p:nvPr/>
        </p:nvGraphicFramePr>
        <p:xfrm>
          <a:off x="548640" y="1371600"/>
          <a:ext cx="493776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Hintergrund-Karte"/>
          <p:cNvSpPr/>
          <p:nvPr/>
        </p:nvSpPr>
        <p:spPr>
          <a:xfrm>
            <a:off x="5760720" y="1325880"/>
            <a:ext cx="2926080" cy="3200400"/>
          </a:xfrm>
          <a:prstGeom prst="roundRect">
            <a:avLst>
              <a:gd name="adj" fmla="val 375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F2A4A">
                <a:alpha val="12000"/>
              </a:srgbClr>
            </a:outerShdw>
          </a:effectLst>
        </p:spPr>
      </p:sp>
      <p:sp>
        <p:nvSpPr>
          <p:cNvPr id="9" name="Text 5"/>
          <p:cNvSpPr txBox="1"/>
          <p:nvPr/>
        </p:nvSpPr>
        <p:spPr>
          <a:xfrm>
            <a:off x="5943600" y="14630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Was steckt dahinter?</a:t>
            </a:r>
            <a:endParaRPr lang="en-US" sz="1700" dirty="0"/>
          </a:p>
        </p:txBody>
      </p:sp>
      <p:sp>
        <p:nvSpPr>
          <p:cNvPr id="10" name="Länder-Badge DE"/>
          <p:cNvSpPr/>
          <p:nvPr/>
        </p:nvSpPr>
        <p:spPr>
          <a:xfrm>
            <a:off x="5943600" y="1965960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5943600" y="19659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DE</a:t>
            </a:r>
            <a:endParaRPr lang="en-US" sz="1100" dirty="0"/>
          </a:p>
        </p:txBody>
      </p:sp>
      <p:sp>
        <p:nvSpPr>
          <p:cNvPr id="12" name="Text 8"/>
          <p:cNvSpPr txBox="1"/>
          <p:nvPr/>
        </p:nvSpPr>
        <p:spPr>
          <a:xfrm>
            <a:off x="6492240" y="192024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Staat investiert in Infrastruktur &amp; Verteidigung</a:t>
            </a:r>
            <a:endParaRPr lang="en-US" sz="1400" dirty="0"/>
          </a:p>
        </p:txBody>
      </p:sp>
      <p:sp>
        <p:nvSpPr>
          <p:cNvPr id="13" name="Länder-Badge MA"/>
          <p:cNvSpPr/>
          <p:nvPr/>
        </p:nvSpPr>
        <p:spPr>
          <a:xfrm>
            <a:off x="5943600" y="2606040"/>
            <a:ext cx="411480" cy="4114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5943600" y="26060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MA</a:t>
            </a:r>
            <a:endParaRPr lang="en-US" sz="1100" dirty="0"/>
          </a:p>
        </p:txBody>
      </p:sp>
      <p:sp>
        <p:nvSpPr>
          <p:cNvPr id="15" name="Text 11"/>
          <p:cNvSpPr txBox="1"/>
          <p:nvPr/>
        </p:nvSpPr>
        <p:spPr>
          <a:xfrm>
            <a:off x="6492240" y="256032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Landwirtschaft erholt sich nach Dürre</a:t>
            </a:r>
            <a:endParaRPr lang="en-US" sz="1400" dirty="0"/>
          </a:p>
        </p:txBody>
      </p:sp>
      <p:sp>
        <p:nvSpPr>
          <p:cNvPr id="16" name="Länder-Badge UA"/>
          <p:cNvSpPr/>
          <p:nvPr/>
        </p:nvSpPr>
        <p:spPr>
          <a:xfrm>
            <a:off x="5943600" y="3246120"/>
            <a:ext cx="411480" cy="41148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5943600" y="32461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UA</a:t>
            </a:r>
            <a:endParaRPr lang="en-US" sz="1100" dirty="0"/>
          </a:p>
        </p:txBody>
      </p:sp>
      <p:sp>
        <p:nvSpPr>
          <p:cNvPr id="18" name="Text 14"/>
          <p:cNvSpPr txBox="1"/>
          <p:nvPr/>
        </p:nvSpPr>
        <p:spPr>
          <a:xfrm>
            <a:off x="6492240" y="320040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Krieg und Energiekrise bremsen</a:t>
            </a:r>
            <a:endParaRPr lang="en-US" sz="1400" dirty="0"/>
          </a:p>
        </p:txBody>
      </p:sp>
      <p:sp>
        <p:nvSpPr>
          <p:cNvPr id="19" name="Länder-Badge CU"/>
          <p:cNvSpPr/>
          <p:nvPr/>
        </p:nvSpPr>
        <p:spPr>
          <a:xfrm>
            <a:off x="5943600" y="3886200"/>
            <a:ext cx="411480" cy="41148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5943600" y="38862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CU</a:t>
            </a:r>
            <a:endParaRPr lang="en-US" sz="1100" dirty="0"/>
          </a:p>
        </p:txBody>
      </p:sp>
      <p:sp>
        <p:nvSpPr>
          <p:cNvPr id="21" name="Text 17"/>
          <p:cNvSpPr txBox="1"/>
          <p:nvPr/>
        </p:nvSpPr>
        <p:spPr>
          <a:xfrm>
            <a:off x="6492240" y="384048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Blackouts und Sanktionen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B556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37744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PRAKTISCHE RELEVANZ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47548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Praxis: Ein Café eröffnen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754880"/>
            <a:ext cx="7589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</a:rPr>
              <a:t>Quelle: BMAS (Mindestlohn 2026); Weltbank/UNCTAD (Marokko); NBU (Ukraine); Al Jazeera, CiberCuba (Kuba)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1887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Was bedeutet die Wirtschaftsordnung für deine Gründung?</a:t>
            </a:r>
            <a:endParaRPr lang="en-US" sz="2000" dirty="0"/>
          </a:p>
        </p:txBody>
      </p:sp>
      <p:sp>
        <p:nvSpPr>
          <p:cNvPr id="7" name="Café-Karte Deutschland"/>
          <p:cNvSpPr/>
          <p:nvPr/>
        </p:nvSpPr>
        <p:spPr>
          <a:xfrm>
            <a:off x="457200" y="1691640"/>
            <a:ext cx="4023360" cy="1417320"/>
          </a:xfrm>
          <a:prstGeom prst="roundRect">
            <a:avLst>
              <a:gd name="adj" fmla="val 7742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F2A4A">
                <a:alpha val="12000"/>
              </a:srgbClr>
            </a:outerShdw>
          </a:effectLst>
        </p:spPr>
      </p:sp>
      <p:sp>
        <p:nvSpPr>
          <p:cNvPr id="8" name="Länder-Badge DE"/>
          <p:cNvSpPr/>
          <p:nvPr/>
        </p:nvSpPr>
        <p:spPr>
          <a:xfrm>
            <a:off x="640080" y="182880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40080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DE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1234440" y="18288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Deutschland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640080" y="2331720"/>
            <a:ext cx="3703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Gewerbeanmeldung, Hygieneregeln, Sozialversicherung – dafür freie Preise. Mindestlohn 2026: 13,90 €.</a:t>
            </a:r>
            <a:endParaRPr lang="en-US" sz="1400" dirty="0"/>
          </a:p>
        </p:txBody>
      </p:sp>
      <p:sp>
        <p:nvSpPr>
          <p:cNvPr id="12" name="Café-Karte Marokko"/>
          <p:cNvSpPr/>
          <p:nvPr/>
        </p:nvSpPr>
        <p:spPr>
          <a:xfrm>
            <a:off x="4663440" y="1691640"/>
            <a:ext cx="4023360" cy="1417320"/>
          </a:xfrm>
          <a:prstGeom prst="roundRect">
            <a:avLst>
              <a:gd name="adj" fmla="val 7742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F2A4A">
                <a:alpha val="12000"/>
              </a:srgbClr>
            </a:outerShdw>
          </a:effectLst>
        </p:spPr>
      </p:sp>
      <p:sp>
        <p:nvSpPr>
          <p:cNvPr id="13" name="Länder-Badge MA"/>
          <p:cNvSpPr/>
          <p:nvPr/>
        </p:nvSpPr>
        <p:spPr>
          <a:xfrm>
            <a:off x="4846320" y="1828800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4846320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MA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5440680" y="18288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Marokko</a:t>
            </a:r>
            <a:endParaRPr lang="en-US" sz="1800" dirty="0"/>
          </a:p>
        </p:txBody>
      </p:sp>
      <p:sp>
        <p:nvSpPr>
          <p:cNvPr id="16" name="Text 13"/>
          <p:cNvSpPr txBox="1"/>
          <p:nvPr/>
        </p:nvSpPr>
        <p:spPr>
          <a:xfrm>
            <a:off x="4846320" y="2331720"/>
            <a:ext cx="3703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Gründung im Markt möglich, Anreize durch die Investitionscharta – aber fast 70 % der Jobs sind informell.</a:t>
            </a:r>
            <a:endParaRPr lang="en-US" sz="1400" dirty="0"/>
          </a:p>
        </p:txBody>
      </p:sp>
      <p:sp>
        <p:nvSpPr>
          <p:cNvPr id="17" name="Café-Karte Ukraine"/>
          <p:cNvSpPr/>
          <p:nvPr/>
        </p:nvSpPr>
        <p:spPr>
          <a:xfrm>
            <a:off x="457200" y="3200400"/>
            <a:ext cx="4023360" cy="1417320"/>
          </a:xfrm>
          <a:prstGeom prst="roundRect">
            <a:avLst>
              <a:gd name="adj" fmla="val 7742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F2A4A">
                <a:alpha val="12000"/>
              </a:srgbClr>
            </a:outerShdw>
          </a:effectLst>
        </p:spPr>
      </p:sp>
      <p:sp>
        <p:nvSpPr>
          <p:cNvPr id="18" name="Länder-Badge UA"/>
          <p:cNvSpPr/>
          <p:nvPr/>
        </p:nvSpPr>
        <p:spPr>
          <a:xfrm>
            <a:off x="640080" y="3337560"/>
            <a:ext cx="457200" cy="4572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40080" y="3337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UA</a:t>
            </a:r>
            <a:endParaRPr lang="en-US" sz="1200" dirty="0"/>
          </a:p>
        </p:txBody>
      </p:sp>
      <p:sp>
        <p:nvSpPr>
          <p:cNvPr id="20" name="Text 17"/>
          <p:cNvSpPr txBox="1"/>
          <p:nvPr/>
        </p:nvSpPr>
        <p:spPr>
          <a:xfrm>
            <a:off x="1234440" y="33375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Ukraine</a:t>
            </a:r>
            <a:endParaRPr lang="en-US" sz="1800" dirty="0"/>
          </a:p>
        </p:txBody>
      </p:sp>
      <p:sp>
        <p:nvSpPr>
          <p:cNvPr id="21" name="Text 18"/>
          <p:cNvSpPr txBox="1"/>
          <p:nvPr/>
        </p:nvSpPr>
        <p:spPr>
          <a:xfrm>
            <a:off x="640080" y="3840480"/>
            <a:ext cx="3703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Privat gründen ist möglich – Krieg, Energiekrise und 16 % Leitzins erschweren Planung und Kredite.</a:t>
            </a:r>
            <a:endParaRPr lang="en-US" sz="1400" dirty="0"/>
          </a:p>
        </p:txBody>
      </p:sp>
      <p:sp>
        <p:nvSpPr>
          <p:cNvPr id="22" name="Café-Karte Kuba"/>
          <p:cNvSpPr/>
          <p:nvPr/>
        </p:nvSpPr>
        <p:spPr>
          <a:xfrm>
            <a:off x="4663440" y="3200400"/>
            <a:ext cx="4023360" cy="1417320"/>
          </a:xfrm>
          <a:prstGeom prst="roundRect">
            <a:avLst>
              <a:gd name="adj" fmla="val 7742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F2A4A">
                <a:alpha val="12000"/>
              </a:srgbClr>
            </a:outerShdw>
          </a:effectLst>
        </p:spPr>
      </p:sp>
      <p:sp>
        <p:nvSpPr>
          <p:cNvPr id="23" name="Länder-Badge CU"/>
          <p:cNvSpPr/>
          <p:nvPr/>
        </p:nvSpPr>
        <p:spPr>
          <a:xfrm>
            <a:off x="4846320" y="3337560"/>
            <a:ext cx="457200" cy="45720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4846320" y="3337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CU</a:t>
            </a:r>
            <a:endParaRPr lang="en-US" sz="1200" dirty="0"/>
          </a:p>
        </p:txBody>
      </p:sp>
      <p:sp>
        <p:nvSpPr>
          <p:cNvPr id="25" name="Text 22"/>
          <p:cNvSpPr txBox="1"/>
          <p:nvPr/>
        </p:nvSpPr>
        <p:spPr>
          <a:xfrm>
            <a:off x="5440680" y="33375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Kuba</a:t>
            </a:r>
            <a:endParaRPr lang="en-US" sz="1800" dirty="0"/>
          </a:p>
        </p:txBody>
      </p:sp>
      <p:sp>
        <p:nvSpPr>
          <p:cNvPr id="26" name="Text 23"/>
          <p:cNvSpPr txBox="1"/>
          <p:nvPr/>
        </p:nvSpPr>
        <p:spPr>
          <a:xfrm>
            <a:off x="4846320" y="3840480"/>
            <a:ext cx="3703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Seit Juni 2026 mehr private Tätigkeiten erlaubt, keine 100-Mitarbeiter-Grenze – Strom- und Warenmangel bleiben.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B556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37744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PRAXISFAZIT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47548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Was zeigt uns das Café-Beispiel?</a:t>
            </a:r>
            <a:endParaRPr lang="en-US" sz="3400" dirty="0"/>
          </a:p>
        </p:txBody>
      </p:sp>
      <p:sp>
        <p:nvSpPr>
          <p:cNvPr id="5" name="Lern-Karte"/>
          <p:cNvSpPr/>
          <p:nvPr/>
        </p:nvSpPr>
        <p:spPr>
          <a:xfrm>
            <a:off x="457200" y="1325880"/>
            <a:ext cx="2624328" cy="2057400"/>
          </a:xfrm>
          <a:prstGeom prst="roundRect">
            <a:avLst>
              <a:gd name="adj" fmla="val 5333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F2A4A">
                <a:alpha val="12000"/>
              </a:srgbClr>
            </a:outerShdw>
          </a:effectLst>
        </p:spPr>
      </p:sp>
      <p:sp>
        <p:nvSpPr>
          <p:cNvPr id="6" name="Icon-Kreis"/>
          <p:cNvSpPr/>
          <p:nvPr/>
        </p:nvSpPr>
        <p:spPr>
          <a:xfrm>
            <a:off x="640080" y="1481328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7" name="Image 0" descr="Key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0781" y="1602029"/>
            <a:ext cx="261518" cy="26151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640080" y="21031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Unternehmerische Freiheit</a:t>
            </a:r>
            <a:endParaRPr lang="en-US" sz="1600" dirty="0"/>
          </a:p>
        </p:txBody>
      </p:sp>
      <p:sp>
        <p:nvSpPr>
          <p:cNvPr id="9" name="Text 5"/>
          <p:cNvSpPr txBox="1"/>
          <p:nvPr/>
        </p:nvSpPr>
        <p:spPr>
          <a:xfrm>
            <a:off x="640080" y="246888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Die Ordnung bestimmt, was du selbst entscheiden darfst.</a:t>
            </a:r>
            <a:endParaRPr lang="en-US" sz="1400" dirty="0"/>
          </a:p>
        </p:txBody>
      </p:sp>
      <p:sp>
        <p:nvSpPr>
          <p:cNvPr id="10" name="Lern-Karte"/>
          <p:cNvSpPr/>
          <p:nvPr/>
        </p:nvSpPr>
        <p:spPr>
          <a:xfrm>
            <a:off x="3259836" y="1325880"/>
            <a:ext cx="2624328" cy="2057400"/>
          </a:xfrm>
          <a:prstGeom prst="roundRect">
            <a:avLst>
              <a:gd name="adj" fmla="val 5333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F2A4A">
                <a:alpha val="12000"/>
              </a:srgbClr>
            </a:outerShdw>
          </a:effectLst>
        </p:spPr>
      </p:sp>
      <p:sp>
        <p:nvSpPr>
          <p:cNvPr id="11" name="Icon-Kreis"/>
          <p:cNvSpPr/>
          <p:nvPr/>
        </p:nvSpPr>
        <p:spPr>
          <a:xfrm>
            <a:off x="3442716" y="1481328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2" name="Image 1" descr="ShieldAl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3417" y="1602029"/>
            <a:ext cx="261518" cy="261518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3442716" y="21031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Staatlicher Rahmen</a:t>
            </a:r>
            <a:endParaRPr lang="en-US" sz="1600" dirty="0"/>
          </a:p>
        </p:txBody>
      </p:sp>
      <p:sp>
        <p:nvSpPr>
          <p:cNvPr id="14" name="Text 9"/>
          <p:cNvSpPr txBox="1"/>
          <p:nvPr/>
        </p:nvSpPr>
        <p:spPr>
          <a:xfrm>
            <a:off x="3442716" y="246888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Regeln kosten Aufwand – schaffen aber Schutz und Rechtssicherheit.</a:t>
            </a:r>
            <a:endParaRPr lang="en-US" sz="1400" dirty="0"/>
          </a:p>
        </p:txBody>
      </p:sp>
      <p:sp>
        <p:nvSpPr>
          <p:cNvPr id="15" name="Lern-Karte"/>
          <p:cNvSpPr/>
          <p:nvPr/>
        </p:nvSpPr>
        <p:spPr>
          <a:xfrm>
            <a:off x="6062472" y="1325880"/>
            <a:ext cx="2624328" cy="2057400"/>
          </a:xfrm>
          <a:prstGeom prst="roundRect">
            <a:avLst>
              <a:gd name="adj" fmla="val 5333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F2A4A">
                <a:alpha val="12000"/>
              </a:srgbClr>
            </a:outerShdw>
          </a:effectLst>
        </p:spPr>
      </p:sp>
      <p:sp>
        <p:nvSpPr>
          <p:cNvPr id="16" name="Icon-Kreis"/>
          <p:cNvSpPr/>
          <p:nvPr/>
        </p:nvSpPr>
        <p:spPr>
          <a:xfrm>
            <a:off x="6245352" y="1481328"/>
            <a:ext cx="502920" cy="50292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7" name="Image 2" descr="BalanceScal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6053" y="1602029"/>
            <a:ext cx="261518" cy="261518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6245352" y="21031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Keine Reinform</a:t>
            </a:r>
            <a:endParaRPr lang="en-US" sz="1600" dirty="0"/>
          </a:p>
        </p:txBody>
      </p:sp>
      <p:sp>
        <p:nvSpPr>
          <p:cNvPr id="19" name="Text 13"/>
          <p:cNvSpPr txBox="1"/>
          <p:nvPr/>
        </p:nvSpPr>
        <p:spPr>
          <a:xfrm>
            <a:off x="6245352" y="246888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Vier Länder, vier Mischungen aus Markt, Staat und Sozialem.</a:t>
            </a:r>
            <a:endParaRPr lang="en-US" sz="1400" dirty="0"/>
          </a:p>
        </p:txBody>
      </p:sp>
      <p:sp>
        <p:nvSpPr>
          <p:cNvPr id="20" name="Diskussions-Karte"/>
          <p:cNvSpPr/>
          <p:nvPr/>
        </p:nvSpPr>
        <p:spPr>
          <a:xfrm>
            <a:off x="457200" y="3611880"/>
            <a:ext cx="8229600" cy="1005840"/>
          </a:xfrm>
          <a:prstGeom prst="roundRect">
            <a:avLst>
              <a:gd name="adj" fmla="val 10909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1" name="Icon-Kreis"/>
          <p:cNvSpPr/>
          <p:nvPr/>
        </p:nvSpPr>
        <p:spPr>
          <a:xfrm>
            <a:off x="685800" y="3840480"/>
            <a:ext cx="548640" cy="54864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22" name="Image 3" descr="Comments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3977640"/>
            <a:ext cx="274320" cy="274320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1463040" y="3611880"/>
            <a:ext cx="7040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Diskussion: In welchem der vier Länder würdest du dein Café eröffnen – und warum?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B556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37744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7DD3FC"/>
                </a:solidFill>
              </a:rPr>
              <a:t>KERNAUSSAGEN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47548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Fazit: Das nimmst du mit</a:t>
            </a:r>
            <a:endParaRPr lang="en-US" sz="3400" dirty="0"/>
          </a:p>
        </p:txBody>
      </p:sp>
      <p:sp>
        <p:nvSpPr>
          <p:cNvPr id="5" name="Fazit-Zeile 1"/>
          <p:cNvSpPr/>
          <p:nvPr/>
        </p:nvSpPr>
        <p:spPr>
          <a:xfrm>
            <a:off x="457200" y="1280160"/>
            <a:ext cx="8229600" cy="731520"/>
          </a:xfrm>
          <a:prstGeom prst="roundRect">
            <a:avLst>
              <a:gd name="adj" fmla="val 15000"/>
            </a:avLst>
          </a:prstGeom>
          <a:solidFill>
            <a:schemeClr val="bg1">
              <a:alpha val="10000"/>
            </a:schemeClr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6" name="Nummer-Kreis"/>
          <p:cNvSpPr/>
          <p:nvPr/>
        </p:nvSpPr>
        <p:spPr>
          <a:xfrm>
            <a:off x="640080" y="141732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40080" y="1417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1325880" y="1280160"/>
            <a:ext cx="7223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Wirtschaftsordnung heißt: Wer entscheidet – Markt, Staat oder beide?</a:t>
            </a:r>
            <a:endParaRPr lang="en-US" sz="1600" dirty="0"/>
          </a:p>
        </p:txBody>
      </p:sp>
      <p:sp>
        <p:nvSpPr>
          <p:cNvPr id="9" name="Fazit-Zeile 2"/>
          <p:cNvSpPr/>
          <p:nvPr/>
        </p:nvSpPr>
        <p:spPr>
          <a:xfrm>
            <a:off x="457200" y="2148840"/>
            <a:ext cx="8229600" cy="731520"/>
          </a:xfrm>
          <a:prstGeom prst="roundRect">
            <a:avLst>
              <a:gd name="adj" fmla="val 15000"/>
            </a:avLst>
          </a:prstGeom>
          <a:solidFill>
            <a:schemeClr val="bg1">
              <a:alpha val="10000"/>
            </a:schemeClr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0" name="Nummer-Kreis"/>
          <p:cNvSpPr/>
          <p:nvPr/>
        </p:nvSpPr>
        <p:spPr>
          <a:xfrm>
            <a:off x="640080" y="2286000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40080" y="2286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1325880" y="2148840"/>
            <a:ext cx="7223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Reine Markt- oder Planwirtschaft gibt es kaum – real sind es Mischformen.</a:t>
            </a:r>
            <a:endParaRPr lang="en-US" sz="1600" dirty="0"/>
          </a:p>
        </p:txBody>
      </p:sp>
      <p:sp>
        <p:nvSpPr>
          <p:cNvPr id="13" name="Fazit-Zeile 3"/>
          <p:cNvSpPr/>
          <p:nvPr/>
        </p:nvSpPr>
        <p:spPr>
          <a:xfrm>
            <a:off x="457200" y="3017520"/>
            <a:ext cx="8229600" cy="731520"/>
          </a:xfrm>
          <a:prstGeom prst="roundRect">
            <a:avLst>
              <a:gd name="adj" fmla="val 15000"/>
            </a:avLst>
          </a:prstGeom>
          <a:solidFill>
            <a:schemeClr val="bg1">
              <a:alpha val="10000"/>
            </a:schemeClr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4" name="Nummer-Kreis"/>
          <p:cNvSpPr/>
          <p:nvPr/>
        </p:nvSpPr>
        <p:spPr>
          <a:xfrm>
            <a:off x="640080" y="3154680"/>
            <a:ext cx="457200" cy="4572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40080" y="3154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16" name="Text 13"/>
          <p:cNvSpPr txBox="1"/>
          <p:nvPr/>
        </p:nvSpPr>
        <p:spPr>
          <a:xfrm>
            <a:off x="1325880" y="3017520"/>
            <a:ext cx="7223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Deutschland, Marokko, Ukraine und Kuba zeigen vier Mischungen – alle im Wandel durch Reformen, Krieg oder Krise.</a:t>
            </a:r>
            <a:endParaRPr lang="en-US" sz="1600" dirty="0"/>
          </a:p>
        </p:txBody>
      </p:sp>
      <p:sp>
        <p:nvSpPr>
          <p:cNvPr id="17" name="Fazit-Zeile 4"/>
          <p:cNvSpPr/>
          <p:nvPr/>
        </p:nvSpPr>
        <p:spPr>
          <a:xfrm>
            <a:off x="457200" y="3886200"/>
            <a:ext cx="8229600" cy="731520"/>
          </a:xfrm>
          <a:prstGeom prst="roundRect">
            <a:avLst>
              <a:gd name="adj" fmla="val 15000"/>
            </a:avLst>
          </a:prstGeom>
          <a:solidFill>
            <a:schemeClr val="bg1">
              <a:alpha val="10000"/>
            </a:schemeClr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8" name="Nummer-Kreis"/>
          <p:cNvSpPr/>
          <p:nvPr/>
        </p:nvSpPr>
        <p:spPr>
          <a:xfrm>
            <a:off x="640080" y="4023360"/>
            <a:ext cx="457200" cy="45720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40080" y="4023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4</a:t>
            </a:r>
            <a:endParaRPr lang="en-US" sz="1800" dirty="0"/>
          </a:p>
        </p:txBody>
      </p:sp>
      <p:sp>
        <p:nvSpPr>
          <p:cNvPr id="20" name="Text 17"/>
          <p:cNvSpPr txBox="1"/>
          <p:nvPr/>
        </p:nvSpPr>
        <p:spPr>
          <a:xfrm>
            <a:off x="1325880" y="3886200"/>
            <a:ext cx="7223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Für dich im Büro zählen die Regeln im Alltag: Verträge, Löhne, Sozialversicherung, Preise.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BD5E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37744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FACHBEGRIFFE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47548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Glossar</a:t>
            </a:r>
            <a:endParaRPr lang="en-US" sz="3400" dirty="0"/>
          </a:p>
        </p:txBody>
      </p:sp>
      <p:sp>
        <p:nvSpPr>
          <p:cNvPr id="5" name="Glossar-Karte"/>
          <p:cNvSpPr/>
          <p:nvPr/>
        </p:nvSpPr>
        <p:spPr>
          <a:xfrm>
            <a:off x="457200" y="1280160"/>
            <a:ext cx="4023360" cy="566928"/>
          </a:xfrm>
          <a:prstGeom prst="roundRect">
            <a:avLst>
              <a:gd name="adj" fmla="val 19355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F2A4A">
                <a:alpha val="12000"/>
              </a:srgbClr>
            </a:outerShdw>
          </a:effectLst>
        </p:spPr>
      </p:sp>
      <p:sp>
        <p:nvSpPr>
          <p:cNvPr id="6" name="Glossar-Punkt"/>
          <p:cNvSpPr/>
          <p:nvPr/>
        </p:nvSpPr>
        <p:spPr>
          <a:xfrm>
            <a:off x="594360" y="1472184"/>
            <a:ext cx="182880" cy="1828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914400" y="1280160"/>
            <a:ext cx="3474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Wirtschaftsordnung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</a:rPr>
              <a:t>Regeln, die wirtschaftliches Handeln ordnen</a:t>
            </a:r>
            <a:endParaRPr lang="en-US" sz="1400" dirty="0"/>
          </a:p>
        </p:txBody>
      </p:sp>
      <p:sp>
        <p:nvSpPr>
          <p:cNvPr id="8" name="Glossar-Karte"/>
          <p:cNvSpPr/>
          <p:nvPr/>
        </p:nvSpPr>
        <p:spPr>
          <a:xfrm>
            <a:off x="4663440" y="1280160"/>
            <a:ext cx="4023360" cy="566928"/>
          </a:xfrm>
          <a:prstGeom prst="roundRect">
            <a:avLst>
              <a:gd name="adj" fmla="val 19355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F2A4A">
                <a:alpha val="12000"/>
              </a:srgbClr>
            </a:outerShdw>
          </a:effectLst>
        </p:spPr>
      </p:sp>
      <p:sp>
        <p:nvSpPr>
          <p:cNvPr id="9" name="Glossar-Punkt"/>
          <p:cNvSpPr/>
          <p:nvPr/>
        </p:nvSpPr>
        <p:spPr>
          <a:xfrm>
            <a:off x="4800600" y="1472184"/>
            <a:ext cx="182880" cy="1828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120640" y="1280160"/>
            <a:ext cx="3474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Marktwirtschaft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</a:rPr>
              <a:t>Koordination über Angebot und Nachfrage</a:t>
            </a:r>
            <a:endParaRPr lang="en-US" sz="1400" dirty="0"/>
          </a:p>
        </p:txBody>
      </p:sp>
      <p:sp>
        <p:nvSpPr>
          <p:cNvPr id="11" name="Glossar-Karte"/>
          <p:cNvSpPr/>
          <p:nvPr/>
        </p:nvSpPr>
        <p:spPr>
          <a:xfrm>
            <a:off x="457200" y="1920240"/>
            <a:ext cx="4023360" cy="566928"/>
          </a:xfrm>
          <a:prstGeom prst="roundRect">
            <a:avLst>
              <a:gd name="adj" fmla="val 19355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F2A4A">
                <a:alpha val="12000"/>
              </a:srgbClr>
            </a:outerShdw>
          </a:effectLst>
        </p:spPr>
      </p:sp>
      <p:sp>
        <p:nvSpPr>
          <p:cNvPr id="12" name="Glossar-Punkt"/>
          <p:cNvSpPr/>
          <p:nvPr/>
        </p:nvSpPr>
        <p:spPr>
          <a:xfrm>
            <a:off x="594360" y="2112264"/>
            <a:ext cx="182880" cy="1828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914400" y="1920240"/>
            <a:ext cx="3474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Planwirtschaft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</a:rPr>
              <a:t>Zentrale Planung von Produktion und Verteilung</a:t>
            </a:r>
            <a:endParaRPr lang="en-US" sz="1400" dirty="0"/>
          </a:p>
        </p:txBody>
      </p:sp>
      <p:sp>
        <p:nvSpPr>
          <p:cNvPr id="14" name="Glossar-Karte"/>
          <p:cNvSpPr/>
          <p:nvPr/>
        </p:nvSpPr>
        <p:spPr>
          <a:xfrm>
            <a:off x="4663440" y="1920240"/>
            <a:ext cx="4023360" cy="566928"/>
          </a:xfrm>
          <a:prstGeom prst="roundRect">
            <a:avLst>
              <a:gd name="adj" fmla="val 19355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F2A4A">
                <a:alpha val="12000"/>
              </a:srgbClr>
            </a:outerShdw>
          </a:effectLst>
        </p:spPr>
      </p:sp>
      <p:sp>
        <p:nvSpPr>
          <p:cNvPr id="15" name="Glossar-Punkt"/>
          <p:cNvSpPr/>
          <p:nvPr/>
        </p:nvSpPr>
        <p:spPr>
          <a:xfrm>
            <a:off x="4800600" y="2112264"/>
            <a:ext cx="182880" cy="1828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5120640" y="1920240"/>
            <a:ext cx="3474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Soziale Marktwirtschaft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</a:rPr>
              <a:t>Markt mit Ordnungsrahmen und sozialem Ausgleich</a:t>
            </a:r>
            <a:endParaRPr lang="en-US" sz="1400" dirty="0"/>
          </a:p>
        </p:txBody>
      </p:sp>
      <p:sp>
        <p:nvSpPr>
          <p:cNvPr id="17" name="Glossar-Karte"/>
          <p:cNvSpPr/>
          <p:nvPr/>
        </p:nvSpPr>
        <p:spPr>
          <a:xfrm>
            <a:off x="457200" y="2560320"/>
            <a:ext cx="4023360" cy="566928"/>
          </a:xfrm>
          <a:prstGeom prst="roundRect">
            <a:avLst>
              <a:gd name="adj" fmla="val 19355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F2A4A">
                <a:alpha val="12000"/>
              </a:srgbClr>
            </a:outerShdw>
          </a:effectLst>
        </p:spPr>
      </p:sp>
      <p:sp>
        <p:nvSpPr>
          <p:cNvPr id="18" name="Glossar-Punkt"/>
          <p:cNvSpPr/>
          <p:nvPr/>
        </p:nvSpPr>
        <p:spPr>
          <a:xfrm>
            <a:off x="594360" y="2752344"/>
            <a:ext cx="182880" cy="18288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914400" y="2560320"/>
            <a:ext cx="3474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Privateigentum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</a:rPr>
              <a:t>Unternehmen gehören privaten Eigentümern</a:t>
            </a:r>
            <a:endParaRPr lang="en-US" sz="1400" dirty="0"/>
          </a:p>
        </p:txBody>
      </p:sp>
      <p:sp>
        <p:nvSpPr>
          <p:cNvPr id="20" name="Glossar-Karte"/>
          <p:cNvSpPr/>
          <p:nvPr/>
        </p:nvSpPr>
        <p:spPr>
          <a:xfrm>
            <a:off x="4663440" y="2560320"/>
            <a:ext cx="4023360" cy="566928"/>
          </a:xfrm>
          <a:prstGeom prst="roundRect">
            <a:avLst>
              <a:gd name="adj" fmla="val 19355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F2A4A">
                <a:alpha val="12000"/>
              </a:srgbClr>
            </a:outerShdw>
          </a:effectLst>
        </p:spPr>
      </p:sp>
      <p:sp>
        <p:nvSpPr>
          <p:cNvPr id="21" name="Glossar-Punkt"/>
          <p:cNvSpPr/>
          <p:nvPr/>
        </p:nvSpPr>
        <p:spPr>
          <a:xfrm>
            <a:off x="4800600" y="2752344"/>
            <a:ext cx="182880" cy="18288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5120640" y="2560320"/>
            <a:ext cx="3474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Wettbewerb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</a:rPr>
              <a:t>Anbieter konkurrieren um Kunden, Preis, Qualität</a:t>
            </a:r>
            <a:endParaRPr lang="en-US" sz="1400" dirty="0"/>
          </a:p>
        </p:txBody>
      </p:sp>
      <p:sp>
        <p:nvSpPr>
          <p:cNvPr id="23" name="Glossar-Karte"/>
          <p:cNvSpPr/>
          <p:nvPr/>
        </p:nvSpPr>
        <p:spPr>
          <a:xfrm>
            <a:off x="457200" y="3200400"/>
            <a:ext cx="4023360" cy="566928"/>
          </a:xfrm>
          <a:prstGeom prst="roundRect">
            <a:avLst>
              <a:gd name="adj" fmla="val 19355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F2A4A">
                <a:alpha val="12000"/>
              </a:srgbClr>
            </a:outerShdw>
          </a:effectLst>
        </p:spPr>
      </p:sp>
      <p:sp>
        <p:nvSpPr>
          <p:cNvPr id="24" name="Glossar-Punkt"/>
          <p:cNvSpPr/>
          <p:nvPr/>
        </p:nvSpPr>
        <p:spPr>
          <a:xfrm>
            <a:off x="594360" y="3392424"/>
            <a:ext cx="182880" cy="18288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914400" y="3200400"/>
            <a:ext cx="3474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Regulierung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</a:rPr>
              <a:t>Staatliche Regeln für wirtschaftliches Handeln</a:t>
            </a:r>
            <a:endParaRPr lang="en-US" sz="1400" dirty="0"/>
          </a:p>
        </p:txBody>
      </p:sp>
      <p:sp>
        <p:nvSpPr>
          <p:cNvPr id="26" name="Glossar-Karte"/>
          <p:cNvSpPr/>
          <p:nvPr/>
        </p:nvSpPr>
        <p:spPr>
          <a:xfrm>
            <a:off x="4663440" y="3200400"/>
            <a:ext cx="4023360" cy="566928"/>
          </a:xfrm>
          <a:prstGeom prst="roundRect">
            <a:avLst>
              <a:gd name="adj" fmla="val 19355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F2A4A">
                <a:alpha val="12000"/>
              </a:srgbClr>
            </a:outerShdw>
          </a:effectLst>
        </p:spPr>
      </p:sp>
      <p:sp>
        <p:nvSpPr>
          <p:cNvPr id="27" name="Glossar-Punkt"/>
          <p:cNvSpPr/>
          <p:nvPr/>
        </p:nvSpPr>
        <p:spPr>
          <a:xfrm>
            <a:off x="4800600" y="3392424"/>
            <a:ext cx="182880" cy="18288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5120640" y="3200400"/>
            <a:ext cx="3474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Marktversagen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</a:rPr>
              <a:t>Markt liefert gesellschaftlich unerwünschte Ergebnisse</a:t>
            </a:r>
            <a:endParaRPr lang="en-US" sz="1400" dirty="0"/>
          </a:p>
        </p:txBody>
      </p:sp>
      <p:sp>
        <p:nvSpPr>
          <p:cNvPr id="29" name="Glossar-Karte"/>
          <p:cNvSpPr/>
          <p:nvPr/>
        </p:nvSpPr>
        <p:spPr>
          <a:xfrm>
            <a:off x="457200" y="3840480"/>
            <a:ext cx="4023360" cy="566928"/>
          </a:xfrm>
          <a:prstGeom prst="roundRect">
            <a:avLst>
              <a:gd name="adj" fmla="val 19355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F2A4A">
                <a:alpha val="12000"/>
              </a:srgbClr>
            </a:outerShdw>
          </a:effectLst>
        </p:spPr>
      </p:sp>
      <p:sp>
        <p:nvSpPr>
          <p:cNvPr id="30" name="Glossar-Punkt"/>
          <p:cNvSpPr/>
          <p:nvPr/>
        </p:nvSpPr>
        <p:spPr>
          <a:xfrm>
            <a:off x="594360" y="4032504"/>
            <a:ext cx="182880" cy="18288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914400" y="3840480"/>
            <a:ext cx="3474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Transformation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</a:rPr>
              <a:t>Grundlegender Wandel einer Wirtschaftsordnung</a:t>
            </a:r>
            <a:endParaRPr lang="en-US" sz="1400" dirty="0"/>
          </a:p>
        </p:txBody>
      </p:sp>
      <p:sp>
        <p:nvSpPr>
          <p:cNvPr id="32" name="Glossar-Karte"/>
          <p:cNvSpPr/>
          <p:nvPr/>
        </p:nvSpPr>
        <p:spPr>
          <a:xfrm>
            <a:off x="4663440" y="3840480"/>
            <a:ext cx="4023360" cy="566928"/>
          </a:xfrm>
          <a:prstGeom prst="roundRect">
            <a:avLst>
              <a:gd name="adj" fmla="val 19355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F2A4A">
                <a:alpha val="12000"/>
              </a:srgbClr>
            </a:outerShdw>
          </a:effectLst>
        </p:spPr>
      </p:sp>
      <p:sp>
        <p:nvSpPr>
          <p:cNvPr id="33" name="Glossar-Punkt"/>
          <p:cNvSpPr/>
          <p:nvPr/>
        </p:nvSpPr>
        <p:spPr>
          <a:xfrm>
            <a:off x="4800600" y="4032504"/>
            <a:ext cx="182880" cy="18288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5120640" y="3840480"/>
            <a:ext cx="3474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Tarifautonomie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</a:rPr>
              <a:t>Gewerkschaften und Arbeitgeber handeln Löhne aus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B556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37744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AUSWAHL FÜR DIE PRÄSENTATION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47548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Quellen</a:t>
            </a:r>
            <a:endParaRPr lang="en-US" sz="3400" dirty="0"/>
          </a:p>
        </p:txBody>
      </p:sp>
      <p:sp>
        <p:nvSpPr>
          <p:cNvPr id="5" name="Quellen-Karte"/>
          <p:cNvSpPr/>
          <p:nvPr/>
        </p:nvSpPr>
        <p:spPr>
          <a:xfrm>
            <a:off x="457200" y="1280160"/>
            <a:ext cx="8229600" cy="566928"/>
          </a:xfrm>
          <a:prstGeom prst="roundRect">
            <a:avLst>
              <a:gd name="adj" fmla="val 19355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F2A4A">
                <a:alpha val="12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685800" y="1280160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6"/>
                </a:solidFill>
              </a:rPr>
              <a:t>Grundlagen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2103120" y="1280160"/>
            <a:ext cx="6492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Bundeszentrale für politische Bildung (bpb): Wirtschaftsordnung, Markt-/Planwirtschaft, Soziale Marktwirtschaft</a:t>
            </a:r>
            <a:endParaRPr lang="en-US" sz="1200" dirty="0"/>
          </a:p>
        </p:txBody>
      </p:sp>
      <p:sp>
        <p:nvSpPr>
          <p:cNvPr id="8" name="Quellen-Karte"/>
          <p:cNvSpPr/>
          <p:nvPr/>
        </p:nvSpPr>
        <p:spPr>
          <a:xfrm>
            <a:off x="457200" y="1938528"/>
            <a:ext cx="8229600" cy="566928"/>
          </a:xfrm>
          <a:prstGeom prst="roundRect">
            <a:avLst>
              <a:gd name="adj" fmla="val 19355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F2A4A">
                <a:alpha val="12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685800" y="1938528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Deutschland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2103120" y="1938528"/>
            <a:ext cx="6492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Bundesagentur für Arbeit (Arbeitsmarkt im September 2026); Gemeinschaftsdiagnose Herbst 2026; KOFA 03/2026; BMAS</a:t>
            </a:r>
            <a:endParaRPr lang="en-US" sz="1200" dirty="0"/>
          </a:p>
        </p:txBody>
      </p:sp>
      <p:sp>
        <p:nvSpPr>
          <p:cNvPr id="11" name="Quellen-Karte"/>
          <p:cNvSpPr/>
          <p:nvPr/>
        </p:nvSpPr>
        <p:spPr>
          <a:xfrm>
            <a:off x="457200" y="2596896"/>
            <a:ext cx="8229600" cy="566928"/>
          </a:xfrm>
          <a:prstGeom prst="roundRect">
            <a:avLst>
              <a:gd name="adj" fmla="val 19355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F2A4A">
                <a:alpha val="12000"/>
              </a:srgbClr>
            </a:outerShdw>
          </a:effectLst>
        </p:spPr>
      </p:sp>
      <p:sp>
        <p:nvSpPr>
          <p:cNvPr id="12" name="Text 9"/>
          <p:cNvSpPr txBox="1"/>
          <p:nvPr/>
        </p:nvSpPr>
        <p:spPr>
          <a:xfrm>
            <a:off x="685800" y="2596896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Marokko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2103120" y="2596896"/>
            <a:ext cx="6492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Weltbank (04/2026); IWF Artikel-IV 2026; OECD; AfDB; Morocco World News; UNCTAD (Investitionscharta)</a:t>
            </a:r>
            <a:endParaRPr lang="en-US" sz="1200" dirty="0"/>
          </a:p>
        </p:txBody>
      </p:sp>
      <p:sp>
        <p:nvSpPr>
          <p:cNvPr id="14" name="Quellen-Karte"/>
          <p:cNvSpPr/>
          <p:nvPr/>
        </p:nvSpPr>
        <p:spPr>
          <a:xfrm>
            <a:off x="457200" y="3255264"/>
            <a:ext cx="8229600" cy="566928"/>
          </a:xfrm>
          <a:prstGeom prst="roundRect">
            <a:avLst>
              <a:gd name="adj" fmla="val 19355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F2A4A">
                <a:alpha val="12000"/>
              </a:srgbClr>
            </a:outerShdw>
          </a:effectLst>
        </p:spPr>
      </p:sp>
      <p:sp>
        <p:nvSpPr>
          <p:cNvPr id="15" name="Text 12"/>
          <p:cNvSpPr txBox="1"/>
          <p:nvPr/>
        </p:nvSpPr>
        <p:spPr>
          <a:xfrm>
            <a:off x="685800" y="3255264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Ukraine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2103120" y="3255264"/>
            <a:ext cx="6492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Rat der EU (15.06.2026); EU-Kommission (14.07.2026); IWF; Nationalbank; RDNA5; Info Sapiens; OSW</a:t>
            </a:r>
            <a:endParaRPr lang="en-US" sz="1200" dirty="0"/>
          </a:p>
        </p:txBody>
      </p:sp>
      <p:sp>
        <p:nvSpPr>
          <p:cNvPr id="17" name="Quellen-Karte"/>
          <p:cNvSpPr/>
          <p:nvPr/>
        </p:nvSpPr>
        <p:spPr>
          <a:xfrm>
            <a:off x="457200" y="3913632"/>
            <a:ext cx="8229600" cy="566928"/>
          </a:xfrm>
          <a:prstGeom prst="roundRect">
            <a:avLst>
              <a:gd name="adj" fmla="val 19355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F2A4A">
                <a:alpha val="12000"/>
              </a:srgbClr>
            </a:outerShdw>
          </a:effectLst>
        </p:spPr>
      </p:sp>
      <p:sp>
        <p:nvSpPr>
          <p:cNvPr id="18" name="Text 15"/>
          <p:cNvSpPr txBox="1"/>
          <p:nvPr/>
        </p:nvSpPr>
        <p:spPr>
          <a:xfrm>
            <a:off x="685800" y="3913632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4"/>
                </a:solidFill>
              </a:rPr>
              <a:t>Kuba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2103120" y="3913632"/>
            <a:ext cx="6492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Al Jazeera (18.06.2026); Euronews (19.06.2026); CBS News; Rio Times; CiberCuba (07/2026)</a:t>
            </a:r>
            <a:endParaRPr lang="en-US" sz="1200" dirty="0"/>
          </a:p>
        </p:txBody>
      </p:sp>
      <p:sp>
        <p:nvSpPr>
          <p:cNvPr id="20" name="Text 17"/>
          <p:cNvSpPr txBox="1"/>
          <p:nvPr/>
        </p:nvSpPr>
        <p:spPr>
          <a:xfrm>
            <a:off x="457200" y="4663440"/>
            <a:ext cx="7589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</a:rPr>
              <a:t>Stand: Oktober 2026 · Zahlen aus Medien- und Institutsmeldungen, vor Abgabe Originalquellen prüfen.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B556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irtschaftsordnungen 2026">
  <a:themeElements>
    <a:clrScheme name="Wirtschaftsordnungen 2026">
      <a:dk1>
        <a:srgbClr val="1B2433"/>
      </a:dk1>
      <a:lt1>
        <a:srgbClr val="FFFFFF"/>
      </a:lt1>
      <a:dk2>
        <a:srgbClr val="0F2A4A"/>
      </a:dk2>
      <a:lt2>
        <a:srgbClr val="F3F6FB"/>
      </a:lt2>
      <a:accent1>
        <a:srgbClr val="2563EB"/>
      </a:accent1>
      <a:accent2>
        <a:srgbClr val="0F766E"/>
      </a:accent2>
      <a:accent3>
        <a:srgbClr val="D97706"/>
      </a:accent3>
      <a:accent4>
        <a:srgbClr val="E11D48"/>
      </a:accent4>
      <a:accent5>
        <a:srgbClr val="15803D"/>
      </a:accent5>
      <a:accent6>
        <a:srgbClr val="64748B"/>
      </a:accent6>
      <a:hlink>
        <a:srgbClr val="2563EB"/>
      </a:hlink>
      <a:folHlink>
        <a:srgbClr val="64748B"/>
      </a:folHlink>
    </a:clrScheme>
    <a:fontScheme name="Wirtschaftsordnungen 2026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Wie viel Markt – wie viel Staat? Wirtschaftsordnungen im Ländervergleich 2026</dc:title>
  <dc:subject>PptxGenJS Presentation</dc:subject>
  <dc:creator>Berufsschule Kaufmann/-frau für Büromanagement</dc:creator>
  <cp:lastModifiedBy>Berufsschule Kaufmann/-frau für Büromanagement</cp:lastModifiedBy>
  <cp:revision>1</cp:revision>
  <dcterms:created xsi:type="dcterms:W3CDTF">2026-10-05T18:31:46Z</dcterms:created>
  <dcterms:modified xsi:type="dcterms:W3CDTF">2026-10-05T18:31:46Z</dcterms:modified>
</cp:coreProperties>
</file>